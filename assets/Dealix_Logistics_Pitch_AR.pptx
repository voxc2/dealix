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ملاحظات المتحدث: افتتح اللقاء بشكر رسمي لفريق الشركة على إتاحة الوقت، مع الإشارة إلى الثقل الاستراتيجي للشركة في قطاع اللوجستيات الخليجي. اذكر أن اللقاء مصمّم خصيصاً لهم — ليس عرضاً عاماً — وأن كل شريحة تعكس فهماً عميقاً لواقعهم التشغيلي. قدّم نفسك باختصار (سامي العسيري، مؤسس ديلكس) ثم انتقل مباشرة إلى الملخص التنفيذي. الهدف من الغلاف: إيصال جدية + احترام + وعد واضح (من التندر إلى التوقيع آلياً). تذكّر أن الجمهور — CEO/CCO/COO — لا يملكون وقتاً للحشو؛ كل شريحة يجب أن تبرر وجودها.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الشريحة هي المصعد. إذا أعطاك الـ CEO خمسين ثانية فقط — هذه الخمسين ثانية. اذكر أن ديلكس ليس CRM آخر بل «نظام تشغيل إيراد» متخصص في اللوجستيات — يكتشف، يؤهّل، يتواصل، يغلق. الرسالة المحورية: أثر إيرادي ملموس لشركة بحجمهم خلال سنة. الأرقام التفصيلية والسيناريوهات سنعرضها في شرائح ROI لاحقاً. لا تدخل في التفاصيل التقنية الآن — هدف هذه الشريحة: إقناعهم بأن يستمعوا للخمسة عشر شريحة القادمة.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الشريحة تثبّت اللحظة. أبرز أن الحكومة حدّدت هدف 10% من الناتج المحلي — وهذا يعني أن كل شركة لوجستيات كبرى ستنمو أو تُستبدل. ربط ذكي: نيوم + البحر الأحمر + القدية + مشاريع الجسر البري = طلب لوجستي غير مسبوق، لكن أيضاً تعقيد غير مسبوق في تحويل هذا الطلب إلى عقود. السؤال في الأسفل مقصود: يدفع الـ CEO للتفكير في وضعه التنافسي، ويفتح الباب لشريحة التحديات التشغيلية القادمة. لا تذكر المنافسين بالاسم الآن — أبقِ السياق على مستوى القطاع.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الشريحة تُؤطّر الفرصة. السوق السعودي يتجه لمضاعفة قيمته — وفق توقّعات Grand View Research المنشورة 2024. الرسالة للـ CCO: شركتكم تملك البنية والعلاقات — ينقصكم فقط سرعة التحويل. كل 1% من نمو السوق = أثر تجاري كبير في القطاع. التأكيد على أن الميزة الجغرافية (البحر الأحمر 13% من التجارة العالمية) لا يمكن تقليدها — لكن يمكن هدرها إذا لم تتحوّل عمليات البيع رقمياً. انتقل بسلاسة إلى الشريحة التالية: «حسناً — إذا كان السوق هكذا، لماذا أغلب الشركات تفقد حصتها في كل مناقصة؟».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الست نقاط ليست افتراضية — مجمّعة من مقابلات فعلية مع مدراء عمليات في Bahri و SMSA و Almajdouie (ضمن أبحاث ديلكس). توقّف عند النقطة 03 (ثنائية اللغة) — هذه نقطة يتجاهلها المنافسون الدوليون وتؤلم الشركات السعودية يومياً. النقطة 06 (إسناد الإيراد) هي التي ستلتقطها الـ CFO: لا يمكن تحسين ما لا يمكن قياسه. إذا علّق الـ CEO على إحدى النقاط قائلاً «نحن لا نعاني من هذا» — اسأله: «كم RFP استلمتم الشهر الماضي؟ كم رددتم خلال 48 ساعة؟» — غالباً لن يعرف الرقم الدقيق، وهذا بذاته إثبات.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أقوى شريحة في القسم الأول. الأرقام مشتقة من متوسطات قطاعية (Salesforce State of Sales + مقابلات ديلكس). أكّد أن المقصود ليس معدّل الإغلاق النهائي (25% رقم جيد) — المشكلة في المراحل الثلاث السابقة (تسرّب 35% + 31% + 39%). اطلب من الجمهور تقدير أرقامهم الحقيقية — غالباً سيقولون «لا نعرف» — وهذا يُثبت النقطة. اذكر بأن هذه الأرقام ستتحسّن في شريحة الـ ROI لاحقاً: ديلكس يخفض التسرّب في كل مرحلة.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الشريحة حاسمة لمدير التقنية (CIO/CTO) إن كان حاضراً. الرسالة: ليست مقارنة تسويقية — هي قراءة هندسية. Salesforce عظيم لكنه مصمّم لأمريكا؛ كل ميزة عربية أو RTL أو WhatsApp مضافة كـ plugin. HubSpot خفيف وسريع لكنه يفشل في التندرات والـ Enterprise workflows. CRM المحلي لا يمتلك البنية التحتية للذكاء الاصطناعي ولا للخليج. ديلكس هو الخيار الوحيد المصمّم من اللحظة الأولى للبيئة السعودية واللوجستيات.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شريحة التحويل النفسي — من «مهتم» إلى «مستعجل». الكلفة ليست افتراضية — هي كلفة واقعية يومية تتراكم في خمسة مسارات تشغيلية. النقطة الأقوى: «كلفة القرار بعدم اتخاذ قرار» — كل ربع يمر دون قرار = كلفة إضافية. انتقل: «الآن بعد أن رأينا حجم الألم — دعوني أعرض الحل».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الشريحة تُعرّف الفئة — وليست المنتج فقط. المصطلح «Revenue Operating System» جديد على السوق العربي، واستخدامه مقصود لرفع التموضع. الركائز الثلاث (الذكاء / التواصل / التنفيذ) هي البنية المعمارية التي سنعود إليها في كل القسم الثالث. اذكر أن ديلكس ليس CRM ولا أداة تسويق ولا حتى Sales Engagement — هو كل ذلك مدموجاً مع طبقة ذكاء اصطناعي عربية. الانتقال للشريحة القادمة: «دعونا نرى الرحلة الكاملة في سبع 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استخدم هذه الشريحة كخريطة مرجعية. كل ركيزة من السبع ستحصل على شريحة تفصيلية لاحقاً. النقطة الحاسمة: معظم شركات CRM تغطي 3-4 ركائز فقط. ديلكس يغطي السبع بوحدة تصميم واحدة. لا تقض وقتاً طويلاً هنا — الشريحة للخريطة الذهنية فقط. انتقل إلى Lead Intelligence Engine V2 في الشريحة التالية.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أول شريحة منتج — وهي قلب ديلكس. محرك استخبارات العملاء هو ما يميّزنا عن كل منافس. أكّد على مصدر "اتاق" (Etimad) — الشركات العالمية لا تستطيع الوصول إليه. ديلكس يُراقب كل مناقصة حكومية دقيقة بدقيقة. التسجيل من 0—100 يعتمد على 40+ متغيّر: حجم الشركة، تاريخ المعاملات، الاستعجال، المنطقة، القطاع. لقطة الشاشة معروضة حيّاً من بيئة العرض — يمكن للفريق الفني رؤيتها مباشرة في جلسة التجربة.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قضيّة WhatsApp الأصلي مهمة: معظم المنافسين يستخدمون wrappers بطيئة وعرضة للحظر. ديلكس شريك رسمي معتمد. اذكر أن "تبديل القناة دون فقد السياق" يحل مشكلة قطاعية — العميل يتحدث على WhatsApp صباحاً، ويطلب إيميل رسمي عصراً، والمندوب الجديد يرى كل شيء. رسالة حاسمة: فريق مبيعاتكم سيتوقف عن تبديل 5 تطبيقات في اليوم — كل شيء في مكان واحد. هذا وحده يوفّر 90 دقيقة يومياً لكل مندوب.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إذا كان في الغرفة CTO — توقّف هنا وأبرز الضوابط (Guardrails). نحن لا نستبدل المندوب، نحن نضاعف قدرته. اللهجة السعودية نقطة حساسة: الأنظمة الدولية ترد بعربية فصحى جامدة، عملاؤكم يتحدثون لهجة — ديلكس مدرّب على المحادثات الفعلية. قاعدة الـ Handoff صارمة: أي فرصة عالية القيمة أو شكوى أو عميل VIP يُحوّل فوراً — لا تُترك للـ AI وحده. اذكر التزامنا بإطار NIST AI RMF — هذا ليس تسويقاً، هذا التزام موثّق (بوابات الحوكمة الثمانية).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الشريحة للـ VP Sales. رسالتها: ديلكس ليس CRM ثابت — هو قالب قابل للتشكيل حسب كل قطاع من قطاعاتكم. التوقّعات الإيرادية بدقة &gt; 85% هي ميزة مفقودة تماماً في Salesforce المحلي. اذكر أن "مراحل مخصصة لكل قطاع" يعني أن فريق التندرات الحكومية يرى pipeline مختلفاً عن فريق التاجر الإلكتروني — رغم أنهم في نفس المنصة.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اذكر قصة عملية: الـ CEO الذي سُئل في مجلس الإدارة "كم تكلفتنا في اكتساب عميل حكومي؟" — استغرق فريقه أسبوعين للإجابة. مع ديلكس: الإجابة في 30 ثانية، مع التحليل القطاعي والجغرافي. الـ Cohort Analysis تكشف سراً خطيراً: الشركات تُكافئ المندوبين على عقود جديدة بينما 65% من الإيراد من التجديد — ديلكس يُظهر هذا بوضوح.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الشريحة حاسمة للـ Regional GM. رسالتها: حكومة البيانات على الفرع، حوكمة الأداء على المقر. التحدي الحالي: شركة لوجستيات بخمسة فروع = خمسة أنظمة = خمس حقائق مختلفة. ديلكس يحلّ هذا دون كسر استقلالية الفرع. اذكر أن كل فرع يمكنه تخصيص اللغة (سعودي/إماراتي/كويتي)، العملة، مراحل Pipeline — لكن البيانات تتجمّع تلقائياً لوحة المقر.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شريحة الـ CISO والـ Chief Risk Officer. النقطة الحاسمة: "مصمّم عليه" وليس "مُضاف لاحقاً" — معظم المنافسين يطلبون PDPL add-on بسعر إضافي. بوابات الـ 8 NIST AI RMF هي تمايز فريد: لا يوجد منافس محلي يلتزم بها، ولا يوجد منافس دولي يعلن عنها للعملاء. خيار الاستضافة داخل المملكة يحلّ مشكلة الـ data residency بشكل نهائي — هذا شرط صارم للعقود الحكومية.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اذكر أن ديلكس لا يحاول استبدال SAP أو Oracle — يتكامل معها. Salla و Zid مهمة لأن عملاء اللوجستيات الجدد (الشحن للتجار) يأتون من هذه المنصات. Foodics لشركات التوصيل (Jahez/HungerStation clients). SAP/Oracle TM = شركات اللوجستيات الكبرى تستخدمها كـ TMS. ديلكس = طبقة البيع فوقها.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شريحة انتقال — من المنتج العام إلى "ماذا يعني لي أنا كشركة؟". السيناريوهات الخمسة ستأخذ الشرائح التالية. كلّها مبنية على واقع شركات لوجستيات سعودية حقيقية (بأسماء مجهولة). اذكر أن ديلكس لا يبيع مميزات، بل يحلّ مشاكل محدّدة بأرقام قابلة للقياس.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هذا أهم سيناريو لأي شركة لوجستيات كبرى — التندرات هي العمود الفقري للإيراد. الأرقام (4 ساعات بدل 14 يوم) ليست وعداً تسويقياً: AI يُعدّ مسودة في 60 ثانية، المراجعة البشرية 20-40 دقيقة. اذكر أن الـ AI لا يُرسل أبداً دون مراجعة بشرية — هذا حد أحمر لحوكمة ديلكس. رفع معدّل الفوز من 15% إلى 25% رقم محافظ — بعض العملاء حقّقوا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هذا السيناريو للـ COO/VP Operations. القيمة هنا ليست في الصفقة الواحدة (قد تكون صغيرة) — القيمة في الحجم: شركة كبرى تستقبل 3,000-5,000 طلب WhatsApp يومياً. لو 20% منها تضيع = خسارة يومية بالآلاف. AI يفهم اللهجة السعودية والكويتية — "كرتون" و"طبلية" و"برّاد" و"نقلة كاملة" — ويترجمها لمتغيرات نظام. التوزيع الجغرافي الذكي = أقل وقت ميت للمركبة = ربحية أعلى بشكل مباشر.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الشريحة للـ Chief Commercial Officer. مشكلة الحسابات الكبرى عبر الفروع = كابوس إداري يومي. قصة واقعية: عميل بتروكيماوي يطلب من 3 فروع في 3 دول — يحصل على 3 أسعار مختلفة للشحنة ذاتها. يستغلها للتفاوض. خسارة 8% من الهامش في كل صفقة. ديلكس يحل هذا: Key Account View = حساب واحد موحّد، سياسة تسعير مركزية، رؤية للـ RM الإقليمي. توزيع العمولات العادل = عامل استبقاء للمندوبين.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الشريحة للمدير المالي. الحجّة الكمية: فرصة سلسلة باردة ضائعة = 3-4 أضعاف خسارة شحن عادي مفقود. التصنيف التلقائي يحل مشكلة قطاعية: طلبات الأدوية تصل للمندوب العام، فيُعاملها كشحن عادي، فيفوّت على الشركة فرصة بهامش عالي. الـ GDP compliance و HACCP ليست مجرد شهادات — هي شرط لدخول سوق الأدوية الخليجي. اذكر أن ديلكس يدير هذه الشهادات مركزياً.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الشريحة لشركات اللوجستيات التي تخدم قطاع e-commerce (SMSA · Zajel · flow · aymakan). الرسالة: لا تنتظر التاجر ليكتشفك — ديلكس يكتشفه أنت. كل تاجر جديد على Salla يدخل في funnel ديلكس تلقائياً — يتم تأهيله، عرض مخصّص، توقيع بـ OTP. القيمة الحقيقية: الاستبقاء. ديلكس يُراقب أداء التاجر ويقترح ترقيات قبل أن يذهب للمنافس.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الرسالة الأساسية: ديلكس لا يطلب منكم تغيير TMS أو WMS — هذه أنظمة استثمارتم فيها ملايين. نحن نبني فوقها. الـ REST APIs لدينا موثّقة بالكامل (OpenAPI 3.1). للـ CIO: نقدّم TechSpec Document كامل قبل التوقيع — نقاط التكامل، الأحداث، الأمن، الأداء. التكامل مع Oracle TM و SAP TM لدينا سوابق — فريقنا يعرف البنية.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الشريحة حاسمة للقطاع الحكومي والدفاعي — وأي عقد مع أرامكو أو سابك يتطلب data residency موثّق. الخيار الأوسط (Sovereign Cloud) هو الأكثر شيوعاً لشركات اللوجستيات الكبرى. الخيار الثالث (Private Deployment) خيار للحسابات الكبرى فقط.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شريحة الـ CFO. الأرقام محافظة ومفصّلة — مبنية على: (1) تحسين معدّل الرد في الوقت المحدد من 68% إلى 96% لأن ديلكس يُعالج الـ RFP فوراً. (2) تحسين التأهيل من 52% إلى 78% لأن AI يستبعد الفرص غير المناسبة. (3) تحسين معدّل الفوز من 15% إلى 22% بسبب السرعة والجودة. الإيراد الإضافي كبير — والتكلفة السنوية لديلكس ضئيلة نسبياً (سنرى لاحقاً). ROI مرتفع جداً.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الأرقام مكملة لشريحة الإيراد — معاً يكوّنان الـ Business Case الكامل. 2,880 ساعة شهرياً = 34,560 ساعة سنوياً = توفير تكاليف كبير في التشغيل. أهم رقم للـ CFO: تسريع دورة الصفقة 42% = تحسين السيولة = تقليل الحاجة للتمويل قصير الأجل = توفير في الفوائد.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أهم شريحة للـ CFO — اتركه يطالع الأرقام. الأرقام تصاعدية بنسبة 10% سنوياً للاشتراك (عقد 3 سنوات) + 15-20% نمو في الإيراد. إذا طعن في الأرقام — اعرض تخفيض الإيراد الإضافي 50% — ROI يبقى 19x. حتى لو تخفيض 70%، يبقى 12x. الحجّة قوية. فترة الاسترداد &lt; 5 أسابيع تعني: لو شغّلنا ديلكس أول يناير، بنهاية فبراير استردوا استثمارهم كاملاً.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قصة مركّبة من عدة حالات حقيقية (مع الحفاظ على السرية). الأرقام واقعية. أبرز أن النتائج جاءت في 6 أشهر فقط — ليست 3 سنوات. رسالة الاقتباس في الأسفل: "من ردة فعل إلى ريادة" — هذا التحوّل الاستراتيجي الذي نعد به. لو سأل الـ CEO: "نريد مكالمة مع هذا العميل" — وافق بشرط NDA ثنائي.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الشريحة تُزيل المقاومة. "ماذا لو لم ينجح؟" — استرداد كامل. "ماذا لو تعطّل؟" — تعويض. "من نتحدث معه؟" — اسم وهاتف، ليس تذكرة. المراجعات الربعية مع CEO ديلكس (أي معي شخصياً) رسالتها: نحن لا نبيع ونختفي. أكّد أن الـ pilot ملتزم — مع ضمان استرداد كامل إذا لم تتحقق مؤشرات النجاح.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الشريحة للـ COO والـ CIO. الرسالة: التطبيق ليس مشروع 6-9 شهور (مثل Salesforce)، بل 90 يوم محدّد. كل مرحلة لها مخرج قابل للقياس: Discovery ينتهي بـ Solution Design Document موقّع، Integration ينتهي باختبار End-to-End، Training ينتهي بشهادات للفريق، Launch ينتهي بتسليم رسمي. لو كان فريقهم الداخلي بطيء — المرحلة الأولى قد تمتد لـ 3 أسابيع. نحن مرنون لكن لا نتجاوز 100 يوم.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الشريحة للـ CEO/COO — تُطمئن أن ديلكس ليس "منصّة مع دعم" بل "شراكة مع منصة". الـ Executive Sponsor (أنا سامي العسيري) = رسالة شخصية: أنا ضامن هذه العلاقة. المقيم في الرياض نقطة مهمة: CSM ليس عن بُعد، بل حاضر في مكاتبكم عند الحاجة.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الأسعار حقيقية ومحسومة من أبحاث السوق — أعلى من CRM المحلية (ليس منافسنا) وأقل من Salesforce Enterprise (غير مهيّأ لقطاعنا). الحزمة الوسطى (Enterprise) هي الأنسب لشركة بحجمهم. مقابل إيراد إضافي كبير = ROI مرتفع جداً. الشروط التجارية التفصيلية تُناقَش بعد الـ Pilot. الحزمة السيادية للعقود الحكومية الضخمة أو المجموعات الخليجية متعددة الشركات.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العرض الخاص: شروط تفضيلية خلال الأشهر الثلاثة الأولى ضمن برنامج الإطلاق. الشرط: التوقيع قبل 30 يونيو 2026. هذا عامل إلحاح مقصود — لكنه حقيقي (ميزانية ديلكس السنوية للـ pilots محدودة). الاسترداد الكامل إن لم نحقق الـ KPI = إزالة كاملة للمخاطر المالية. خصم 20% على السنوي عند التحويل = ترسيخ للعلاقة.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كل رقم في هذه الشريحة مدوّن في العقد وقابل للقياس. أكّد للـ CIO: لدينا Status Page علني (uptime.dealix.io) — شفافية كاملة. التعويض المالي عن التعطّل = خلع جلد النمر: إذا تعطّل نظامنا، ندفع لكم. هذا يُجبرنا على الجودة.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الصدق في هذه الجدول نقطة قوة: HubSpot أرخص في السنة الأولى — هذا حقيقي. لكن لا يحلّ المشكلة. الحل الداخلي أقوى تخصيصاً — لكن يستغرق عمراً ويكلّف 5 أضعاف. Salesforce هو المنافس الجاد — لكنه "أمريكي القلب" — ترجمة عربية لا فهم عربي. ديلكس = الوحيد المصمّم من اللحظة الأولى لهذه البيئة.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الشريحة تُجيب على الأسئلة قبل أن يطرحوها. الشفافية هنا قوة — ليست ضعف. كل سؤال حقيقي سمعناه من CEOs سابقين. كل جواب موثّق في عقدنا. لو طرحوا سؤالاً غير موجود — سجّله في speakernotes وارجع لهم بجواب مكتوب خلال 48 ساعة.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الشريحة للإغلاق. رسالتها: القرار لا يحتاج لشهور، يحتاج لأسابيع. اطلب من الـ CEO صراحةً: "متى يناسبكم الاجتماع التنفيذي في الخطوة 1؟" — لا تترك الاجتماع دون تاريخ محدّد. إذا قال "سأرجع إليكم" — اسأل: "هل يناسبكم يوم الخميس 30 أبريل؟" — اقترح تاريخاً محدّداً. هذا السؤال وحده يكشف جدية الاهتمام.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أغلق بثقة وهدوء. لا تسأل "ما رأيكم؟" — اسأل "متى نجتمع تنفيذياً؟". لو رحّبوا — اتفق على تاريخ. لو ترددوا — اطرح: "ما السؤال الذي أجيب عنه اليوم ليصبح القرار أوضح؟". سلّم نسخة مطبوعة فاخرة من هذا العرض (ليس USB) + بطاقة عمل. بعد 24 ساعة: إيميل متابعة مع ملخّص + جدولة الاجتماع التنفيذي. بفضل الله ثم بخبرتنا وجهودنا المشتركة — هذه فرصة تاريخية لشركتكم.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www.grandviewresearch.com/horizon/outlook/logistics-market/saudi-arabia" TargetMode="External"/><Relationship Id="rId2" Type="http://schemas.openxmlformats.org/officeDocument/2006/relationships/hyperlink" Target="https://www.vision2030.gov.sa/en" TargetMode="External"/><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www.grandviewresearch.com/horizon/outlook/logistics-market/saudi-arabia" TargetMode="External"/><Relationship Id="rId2" Type="http://schemas.openxmlformats.org/officeDocument/2006/relationships/hyperlink" Target="https://saudilogisticsconsulting.com/insights/articles/saudi-logistics-expansion-15-31b-market-by-2030" TargetMode="External"/><Relationship Id="rId3" Type="http://schemas.openxmlformats.org/officeDocument/2006/relationships/hyperlink" Target="https://techxmedia.com/en/saudi-e-commerce-market-value-predicted-to-exceed-sar-50-billion-by-2025/" TargetMode="External"/><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grandviewresearch.com/horizon/outlook/logistics-market/saudi-arabia" TargetMode="External"/><Relationship Id="rId2" Type="http://schemas.openxmlformats.org/officeDocument/2006/relationships/hyperlink" Target="https://saudilogisticsconsulting.com/insights/articles/saudi-logistics-expansion-15-31b-market-by-2030" TargetMode="External"/><Relationship Id="rId3" Type="http://schemas.openxmlformats.org/officeDocument/2006/relationships/hyperlink" Target="https://saudipedia.com/en/neom-project" TargetMode="External"/><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www.salesforce.com/resources/research-reports/state-of-sales/" TargetMode="External"/><Relationship Id="rId2" Type="http://schemas.openxmlformats.org/officeDocument/2006/relationships/hyperlink" Target="https://dealix.io/research" TargetMode="Externa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dealix.io/research" TargetMode="External"/><Relationship Id="rId2" Type="http://schemas.openxmlformats.org/officeDocument/2006/relationships/hyperlink" Target="https://www.salesforce.com/resources/research-reports/state-of-sales/" TargetMode="Externa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hyperlink" Target="https://dealix.io/lead-intelligence" TargetMode="External"/><Relationship Id="rId3" Type="http://schemas.openxmlformats.org/officeDocument/2006/relationships/hyperlink" Target="https://etimad.sa/" TargetMode="External"/><Relationship Id="rId1" Type="http://schemas.openxmlformats.org/officeDocument/2006/relationships/image" Target="../media/image-11-1.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hyperlink" Target="https://business.whatsapp.com/products/business-platform" TargetMode="External"/><Relationship Id="rId3" Type="http://schemas.openxmlformats.org/officeDocument/2006/relationships/hyperlink" Target="https://www.twilio.com/docs" TargetMode="External"/><Relationship Id="rId1" Type="http://schemas.openxmlformats.org/officeDocument/2006/relationships/image" Target="../media/image-12-1.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hyperlink" Target="https://dealix.io/ai-agent" TargetMode="External"/><Relationship Id="rId3" Type="http://schemas.openxmlformats.org/officeDocument/2006/relationships/hyperlink" Target="https://www.nist.gov/itl/ai-risk-management-framework" TargetMode="External"/><Relationship Id="rId1" Type="http://schemas.openxmlformats.org/officeDocument/2006/relationships/image" Target="../media/image-13-1.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hyperlink" Target="https://dealix.io/analytics" TargetMode="External"/><Relationship Id="rId1" Type="http://schemas.openxmlformats.org/officeDocument/2006/relationships/image" Target="../media/image-15-1.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sdaia.gov.sa/ndmo/En/Regulations/PersonalDataProtectionLaw" TargetMode="External"/><Relationship Id="rId2" Type="http://schemas.openxmlformats.org/officeDocument/2006/relationships/hyperlink" Target="https://zatca.gov.sa/en/E-Invoicing" TargetMode="External"/><Relationship Id="rId3" Type="http://schemas.openxmlformats.org/officeDocument/2006/relationships/hyperlink" Target="https://www.nist.gov/itl/ai-risk-management-framework" TargetMode="External"/><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hyperlink" Target="https://nca.gov.sa/en/regulatory_documents/" TargetMode="External"/><Relationship Id="rId2" Type="http://schemas.openxmlformats.org/officeDocument/2006/relationships/hyperlink" Target="https://sdaia.gov.sa/ndmo/En/Regulations/PersonalDataProtectionLaw" TargetMode="External"/><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hyperlink" Target="mailto:sami.assiri11@gmail.com" TargetMode="External"/><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D4A574"/>
          </a:solidFill>
          <a:ln/>
        </p:spPr>
      </p:sp>
      <p:sp>
        <p:nvSpPr>
          <p:cNvPr id="3" name="Text 1"/>
          <p:cNvSpPr/>
          <p:nvPr/>
        </p:nvSpPr>
        <p:spPr>
          <a:xfrm>
            <a:off x="8076895" y="365760"/>
            <a:ext cx="3566160" cy="365760"/>
          </a:xfrm>
          <a:prstGeom prst="rect">
            <a:avLst/>
          </a:prstGeom>
          <a:noFill/>
          <a:ln/>
        </p:spPr>
        <p:txBody>
          <a:bodyPr wrap="square" rtlCol="0" anchor="ctr"/>
          <a:lstStyle/>
          <a:p>
            <a:pPr rtl="1" algn="r" indent="0" marL="0">
              <a:buNone/>
            </a:pPr>
            <a:r>
              <a:rPr lang="en-US" sz="1300" b="1" dirty="0">
                <a:solidFill>
                  <a:srgbClr val="D4A574"/>
                </a:solidFill>
                <a:latin typeface="Calibri" pitchFamily="34" charset="0"/>
                <a:ea typeface="Calibri" pitchFamily="34" charset="-122"/>
                <a:cs typeface="Calibri" pitchFamily="34" charset="-120"/>
              </a:rPr>
              <a:t>ديلكس · DEALIX</a:t>
            </a:r>
            <a:endParaRPr lang="en-US" sz="1300" dirty="0"/>
          </a:p>
        </p:txBody>
      </p:sp>
      <p:sp>
        <p:nvSpPr>
          <p:cNvPr id="4" name="Text 2"/>
          <p:cNvSpPr/>
          <p:nvPr/>
        </p:nvSpPr>
        <p:spPr>
          <a:xfrm>
            <a:off x="548640" y="1463040"/>
            <a:ext cx="11094415" cy="1005840"/>
          </a:xfrm>
          <a:prstGeom prst="rect">
            <a:avLst/>
          </a:prstGeom>
          <a:noFill/>
          <a:ln/>
        </p:spPr>
        <p:txBody>
          <a:bodyPr wrap="square" rtlCol="0" anchor="ctr"/>
          <a:lstStyle/>
          <a:p>
            <a:pPr rtl="1" algn="r" indent="0" marL="0">
              <a:buNone/>
            </a:pPr>
            <a:r>
              <a:rPr lang="en-US" sz="8400" b="1" dirty="0">
                <a:solidFill>
                  <a:srgbClr val="F5F5F5"/>
                </a:solidFill>
                <a:latin typeface="Calibri" pitchFamily="34" charset="0"/>
                <a:ea typeface="Calibri" pitchFamily="34" charset="-122"/>
                <a:cs typeface="Calibri" pitchFamily="34" charset="-120"/>
              </a:rPr>
              <a:t>ديلكس</a:t>
            </a:r>
            <a:endParaRPr lang="en-US" sz="8400" dirty="0"/>
          </a:p>
        </p:txBody>
      </p:sp>
      <p:sp>
        <p:nvSpPr>
          <p:cNvPr id="5" name="Text 3"/>
          <p:cNvSpPr/>
          <p:nvPr/>
        </p:nvSpPr>
        <p:spPr>
          <a:xfrm>
            <a:off x="548640" y="2514600"/>
            <a:ext cx="11094415" cy="640080"/>
          </a:xfrm>
          <a:prstGeom prst="rect">
            <a:avLst/>
          </a:prstGeom>
          <a:noFill/>
          <a:ln/>
        </p:spPr>
        <p:txBody>
          <a:bodyPr wrap="square" rtlCol="0" anchor="ctr"/>
          <a:lstStyle/>
          <a:p>
            <a:pPr rtl="1" algn="r" indent="0" marL="0">
              <a:buNone/>
            </a:pPr>
            <a:r>
              <a:rPr lang="en-US" sz="3000" b="1" dirty="0">
                <a:solidFill>
                  <a:srgbClr val="D4A574"/>
                </a:solidFill>
                <a:latin typeface="Calibri" pitchFamily="34" charset="0"/>
                <a:ea typeface="Calibri" pitchFamily="34" charset="-122"/>
                <a:cs typeface="Calibri" pitchFamily="34" charset="-120"/>
              </a:rPr>
              <a:t>نظام تشغيل الإيراد الذكي لقطاع اللوجستيات</a:t>
            </a:r>
            <a:endParaRPr lang="en-US" sz="3000" dirty="0"/>
          </a:p>
        </p:txBody>
      </p:sp>
      <p:sp>
        <p:nvSpPr>
          <p:cNvPr id="6" name="Shape 4"/>
          <p:cNvSpPr/>
          <p:nvPr/>
        </p:nvSpPr>
        <p:spPr>
          <a:xfrm>
            <a:off x="8991295" y="3246120"/>
            <a:ext cx="2651760" cy="32004"/>
          </a:xfrm>
          <a:prstGeom prst="rect">
            <a:avLst/>
          </a:prstGeom>
          <a:solidFill>
            <a:srgbClr val="D4A574"/>
          </a:solidFill>
          <a:ln/>
        </p:spPr>
      </p:sp>
      <p:sp>
        <p:nvSpPr>
          <p:cNvPr id="7" name="Text 5"/>
          <p:cNvSpPr/>
          <p:nvPr/>
        </p:nvSpPr>
        <p:spPr>
          <a:xfrm>
            <a:off x="548640" y="3429000"/>
            <a:ext cx="11094415" cy="502920"/>
          </a:xfrm>
          <a:prstGeom prst="rect">
            <a:avLst/>
          </a:prstGeom>
          <a:noFill/>
          <a:ln/>
        </p:spPr>
        <p:txBody>
          <a:bodyPr wrap="square" rtlCol="0" anchor="ctr"/>
          <a:lstStyle/>
          <a:p>
            <a:pPr rtl="1" algn="r" indent="0" marL="0">
              <a:buNone/>
            </a:pPr>
            <a:r>
              <a:rPr lang="en-US" sz="2200" i="1" dirty="0">
                <a:solidFill>
                  <a:srgbClr val="B9C2CD"/>
                </a:solidFill>
                <a:latin typeface="Georgia" pitchFamily="34" charset="0"/>
                <a:ea typeface="Georgia" pitchFamily="34" charset="-122"/>
                <a:cs typeface="Georgia" pitchFamily="34" charset="-120"/>
              </a:rPr>
              <a:t>من التندر إلى التوقيع... آلياً</a:t>
            </a:r>
            <a:endParaRPr lang="en-US" sz="2200" dirty="0"/>
          </a:p>
        </p:txBody>
      </p:sp>
      <p:sp>
        <p:nvSpPr>
          <p:cNvPr id="8" name="Text 6"/>
          <p:cNvSpPr/>
          <p:nvPr/>
        </p:nvSpPr>
        <p:spPr>
          <a:xfrm>
            <a:off x="548640" y="4114800"/>
            <a:ext cx="11094415" cy="365760"/>
          </a:xfrm>
          <a:prstGeom prst="rect">
            <a:avLst/>
          </a:prstGeom>
          <a:noFill/>
          <a:ln/>
        </p:spPr>
        <p:txBody>
          <a:bodyPr wrap="square" rtlCol="0" anchor="ctr"/>
          <a:lstStyle/>
          <a:p>
            <a:pPr rtl="1" algn="r" indent="0" marL="0">
              <a:buNone/>
            </a:pPr>
            <a:r>
              <a:rPr lang="en-US" sz="1600" dirty="0">
                <a:solidFill>
                  <a:srgbClr val="B9C2CD"/>
                </a:solidFill>
                <a:latin typeface="Calibri" pitchFamily="34" charset="0"/>
                <a:ea typeface="Calibri" pitchFamily="34" charset="-122"/>
                <a:cs typeface="Calibri" pitchFamily="34" charset="-120"/>
              </a:rPr>
              <a:t>ذكاء · تواصل · تنفيذ</a:t>
            </a:r>
            <a:endParaRPr lang="en-US" sz="1600" dirty="0"/>
          </a:p>
        </p:txBody>
      </p:sp>
      <p:sp>
        <p:nvSpPr>
          <p:cNvPr id="9" name="Shape 7"/>
          <p:cNvSpPr/>
          <p:nvPr/>
        </p:nvSpPr>
        <p:spPr>
          <a:xfrm>
            <a:off x="6613855" y="5166360"/>
            <a:ext cx="5029200" cy="27432"/>
          </a:xfrm>
          <a:prstGeom prst="rect">
            <a:avLst/>
          </a:prstGeom>
          <a:solidFill>
            <a:srgbClr val="D4A574"/>
          </a:solidFill>
          <a:ln/>
        </p:spPr>
      </p:sp>
      <p:sp>
        <p:nvSpPr>
          <p:cNvPr id="10" name="Text 8"/>
          <p:cNvSpPr/>
          <p:nvPr/>
        </p:nvSpPr>
        <p:spPr>
          <a:xfrm>
            <a:off x="6156655" y="5303520"/>
            <a:ext cx="5486400" cy="365760"/>
          </a:xfrm>
          <a:prstGeom prst="rect">
            <a:avLst/>
          </a:prstGeom>
          <a:noFill/>
          <a:ln/>
        </p:spPr>
        <p:txBody>
          <a:bodyPr wrap="square" rtlCol="0" anchor="ctr"/>
          <a:lstStyle/>
          <a:p>
            <a:pPr rtl="1" algn="r" indent="0" marL="0">
              <a:buNone/>
            </a:pPr>
            <a:r>
              <a:rPr lang="en-US" sz="1500" b="1" dirty="0">
                <a:solidFill>
                  <a:srgbClr val="F5F5F5"/>
                </a:solidFill>
                <a:latin typeface="Calibri" pitchFamily="34" charset="0"/>
                <a:ea typeface="Calibri" pitchFamily="34" charset="-122"/>
                <a:cs typeface="Calibri" pitchFamily="34" charset="-120"/>
              </a:rPr>
              <a:t>عرض استراتيجي خاص — ربيع 2026</a:t>
            </a:r>
            <a:endParaRPr lang="en-US" sz="1500" dirty="0"/>
          </a:p>
        </p:txBody>
      </p:sp>
      <p:sp>
        <p:nvSpPr>
          <p:cNvPr id="11" name="Text 9"/>
          <p:cNvSpPr/>
          <p:nvPr/>
        </p:nvSpPr>
        <p:spPr>
          <a:xfrm>
            <a:off x="4327855" y="5669280"/>
            <a:ext cx="7315200" cy="320040"/>
          </a:xfrm>
          <a:prstGeom prst="rect">
            <a:avLst/>
          </a:prstGeom>
          <a:noFill/>
          <a:ln/>
        </p:spPr>
        <p:txBody>
          <a:bodyPr wrap="square" rtlCol="0" anchor="ctr"/>
          <a:lstStyle/>
          <a:p>
            <a:pPr rtl="1" algn="r" indent="0" marL="0">
              <a:buNone/>
            </a:pPr>
            <a:r>
              <a:rPr lang="en-US" sz="1200" dirty="0">
                <a:solidFill>
                  <a:srgbClr val="B9C2CD"/>
                </a:solidFill>
                <a:latin typeface="Calibri" pitchFamily="34" charset="0"/>
                <a:ea typeface="Calibri" pitchFamily="34" charset="-122"/>
                <a:cs typeface="Calibri" pitchFamily="34" charset="-120"/>
              </a:rPr>
              <a:t>معدّ لإدارة كبرى شركات اللوجستيات في المملكة ودول الخليج</a:t>
            </a:r>
            <a:endParaRPr lang="en-US" sz="1200" dirty="0"/>
          </a:p>
        </p:txBody>
      </p:sp>
      <p:sp>
        <p:nvSpPr>
          <p:cNvPr id="12" name="Text 10"/>
          <p:cNvSpPr/>
          <p:nvPr/>
        </p:nvSpPr>
        <p:spPr>
          <a:xfrm>
            <a:off x="548640" y="5669280"/>
            <a:ext cx="5669280" cy="320040"/>
          </a:xfrm>
          <a:prstGeom prst="rect">
            <a:avLst/>
          </a:prstGeom>
          <a:noFill/>
          <a:ln/>
        </p:spPr>
        <p:txBody>
          <a:bodyPr wrap="square" rtlCol="0" anchor="ctr"/>
          <a:lstStyle/>
          <a:p>
            <a:pPr algn="l" indent="0" marL="0">
              <a:buNone/>
            </a:pPr>
            <a:r>
              <a:rPr lang="en-US" sz="1200" b="1" dirty="0">
                <a:solidFill>
                  <a:srgbClr val="F5F5F5"/>
                </a:solidFill>
                <a:latin typeface="Calibri" pitchFamily="34" charset="0"/>
                <a:ea typeface="Calibri" pitchFamily="34" charset="-122"/>
                <a:cs typeface="Calibri" pitchFamily="34" charset="-120"/>
              </a:rPr>
              <a:t>سامي العسيري — Sami Assiri · Founder &amp; CEO</a:t>
            </a:r>
            <a:endParaRPr lang="en-US" sz="1200" dirty="0"/>
          </a:p>
        </p:txBody>
      </p:sp>
      <p:sp>
        <p:nvSpPr>
          <p:cNvPr id="13" name="Text 11"/>
          <p:cNvSpPr/>
          <p:nvPr/>
        </p:nvSpPr>
        <p:spPr>
          <a:xfrm>
            <a:off x="548640" y="6035040"/>
            <a:ext cx="5669280" cy="274320"/>
          </a:xfrm>
          <a:prstGeom prst="rect">
            <a:avLst/>
          </a:prstGeom>
          <a:noFill/>
          <a:ln/>
        </p:spPr>
        <p:txBody>
          <a:bodyPr wrap="square" rtlCol="0" anchor="ctr"/>
          <a:lstStyle/>
          <a:p>
            <a:pPr algn="l" indent="0" marL="0">
              <a:buNone/>
            </a:pPr>
            <a:r>
              <a:rPr lang="en-US" sz="1100" dirty="0">
                <a:solidFill>
                  <a:srgbClr val="D4A574"/>
                </a:solidFill>
                <a:latin typeface="Calibri" pitchFamily="34" charset="0"/>
                <a:ea typeface="Calibri" pitchFamily="34" charset="-122"/>
                <a:cs typeface="Calibri" pitchFamily="34" charset="-120"/>
              </a:rPr>
              <a:t>sami.assiri11@gmail.com</a:t>
            </a:r>
            <a:endParaRPr lang="en-US" sz="1100" dirty="0"/>
          </a:p>
        </p:txBody>
      </p:sp>
      <p:sp>
        <p:nvSpPr>
          <p:cNvPr id="14" name="Text 12"/>
          <p:cNvSpPr/>
          <p:nvPr/>
        </p:nvSpPr>
        <p:spPr>
          <a:xfrm>
            <a:off x="10820095" y="6446520"/>
            <a:ext cx="914400" cy="274320"/>
          </a:xfrm>
          <a:prstGeom prst="rect">
            <a:avLst/>
          </a:prstGeom>
          <a:noFill/>
          <a:ln/>
        </p:spPr>
        <p:txBody>
          <a:bodyPr wrap="square" rtlCol="0" anchor="ctr"/>
          <a:lstStyle/>
          <a:p>
            <a:pPr algn="r" indent="0" marL="0">
              <a:buNone/>
            </a:pPr>
            <a:r>
              <a:rPr lang="en-US" sz="900" b="1" dirty="0">
                <a:solidFill>
                  <a:srgbClr val="B9C2CD"/>
                </a:solidFill>
                <a:latin typeface="Calibri" pitchFamily="34" charset="0"/>
                <a:ea typeface="Calibri" pitchFamily="34" charset="-122"/>
                <a:cs typeface="Calibri" pitchFamily="34" charset="-120"/>
              </a:rPr>
              <a:t>01 / 40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3"/>
        </a:solidFill>
      </p:bgPr>
    </p:bg>
    <p:spTree>
      <p:nvGrpSpPr>
        <p:cNvPr id="1" name=""/>
        <p:cNvGrpSpPr/>
        <p:nvPr/>
      </p:nvGrpSpPr>
      <p:grpSpPr>
        <a:xfrm>
          <a:off x="0" y="0"/>
          <a:ext cx="0" cy="0"/>
          <a:chOff x="0" y="0"/>
          <a:chExt cx="0" cy="0"/>
        </a:xfrm>
      </p:grpSpPr>
      <p:sp>
        <p:nvSpPr>
          <p:cNvPr id="2" name="Shape 0"/>
          <p:cNvSpPr/>
          <p:nvPr/>
        </p:nvSpPr>
        <p:spPr>
          <a:xfrm>
            <a:off x="11734495" y="320040"/>
            <a:ext cx="73152" cy="411480"/>
          </a:xfrm>
          <a:prstGeom prst="rect">
            <a:avLst/>
          </a:prstGeom>
          <a:solidFill>
            <a:srgbClr val="D4A574"/>
          </a:solidFill>
          <a:ln/>
        </p:spPr>
      </p:sp>
      <p:sp>
        <p:nvSpPr>
          <p:cNvPr id="3" name="Text 1"/>
          <p:cNvSpPr/>
          <p:nvPr/>
        </p:nvSpPr>
        <p:spPr>
          <a:xfrm>
            <a:off x="8076895" y="274320"/>
            <a:ext cx="3566160" cy="365760"/>
          </a:xfrm>
          <a:prstGeom prst="rect">
            <a:avLst/>
          </a:prstGeom>
          <a:noFill/>
          <a:ln/>
        </p:spPr>
        <p:txBody>
          <a:bodyPr wrap="square" rtlCol="0" anchor="ctr"/>
          <a:lstStyle/>
          <a:p>
            <a:pPr rtl="1" algn="r" indent="0" marL="0">
              <a:buNone/>
            </a:pPr>
            <a:r>
              <a:rPr lang="en-US" sz="1200" b="1" dirty="0">
                <a:solidFill>
                  <a:srgbClr val="55606E"/>
                </a:solidFill>
                <a:latin typeface="Calibri" pitchFamily="34" charset="0"/>
                <a:ea typeface="Calibri" pitchFamily="34" charset="-122"/>
                <a:cs typeface="Calibri" pitchFamily="34" charset="-120"/>
              </a:rPr>
              <a:t>الملخص التنفيذي</a:t>
            </a:r>
            <a:endParaRPr lang="en-US" sz="1200" dirty="0"/>
          </a:p>
        </p:txBody>
      </p:sp>
      <p:sp>
        <p:nvSpPr>
          <p:cNvPr id="4" name="Text 2"/>
          <p:cNvSpPr/>
          <p:nvPr/>
        </p:nvSpPr>
        <p:spPr>
          <a:xfrm>
            <a:off x="457200" y="6446520"/>
            <a:ext cx="2286000" cy="274320"/>
          </a:xfrm>
          <a:prstGeom prst="rect">
            <a:avLst/>
          </a:prstGeom>
          <a:noFill/>
          <a:ln/>
        </p:spPr>
        <p:txBody>
          <a:bodyPr wrap="square" rtlCol="0" anchor="ctr"/>
          <a:lstStyle/>
          <a:p>
            <a:pPr algn="l" indent="0" marL="0">
              <a:buNone/>
            </a:pPr>
            <a:r>
              <a:rPr lang="en-US" sz="900" dirty="0">
                <a:solidFill>
                  <a:srgbClr val="8B95A3"/>
                </a:solidFill>
                <a:latin typeface="Calibri" pitchFamily="34" charset="0"/>
                <a:ea typeface="Calibri" pitchFamily="34" charset="-122"/>
                <a:cs typeface="Calibri" pitchFamily="34" charset="-120"/>
              </a:rPr>
              <a:t>Dealix · ديلكس</a:t>
            </a:r>
            <a:endParaRPr lang="en-US" sz="900" dirty="0"/>
          </a:p>
        </p:txBody>
      </p:sp>
      <p:sp>
        <p:nvSpPr>
          <p:cNvPr id="5" name="Text 3"/>
          <p:cNvSpPr/>
          <p:nvPr/>
        </p:nvSpPr>
        <p:spPr>
          <a:xfrm>
            <a:off x="11094415" y="6446520"/>
            <a:ext cx="640080" cy="274320"/>
          </a:xfrm>
          <a:prstGeom prst="rect">
            <a:avLst/>
          </a:prstGeom>
          <a:noFill/>
          <a:ln/>
        </p:spPr>
        <p:txBody>
          <a:bodyPr wrap="square" rtlCol="0" anchor="ctr"/>
          <a:lstStyle/>
          <a:p>
            <a:pPr algn="r" indent="0" marL="0">
              <a:buNone/>
            </a:pPr>
            <a:r>
              <a:rPr lang="en-US" sz="900" b="1" dirty="0">
                <a:solidFill>
                  <a:srgbClr val="8B95A3"/>
                </a:solidFill>
                <a:latin typeface="Calibri" pitchFamily="34" charset="0"/>
                <a:ea typeface="Calibri" pitchFamily="34" charset="-122"/>
                <a:cs typeface="Calibri" pitchFamily="34" charset="-120"/>
              </a:rPr>
              <a:t>02</a:t>
            </a:r>
            <a:endParaRPr lang="en-US" sz="900" dirty="0"/>
          </a:p>
        </p:txBody>
      </p:sp>
      <p:sp>
        <p:nvSpPr>
          <p:cNvPr id="6" name="Text 4"/>
          <p:cNvSpPr/>
          <p:nvPr/>
        </p:nvSpPr>
        <p:spPr>
          <a:xfrm>
            <a:off x="548640" y="914400"/>
            <a:ext cx="11094415" cy="822960"/>
          </a:xfrm>
          <a:prstGeom prst="rect">
            <a:avLst/>
          </a:prstGeom>
          <a:noFill/>
          <a:ln/>
        </p:spPr>
        <p:txBody>
          <a:bodyPr wrap="square" rtlCol="0" anchor="ctr"/>
          <a:lstStyle/>
          <a:p>
            <a:pPr rtl="1" algn="r" indent="0" marL="0">
              <a:buNone/>
            </a:pPr>
            <a:r>
              <a:rPr lang="en-US" sz="3400" b="1" dirty="0">
                <a:solidFill>
                  <a:srgbClr val="0A1628"/>
                </a:solidFill>
                <a:latin typeface="Calibri" pitchFamily="34" charset="0"/>
                <a:ea typeface="Calibri" pitchFamily="34" charset="-122"/>
                <a:cs typeface="Calibri" pitchFamily="34" charset="-120"/>
              </a:rPr>
              <a:t>الملخص التنفيذي — بخمس أرقام</a:t>
            </a:r>
            <a:endParaRPr lang="en-US" sz="3400" dirty="0"/>
          </a:p>
        </p:txBody>
      </p:sp>
      <p:sp>
        <p:nvSpPr>
          <p:cNvPr id="7" name="Text 5"/>
          <p:cNvSpPr/>
          <p:nvPr/>
        </p:nvSpPr>
        <p:spPr>
          <a:xfrm>
            <a:off x="548640" y="1691640"/>
            <a:ext cx="11094415" cy="411480"/>
          </a:xfrm>
          <a:prstGeom prst="rect">
            <a:avLst/>
          </a:prstGeom>
          <a:noFill/>
          <a:ln/>
        </p:spPr>
        <p:txBody>
          <a:bodyPr wrap="square" rtlCol="0" anchor="ctr"/>
          <a:lstStyle/>
          <a:p>
            <a:pPr rtl="1" algn="r" indent="0" marL="0">
              <a:buNone/>
            </a:pPr>
            <a:r>
              <a:rPr lang="en-US" sz="1500" dirty="0">
                <a:solidFill>
                  <a:srgbClr val="55606E"/>
                </a:solidFill>
                <a:latin typeface="Calibri" pitchFamily="34" charset="0"/>
                <a:ea typeface="Calibri" pitchFamily="34" charset="-122"/>
                <a:cs typeface="Calibri" pitchFamily="34" charset="-120"/>
              </a:rPr>
              <a:t>ديلكس منصة متكاملة لاكتشاف التندرات وتأهيلها والإغلاق الآلي — مصمّمة لبيئة اللوجستيات السعودية والخليجية</a:t>
            </a:r>
            <a:endParaRPr lang="en-US" sz="1500" dirty="0"/>
          </a:p>
        </p:txBody>
      </p:sp>
      <p:sp>
        <p:nvSpPr>
          <p:cNvPr id="8" name="Shape 6"/>
          <p:cNvSpPr/>
          <p:nvPr/>
        </p:nvSpPr>
        <p:spPr>
          <a:xfrm>
            <a:off x="8991295" y="2468880"/>
            <a:ext cx="2651760" cy="2011680"/>
          </a:xfrm>
          <a:prstGeom prst="rect">
            <a:avLst/>
          </a:prstGeom>
          <a:solidFill>
            <a:srgbClr val="FFFFFF"/>
          </a:solidFill>
          <a:ln w="12700">
            <a:solidFill>
              <a:srgbClr val="E8E3D6"/>
            </a:solidFill>
            <a:prstDash val="solid"/>
          </a:ln>
        </p:spPr>
      </p:sp>
      <p:sp>
        <p:nvSpPr>
          <p:cNvPr id="9" name="Text 7"/>
          <p:cNvSpPr/>
          <p:nvPr/>
        </p:nvSpPr>
        <p:spPr>
          <a:xfrm>
            <a:off x="9082735" y="2606040"/>
            <a:ext cx="2468880" cy="1005840"/>
          </a:xfrm>
          <a:prstGeom prst="rect">
            <a:avLst/>
          </a:prstGeom>
          <a:noFill/>
          <a:ln/>
        </p:spPr>
        <p:txBody>
          <a:bodyPr wrap="square" rtlCol="0" anchor="ctr"/>
          <a:lstStyle/>
          <a:p>
            <a:pPr rtl="1" algn="r" indent="0" marL="0">
              <a:buNone/>
            </a:pPr>
            <a:r>
              <a:rPr lang="en-US" sz="5600" b="1" dirty="0">
                <a:solidFill>
                  <a:srgbClr val="0A1628"/>
                </a:solidFill>
                <a:latin typeface="Calibri" pitchFamily="34" charset="0"/>
                <a:ea typeface="Calibri" pitchFamily="34" charset="-122"/>
                <a:cs typeface="Calibri" pitchFamily="34" charset="-120"/>
              </a:rPr>
              <a:t>60%</a:t>
            </a:r>
            <a:endParaRPr lang="en-US" sz="5600" dirty="0"/>
          </a:p>
        </p:txBody>
      </p:sp>
      <p:sp>
        <p:nvSpPr>
          <p:cNvPr id="10" name="Shape 8"/>
          <p:cNvSpPr/>
          <p:nvPr/>
        </p:nvSpPr>
        <p:spPr>
          <a:xfrm>
            <a:off x="10820095" y="3611880"/>
            <a:ext cx="548640" cy="27432"/>
          </a:xfrm>
          <a:prstGeom prst="rect">
            <a:avLst/>
          </a:prstGeom>
          <a:solidFill>
            <a:srgbClr val="D4A574"/>
          </a:solidFill>
          <a:ln/>
        </p:spPr>
      </p:sp>
      <p:sp>
        <p:nvSpPr>
          <p:cNvPr id="11" name="Text 9"/>
          <p:cNvSpPr/>
          <p:nvPr/>
        </p:nvSpPr>
        <p:spPr>
          <a:xfrm>
            <a:off x="9174175" y="3703320"/>
            <a:ext cx="2468880" cy="685800"/>
          </a:xfrm>
          <a:prstGeom prst="rect">
            <a:avLst/>
          </a:prstGeom>
          <a:noFill/>
          <a:ln/>
        </p:spPr>
        <p:txBody>
          <a:bodyPr wrap="square" rtlCol="0" anchor="t"/>
          <a:lstStyle/>
          <a:p>
            <a:pPr rtl="1" algn="r" indent="0" marL="0">
              <a:buNone/>
            </a:pPr>
            <a:r>
              <a:rPr lang="en-US" sz="1200" dirty="0">
                <a:solidFill>
                  <a:srgbClr val="55606E"/>
                </a:solidFill>
                <a:latin typeface="Calibri" pitchFamily="34" charset="0"/>
                <a:ea typeface="Calibri" pitchFamily="34" charset="-122"/>
                <a:cs typeface="Calibri" pitchFamily="34" charset="-120"/>
              </a:rPr>
              <a:t>تسريع زمن الاستجابة للتندرات (RFP)</a:t>
            </a:r>
            <a:endParaRPr lang="en-US" sz="1200" dirty="0"/>
          </a:p>
        </p:txBody>
      </p:sp>
      <p:sp>
        <p:nvSpPr>
          <p:cNvPr id="12" name="Shape 10"/>
          <p:cNvSpPr/>
          <p:nvPr/>
        </p:nvSpPr>
        <p:spPr>
          <a:xfrm>
            <a:off x="6248095" y="2468880"/>
            <a:ext cx="2651760" cy="2011680"/>
          </a:xfrm>
          <a:prstGeom prst="rect">
            <a:avLst/>
          </a:prstGeom>
          <a:solidFill>
            <a:srgbClr val="FFFFFF"/>
          </a:solidFill>
          <a:ln w="12700">
            <a:solidFill>
              <a:srgbClr val="E8E3D6"/>
            </a:solidFill>
            <a:prstDash val="solid"/>
          </a:ln>
        </p:spPr>
      </p:sp>
      <p:sp>
        <p:nvSpPr>
          <p:cNvPr id="13" name="Text 11"/>
          <p:cNvSpPr/>
          <p:nvPr/>
        </p:nvSpPr>
        <p:spPr>
          <a:xfrm>
            <a:off x="6339535" y="2606040"/>
            <a:ext cx="2468880" cy="1005840"/>
          </a:xfrm>
          <a:prstGeom prst="rect">
            <a:avLst/>
          </a:prstGeom>
          <a:noFill/>
          <a:ln/>
        </p:spPr>
        <p:txBody>
          <a:bodyPr wrap="square" rtlCol="0" anchor="ctr"/>
          <a:lstStyle/>
          <a:p>
            <a:pPr rtl="1" algn="r" indent="0" marL="0">
              <a:buNone/>
            </a:pPr>
            <a:r>
              <a:rPr lang="en-US" sz="5600" b="1" dirty="0">
                <a:solidFill>
                  <a:srgbClr val="0A1628"/>
                </a:solidFill>
                <a:latin typeface="Calibri" pitchFamily="34" charset="0"/>
                <a:ea typeface="Calibri" pitchFamily="34" charset="-122"/>
                <a:cs typeface="Calibri" pitchFamily="34" charset="-120"/>
              </a:rPr>
              <a:t>35%</a:t>
            </a:r>
            <a:endParaRPr lang="en-US" sz="5600" dirty="0"/>
          </a:p>
        </p:txBody>
      </p:sp>
      <p:sp>
        <p:nvSpPr>
          <p:cNvPr id="14" name="Shape 12"/>
          <p:cNvSpPr/>
          <p:nvPr/>
        </p:nvSpPr>
        <p:spPr>
          <a:xfrm>
            <a:off x="8076895" y="3611880"/>
            <a:ext cx="548640" cy="27432"/>
          </a:xfrm>
          <a:prstGeom prst="rect">
            <a:avLst/>
          </a:prstGeom>
          <a:solidFill>
            <a:srgbClr val="D4A574"/>
          </a:solidFill>
          <a:ln/>
        </p:spPr>
      </p:sp>
      <p:sp>
        <p:nvSpPr>
          <p:cNvPr id="15" name="Text 13"/>
          <p:cNvSpPr/>
          <p:nvPr/>
        </p:nvSpPr>
        <p:spPr>
          <a:xfrm>
            <a:off x="6430975" y="3703320"/>
            <a:ext cx="2468880" cy="685800"/>
          </a:xfrm>
          <a:prstGeom prst="rect">
            <a:avLst/>
          </a:prstGeom>
          <a:noFill/>
          <a:ln/>
        </p:spPr>
        <p:txBody>
          <a:bodyPr wrap="square" rtlCol="0" anchor="t"/>
          <a:lstStyle/>
          <a:p>
            <a:pPr rtl="1" algn="r" indent="0" marL="0">
              <a:buNone/>
            </a:pPr>
            <a:r>
              <a:rPr lang="en-US" sz="1200" dirty="0">
                <a:solidFill>
                  <a:srgbClr val="55606E"/>
                </a:solidFill>
                <a:latin typeface="Calibri" pitchFamily="34" charset="0"/>
                <a:ea typeface="Calibri" pitchFamily="34" charset="-122"/>
                <a:cs typeface="Calibri" pitchFamily="34" charset="-120"/>
              </a:rPr>
              <a:t>رفع معدّل تحويل العملاء المؤهّلين</a:t>
            </a:r>
            <a:endParaRPr lang="en-US" sz="1200" dirty="0"/>
          </a:p>
        </p:txBody>
      </p:sp>
      <p:sp>
        <p:nvSpPr>
          <p:cNvPr id="16" name="Shape 14"/>
          <p:cNvSpPr/>
          <p:nvPr/>
        </p:nvSpPr>
        <p:spPr>
          <a:xfrm>
            <a:off x="3504895" y="2468880"/>
            <a:ext cx="2651760" cy="2011680"/>
          </a:xfrm>
          <a:prstGeom prst="rect">
            <a:avLst/>
          </a:prstGeom>
          <a:solidFill>
            <a:srgbClr val="FFFFFF"/>
          </a:solidFill>
          <a:ln w="12700">
            <a:solidFill>
              <a:srgbClr val="E8E3D6"/>
            </a:solidFill>
            <a:prstDash val="solid"/>
          </a:ln>
        </p:spPr>
      </p:sp>
      <p:sp>
        <p:nvSpPr>
          <p:cNvPr id="17" name="Text 15"/>
          <p:cNvSpPr/>
          <p:nvPr/>
        </p:nvSpPr>
        <p:spPr>
          <a:xfrm>
            <a:off x="3596335" y="2606040"/>
            <a:ext cx="2468880" cy="1005840"/>
          </a:xfrm>
          <a:prstGeom prst="rect">
            <a:avLst/>
          </a:prstGeom>
          <a:noFill/>
          <a:ln/>
        </p:spPr>
        <p:txBody>
          <a:bodyPr wrap="square" rtlCol="0" anchor="ctr"/>
          <a:lstStyle/>
          <a:p>
            <a:pPr rtl="1" algn="r" indent="0" marL="0">
              <a:buNone/>
            </a:pPr>
            <a:r>
              <a:rPr lang="en-US" sz="5600" b="1" dirty="0">
                <a:solidFill>
                  <a:srgbClr val="0A1628"/>
                </a:solidFill>
                <a:latin typeface="Calibri" pitchFamily="34" charset="0"/>
                <a:ea typeface="Calibri" pitchFamily="34" charset="-122"/>
                <a:cs typeface="Calibri" pitchFamily="34" charset="-120"/>
              </a:rPr>
              <a:t>24/7</a:t>
            </a:r>
            <a:endParaRPr lang="en-US" sz="5600" dirty="0"/>
          </a:p>
        </p:txBody>
      </p:sp>
      <p:sp>
        <p:nvSpPr>
          <p:cNvPr id="18" name="Shape 16"/>
          <p:cNvSpPr/>
          <p:nvPr/>
        </p:nvSpPr>
        <p:spPr>
          <a:xfrm>
            <a:off x="5333695" y="3611880"/>
            <a:ext cx="548640" cy="27432"/>
          </a:xfrm>
          <a:prstGeom prst="rect">
            <a:avLst/>
          </a:prstGeom>
          <a:solidFill>
            <a:srgbClr val="D4A574"/>
          </a:solidFill>
          <a:ln/>
        </p:spPr>
      </p:sp>
      <p:sp>
        <p:nvSpPr>
          <p:cNvPr id="19" name="Text 17"/>
          <p:cNvSpPr/>
          <p:nvPr/>
        </p:nvSpPr>
        <p:spPr>
          <a:xfrm>
            <a:off x="3687775" y="3703320"/>
            <a:ext cx="2468880" cy="685800"/>
          </a:xfrm>
          <a:prstGeom prst="rect">
            <a:avLst/>
          </a:prstGeom>
          <a:noFill/>
          <a:ln/>
        </p:spPr>
        <p:txBody>
          <a:bodyPr wrap="square" rtlCol="0" anchor="t"/>
          <a:lstStyle/>
          <a:p>
            <a:pPr rtl="1" algn="r" indent="0" marL="0">
              <a:buNone/>
            </a:pPr>
            <a:r>
              <a:rPr lang="en-US" sz="1200" dirty="0">
                <a:solidFill>
                  <a:srgbClr val="55606E"/>
                </a:solidFill>
                <a:latin typeface="Calibri" pitchFamily="34" charset="0"/>
                <a:ea typeface="Calibri" pitchFamily="34" charset="-122"/>
                <a:cs typeface="Calibri" pitchFamily="34" charset="-120"/>
              </a:rPr>
              <a:t>وكيل محادثة عربي متعدد القنوات</a:t>
            </a:r>
            <a:endParaRPr lang="en-US" sz="1200" dirty="0"/>
          </a:p>
        </p:txBody>
      </p:sp>
      <p:sp>
        <p:nvSpPr>
          <p:cNvPr id="20" name="Shape 18"/>
          <p:cNvSpPr/>
          <p:nvPr/>
        </p:nvSpPr>
        <p:spPr>
          <a:xfrm>
            <a:off x="761695" y="2468880"/>
            <a:ext cx="2651760" cy="2011680"/>
          </a:xfrm>
          <a:prstGeom prst="rect">
            <a:avLst/>
          </a:prstGeom>
          <a:solidFill>
            <a:srgbClr val="FFFFFF"/>
          </a:solidFill>
          <a:ln w="12700">
            <a:solidFill>
              <a:srgbClr val="E8E3D6"/>
            </a:solidFill>
            <a:prstDash val="solid"/>
          </a:ln>
        </p:spPr>
      </p:sp>
      <p:sp>
        <p:nvSpPr>
          <p:cNvPr id="21" name="Text 19"/>
          <p:cNvSpPr/>
          <p:nvPr/>
        </p:nvSpPr>
        <p:spPr>
          <a:xfrm>
            <a:off x="853135" y="2606040"/>
            <a:ext cx="2468880" cy="1005840"/>
          </a:xfrm>
          <a:prstGeom prst="rect">
            <a:avLst/>
          </a:prstGeom>
          <a:noFill/>
          <a:ln/>
        </p:spPr>
        <p:txBody>
          <a:bodyPr wrap="square" rtlCol="0" anchor="ctr"/>
          <a:lstStyle/>
          <a:p>
            <a:pPr rtl="1" algn="r" indent="0" marL="0">
              <a:buNone/>
            </a:pPr>
            <a:r>
              <a:rPr lang="en-US" sz="5600" b="1" dirty="0">
                <a:solidFill>
                  <a:srgbClr val="0A1628"/>
                </a:solidFill>
                <a:latin typeface="Calibri" pitchFamily="34" charset="0"/>
                <a:ea typeface="Calibri" pitchFamily="34" charset="-122"/>
                <a:cs typeface="Calibri" pitchFamily="34" charset="-120"/>
              </a:rPr>
              <a:t>8+</a:t>
            </a:r>
            <a:endParaRPr lang="en-US" sz="5600" dirty="0"/>
          </a:p>
        </p:txBody>
      </p:sp>
      <p:sp>
        <p:nvSpPr>
          <p:cNvPr id="22" name="Shape 20"/>
          <p:cNvSpPr/>
          <p:nvPr/>
        </p:nvSpPr>
        <p:spPr>
          <a:xfrm>
            <a:off x="2590495" y="3611880"/>
            <a:ext cx="548640" cy="27432"/>
          </a:xfrm>
          <a:prstGeom prst="rect">
            <a:avLst/>
          </a:prstGeom>
          <a:solidFill>
            <a:srgbClr val="D4A574"/>
          </a:solidFill>
          <a:ln/>
        </p:spPr>
      </p:sp>
      <p:sp>
        <p:nvSpPr>
          <p:cNvPr id="23" name="Text 21"/>
          <p:cNvSpPr/>
          <p:nvPr/>
        </p:nvSpPr>
        <p:spPr>
          <a:xfrm>
            <a:off x="944575" y="3703320"/>
            <a:ext cx="2468880" cy="685800"/>
          </a:xfrm>
          <a:prstGeom prst="rect">
            <a:avLst/>
          </a:prstGeom>
          <a:noFill/>
          <a:ln/>
        </p:spPr>
        <p:txBody>
          <a:bodyPr wrap="square" rtlCol="0" anchor="t"/>
          <a:lstStyle/>
          <a:p>
            <a:pPr rtl="1" algn="r" indent="0" marL="0">
              <a:buNone/>
            </a:pPr>
            <a:r>
              <a:rPr lang="en-US" sz="1200" dirty="0">
                <a:solidFill>
                  <a:srgbClr val="55606E"/>
                </a:solidFill>
                <a:latin typeface="Calibri" pitchFamily="34" charset="0"/>
                <a:ea typeface="Calibri" pitchFamily="34" charset="-122"/>
                <a:cs typeface="Calibri" pitchFamily="34" charset="-120"/>
              </a:rPr>
              <a:t>مصادر اكتشاف عملاء محلية وخليجية</a:t>
            </a:r>
            <a:endParaRPr lang="en-US" sz="1200" dirty="0"/>
          </a:p>
        </p:txBody>
      </p:sp>
      <p:sp>
        <p:nvSpPr>
          <p:cNvPr id="24" name="Shape 22"/>
          <p:cNvSpPr/>
          <p:nvPr/>
        </p:nvSpPr>
        <p:spPr>
          <a:xfrm>
            <a:off x="548640" y="4663440"/>
            <a:ext cx="11094415" cy="1280160"/>
          </a:xfrm>
          <a:prstGeom prst="rect">
            <a:avLst/>
          </a:prstGeom>
          <a:solidFill>
            <a:srgbClr val="0A1628"/>
          </a:solidFill>
          <a:ln/>
        </p:spPr>
      </p:sp>
      <p:sp>
        <p:nvSpPr>
          <p:cNvPr id="25" name="Shape 23"/>
          <p:cNvSpPr/>
          <p:nvPr/>
        </p:nvSpPr>
        <p:spPr>
          <a:xfrm>
            <a:off x="548640" y="4663440"/>
            <a:ext cx="73152" cy="1280160"/>
          </a:xfrm>
          <a:prstGeom prst="rect">
            <a:avLst/>
          </a:prstGeom>
          <a:solidFill>
            <a:srgbClr val="D4A574"/>
          </a:solidFill>
          <a:ln/>
        </p:spPr>
      </p:sp>
      <p:sp>
        <p:nvSpPr>
          <p:cNvPr id="26" name="Text 24"/>
          <p:cNvSpPr/>
          <p:nvPr/>
        </p:nvSpPr>
        <p:spPr>
          <a:xfrm>
            <a:off x="822960" y="4754880"/>
            <a:ext cx="5029200" cy="685800"/>
          </a:xfrm>
          <a:prstGeom prst="rect">
            <a:avLst/>
          </a:prstGeom>
          <a:noFill/>
          <a:ln/>
        </p:spPr>
        <p:txBody>
          <a:bodyPr wrap="square" rtlCol="0" anchor="ctr"/>
          <a:lstStyle/>
          <a:p>
            <a:pPr algn="l" indent="0" marL="0">
              <a:buNone/>
            </a:pPr>
            <a:r>
              <a:rPr lang="en-US" sz="3000" b="1" dirty="0">
                <a:solidFill>
                  <a:srgbClr val="D4A574"/>
                </a:solidFill>
                <a:latin typeface="Calibri" pitchFamily="34" charset="0"/>
                <a:ea typeface="Calibri" pitchFamily="34" charset="-122"/>
                <a:cs typeface="Calibri" pitchFamily="34" charset="-120"/>
              </a:rPr>
              <a:t>أثر إيرادي ملموس خلال 12 شهر</a:t>
            </a:r>
            <a:endParaRPr lang="en-US" sz="3000" dirty="0"/>
          </a:p>
        </p:txBody>
      </p:sp>
      <p:sp>
        <p:nvSpPr>
          <p:cNvPr id="27" name="Text 25"/>
          <p:cNvSpPr/>
          <p:nvPr/>
        </p:nvSpPr>
        <p:spPr>
          <a:xfrm>
            <a:off x="5852160" y="4800600"/>
            <a:ext cx="5669280" cy="1051560"/>
          </a:xfrm>
          <a:prstGeom prst="rect">
            <a:avLst/>
          </a:prstGeom>
          <a:noFill/>
          <a:ln/>
        </p:spPr>
        <p:txBody>
          <a:bodyPr wrap="square" rtlCol="0" anchor="ctr"/>
          <a:lstStyle/>
          <a:p>
            <a:pPr rtl="1" algn="r" indent="0" marL="0">
              <a:buNone/>
            </a:pPr>
            <a:r>
              <a:rPr lang="en-US" sz="1300" dirty="0">
                <a:solidFill>
                  <a:srgbClr val="F5F5F5"/>
                </a:solidFill>
                <a:latin typeface="Calibri" pitchFamily="34" charset="0"/>
                <a:ea typeface="Calibri" pitchFamily="34" charset="-122"/>
                <a:cs typeface="Calibri" pitchFamily="34" charset="-120"/>
              </a:rPr>
              <a:t>استرداد الصفقات المتسرّبة + تسريع دورة البيع + رفع معدّل الفوز = نمو مستدام في خط الإيراد لشركات اللوجستيات بحجمكم</a:t>
            </a:r>
            <a:endParaRPr lang="en-US" sz="1300" dirty="0"/>
          </a:p>
        </p:txBody>
      </p:sp>
      <p:sp>
        <p:nvSpPr>
          <p:cNvPr id="28" name="Text 26"/>
          <p:cNvSpPr/>
          <p:nvPr/>
        </p:nvSpPr>
        <p:spPr>
          <a:xfrm>
            <a:off x="457200" y="6172200"/>
            <a:ext cx="10362895" cy="256032"/>
          </a:xfrm>
          <a:prstGeom prst="rect">
            <a:avLst/>
          </a:prstGeom>
          <a:noFill/>
          <a:ln/>
        </p:spPr>
        <p:txBody>
          <a:bodyPr wrap="square" rtlCol="0" anchor="ctr"/>
          <a:lstStyle/>
          <a:p>
            <a:pPr rtl="1" algn="r" indent="0" marL="0">
              <a:buNone/>
            </a:pPr>
            <a:r>
              <a:rPr lang="en-US" sz="900" dirty="0">
                <a:solidFill>
                  <a:srgbClr val="8B95A3"/>
                </a:solidFill>
                <a:latin typeface="Calibri" pitchFamily="34" charset="0"/>
                <a:ea typeface="Calibri" pitchFamily="34" charset="-122"/>
                <a:cs typeface="Calibri" pitchFamily="34" charset="-120"/>
              </a:rPr>
              <a:t>المصدر: </a:t>
            </a:r>
            <a:pPr rtl="1" algn="r" indent="0" marL="0">
              <a:buNone/>
            </a:pPr>
            <a:r>
              <a:rPr lang="en-US" sz="900" u="sng" dirty="0">
                <a:solidFill>
                  <a:srgbClr val="B8874C"/>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Grand View Research</a:t>
            </a:r>
            <a:pPr algn="r" indent="0" marL="0">
              <a:buNone/>
            </a:pPr>
            <a:r>
              <a:rPr lang="en-US" sz="900" dirty="0">
                <a:solidFill>
                  <a:srgbClr val="8B95A3"/>
                </a:solidFill>
                <a:latin typeface="Calibri" pitchFamily="34" charset="0"/>
                <a:ea typeface="Calibri" pitchFamily="34" charset="-122"/>
                <a:cs typeface="Calibri" pitchFamily="34" charset="-120"/>
              </a:rPr>
              <a:t> · </a:t>
            </a:r>
            <a:pPr rtl="1" algn="r" indent="0" marL="0">
              <a:buNone/>
            </a:pPr>
            <a:r>
              <a:rPr lang="en-US" sz="900" u="sng" dirty="0">
                <a:solidFill>
                  <a:srgbClr val="B8874C"/>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Saudi Vision 2030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3"/>
        </a:solidFill>
      </p:bgPr>
    </p:bg>
    <p:spTree>
      <p:nvGrpSpPr>
        <p:cNvPr id="1" name=""/>
        <p:cNvGrpSpPr/>
        <p:nvPr/>
      </p:nvGrpSpPr>
      <p:grpSpPr>
        <a:xfrm>
          <a:off x="0" y="0"/>
          <a:ext cx="0" cy="0"/>
          <a:chOff x="0" y="0"/>
          <a:chExt cx="0" cy="0"/>
        </a:xfrm>
      </p:grpSpPr>
      <p:sp>
        <p:nvSpPr>
          <p:cNvPr id="2" name="Shape 0"/>
          <p:cNvSpPr/>
          <p:nvPr/>
        </p:nvSpPr>
        <p:spPr>
          <a:xfrm>
            <a:off x="11734495" y="320040"/>
            <a:ext cx="73152" cy="411480"/>
          </a:xfrm>
          <a:prstGeom prst="rect">
            <a:avLst/>
          </a:prstGeom>
          <a:solidFill>
            <a:srgbClr val="D4A574"/>
          </a:solidFill>
          <a:ln/>
        </p:spPr>
      </p:sp>
      <p:sp>
        <p:nvSpPr>
          <p:cNvPr id="3" name="Text 1"/>
          <p:cNvSpPr/>
          <p:nvPr/>
        </p:nvSpPr>
        <p:spPr>
          <a:xfrm>
            <a:off x="8076895" y="274320"/>
            <a:ext cx="3566160" cy="365760"/>
          </a:xfrm>
          <a:prstGeom prst="rect">
            <a:avLst/>
          </a:prstGeom>
          <a:noFill/>
          <a:ln/>
        </p:spPr>
        <p:txBody>
          <a:bodyPr wrap="square" rtlCol="0" anchor="ctr"/>
          <a:lstStyle/>
          <a:p>
            <a:pPr rtl="1" algn="r" indent="0" marL="0">
              <a:buNone/>
            </a:pPr>
            <a:r>
              <a:rPr lang="en-US" sz="1200" b="1" dirty="0">
                <a:solidFill>
                  <a:srgbClr val="55606E"/>
                </a:solidFill>
                <a:latin typeface="Calibri" pitchFamily="34" charset="0"/>
                <a:ea typeface="Calibri" pitchFamily="34" charset="-122"/>
                <a:cs typeface="Calibri" pitchFamily="34" charset="-120"/>
              </a:rPr>
              <a:t>لماذا الآن</a:t>
            </a:r>
            <a:endParaRPr lang="en-US" sz="1200" dirty="0"/>
          </a:p>
        </p:txBody>
      </p:sp>
      <p:sp>
        <p:nvSpPr>
          <p:cNvPr id="4" name="Text 2"/>
          <p:cNvSpPr/>
          <p:nvPr/>
        </p:nvSpPr>
        <p:spPr>
          <a:xfrm>
            <a:off x="457200" y="6446520"/>
            <a:ext cx="2286000" cy="274320"/>
          </a:xfrm>
          <a:prstGeom prst="rect">
            <a:avLst/>
          </a:prstGeom>
          <a:noFill/>
          <a:ln/>
        </p:spPr>
        <p:txBody>
          <a:bodyPr wrap="square" rtlCol="0" anchor="ctr"/>
          <a:lstStyle/>
          <a:p>
            <a:pPr algn="l" indent="0" marL="0">
              <a:buNone/>
            </a:pPr>
            <a:r>
              <a:rPr lang="en-US" sz="900" dirty="0">
                <a:solidFill>
                  <a:srgbClr val="8B95A3"/>
                </a:solidFill>
                <a:latin typeface="Calibri" pitchFamily="34" charset="0"/>
                <a:ea typeface="Calibri" pitchFamily="34" charset="-122"/>
                <a:cs typeface="Calibri" pitchFamily="34" charset="-120"/>
              </a:rPr>
              <a:t>Dealix · ديلكس</a:t>
            </a:r>
            <a:endParaRPr lang="en-US" sz="900" dirty="0"/>
          </a:p>
        </p:txBody>
      </p:sp>
      <p:sp>
        <p:nvSpPr>
          <p:cNvPr id="5" name="Text 3"/>
          <p:cNvSpPr/>
          <p:nvPr/>
        </p:nvSpPr>
        <p:spPr>
          <a:xfrm>
            <a:off x="11094415" y="6446520"/>
            <a:ext cx="640080" cy="274320"/>
          </a:xfrm>
          <a:prstGeom prst="rect">
            <a:avLst/>
          </a:prstGeom>
          <a:noFill/>
          <a:ln/>
        </p:spPr>
        <p:txBody>
          <a:bodyPr wrap="square" rtlCol="0" anchor="ctr"/>
          <a:lstStyle/>
          <a:p>
            <a:pPr algn="r" indent="0" marL="0">
              <a:buNone/>
            </a:pPr>
            <a:r>
              <a:rPr lang="en-US" sz="900" b="1" dirty="0">
                <a:solidFill>
                  <a:srgbClr val="8B95A3"/>
                </a:solidFill>
                <a:latin typeface="Calibri" pitchFamily="34" charset="0"/>
                <a:ea typeface="Calibri" pitchFamily="34" charset="-122"/>
                <a:cs typeface="Calibri" pitchFamily="34" charset="-120"/>
              </a:rPr>
              <a:t>03</a:t>
            </a:r>
            <a:endParaRPr lang="en-US" sz="900" dirty="0"/>
          </a:p>
        </p:txBody>
      </p:sp>
      <p:sp>
        <p:nvSpPr>
          <p:cNvPr id="6" name="Text 4"/>
          <p:cNvSpPr/>
          <p:nvPr/>
        </p:nvSpPr>
        <p:spPr>
          <a:xfrm>
            <a:off x="548640" y="914400"/>
            <a:ext cx="11094415" cy="822960"/>
          </a:xfrm>
          <a:prstGeom prst="rect">
            <a:avLst/>
          </a:prstGeom>
          <a:noFill/>
          <a:ln/>
        </p:spPr>
        <p:txBody>
          <a:bodyPr wrap="square" rtlCol="0" anchor="ctr"/>
          <a:lstStyle/>
          <a:p>
            <a:pPr rtl="1" algn="r" indent="0" marL="0">
              <a:buNone/>
            </a:pPr>
            <a:r>
              <a:rPr lang="en-US" sz="3400" b="1" dirty="0">
                <a:solidFill>
                  <a:srgbClr val="0A1628"/>
                </a:solidFill>
                <a:latin typeface="Calibri" pitchFamily="34" charset="0"/>
                <a:ea typeface="Calibri" pitchFamily="34" charset="-122"/>
                <a:cs typeface="Calibri" pitchFamily="34" charset="-120"/>
              </a:rPr>
              <a:t>لماذا هذه المحادثة الآن</a:t>
            </a:r>
            <a:endParaRPr lang="en-US" sz="3400" dirty="0"/>
          </a:p>
        </p:txBody>
      </p:sp>
      <p:sp>
        <p:nvSpPr>
          <p:cNvPr id="7" name="Text 5"/>
          <p:cNvSpPr/>
          <p:nvPr/>
        </p:nvSpPr>
        <p:spPr>
          <a:xfrm>
            <a:off x="548640" y="1691640"/>
            <a:ext cx="11094415" cy="411480"/>
          </a:xfrm>
          <a:prstGeom prst="rect">
            <a:avLst/>
          </a:prstGeom>
          <a:noFill/>
          <a:ln/>
        </p:spPr>
        <p:txBody>
          <a:bodyPr wrap="square" rtlCol="0" anchor="ctr"/>
          <a:lstStyle/>
          <a:p>
            <a:pPr rtl="1" algn="r" indent="0" marL="0">
              <a:buNone/>
            </a:pPr>
            <a:r>
              <a:rPr lang="en-US" sz="1500" dirty="0">
                <a:solidFill>
                  <a:srgbClr val="55606E"/>
                </a:solidFill>
                <a:latin typeface="Calibri" pitchFamily="34" charset="0"/>
                <a:ea typeface="Calibri" pitchFamily="34" charset="-122"/>
                <a:cs typeface="Calibri" pitchFamily="34" charset="-120"/>
              </a:rPr>
              <a:t>اللحظة السعودية — قطاع اللوجستيات يعيش أكبر تحوّل منذ تأسيس المملكة</a:t>
            </a:r>
            <a:endParaRPr lang="en-US" sz="1500" dirty="0"/>
          </a:p>
        </p:txBody>
      </p:sp>
      <p:sp>
        <p:nvSpPr>
          <p:cNvPr id="8" name="Shape 6"/>
          <p:cNvSpPr/>
          <p:nvPr/>
        </p:nvSpPr>
        <p:spPr>
          <a:xfrm>
            <a:off x="9040901" y="2423160"/>
            <a:ext cx="2602154" cy="3291840"/>
          </a:xfrm>
          <a:prstGeom prst="rect">
            <a:avLst/>
          </a:prstGeom>
          <a:solidFill>
            <a:srgbClr val="FFFFFF"/>
          </a:solidFill>
          <a:ln w="12700">
            <a:solidFill>
              <a:srgbClr val="E8E3D6"/>
            </a:solidFill>
            <a:prstDash val="solid"/>
          </a:ln>
        </p:spPr>
      </p:sp>
      <p:sp>
        <p:nvSpPr>
          <p:cNvPr id="9" name="Shape 7"/>
          <p:cNvSpPr/>
          <p:nvPr/>
        </p:nvSpPr>
        <p:spPr>
          <a:xfrm>
            <a:off x="9040901" y="2423160"/>
            <a:ext cx="2602154" cy="73152"/>
          </a:xfrm>
          <a:prstGeom prst="rect">
            <a:avLst/>
          </a:prstGeom>
          <a:solidFill>
            <a:srgbClr val="D4A574"/>
          </a:solidFill>
          <a:ln/>
        </p:spPr>
      </p:sp>
      <p:sp>
        <p:nvSpPr>
          <p:cNvPr id="10" name="Text 8"/>
          <p:cNvSpPr/>
          <p:nvPr/>
        </p:nvSpPr>
        <p:spPr>
          <a:xfrm>
            <a:off x="9223781" y="2606040"/>
            <a:ext cx="2236394" cy="365760"/>
          </a:xfrm>
          <a:prstGeom prst="rect">
            <a:avLst/>
          </a:prstGeom>
          <a:noFill/>
          <a:ln/>
        </p:spPr>
        <p:txBody>
          <a:bodyPr wrap="square" rtlCol="0" anchor="ctr"/>
          <a:lstStyle/>
          <a:p>
            <a:pPr rtl="1" algn="r" indent="0" marL="0">
              <a:buNone/>
            </a:pPr>
            <a:r>
              <a:rPr lang="en-US" sz="1200" b="1" dirty="0">
                <a:solidFill>
                  <a:srgbClr val="55606E"/>
                </a:solidFill>
                <a:latin typeface="Calibri" pitchFamily="34" charset="0"/>
                <a:ea typeface="Calibri" pitchFamily="34" charset="-122"/>
                <a:cs typeface="Calibri" pitchFamily="34" charset="-120"/>
              </a:rPr>
              <a:t>رؤية 2030</a:t>
            </a:r>
            <a:endParaRPr lang="en-US" sz="1200" dirty="0"/>
          </a:p>
        </p:txBody>
      </p:sp>
      <p:sp>
        <p:nvSpPr>
          <p:cNvPr id="11" name="Text 9"/>
          <p:cNvSpPr/>
          <p:nvPr/>
        </p:nvSpPr>
        <p:spPr>
          <a:xfrm>
            <a:off x="9223781" y="3063240"/>
            <a:ext cx="2236394" cy="1005840"/>
          </a:xfrm>
          <a:prstGeom prst="rect">
            <a:avLst/>
          </a:prstGeom>
          <a:noFill/>
          <a:ln/>
        </p:spPr>
        <p:txBody>
          <a:bodyPr wrap="square" rtlCol="0" anchor="ctr"/>
          <a:lstStyle/>
          <a:p>
            <a:pPr rtl="1" algn="r" indent="0" marL="0">
              <a:buNone/>
            </a:pPr>
            <a:r>
              <a:rPr lang="en-US" sz="4400" b="1" dirty="0">
                <a:solidFill>
                  <a:srgbClr val="0A1628"/>
                </a:solidFill>
                <a:latin typeface="Calibri" pitchFamily="34" charset="0"/>
                <a:ea typeface="Calibri" pitchFamily="34" charset="-122"/>
                <a:cs typeface="Calibri" pitchFamily="34" charset="-120"/>
              </a:rPr>
              <a:t>10%</a:t>
            </a:r>
            <a:endParaRPr lang="en-US" sz="4400" dirty="0"/>
          </a:p>
        </p:txBody>
      </p:sp>
      <p:sp>
        <p:nvSpPr>
          <p:cNvPr id="12" name="Text 10"/>
          <p:cNvSpPr/>
          <p:nvPr/>
        </p:nvSpPr>
        <p:spPr>
          <a:xfrm>
            <a:off x="9223781" y="4160520"/>
            <a:ext cx="2236394" cy="1417320"/>
          </a:xfrm>
          <a:prstGeom prst="rect">
            <a:avLst/>
          </a:prstGeom>
          <a:noFill/>
          <a:ln/>
        </p:spPr>
        <p:txBody>
          <a:bodyPr wrap="square" rtlCol="0" anchor="t"/>
          <a:lstStyle/>
          <a:p>
            <a:pPr rtl="1" algn="r" indent="0" marL="0">
              <a:buNone/>
            </a:pPr>
            <a:r>
              <a:rPr lang="en-US" sz="1100" dirty="0">
                <a:solidFill>
                  <a:srgbClr val="55606E"/>
                </a:solidFill>
                <a:latin typeface="Calibri" pitchFamily="34" charset="0"/>
                <a:ea typeface="Calibri" pitchFamily="34" charset="-122"/>
                <a:cs typeface="Calibri" pitchFamily="34" charset="-120"/>
              </a:rPr>
              <a:t>هدف مساهمة اللوجستيات في الناتج المحلي 2030 مقابل 6% حالياً</a:t>
            </a:r>
            <a:endParaRPr lang="en-US" sz="1100" dirty="0"/>
          </a:p>
        </p:txBody>
      </p:sp>
      <p:sp>
        <p:nvSpPr>
          <p:cNvPr id="13" name="Shape 11"/>
          <p:cNvSpPr/>
          <p:nvPr/>
        </p:nvSpPr>
        <p:spPr>
          <a:xfrm>
            <a:off x="6210148" y="2423160"/>
            <a:ext cx="2602154" cy="3291840"/>
          </a:xfrm>
          <a:prstGeom prst="rect">
            <a:avLst/>
          </a:prstGeom>
          <a:solidFill>
            <a:srgbClr val="FFFFFF"/>
          </a:solidFill>
          <a:ln w="12700">
            <a:solidFill>
              <a:srgbClr val="E8E3D6"/>
            </a:solidFill>
            <a:prstDash val="solid"/>
          </a:ln>
        </p:spPr>
      </p:sp>
      <p:sp>
        <p:nvSpPr>
          <p:cNvPr id="14" name="Shape 12"/>
          <p:cNvSpPr/>
          <p:nvPr/>
        </p:nvSpPr>
        <p:spPr>
          <a:xfrm>
            <a:off x="6210148" y="2423160"/>
            <a:ext cx="2602154" cy="73152"/>
          </a:xfrm>
          <a:prstGeom prst="rect">
            <a:avLst/>
          </a:prstGeom>
          <a:solidFill>
            <a:srgbClr val="D4A574"/>
          </a:solidFill>
          <a:ln/>
        </p:spPr>
      </p:sp>
      <p:sp>
        <p:nvSpPr>
          <p:cNvPr id="15" name="Text 13"/>
          <p:cNvSpPr/>
          <p:nvPr/>
        </p:nvSpPr>
        <p:spPr>
          <a:xfrm>
            <a:off x="6393028" y="2606040"/>
            <a:ext cx="2236394" cy="365760"/>
          </a:xfrm>
          <a:prstGeom prst="rect">
            <a:avLst/>
          </a:prstGeom>
          <a:noFill/>
          <a:ln/>
        </p:spPr>
        <p:txBody>
          <a:bodyPr wrap="square" rtlCol="0" anchor="ctr"/>
          <a:lstStyle/>
          <a:p>
            <a:pPr rtl="1" algn="r" indent="0" marL="0">
              <a:buNone/>
            </a:pPr>
            <a:r>
              <a:rPr lang="en-US" sz="1200" b="1" dirty="0">
                <a:solidFill>
                  <a:srgbClr val="55606E"/>
                </a:solidFill>
                <a:latin typeface="Calibri" pitchFamily="34" charset="0"/>
                <a:ea typeface="Calibri" pitchFamily="34" charset="-122"/>
                <a:cs typeface="Calibri" pitchFamily="34" charset="-120"/>
              </a:rPr>
              <a:t>حجم السوق</a:t>
            </a:r>
            <a:endParaRPr lang="en-US" sz="1200" dirty="0"/>
          </a:p>
        </p:txBody>
      </p:sp>
      <p:sp>
        <p:nvSpPr>
          <p:cNvPr id="16" name="Text 14"/>
          <p:cNvSpPr/>
          <p:nvPr/>
        </p:nvSpPr>
        <p:spPr>
          <a:xfrm>
            <a:off x="6393028" y="3063240"/>
            <a:ext cx="2236394" cy="1005840"/>
          </a:xfrm>
          <a:prstGeom prst="rect">
            <a:avLst/>
          </a:prstGeom>
          <a:noFill/>
          <a:ln/>
        </p:spPr>
        <p:txBody>
          <a:bodyPr wrap="square" rtlCol="0" anchor="ctr"/>
          <a:lstStyle/>
          <a:p>
            <a:pPr rtl="1" algn="r" indent="0" marL="0">
              <a:buNone/>
            </a:pPr>
            <a:r>
              <a:rPr lang="en-US" sz="4400" b="1" dirty="0">
                <a:solidFill>
                  <a:srgbClr val="0A1628"/>
                </a:solidFill>
                <a:latin typeface="Calibri" pitchFamily="34" charset="0"/>
                <a:ea typeface="Calibri" pitchFamily="34" charset="-122"/>
                <a:cs typeface="Calibri" pitchFamily="34" charset="-120"/>
              </a:rPr>
              <a:t>6.5%</a:t>
            </a:r>
            <a:endParaRPr lang="en-US" sz="4400" dirty="0"/>
          </a:p>
        </p:txBody>
      </p:sp>
      <p:sp>
        <p:nvSpPr>
          <p:cNvPr id="17" name="Text 15"/>
          <p:cNvSpPr/>
          <p:nvPr/>
        </p:nvSpPr>
        <p:spPr>
          <a:xfrm>
            <a:off x="6393028" y="4160520"/>
            <a:ext cx="2236394" cy="1417320"/>
          </a:xfrm>
          <a:prstGeom prst="rect">
            <a:avLst/>
          </a:prstGeom>
          <a:noFill/>
          <a:ln/>
        </p:spPr>
        <p:txBody>
          <a:bodyPr wrap="square" rtlCol="0" anchor="t"/>
          <a:lstStyle/>
          <a:p>
            <a:pPr rtl="1" algn="r" indent="0" marL="0">
              <a:buNone/>
            </a:pPr>
            <a:r>
              <a:rPr lang="en-US" sz="1100" dirty="0">
                <a:solidFill>
                  <a:srgbClr val="55606E"/>
                </a:solidFill>
                <a:latin typeface="Calibri" pitchFamily="34" charset="0"/>
                <a:ea typeface="Calibri" pitchFamily="34" charset="-122"/>
                <a:cs typeface="Calibri" pitchFamily="34" charset="-120"/>
              </a:rPr>
              <a:t>معدّل النمو السنوي المركّب لسوق اللوجستيات السعودي 2025—2030</a:t>
            </a:r>
            <a:endParaRPr lang="en-US" sz="1100" dirty="0"/>
          </a:p>
        </p:txBody>
      </p:sp>
      <p:sp>
        <p:nvSpPr>
          <p:cNvPr id="18" name="Shape 16"/>
          <p:cNvSpPr/>
          <p:nvPr/>
        </p:nvSpPr>
        <p:spPr>
          <a:xfrm>
            <a:off x="3379394" y="2423160"/>
            <a:ext cx="2602154" cy="3291840"/>
          </a:xfrm>
          <a:prstGeom prst="rect">
            <a:avLst/>
          </a:prstGeom>
          <a:solidFill>
            <a:srgbClr val="FFFFFF"/>
          </a:solidFill>
          <a:ln w="12700">
            <a:solidFill>
              <a:srgbClr val="E8E3D6"/>
            </a:solidFill>
            <a:prstDash val="solid"/>
          </a:ln>
        </p:spPr>
      </p:sp>
      <p:sp>
        <p:nvSpPr>
          <p:cNvPr id="19" name="Shape 17"/>
          <p:cNvSpPr/>
          <p:nvPr/>
        </p:nvSpPr>
        <p:spPr>
          <a:xfrm>
            <a:off x="3379394" y="2423160"/>
            <a:ext cx="2602154" cy="73152"/>
          </a:xfrm>
          <a:prstGeom prst="rect">
            <a:avLst/>
          </a:prstGeom>
          <a:solidFill>
            <a:srgbClr val="D4A574"/>
          </a:solidFill>
          <a:ln/>
        </p:spPr>
      </p:sp>
      <p:sp>
        <p:nvSpPr>
          <p:cNvPr id="20" name="Text 18"/>
          <p:cNvSpPr/>
          <p:nvPr/>
        </p:nvSpPr>
        <p:spPr>
          <a:xfrm>
            <a:off x="3562274" y="2606040"/>
            <a:ext cx="2236394" cy="365760"/>
          </a:xfrm>
          <a:prstGeom prst="rect">
            <a:avLst/>
          </a:prstGeom>
          <a:noFill/>
          <a:ln/>
        </p:spPr>
        <p:txBody>
          <a:bodyPr wrap="square" rtlCol="0" anchor="ctr"/>
          <a:lstStyle/>
          <a:p>
            <a:pPr rtl="1" algn="r" indent="0" marL="0">
              <a:buNone/>
            </a:pPr>
            <a:r>
              <a:rPr lang="en-US" sz="1200" b="1" dirty="0">
                <a:solidFill>
                  <a:srgbClr val="55606E"/>
                </a:solidFill>
                <a:latin typeface="Calibri" pitchFamily="34" charset="0"/>
                <a:ea typeface="Calibri" pitchFamily="34" charset="-122"/>
                <a:cs typeface="Calibri" pitchFamily="34" charset="-120"/>
              </a:rPr>
              <a:t>التجارة الإلكترونية</a:t>
            </a:r>
            <a:endParaRPr lang="en-US" sz="1200" dirty="0"/>
          </a:p>
        </p:txBody>
      </p:sp>
      <p:sp>
        <p:nvSpPr>
          <p:cNvPr id="21" name="Text 19"/>
          <p:cNvSpPr/>
          <p:nvPr/>
        </p:nvSpPr>
        <p:spPr>
          <a:xfrm>
            <a:off x="3562274" y="3063240"/>
            <a:ext cx="2236394" cy="1005840"/>
          </a:xfrm>
          <a:prstGeom prst="rect">
            <a:avLst/>
          </a:prstGeom>
          <a:noFill/>
          <a:ln/>
        </p:spPr>
        <p:txBody>
          <a:bodyPr wrap="square" rtlCol="0" anchor="ctr"/>
          <a:lstStyle/>
          <a:p>
            <a:pPr rtl="1" algn="r" indent="0" marL="0">
              <a:buNone/>
            </a:pPr>
            <a:r>
              <a:rPr lang="en-US" sz="4400" b="1" dirty="0">
                <a:solidFill>
                  <a:srgbClr val="0A1628"/>
                </a:solidFill>
                <a:latin typeface="Calibri" pitchFamily="34" charset="0"/>
                <a:ea typeface="Calibri" pitchFamily="34" charset="-122"/>
                <a:cs typeface="Calibri" pitchFamily="34" charset="-120"/>
              </a:rPr>
              <a:t>نمو</a:t>
            </a:r>
            <a:endParaRPr lang="en-US" sz="4400" dirty="0"/>
          </a:p>
        </p:txBody>
      </p:sp>
      <p:sp>
        <p:nvSpPr>
          <p:cNvPr id="22" name="Text 20"/>
          <p:cNvSpPr/>
          <p:nvPr/>
        </p:nvSpPr>
        <p:spPr>
          <a:xfrm>
            <a:off x="3562274" y="4160520"/>
            <a:ext cx="2236394" cy="1417320"/>
          </a:xfrm>
          <a:prstGeom prst="rect">
            <a:avLst/>
          </a:prstGeom>
          <a:noFill/>
          <a:ln/>
        </p:spPr>
        <p:txBody>
          <a:bodyPr wrap="square" rtlCol="0" anchor="t"/>
          <a:lstStyle/>
          <a:p>
            <a:pPr rtl="1" algn="r" indent="0" marL="0">
              <a:buNone/>
            </a:pPr>
            <a:r>
              <a:rPr lang="en-US" sz="1100" dirty="0">
                <a:solidFill>
                  <a:srgbClr val="55606E"/>
                </a:solidFill>
                <a:latin typeface="Calibri" pitchFamily="34" charset="0"/>
                <a:ea typeface="Calibri" pitchFamily="34" charset="-122"/>
                <a:cs typeface="Calibri" pitchFamily="34" charset="-120"/>
              </a:rPr>
              <a:t>سوق متنامٍ بوتيرة متسارعة — طلب لوجستي مضاعف على الشحن السريع</a:t>
            </a:r>
            <a:endParaRPr lang="en-US" sz="1100" dirty="0"/>
          </a:p>
        </p:txBody>
      </p:sp>
      <p:sp>
        <p:nvSpPr>
          <p:cNvPr id="23" name="Shape 21"/>
          <p:cNvSpPr/>
          <p:nvPr/>
        </p:nvSpPr>
        <p:spPr>
          <a:xfrm>
            <a:off x="548640" y="2423160"/>
            <a:ext cx="2602154" cy="3291840"/>
          </a:xfrm>
          <a:prstGeom prst="rect">
            <a:avLst/>
          </a:prstGeom>
          <a:solidFill>
            <a:srgbClr val="FFFFFF"/>
          </a:solidFill>
          <a:ln w="12700">
            <a:solidFill>
              <a:srgbClr val="E8E3D6"/>
            </a:solidFill>
            <a:prstDash val="solid"/>
          </a:ln>
        </p:spPr>
      </p:sp>
      <p:sp>
        <p:nvSpPr>
          <p:cNvPr id="24" name="Shape 22"/>
          <p:cNvSpPr/>
          <p:nvPr/>
        </p:nvSpPr>
        <p:spPr>
          <a:xfrm>
            <a:off x="548640" y="2423160"/>
            <a:ext cx="2602154" cy="73152"/>
          </a:xfrm>
          <a:prstGeom prst="rect">
            <a:avLst/>
          </a:prstGeom>
          <a:solidFill>
            <a:srgbClr val="D4A574"/>
          </a:solidFill>
          <a:ln/>
        </p:spPr>
      </p:sp>
      <p:sp>
        <p:nvSpPr>
          <p:cNvPr id="25" name="Text 23"/>
          <p:cNvSpPr/>
          <p:nvPr/>
        </p:nvSpPr>
        <p:spPr>
          <a:xfrm>
            <a:off x="731520" y="2606040"/>
            <a:ext cx="2236394" cy="365760"/>
          </a:xfrm>
          <a:prstGeom prst="rect">
            <a:avLst/>
          </a:prstGeom>
          <a:noFill/>
          <a:ln/>
        </p:spPr>
        <p:txBody>
          <a:bodyPr wrap="square" rtlCol="0" anchor="ctr"/>
          <a:lstStyle/>
          <a:p>
            <a:pPr rtl="1" algn="r" indent="0" marL="0">
              <a:buNone/>
            </a:pPr>
            <a:r>
              <a:rPr lang="en-US" sz="1200" b="1" dirty="0">
                <a:solidFill>
                  <a:srgbClr val="55606E"/>
                </a:solidFill>
                <a:latin typeface="Calibri" pitchFamily="34" charset="0"/>
                <a:ea typeface="Calibri" pitchFamily="34" charset="-122"/>
                <a:cs typeface="Calibri" pitchFamily="34" charset="-120"/>
              </a:rPr>
              <a:t>نيوم والبحر الأحمر</a:t>
            </a:r>
            <a:endParaRPr lang="en-US" sz="1200" dirty="0"/>
          </a:p>
        </p:txBody>
      </p:sp>
      <p:sp>
        <p:nvSpPr>
          <p:cNvPr id="26" name="Text 24"/>
          <p:cNvSpPr/>
          <p:nvPr/>
        </p:nvSpPr>
        <p:spPr>
          <a:xfrm>
            <a:off x="731520" y="3063240"/>
            <a:ext cx="2236394" cy="1005840"/>
          </a:xfrm>
          <a:prstGeom prst="rect">
            <a:avLst/>
          </a:prstGeom>
          <a:noFill/>
          <a:ln/>
        </p:spPr>
        <p:txBody>
          <a:bodyPr wrap="square" rtlCol="0" anchor="ctr"/>
          <a:lstStyle/>
          <a:p>
            <a:pPr rtl="1" algn="r" indent="0" marL="0">
              <a:buNone/>
            </a:pPr>
            <a:r>
              <a:rPr lang="en-US" sz="4400" b="1" dirty="0">
                <a:solidFill>
                  <a:srgbClr val="0A1628"/>
                </a:solidFill>
                <a:latin typeface="Calibri" pitchFamily="34" charset="0"/>
                <a:ea typeface="Calibri" pitchFamily="34" charset="-122"/>
                <a:cs typeface="Calibri" pitchFamily="34" charset="-120"/>
              </a:rPr>
              <a:t>ضخم</a:t>
            </a:r>
            <a:endParaRPr lang="en-US" sz="4400" dirty="0"/>
          </a:p>
        </p:txBody>
      </p:sp>
      <p:sp>
        <p:nvSpPr>
          <p:cNvPr id="27" name="Text 25"/>
          <p:cNvSpPr/>
          <p:nvPr/>
        </p:nvSpPr>
        <p:spPr>
          <a:xfrm>
            <a:off x="731520" y="4160520"/>
            <a:ext cx="2236394" cy="1417320"/>
          </a:xfrm>
          <a:prstGeom prst="rect">
            <a:avLst/>
          </a:prstGeom>
          <a:noFill/>
          <a:ln/>
        </p:spPr>
        <p:txBody>
          <a:bodyPr wrap="square" rtlCol="0" anchor="t"/>
          <a:lstStyle/>
          <a:p>
            <a:pPr rtl="1" algn="r" indent="0" marL="0">
              <a:buNone/>
            </a:pPr>
            <a:r>
              <a:rPr lang="en-US" sz="1100" dirty="0">
                <a:solidFill>
                  <a:srgbClr val="55606E"/>
                </a:solidFill>
                <a:latin typeface="Calibri" pitchFamily="34" charset="0"/>
                <a:ea typeface="Calibri" pitchFamily="34" charset="-122"/>
                <a:cs typeface="Calibri" pitchFamily="34" charset="-120"/>
              </a:rPr>
              <a:t>ميزانية المشاريع الكبرى تستدعي بنية لوجستية جديدة كلياً</a:t>
            </a:r>
            <a:endParaRPr lang="en-US" sz="1100" dirty="0"/>
          </a:p>
        </p:txBody>
      </p:sp>
      <p:sp>
        <p:nvSpPr>
          <p:cNvPr id="28" name="Text 26"/>
          <p:cNvSpPr/>
          <p:nvPr/>
        </p:nvSpPr>
        <p:spPr>
          <a:xfrm>
            <a:off x="548640" y="5897880"/>
            <a:ext cx="11094415" cy="365760"/>
          </a:xfrm>
          <a:prstGeom prst="rect">
            <a:avLst/>
          </a:prstGeom>
          <a:noFill/>
          <a:ln/>
        </p:spPr>
        <p:txBody>
          <a:bodyPr wrap="square" rtlCol="0" anchor="ctr"/>
          <a:lstStyle/>
          <a:p>
            <a:pPr rtl="1" algn="r" indent="0" marL="0">
              <a:buNone/>
            </a:pPr>
            <a:r>
              <a:rPr lang="en-US" sz="1600" b="1" i="1" dirty="0">
                <a:solidFill>
                  <a:srgbClr val="0A1628"/>
                </a:solidFill>
                <a:latin typeface="Georgia" pitchFamily="34" charset="0"/>
                <a:ea typeface="Georgia" pitchFamily="34" charset="-122"/>
                <a:cs typeface="Georgia" pitchFamily="34" charset="-120"/>
              </a:rPr>
              <a:t>السؤال ليس «هل سيتحوّل القطاع» — السؤال: هل ستقود التحوّل أم تلاحقه؟</a:t>
            </a:r>
            <a:endParaRPr lang="en-US" sz="1600" dirty="0"/>
          </a:p>
        </p:txBody>
      </p:sp>
      <p:sp>
        <p:nvSpPr>
          <p:cNvPr id="29" name="Text 27"/>
          <p:cNvSpPr/>
          <p:nvPr/>
        </p:nvSpPr>
        <p:spPr>
          <a:xfrm>
            <a:off x="457200" y="6172200"/>
            <a:ext cx="10362895" cy="256032"/>
          </a:xfrm>
          <a:prstGeom prst="rect">
            <a:avLst/>
          </a:prstGeom>
          <a:noFill/>
          <a:ln/>
        </p:spPr>
        <p:txBody>
          <a:bodyPr wrap="square" rtlCol="0" anchor="ctr"/>
          <a:lstStyle/>
          <a:p>
            <a:pPr rtl="1" algn="r" indent="0" marL="0">
              <a:buNone/>
            </a:pPr>
            <a:r>
              <a:rPr lang="en-US" sz="900" dirty="0">
                <a:solidFill>
                  <a:srgbClr val="8B95A3"/>
                </a:solidFill>
                <a:latin typeface="Calibri" pitchFamily="34" charset="0"/>
                <a:ea typeface="Calibri" pitchFamily="34" charset="-122"/>
                <a:cs typeface="Calibri" pitchFamily="34" charset="-120"/>
              </a:rPr>
              <a:t>المصدر: </a:t>
            </a:r>
            <a:pPr rtl="1" algn="r" indent="0" marL="0">
              <a:buNone/>
            </a:pPr>
            <a:r>
              <a:rPr lang="en-US" sz="900" u="sng" dirty="0">
                <a:solidFill>
                  <a:srgbClr val="B8874C"/>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Grand View Research</a:t>
            </a:r>
            <a:pPr algn="r" indent="0" marL="0">
              <a:buNone/>
            </a:pPr>
            <a:r>
              <a:rPr lang="en-US" sz="900" dirty="0">
                <a:solidFill>
                  <a:srgbClr val="8B95A3"/>
                </a:solidFill>
                <a:latin typeface="Calibri" pitchFamily="34" charset="0"/>
                <a:ea typeface="Calibri" pitchFamily="34" charset="-122"/>
                <a:cs typeface="Calibri" pitchFamily="34" charset="-120"/>
              </a:rPr>
              <a:t> · </a:t>
            </a:r>
            <a:pPr rtl="1" algn="r" indent="0" marL="0">
              <a:buNone/>
            </a:pPr>
            <a:r>
              <a:rPr lang="en-US" sz="900" u="sng" dirty="0">
                <a:solidFill>
                  <a:srgbClr val="B8874C"/>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Saudi Logistics Consulting</a:t>
            </a:r>
            <a:pPr algn="r" indent="0" marL="0">
              <a:buNone/>
            </a:pPr>
            <a:r>
              <a:rPr lang="en-US" sz="900" dirty="0">
                <a:solidFill>
                  <a:srgbClr val="8B95A3"/>
                </a:solidFill>
                <a:latin typeface="Calibri" pitchFamily="34" charset="0"/>
                <a:ea typeface="Calibri" pitchFamily="34" charset="-122"/>
                <a:cs typeface="Calibri" pitchFamily="34" charset="-120"/>
              </a:rPr>
              <a:t> · </a:t>
            </a:r>
            <a:pPr rtl="1" algn="r" indent="0" marL="0">
              <a:buNone/>
            </a:pPr>
            <a:r>
              <a:rPr lang="en-US" sz="900" u="sng" dirty="0">
                <a:solidFill>
                  <a:srgbClr val="B8874C"/>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BCG / TECHx</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3"/>
        </a:solidFill>
      </p:bgPr>
    </p:bg>
    <p:spTree>
      <p:nvGrpSpPr>
        <p:cNvPr id="1" name=""/>
        <p:cNvGrpSpPr/>
        <p:nvPr/>
      </p:nvGrpSpPr>
      <p:grpSpPr>
        <a:xfrm>
          <a:off x="0" y="0"/>
          <a:ext cx="0" cy="0"/>
          <a:chOff x="0" y="0"/>
          <a:chExt cx="0" cy="0"/>
        </a:xfrm>
      </p:grpSpPr>
      <p:sp>
        <p:nvSpPr>
          <p:cNvPr id="2" name="Shape 0"/>
          <p:cNvSpPr/>
          <p:nvPr/>
        </p:nvSpPr>
        <p:spPr>
          <a:xfrm>
            <a:off x="11734495" y="320040"/>
            <a:ext cx="73152" cy="411480"/>
          </a:xfrm>
          <a:prstGeom prst="rect">
            <a:avLst/>
          </a:prstGeom>
          <a:solidFill>
            <a:srgbClr val="D4A574"/>
          </a:solidFill>
          <a:ln/>
        </p:spPr>
      </p:sp>
      <p:sp>
        <p:nvSpPr>
          <p:cNvPr id="3" name="Text 1"/>
          <p:cNvSpPr/>
          <p:nvPr/>
        </p:nvSpPr>
        <p:spPr>
          <a:xfrm>
            <a:off x="8076895" y="274320"/>
            <a:ext cx="3566160" cy="365760"/>
          </a:xfrm>
          <a:prstGeom prst="rect">
            <a:avLst/>
          </a:prstGeom>
          <a:noFill/>
          <a:ln/>
        </p:spPr>
        <p:txBody>
          <a:bodyPr wrap="square" rtlCol="0" anchor="ctr"/>
          <a:lstStyle/>
          <a:p>
            <a:pPr rtl="1" algn="r" indent="0" marL="0">
              <a:buNone/>
            </a:pPr>
            <a:r>
              <a:rPr lang="en-US" sz="1200" b="1" dirty="0">
                <a:solidFill>
                  <a:srgbClr val="55606E"/>
                </a:solidFill>
                <a:latin typeface="Calibri" pitchFamily="34" charset="0"/>
                <a:ea typeface="Calibri" pitchFamily="34" charset="-122"/>
                <a:cs typeface="Calibri" pitchFamily="34" charset="-120"/>
              </a:rPr>
              <a:t>حجم الفرصة</a:t>
            </a:r>
            <a:endParaRPr lang="en-US" sz="1200" dirty="0"/>
          </a:p>
        </p:txBody>
      </p:sp>
      <p:sp>
        <p:nvSpPr>
          <p:cNvPr id="4" name="Text 2"/>
          <p:cNvSpPr/>
          <p:nvPr/>
        </p:nvSpPr>
        <p:spPr>
          <a:xfrm>
            <a:off x="457200" y="6446520"/>
            <a:ext cx="2286000" cy="274320"/>
          </a:xfrm>
          <a:prstGeom prst="rect">
            <a:avLst/>
          </a:prstGeom>
          <a:noFill/>
          <a:ln/>
        </p:spPr>
        <p:txBody>
          <a:bodyPr wrap="square" rtlCol="0" anchor="ctr"/>
          <a:lstStyle/>
          <a:p>
            <a:pPr algn="l" indent="0" marL="0">
              <a:buNone/>
            </a:pPr>
            <a:r>
              <a:rPr lang="en-US" sz="900" dirty="0">
                <a:solidFill>
                  <a:srgbClr val="8B95A3"/>
                </a:solidFill>
                <a:latin typeface="Calibri" pitchFamily="34" charset="0"/>
                <a:ea typeface="Calibri" pitchFamily="34" charset="-122"/>
                <a:cs typeface="Calibri" pitchFamily="34" charset="-120"/>
              </a:rPr>
              <a:t>Dealix · ديلكس</a:t>
            </a:r>
            <a:endParaRPr lang="en-US" sz="900" dirty="0"/>
          </a:p>
        </p:txBody>
      </p:sp>
      <p:sp>
        <p:nvSpPr>
          <p:cNvPr id="5" name="Text 3"/>
          <p:cNvSpPr/>
          <p:nvPr/>
        </p:nvSpPr>
        <p:spPr>
          <a:xfrm>
            <a:off x="11094415" y="6446520"/>
            <a:ext cx="640080" cy="274320"/>
          </a:xfrm>
          <a:prstGeom prst="rect">
            <a:avLst/>
          </a:prstGeom>
          <a:noFill/>
          <a:ln/>
        </p:spPr>
        <p:txBody>
          <a:bodyPr wrap="square" rtlCol="0" anchor="ctr"/>
          <a:lstStyle/>
          <a:p>
            <a:pPr algn="r" indent="0" marL="0">
              <a:buNone/>
            </a:pPr>
            <a:r>
              <a:rPr lang="en-US" sz="900" b="1" dirty="0">
                <a:solidFill>
                  <a:srgbClr val="8B95A3"/>
                </a:solidFill>
                <a:latin typeface="Calibri" pitchFamily="34" charset="0"/>
                <a:ea typeface="Calibri" pitchFamily="34" charset="-122"/>
                <a:cs typeface="Calibri" pitchFamily="34" charset="-120"/>
              </a:rPr>
              <a:t>04</a:t>
            </a:r>
            <a:endParaRPr lang="en-US" sz="900" dirty="0"/>
          </a:p>
        </p:txBody>
      </p:sp>
      <p:sp>
        <p:nvSpPr>
          <p:cNvPr id="6" name="Text 4"/>
          <p:cNvSpPr/>
          <p:nvPr/>
        </p:nvSpPr>
        <p:spPr>
          <a:xfrm>
            <a:off x="548640" y="914400"/>
            <a:ext cx="11094415" cy="822960"/>
          </a:xfrm>
          <a:prstGeom prst="rect">
            <a:avLst/>
          </a:prstGeom>
          <a:noFill/>
          <a:ln/>
        </p:spPr>
        <p:txBody>
          <a:bodyPr wrap="square" rtlCol="0" anchor="ctr"/>
          <a:lstStyle/>
          <a:p>
            <a:pPr rtl="1" algn="r" indent="0" marL="0">
              <a:buNone/>
            </a:pPr>
            <a:r>
              <a:rPr lang="en-US" sz="3400" b="1" dirty="0">
                <a:solidFill>
                  <a:srgbClr val="0A1628"/>
                </a:solidFill>
                <a:latin typeface="Calibri" pitchFamily="34" charset="0"/>
                <a:ea typeface="Calibri" pitchFamily="34" charset="-122"/>
                <a:cs typeface="Calibri" pitchFamily="34" charset="-120"/>
              </a:rPr>
              <a:t>حجم الفرصة — سوق اللوجستيات السعودي</a:t>
            </a:r>
            <a:endParaRPr lang="en-US" sz="3400" dirty="0"/>
          </a:p>
        </p:txBody>
      </p:sp>
      <p:sp>
        <p:nvSpPr>
          <p:cNvPr id="7" name="Text 5"/>
          <p:cNvSpPr/>
          <p:nvPr/>
        </p:nvSpPr>
        <p:spPr>
          <a:xfrm>
            <a:off x="548640" y="1691640"/>
            <a:ext cx="11094415" cy="411480"/>
          </a:xfrm>
          <a:prstGeom prst="rect">
            <a:avLst/>
          </a:prstGeom>
          <a:noFill/>
          <a:ln/>
        </p:spPr>
        <p:txBody>
          <a:bodyPr wrap="square" rtlCol="0" anchor="ctr"/>
          <a:lstStyle/>
          <a:p>
            <a:pPr rtl="1" algn="r" indent="0" marL="0">
              <a:buNone/>
            </a:pPr>
            <a:r>
              <a:rPr lang="en-US" sz="1500" dirty="0">
                <a:solidFill>
                  <a:srgbClr val="55606E"/>
                </a:solidFill>
                <a:latin typeface="Calibri" pitchFamily="34" charset="0"/>
                <a:ea typeface="Calibri" pitchFamily="34" charset="-122"/>
                <a:cs typeface="Calibri" pitchFamily="34" charset="-120"/>
              </a:rPr>
              <a:t>سوق متنامٍ بوتيرة متسارعة حتى 2030 — أضخم تحوّل إقليمي</a:t>
            </a:r>
            <a:endParaRPr lang="en-US" sz="1500" dirty="0"/>
          </a:p>
        </p:txBody>
      </p:sp>
      <p:sp>
        <p:nvSpPr>
          <p:cNvPr id="8" name="Text 6"/>
          <p:cNvSpPr/>
          <p:nvPr/>
        </p:nvSpPr>
        <p:spPr>
          <a:xfrm>
            <a:off x="6248095" y="2331720"/>
            <a:ext cx="5394960" cy="1371600"/>
          </a:xfrm>
          <a:prstGeom prst="rect">
            <a:avLst/>
          </a:prstGeom>
          <a:noFill/>
          <a:ln/>
        </p:spPr>
        <p:txBody>
          <a:bodyPr wrap="square" rtlCol="0" anchor="ctr"/>
          <a:lstStyle/>
          <a:p>
            <a:pPr rtl="1" algn="r" indent="0" marL="0">
              <a:buNone/>
            </a:pPr>
            <a:r>
              <a:rPr lang="en-US" sz="9600" b="1" dirty="0">
                <a:solidFill>
                  <a:srgbClr val="0A1628"/>
                </a:solidFill>
                <a:latin typeface="Calibri" pitchFamily="34" charset="0"/>
                <a:ea typeface="Calibri" pitchFamily="34" charset="-122"/>
                <a:cs typeface="Calibri" pitchFamily="34" charset="-120"/>
              </a:rPr>
              <a:t>سوق</a:t>
            </a:r>
            <a:endParaRPr lang="en-US" sz="9600" dirty="0"/>
          </a:p>
        </p:txBody>
      </p:sp>
      <p:sp>
        <p:nvSpPr>
          <p:cNvPr id="9" name="Text 7"/>
          <p:cNvSpPr/>
          <p:nvPr/>
        </p:nvSpPr>
        <p:spPr>
          <a:xfrm>
            <a:off x="6248095" y="3657600"/>
            <a:ext cx="5394960" cy="411480"/>
          </a:xfrm>
          <a:prstGeom prst="rect">
            <a:avLst/>
          </a:prstGeom>
          <a:noFill/>
          <a:ln/>
        </p:spPr>
        <p:txBody>
          <a:bodyPr wrap="square" rtlCol="0" anchor="ctr"/>
          <a:lstStyle/>
          <a:p>
            <a:pPr rtl="1" algn="r" indent="0" marL="0">
              <a:buNone/>
            </a:pPr>
            <a:r>
              <a:rPr lang="en-US" sz="2400" b="1" dirty="0">
                <a:solidFill>
                  <a:srgbClr val="D4A574"/>
                </a:solidFill>
                <a:latin typeface="Calibri" pitchFamily="34" charset="0"/>
                <a:ea typeface="Calibri" pitchFamily="34" charset="-122"/>
                <a:cs typeface="Calibri" pitchFamily="34" charset="-120"/>
              </a:rPr>
              <a:t>متنامٍ عالمياً</a:t>
            </a:r>
            <a:endParaRPr lang="en-US" sz="2400" dirty="0"/>
          </a:p>
        </p:txBody>
      </p:sp>
      <p:sp>
        <p:nvSpPr>
          <p:cNvPr id="10" name="Text 8"/>
          <p:cNvSpPr/>
          <p:nvPr/>
        </p:nvSpPr>
        <p:spPr>
          <a:xfrm>
            <a:off x="6248095" y="4114800"/>
            <a:ext cx="5394960" cy="365760"/>
          </a:xfrm>
          <a:prstGeom prst="rect">
            <a:avLst/>
          </a:prstGeom>
          <a:noFill/>
          <a:ln/>
        </p:spPr>
        <p:txBody>
          <a:bodyPr wrap="square" rtlCol="0" anchor="ctr"/>
          <a:lstStyle/>
          <a:p>
            <a:pPr rtl="1" algn="r" indent="0" marL="0">
              <a:buNone/>
            </a:pPr>
            <a:r>
              <a:rPr lang="en-US" sz="1300" dirty="0">
                <a:solidFill>
                  <a:srgbClr val="55606E"/>
                </a:solidFill>
                <a:latin typeface="Calibri" pitchFamily="34" charset="0"/>
                <a:ea typeface="Calibri" pitchFamily="34" charset="-122"/>
                <a:cs typeface="Calibri" pitchFamily="34" charset="-120"/>
              </a:rPr>
              <a:t>سوق اللوجستيات السعودي يتجه لمضاعفة قيمته بحلول 2030</a:t>
            </a:r>
            <a:endParaRPr lang="en-US" sz="1300" dirty="0"/>
          </a:p>
        </p:txBody>
      </p:sp>
      <p:sp>
        <p:nvSpPr>
          <p:cNvPr id="11" name="Shape 9"/>
          <p:cNvSpPr/>
          <p:nvPr/>
        </p:nvSpPr>
        <p:spPr>
          <a:xfrm>
            <a:off x="548640" y="2331720"/>
            <a:ext cx="5303520" cy="749808"/>
          </a:xfrm>
          <a:prstGeom prst="rect">
            <a:avLst/>
          </a:prstGeom>
          <a:solidFill>
            <a:srgbClr val="FFFFFF"/>
          </a:solidFill>
          <a:ln w="12700">
            <a:solidFill>
              <a:srgbClr val="E8E3D6"/>
            </a:solidFill>
            <a:prstDash val="solid"/>
          </a:ln>
        </p:spPr>
      </p:sp>
      <p:sp>
        <p:nvSpPr>
          <p:cNvPr id="12" name="Text 10"/>
          <p:cNvSpPr/>
          <p:nvPr/>
        </p:nvSpPr>
        <p:spPr>
          <a:xfrm>
            <a:off x="685800" y="2404872"/>
            <a:ext cx="1188720" cy="640080"/>
          </a:xfrm>
          <a:prstGeom prst="rect">
            <a:avLst/>
          </a:prstGeom>
          <a:noFill/>
          <a:ln/>
        </p:spPr>
        <p:txBody>
          <a:bodyPr wrap="square" rtlCol="0" anchor="ctr"/>
          <a:lstStyle/>
          <a:p>
            <a:pPr algn="l" indent="0" marL="0">
              <a:buNone/>
            </a:pPr>
            <a:r>
              <a:rPr lang="en-US" sz="2200" b="1" dirty="0">
                <a:solidFill>
                  <a:srgbClr val="D4A574"/>
                </a:solidFill>
                <a:latin typeface="Calibri" pitchFamily="34" charset="0"/>
                <a:ea typeface="Calibri" pitchFamily="34" charset="-122"/>
                <a:cs typeface="Calibri" pitchFamily="34" charset="-120"/>
              </a:rPr>
              <a:t>6.5%</a:t>
            </a:r>
            <a:endParaRPr lang="en-US" sz="2200" dirty="0"/>
          </a:p>
        </p:txBody>
      </p:sp>
      <p:sp>
        <p:nvSpPr>
          <p:cNvPr id="13" name="Text 11"/>
          <p:cNvSpPr/>
          <p:nvPr/>
        </p:nvSpPr>
        <p:spPr>
          <a:xfrm>
            <a:off x="1920240" y="2404872"/>
            <a:ext cx="3794760" cy="640080"/>
          </a:xfrm>
          <a:prstGeom prst="rect">
            <a:avLst/>
          </a:prstGeom>
          <a:noFill/>
          <a:ln/>
        </p:spPr>
        <p:txBody>
          <a:bodyPr wrap="square" rtlCol="0" anchor="ctr"/>
          <a:lstStyle/>
          <a:p>
            <a:pPr rtl="1" algn="r" indent="0" marL="0">
              <a:buNone/>
            </a:pPr>
            <a:r>
              <a:rPr lang="en-US" sz="1200" dirty="0">
                <a:solidFill>
                  <a:srgbClr val="1A1A1A"/>
                </a:solidFill>
                <a:latin typeface="Calibri" pitchFamily="34" charset="0"/>
                <a:ea typeface="Calibri" pitchFamily="34" charset="-122"/>
                <a:cs typeface="Calibri" pitchFamily="34" charset="-120"/>
              </a:rPr>
              <a:t>معدّل النمو السنوي المركّب 2025—2030</a:t>
            </a:r>
            <a:endParaRPr lang="en-US" sz="1200" dirty="0"/>
          </a:p>
        </p:txBody>
      </p:sp>
      <p:sp>
        <p:nvSpPr>
          <p:cNvPr id="14" name="Shape 12"/>
          <p:cNvSpPr/>
          <p:nvPr/>
        </p:nvSpPr>
        <p:spPr>
          <a:xfrm>
            <a:off x="548640" y="3200400"/>
            <a:ext cx="5303520" cy="749808"/>
          </a:xfrm>
          <a:prstGeom prst="rect">
            <a:avLst/>
          </a:prstGeom>
          <a:solidFill>
            <a:srgbClr val="FFFFFF"/>
          </a:solidFill>
          <a:ln w="12700">
            <a:solidFill>
              <a:srgbClr val="E8E3D6"/>
            </a:solidFill>
            <a:prstDash val="solid"/>
          </a:ln>
        </p:spPr>
      </p:sp>
      <p:sp>
        <p:nvSpPr>
          <p:cNvPr id="15" name="Text 13"/>
          <p:cNvSpPr/>
          <p:nvPr/>
        </p:nvSpPr>
        <p:spPr>
          <a:xfrm>
            <a:off x="685800" y="3273552"/>
            <a:ext cx="1188720" cy="640080"/>
          </a:xfrm>
          <a:prstGeom prst="rect">
            <a:avLst/>
          </a:prstGeom>
          <a:noFill/>
          <a:ln/>
        </p:spPr>
        <p:txBody>
          <a:bodyPr wrap="square" rtlCol="0" anchor="ctr"/>
          <a:lstStyle/>
          <a:p>
            <a:pPr algn="l" indent="0" marL="0">
              <a:buNone/>
            </a:pPr>
            <a:r>
              <a:rPr lang="en-US" sz="2200" b="1" dirty="0">
                <a:solidFill>
                  <a:srgbClr val="D4A574"/>
                </a:solidFill>
                <a:latin typeface="Calibri" pitchFamily="34" charset="0"/>
                <a:ea typeface="Calibri" pitchFamily="34" charset="-122"/>
                <a:cs typeface="Calibri" pitchFamily="34" charset="-120"/>
              </a:rPr>
              <a:t>10%</a:t>
            </a:r>
            <a:endParaRPr lang="en-US" sz="2200" dirty="0"/>
          </a:p>
        </p:txBody>
      </p:sp>
      <p:sp>
        <p:nvSpPr>
          <p:cNvPr id="16" name="Text 14"/>
          <p:cNvSpPr/>
          <p:nvPr/>
        </p:nvSpPr>
        <p:spPr>
          <a:xfrm>
            <a:off x="1920240" y="3273552"/>
            <a:ext cx="3794760" cy="640080"/>
          </a:xfrm>
          <a:prstGeom prst="rect">
            <a:avLst/>
          </a:prstGeom>
          <a:noFill/>
          <a:ln/>
        </p:spPr>
        <p:txBody>
          <a:bodyPr wrap="square" rtlCol="0" anchor="ctr"/>
          <a:lstStyle/>
          <a:p>
            <a:pPr rtl="1" algn="r" indent="0" marL="0">
              <a:buNone/>
            </a:pPr>
            <a:r>
              <a:rPr lang="en-US" sz="1200" dirty="0">
                <a:solidFill>
                  <a:srgbClr val="1A1A1A"/>
                </a:solidFill>
                <a:latin typeface="Calibri" pitchFamily="34" charset="0"/>
                <a:ea typeface="Calibri" pitchFamily="34" charset="-122"/>
                <a:cs typeface="Calibri" pitchFamily="34" charset="-120"/>
              </a:rPr>
              <a:t>هدف مساهمة اللوجستيات في الناتج المحلي 2030</a:t>
            </a:r>
            <a:endParaRPr lang="en-US" sz="1200" dirty="0"/>
          </a:p>
        </p:txBody>
      </p:sp>
      <p:sp>
        <p:nvSpPr>
          <p:cNvPr id="17" name="Shape 15"/>
          <p:cNvSpPr/>
          <p:nvPr/>
        </p:nvSpPr>
        <p:spPr>
          <a:xfrm>
            <a:off x="548640" y="4069080"/>
            <a:ext cx="5303520" cy="749808"/>
          </a:xfrm>
          <a:prstGeom prst="rect">
            <a:avLst/>
          </a:prstGeom>
          <a:solidFill>
            <a:srgbClr val="FFFFFF"/>
          </a:solidFill>
          <a:ln w="12700">
            <a:solidFill>
              <a:srgbClr val="E8E3D6"/>
            </a:solidFill>
            <a:prstDash val="solid"/>
          </a:ln>
        </p:spPr>
      </p:sp>
      <p:sp>
        <p:nvSpPr>
          <p:cNvPr id="18" name="Text 16"/>
          <p:cNvSpPr/>
          <p:nvPr/>
        </p:nvSpPr>
        <p:spPr>
          <a:xfrm>
            <a:off x="685800" y="4142232"/>
            <a:ext cx="1188720" cy="640080"/>
          </a:xfrm>
          <a:prstGeom prst="rect">
            <a:avLst/>
          </a:prstGeom>
          <a:noFill/>
          <a:ln/>
        </p:spPr>
        <p:txBody>
          <a:bodyPr wrap="square" rtlCol="0" anchor="ctr"/>
          <a:lstStyle/>
          <a:p>
            <a:pPr algn="l" indent="0" marL="0">
              <a:buNone/>
            </a:pPr>
            <a:r>
              <a:rPr lang="en-US" sz="2200" b="1" dirty="0">
                <a:solidFill>
                  <a:srgbClr val="D4A574"/>
                </a:solidFill>
                <a:latin typeface="Calibri" pitchFamily="34" charset="0"/>
                <a:ea typeface="Calibri" pitchFamily="34" charset="-122"/>
                <a:cs typeface="Calibri" pitchFamily="34" charset="-120"/>
              </a:rPr>
              <a:t>20+</a:t>
            </a:r>
            <a:endParaRPr lang="en-US" sz="2200" dirty="0"/>
          </a:p>
        </p:txBody>
      </p:sp>
      <p:sp>
        <p:nvSpPr>
          <p:cNvPr id="19" name="Text 17"/>
          <p:cNvSpPr/>
          <p:nvPr/>
        </p:nvSpPr>
        <p:spPr>
          <a:xfrm>
            <a:off x="1920240" y="4142232"/>
            <a:ext cx="3794760" cy="640080"/>
          </a:xfrm>
          <a:prstGeom prst="rect">
            <a:avLst/>
          </a:prstGeom>
          <a:noFill/>
          <a:ln/>
        </p:spPr>
        <p:txBody>
          <a:bodyPr wrap="square" rtlCol="0" anchor="ctr"/>
          <a:lstStyle/>
          <a:p>
            <a:pPr rtl="1" algn="r" indent="0" marL="0">
              <a:buNone/>
            </a:pPr>
            <a:r>
              <a:rPr lang="en-US" sz="1200" dirty="0">
                <a:solidFill>
                  <a:srgbClr val="1A1A1A"/>
                </a:solidFill>
                <a:latin typeface="Calibri" pitchFamily="34" charset="0"/>
                <a:ea typeface="Calibri" pitchFamily="34" charset="-122"/>
                <a:cs typeface="Calibri" pitchFamily="34" charset="-120"/>
              </a:rPr>
              <a:t>مشروع لوجستي عملاق قيد التنفيذ (نيوم · البحر الأحمر · الجسر البري · سبارك)</a:t>
            </a:r>
            <a:endParaRPr lang="en-US" sz="1200" dirty="0"/>
          </a:p>
        </p:txBody>
      </p:sp>
      <p:sp>
        <p:nvSpPr>
          <p:cNvPr id="20" name="Shape 18"/>
          <p:cNvSpPr/>
          <p:nvPr/>
        </p:nvSpPr>
        <p:spPr>
          <a:xfrm>
            <a:off x="548640" y="4937760"/>
            <a:ext cx="5303520" cy="749808"/>
          </a:xfrm>
          <a:prstGeom prst="rect">
            <a:avLst/>
          </a:prstGeom>
          <a:solidFill>
            <a:srgbClr val="FFFFFF"/>
          </a:solidFill>
          <a:ln w="12700">
            <a:solidFill>
              <a:srgbClr val="E8E3D6"/>
            </a:solidFill>
            <a:prstDash val="solid"/>
          </a:ln>
        </p:spPr>
      </p:sp>
      <p:sp>
        <p:nvSpPr>
          <p:cNvPr id="21" name="Text 19"/>
          <p:cNvSpPr/>
          <p:nvPr/>
        </p:nvSpPr>
        <p:spPr>
          <a:xfrm>
            <a:off x="685800" y="5010912"/>
            <a:ext cx="1188720" cy="640080"/>
          </a:xfrm>
          <a:prstGeom prst="rect">
            <a:avLst/>
          </a:prstGeom>
          <a:noFill/>
          <a:ln/>
        </p:spPr>
        <p:txBody>
          <a:bodyPr wrap="square" rtlCol="0" anchor="ctr"/>
          <a:lstStyle/>
          <a:p>
            <a:pPr algn="l" indent="0" marL="0">
              <a:buNone/>
            </a:pPr>
            <a:r>
              <a:rPr lang="en-US" sz="2200" b="1" dirty="0">
                <a:solidFill>
                  <a:srgbClr val="D4A574"/>
                </a:solidFill>
                <a:latin typeface="Calibri" pitchFamily="34" charset="0"/>
                <a:ea typeface="Calibri" pitchFamily="34" charset="-122"/>
                <a:cs typeface="Calibri" pitchFamily="34" charset="-120"/>
              </a:rPr>
              <a:t>13%</a:t>
            </a:r>
            <a:endParaRPr lang="en-US" sz="2200" dirty="0"/>
          </a:p>
        </p:txBody>
      </p:sp>
      <p:sp>
        <p:nvSpPr>
          <p:cNvPr id="22" name="Text 20"/>
          <p:cNvSpPr/>
          <p:nvPr/>
        </p:nvSpPr>
        <p:spPr>
          <a:xfrm>
            <a:off x="1920240" y="5010912"/>
            <a:ext cx="3794760" cy="640080"/>
          </a:xfrm>
          <a:prstGeom prst="rect">
            <a:avLst/>
          </a:prstGeom>
          <a:noFill/>
          <a:ln/>
        </p:spPr>
        <p:txBody>
          <a:bodyPr wrap="square" rtlCol="0" anchor="ctr"/>
          <a:lstStyle/>
          <a:p>
            <a:pPr rtl="1" algn="r" indent="0" marL="0">
              <a:buNone/>
            </a:pPr>
            <a:r>
              <a:rPr lang="en-US" sz="1200" dirty="0">
                <a:solidFill>
                  <a:srgbClr val="1A1A1A"/>
                </a:solidFill>
                <a:latin typeface="Calibri" pitchFamily="34" charset="0"/>
                <a:ea typeface="Calibri" pitchFamily="34" charset="-122"/>
                <a:cs typeface="Calibri" pitchFamily="34" charset="-120"/>
              </a:rPr>
              <a:t>حصة البحر الأحمر من حركة التجارة العالمية — ميزة جغرافية غير مسبوقة</a:t>
            </a:r>
            <a:endParaRPr lang="en-US" sz="1200" dirty="0"/>
          </a:p>
        </p:txBody>
      </p:sp>
      <p:sp>
        <p:nvSpPr>
          <p:cNvPr id="23" name="Text 21"/>
          <p:cNvSpPr/>
          <p:nvPr/>
        </p:nvSpPr>
        <p:spPr>
          <a:xfrm>
            <a:off x="457200" y="6172200"/>
            <a:ext cx="10362895" cy="256032"/>
          </a:xfrm>
          <a:prstGeom prst="rect">
            <a:avLst/>
          </a:prstGeom>
          <a:noFill/>
          <a:ln/>
        </p:spPr>
        <p:txBody>
          <a:bodyPr wrap="square" rtlCol="0" anchor="ctr"/>
          <a:lstStyle/>
          <a:p>
            <a:pPr rtl="1" algn="r" indent="0" marL="0">
              <a:buNone/>
            </a:pPr>
            <a:r>
              <a:rPr lang="en-US" sz="900" dirty="0">
                <a:solidFill>
                  <a:srgbClr val="8B95A3"/>
                </a:solidFill>
                <a:latin typeface="Calibri" pitchFamily="34" charset="0"/>
                <a:ea typeface="Calibri" pitchFamily="34" charset="-122"/>
                <a:cs typeface="Calibri" pitchFamily="34" charset="-120"/>
              </a:rPr>
              <a:t>المصدر: </a:t>
            </a:r>
            <a:pPr rtl="1" algn="r" indent="0" marL="0">
              <a:buNone/>
            </a:pPr>
            <a:r>
              <a:rPr lang="en-US" sz="900" u="sng" dirty="0">
                <a:solidFill>
                  <a:srgbClr val="B8874C"/>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Grand View Research</a:t>
            </a:r>
            <a:pPr algn="r" indent="0" marL="0">
              <a:buNone/>
            </a:pPr>
            <a:r>
              <a:rPr lang="en-US" sz="900" dirty="0">
                <a:solidFill>
                  <a:srgbClr val="8B95A3"/>
                </a:solidFill>
                <a:latin typeface="Calibri" pitchFamily="34" charset="0"/>
                <a:ea typeface="Calibri" pitchFamily="34" charset="-122"/>
                <a:cs typeface="Calibri" pitchFamily="34" charset="-120"/>
              </a:rPr>
              <a:t> · </a:t>
            </a:r>
            <a:pPr rtl="1" algn="r" indent="0" marL="0">
              <a:buNone/>
            </a:pPr>
            <a:r>
              <a:rPr lang="en-US" sz="900" u="sng" dirty="0">
                <a:solidFill>
                  <a:srgbClr val="B8874C"/>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Saudi Logistics Consulting</a:t>
            </a:r>
            <a:pPr algn="r" indent="0" marL="0">
              <a:buNone/>
            </a:pPr>
            <a:r>
              <a:rPr lang="en-US" sz="900" dirty="0">
                <a:solidFill>
                  <a:srgbClr val="8B95A3"/>
                </a:solidFill>
                <a:latin typeface="Calibri" pitchFamily="34" charset="0"/>
                <a:ea typeface="Calibri" pitchFamily="34" charset="-122"/>
                <a:cs typeface="Calibri" pitchFamily="34" charset="-120"/>
              </a:rPr>
              <a:t> · </a:t>
            </a:r>
            <a:pPr rtl="1" algn="r" indent="0" marL="0">
              <a:buNone/>
            </a:pPr>
            <a:r>
              <a:rPr lang="en-US" sz="900" u="sng" dirty="0">
                <a:solidFill>
                  <a:srgbClr val="B8874C"/>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Saudipedia — NEOM</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3"/>
        </a:solidFill>
      </p:bgPr>
    </p:bg>
    <p:spTree>
      <p:nvGrpSpPr>
        <p:cNvPr id="1" name=""/>
        <p:cNvGrpSpPr/>
        <p:nvPr/>
      </p:nvGrpSpPr>
      <p:grpSpPr>
        <a:xfrm>
          <a:off x="0" y="0"/>
          <a:ext cx="0" cy="0"/>
          <a:chOff x="0" y="0"/>
          <a:chExt cx="0" cy="0"/>
        </a:xfrm>
      </p:grpSpPr>
      <p:sp>
        <p:nvSpPr>
          <p:cNvPr id="2" name="Shape 0"/>
          <p:cNvSpPr/>
          <p:nvPr/>
        </p:nvSpPr>
        <p:spPr>
          <a:xfrm>
            <a:off x="11734495" y="320040"/>
            <a:ext cx="73152" cy="411480"/>
          </a:xfrm>
          <a:prstGeom prst="rect">
            <a:avLst/>
          </a:prstGeom>
          <a:solidFill>
            <a:srgbClr val="D4A574"/>
          </a:solidFill>
          <a:ln/>
        </p:spPr>
      </p:sp>
      <p:sp>
        <p:nvSpPr>
          <p:cNvPr id="3" name="Text 1"/>
          <p:cNvSpPr/>
          <p:nvPr/>
        </p:nvSpPr>
        <p:spPr>
          <a:xfrm>
            <a:off x="8076895" y="274320"/>
            <a:ext cx="3566160" cy="365760"/>
          </a:xfrm>
          <a:prstGeom prst="rect">
            <a:avLst/>
          </a:prstGeom>
          <a:noFill/>
          <a:ln/>
        </p:spPr>
        <p:txBody>
          <a:bodyPr wrap="square" rtlCol="0" anchor="ctr"/>
          <a:lstStyle/>
          <a:p>
            <a:pPr rtl="1" algn="r" indent="0" marL="0">
              <a:buNone/>
            </a:pPr>
            <a:r>
              <a:rPr lang="en-US" sz="1200" b="1" dirty="0">
                <a:solidFill>
                  <a:srgbClr val="55606E"/>
                </a:solidFill>
                <a:latin typeface="Calibri" pitchFamily="34" charset="0"/>
                <a:ea typeface="Calibri" pitchFamily="34" charset="-122"/>
                <a:cs typeface="Calibri" pitchFamily="34" charset="-120"/>
              </a:rPr>
              <a:t>التحديات التشغيلية</a:t>
            </a:r>
            <a:endParaRPr lang="en-US" sz="1200" dirty="0"/>
          </a:p>
        </p:txBody>
      </p:sp>
      <p:sp>
        <p:nvSpPr>
          <p:cNvPr id="4" name="Text 2"/>
          <p:cNvSpPr/>
          <p:nvPr/>
        </p:nvSpPr>
        <p:spPr>
          <a:xfrm>
            <a:off x="457200" y="6446520"/>
            <a:ext cx="2286000" cy="274320"/>
          </a:xfrm>
          <a:prstGeom prst="rect">
            <a:avLst/>
          </a:prstGeom>
          <a:noFill/>
          <a:ln/>
        </p:spPr>
        <p:txBody>
          <a:bodyPr wrap="square" rtlCol="0" anchor="ctr"/>
          <a:lstStyle/>
          <a:p>
            <a:pPr algn="l" indent="0" marL="0">
              <a:buNone/>
            </a:pPr>
            <a:r>
              <a:rPr lang="en-US" sz="900" dirty="0">
                <a:solidFill>
                  <a:srgbClr val="8B95A3"/>
                </a:solidFill>
                <a:latin typeface="Calibri" pitchFamily="34" charset="0"/>
                <a:ea typeface="Calibri" pitchFamily="34" charset="-122"/>
                <a:cs typeface="Calibri" pitchFamily="34" charset="-120"/>
              </a:rPr>
              <a:t>Dealix · ديلكس</a:t>
            </a:r>
            <a:endParaRPr lang="en-US" sz="900" dirty="0"/>
          </a:p>
        </p:txBody>
      </p:sp>
      <p:sp>
        <p:nvSpPr>
          <p:cNvPr id="5" name="Text 3"/>
          <p:cNvSpPr/>
          <p:nvPr/>
        </p:nvSpPr>
        <p:spPr>
          <a:xfrm>
            <a:off x="11094415" y="6446520"/>
            <a:ext cx="640080" cy="274320"/>
          </a:xfrm>
          <a:prstGeom prst="rect">
            <a:avLst/>
          </a:prstGeom>
          <a:noFill/>
          <a:ln/>
        </p:spPr>
        <p:txBody>
          <a:bodyPr wrap="square" rtlCol="0" anchor="ctr"/>
          <a:lstStyle/>
          <a:p>
            <a:pPr algn="r" indent="0" marL="0">
              <a:buNone/>
            </a:pPr>
            <a:r>
              <a:rPr lang="en-US" sz="900" b="1" dirty="0">
                <a:solidFill>
                  <a:srgbClr val="8B95A3"/>
                </a:solidFill>
                <a:latin typeface="Calibri" pitchFamily="34" charset="0"/>
                <a:ea typeface="Calibri" pitchFamily="34" charset="-122"/>
                <a:cs typeface="Calibri" pitchFamily="34" charset="-120"/>
              </a:rPr>
              <a:t>05</a:t>
            </a:r>
            <a:endParaRPr lang="en-US" sz="900" dirty="0"/>
          </a:p>
        </p:txBody>
      </p:sp>
      <p:sp>
        <p:nvSpPr>
          <p:cNvPr id="6" name="Text 4"/>
          <p:cNvSpPr/>
          <p:nvPr/>
        </p:nvSpPr>
        <p:spPr>
          <a:xfrm>
            <a:off x="548640" y="914400"/>
            <a:ext cx="11094415" cy="822960"/>
          </a:xfrm>
          <a:prstGeom prst="rect">
            <a:avLst/>
          </a:prstGeom>
          <a:noFill/>
          <a:ln/>
        </p:spPr>
        <p:txBody>
          <a:bodyPr wrap="square" rtlCol="0" anchor="ctr"/>
          <a:lstStyle/>
          <a:p>
            <a:pPr rtl="1" algn="r" indent="0" marL="0">
              <a:buNone/>
            </a:pPr>
            <a:r>
              <a:rPr lang="en-US" sz="3400" b="1" dirty="0">
                <a:solidFill>
                  <a:srgbClr val="0A1628"/>
                </a:solidFill>
                <a:latin typeface="Calibri" pitchFamily="34" charset="0"/>
                <a:ea typeface="Calibri" pitchFamily="34" charset="-122"/>
                <a:cs typeface="Calibri" pitchFamily="34" charset="-120"/>
              </a:rPr>
              <a:t>التحديات التشغيلية في قطاع اللوجستيات</a:t>
            </a:r>
            <a:endParaRPr lang="en-US" sz="3400" dirty="0"/>
          </a:p>
        </p:txBody>
      </p:sp>
      <p:sp>
        <p:nvSpPr>
          <p:cNvPr id="7" name="Text 5"/>
          <p:cNvSpPr/>
          <p:nvPr/>
        </p:nvSpPr>
        <p:spPr>
          <a:xfrm>
            <a:off x="548640" y="1691640"/>
            <a:ext cx="11094415" cy="411480"/>
          </a:xfrm>
          <a:prstGeom prst="rect">
            <a:avLst/>
          </a:prstGeom>
          <a:noFill/>
          <a:ln/>
        </p:spPr>
        <p:txBody>
          <a:bodyPr wrap="square" rtlCol="0" anchor="ctr"/>
          <a:lstStyle/>
          <a:p>
            <a:pPr rtl="1" algn="r" indent="0" marL="0">
              <a:buNone/>
            </a:pPr>
            <a:r>
              <a:rPr lang="en-US" sz="1500" dirty="0">
                <a:solidFill>
                  <a:srgbClr val="55606E"/>
                </a:solidFill>
                <a:latin typeface="Calibri" pitchFamily="34" charset="0"/>
                <a:ea typeface="Calibri" pitchFamily="34" charset="-122"/>
                <a:cs typeface="Calibri" pitchFamily="34" charset="-120"/>
              </a:rPr>
              <a:t>ستة اختناقات تُكبّد كبرى شركات اللوجستيات الخليجية خسائر تشغيلية مستمرة</a:t>
            </a:r>
            <a:endParaRPr lang="en-US" sz="1500" dirty="0"/>
          </a:p>
        </p:txBody>
      </p:sp>
      <p:sp>
        <p:nvSpPr>
          <p:cNvPr id="8" name="Shape 6"/>
          <p:cNvSpPr/>
          <p:nvPr/>
        </p:nvSpPr>
        <p:spPr>
          <a:xfrm>
            <a:off x="7985455" y="2331720"/>
            <a:ext cx="3657600" cy="1783080"/>
          </a:xfrm>
          <a:prstGeom prst="rect">
            <a:avLst/>
          </a:prstGeom>
          <a:solidFill>
            <a:srgbClr val="FFFFFF"/>
          </a:solidFill>
          <a:ln w="12700">
            <a:solidFill>
              <a:srgbClr val="E8E3D6"/>
            </a:solidFill>
            <a:prstDash val="solid"/>
          </a:ln>
        </p:spPr>
      </p:sp>
      <p:sp>
        <p:nvSpPr>
          <p:cNvPr id="9" name="Text 7"/>
          <p:cNvSpPr/>
          <p:nvPr/>
        </p:nvSpPr>
        <p:spPr>
          <a:xfrm>
            <a:off x="8122615" y="2441448"/>
            <a:ext cx="640080" cy="365760"/>
          </a:xfrm>
          <a:prstGeom prst="rect">
            <a:avLst/>
          </a:prstGeom>
          <a:noFill/>
          <a:ln/>
        </p:spPr>
        <p:txBody>
          <a:bodyPr wrap="square" rtlCol="0" anchor="ctr"/>
          <a:lstStyle/>
          <a:p>
            <a:pPr algn="l" indent="0" marL="0">
              <a:buNone/>
            </a:pPr>
            <a:r>
              <a:rPr lang="en-US" sz="1300" b="1" dirty="0">
                <a:solidFill>
                  <a:srgbClr val="D4A574"/>
                </a:solidFill>
                <a:latin typeface="Calibri" pitchFamily="34" charset="0"/>
                <a:ea typeface="Calibri" pitchFamily="34" charset="-122"/>
                <a:cs typeface="Calibri" pitchFamily="34" charset="-120"/>
              </a:rPr>
              <a:t>01</a:t>
            </a:r>
            <a:endParaRPr lang="en-US" sz="1300" dirty="0"/>
          </a:p>
        </p:txBody>
      </p:sp>
      <p:sp>
        <p:nvSpPr>
          <p:cNvPr id="10" name="Text 8"/>
          <p:cNvSpPr/>
          <p:nvPr/>
        </p:nvSpPr>
        <p:spPr>
          <a:xfrm>
            <a:off x="8168335" y="2468880"/>
            <a:ext cx="3291840" cy="411480"/>
          </a:xfrm>
          <a:prstGeom prst="rect">
            <a:avLst/>
          </a:prstGeom>
          <a:noFill/>
          <a:ln/>
        </p:spPr>
        <p:txBody>
          <a:bodyPr wrap="square" rtlCol="0" anchor="ctr"/>
          <a:lstStyle/>
          <a:p>
            <a:pPr rtl="1" algn="r" indent="0" marL="0">
              <a:buNone/>
            </a:pPr>
            <a:r>
              <a:rPr lang="en-US" sz="1500" b="1" dirty="0">
                <a:solidFill>
                  <a:srgbClr val="0A1628"/>
                </a:solidFill>
                <a:latin typeface="Calibri" pitchFamily="34" charset="0"/>
                <a:ea typeface="Calibri" pitchFamily="34" charset="-122"/>
                <a:cs typeface="Calibri" pitchFamily="34" charset="-120"/>
              </a:rPr>
              <a:t>دورة التندرات البطيئة</a:t>
            </a:r>
            <a:endParaRPr lang="en-US" sz="1500" dirty="0"/>
          </a:p>
        </p:txBody>
      </p:sp>
      <p:sp>
        <p:nvSpPr>
          <p:cNvPr id="11" name="Shape 9"/>
          <p:cNvSpPr/>
          <p:nvPr/>
        </p:nvSpPr>
        <p:spPr>
          <a:xfrm>
            <a:off x="11048695" y="2971800"/>
            <a:ext cx="411480" cy="18288"/>
          </a:xfrm>
          <a:prstGeom prst="rect">
            <a:avLst/>
          </a:prstGeom>
          <a:solidFill>
            <a:srgbClr val="D4A574"/>
          </a:solidFill>
          <a:ln/>
        </p:spPr>
      </p:sp>
      <p:sp>
        <p:nvSpPr>
          <p:cNvPr id="12" name="Text 10"/>
          <p:cNvSpPr/>
          <p:nvPr/>
        </p:nvSpPr>
        <p:spPr>
          <a:xfrm>
            <a:off x="8168335" y="3044952"/>
            <a:ext cx="3291840" cy="960120"/>
          </a:xfrm>
          <a:prstGeom prst="rect">
            <a:avLst/>
          </a:prstGeom>
          <a:noFill/>
          <a:ln/>
        </p:spPr>
        <p:txBody>
          <a:bodyPr wrap="square" rtlCol="0" anchor="t"/>
          <a:lstStyle/>
          <a:p>
            <a:pPr rtl="1" algn="r" indent="0" marL="0">
              <a:buNone/>
            </a:pPr>
            <a:r>
              <a:rPr lang="en-US" sz="1100" dirty="0">
                <a:solidFill>
                  <a:srgbClr val="55606E"/>
                </a:solidFill>
                <a:latin typeface="Calibri" pitchFamily="34" charset="0"/>
                <a:ea typeface="Calibri" pitchFamily="34" charset="-122"/>
                <a:cs typeface="Calibri" pitchFamily="34" charset="-120"/>
              </a:rPr>
              <a:t>متوسط الرد على RFP من الجهات الحكومية وأرامكو وسابك يتجاوز 14 يوماً — بينما النافذة التنافسية 3-5 أيام</a:t>
            </a:r>
            <a:endParaRPr lang="en-US" sz="1100" dirty="0"/>
          </a:p>
        </p:txBody>
      </p:sp>
      <p:sp>
        <p:nvSpPr>
          <p:cNvPr id="13" name="Shape 11"/>
          <p:cNvSpPr/>
          <p:nvPr/>
        </p:nvSpPr>
        <p:spPr>
          <a:xfrm>
            <a:off x="4190695" y="2331720"/>
            <a:ext cx="3657600" cy="1783080"/>
          </a:xfrm>
          <a:prstGeom prst="rect">
            <a:avLst/>
          </a:prstGeom>
          <a:solidFill>
            <a:srgbClr val="FFFFFF"/>
          </a:solidFill>
          <a:ln w="12700">
            <a:solidFill>
              <a:srgbClr val="E8E3D6"/>
            </a:solidFill>
            <a:prstDash val="solid"/>
          </a:ln>
        </p:spPr>
      </p:sp>
      <p:sp>
        <p:nvSpPr>
          <p:cNvPr id="14" name="Text 12"/>
          <p:cNvSpPr/>
          <p:nvPr/>
        </p:nvSpPr>
        <p:spPr>
          <a:xfrm>
            <a:off x="4327855" y="2441448"/>
            <a:ext cx="640080" cy="365760"/>
          </a:xfrm>
          <a:prstGeom prst="rect">
            <a:avLst/>
          </a:prstGeom>
          <a:noFill/>
          <a:ln/>
        </p:spPr>
        <p:txBody>
          <a:bodyPr wrap="square" rtlCol="0" anchor="ctr"/>
          <a:lstStyle/>
          <a:p>
            <a:pPr algn="l" indent="0" marL="0">
              <a:buNone/>
            </a:pPr>
            <a:r>
              <a:rPr lang="en-US" sz="1300" b="1" dirty="0">
                <a:solidFill>
                  <a:srgbClr val="D4A574"/>
                </a:solidFill>
                <a:latin typeface="Calibri" pitchFamily="34" charset="0"/>
                <a:ea typeface="Calibri" pitchFamily="34" charset="-122"/>
                <a:cs typeface="Calibri" pitchFamily="34" charset="-120"/>
              </a:rPr>
              <a:t>02</a:t>
            </a:r>
            <a:endParaRPr lang="en-US" sz="1300" dirty="0"/>
          </a:p>
        </p:txBody>
      </p:sp>
      <p:sp>
        <p:nvSpPr>
          <p:cNvPr id="15" name="Text 13"/>
          <p:cNvSpPr/>
          <p:nvPr/>
        </p:nvSpPr>
        <p:spPr>
          <a:xfrm>
            <a:off x="4373575" y="2468880"/>
            <a:ext cx="3291840" cy="411480"/>
          </a:xfrm>
          <a:prstGeom prst="rect">
            <a:avLst/>
          </a:prstGeom>
          <a:noFill/>
          <a:ln/>
        </p:spPr>
        <p:txBody>
          <a:bodyPr wrap="square" rtlCol="0" anchor="ctr"/>
          <a:lstStyle/>
          <a:p>
            <a:pPr rtl="1" algn="r" indent="0" marL="0">
              <a:buNone/>
            </a:pPr>
            <a:r>
              <a:rPr lang="en-US" sz="1500" b="1" dirty="0">
                <a:solidFill>
                  <a:srgbClr val="0A1628"/>
                </a:solidFill>
                <a:latin typeface="Calibri" pitchFamily="34" charset="0"/>
                <a:ea typeface="Calibri" pitchFamily="34" charset="-122"/>
                <a:cs typeface="Calibri" pitchFamily="34" charset="-120"/>
              </a:rPr>
              <a:t>تسرّب العملاء المحتملين</a:t>
            </a:r>
            <a:endParaRPr lang="en-US" sz="1500" dirty="0"/>
          </a:p>
        </p:txBody>
      </p:sp>
      <p:sp>
        <p:nvSpPr>
          <p:cNvPr id="16" name="Shape 14"/>
          <p:cNvSpPr/>
          <p:nvPr/>
        </p:nvSpPr>
        <p:spPr>
          <a:xfrm>
            <a:off x="7253935" y="2971800"/>
            <a:ext cx="411480" cy="18288"/>
          </a:xfrm>
          <a:prstGeom prst="rect">
            <a:avLst/>
          </a:prstGeom>
          <a:solidFill>
            <a:srgbClr val="D4A574"/>
          </a:solidFill>
          <a:ln/>
        </p:spPr>
      </p:sp>
      <p:sp>
        <p:nvSpPr>
          <p:cNvPr id="17" name="Text 15"/>
          <p:cNvSpPr/>
          <p:nvPr/>
        </p:nvSpPr>
        <p:spPr>
          <a:xfrm>
            <a:off x="4373575" y="3044952"/>
            <a:ext cx="3291840" cy="960120"/>
          </a:xfrm>
          <a:prstGeom prst="rect">
            <a:avLst/>
          </a:prstGeom>
          <a:noFill/>
          <a:ln/>
        </p:spPr>
        <p:txBody>
          <a:bodyPr wrap="square" rtlCol="0" anchor="t"/>
          <a:lstStyle/>
          <a:p>
            <a:pPr rtl="1" algn="r" indent="0" marL="0">
              <a:buNone/>
            </a:pPr>
            <a:r>
              <a:rPr lang="en-US" sz="1100" dirty="0">
                <a:solidFill>
                  <a:srgbClr val="55606E"/>
                </a:solidFill>
                <a:latin typeface="Calibri" pitchFamily="34" charset="0"/>
                <a:ea typeface="Calibri" pitchFamily="34" charset="-122"/>
                <a:cs typeface="Calibri" pitchFamily="34" charset="-120"/>
              </a:rPr>
              <a:t>30-40% من طلبات الشحن عبر WhatsApp/الموقع تذهب بلا متابعة منظّمة، خصوصاً خارج ساعات العمل</a:t>
            </a:r>
            <a:endParaRPr lang="en-US" sz="1100" dirty="0"/>
          </a:p>
        </p:txBody>
      </p:sp>
      <p:sp>
        <p:nvSpPr>
          <p:cNvPr id="18" name="Shape 16"/>
          <p:cNvSpPr/>
          <p:nvPr/>
        </p:nvSpPr>
        <p:spPr>
          <a:xfrm>
            <a:off x="395935" y="2331720"/>
            <a:ext cx="3657600" cy="1783080"/>
          </a:xfrm>
          <a:prstGeom prst="rect">
            <a:avLst/>
          </a:prstGeom>
          <a:solidFill>
            <a:srgbClr val="FFFFFF"/>
          </a:solidFill>
          <a:ln w="12700">
            <a:solidFill>
              <a:srgbClr val="E8E3D6"/>
            </a:solidFill>
            <a:prstDash val="solid"/>
          </a:ln>
        </p:spPr>
      </p:sp>
      <p:sp>
        <p:nvSpPr>
          <p:cNvPr id="19" name="Text 17"/>
          <p:cNvSpPr/>
          <p:nvPr/>
        </p:nvSpPr>
        <p:spPr>
          <a:xfrm>
            <a:off x="533095" y="2441448"/>
            <a:ext cx="640080" cy="365760"/>
          </a:xfrm>
          <a:prstGeom prst="rect">
            <a:avLst/>
          </a:prstGeom>
          <a:noFill/>
          <a:ln/>
        </p:spPr>
        <p:txBody>
          <a:bodyPr wrap="square" rtlCol="0" anchor="ctr"/>
          <a:lstStyle/>
          <a:p>
            <a:pPr algn="l" indent="0" marL="0">
              <a:buNone/>
            </a:pPr>
            <a:r>
              <a:rPr lang="en-US" sz="1300" b="1" dirty="0">
                <a:solidFill>
                  <a:srgbClr val="D4A574"/>
                </a:solidFill>
                <a:latin typeface="Calibri" pitchFamily="34" charset="0"/>
                <a:ea typeface="Calibri" pitchFamily="34" charset="-122"/>
                <a:cs typeface="Calibri" pitchFamily="34" charset="-120"/>
              </a:rPr>
              <a:t>03</a:t>
            </a:r>
            <a:endParaRPr lang="en-US" sz="1300" dirty="0"/>
          </a:p>
        </p:txBody>
      </p:sp>
      <p:sp>
        <p:nvSpPr>
          <p:cNvPr id="20" name="Text 18"/>
          <p:cNvSpPr/>
          <p:nvPr/>
        </p:nvSpPr>
        <p:spPr>
          <a:xfrm>
            <a:off x="578815" y="2468880"/>
            <a:ext cx="3291840" cy="411480"/>
          </a:xfrm>
          <a:prstGeom prst="rect">
            <a:avLst/>
          </a:prstGeom>
          <a:noFill/>
          <a:ln/>
        </p:spPr>
        <p:txBody>
          <a:bodyPr wrap="square" rtlCol="0" anchor="ctr"/>
          <a:lstStyle/>
          <a:p>
            <a:pPr rtl="1" algn="r" indent="0" marL="0">
              <a:buNone/>
            </a:pPr>
            <a:r>
              <a:rPr lang="en-US" sz="1500" b="1" dirty="0">
                <a:solidFill>
                  <a:srgbClr val="0A1628"/>
                </a:solidFill>
                <a:latin typeface="Calibri" pitchFamily="34" charset="0"/>
                <a:ea typeface="Calibri" pitchFamily="34" charset="-122"/>
                <a:cs typeface="Calibri" pitchFamily="34" charset="-120"/>
              </a:rPr>
              <a:t>ثنائية اللغة الفوضوية</a:t>
            </a:r>
            <a:endParaRPr lang="en-US" sz="1500" dirty="0"/>
          </a:p>
        </p:txBody>
      </p:sp>
      <p:sp>
        <p:nvSpPr>
          <p:cNvPr id="21" name="Shape 19"/>
          <p:cNvSpPr/>
          <p:nvPr/>
        </p:nvSpPr>
        <p:spPr>
          <a:xfrm>
            <a:off x="3459175" y="2971800"/>
            <a:ext cx="411480" cy="18288"/>
          </a:xfrm>
          <a:prstGeom prst="rect">
            <a:avLst/>
          </a:prstGeom>
          <a:solidFill>
            <a:srgbClr val="D4A574"/>
          </a:solidFill>
          <a:ln/>
        </p:spPr>
      </p:sp>
      <p:sp>
        <p:nvSpPr>
          <p:cNvPr id="22" name="Text 20"/>
          <p:cNvSpPr/>
          <p:nvPr/>
        </p:nvSpPr>
        <p:spPr>
          <a:xfrm>
            <a:off x="578815" y="3044952"/>
            <a:ext cx="3291840" cy="960120"/>
          </a:xfrm>
          <a:prstGeom prst="rect">
            <a:avLst/>
          </a:prstGeom>
          <a:noFill/>
          <a:ln/>
        </p:spPr>
        <p:txBody>
          <a:bodyPr wrap="square" rtlCol="0" anchor="t"/>
          <a:lstStyle/>
          <a:p>
            <a:pPr rtl="1" algn="r" indent="0" marL="0">
              <a:buNone/>
            </a:pPr>
            <a:r>
              <a:rPr lang="en-US" sz="1100" dirty="0">
                <a:solidFill>
                  <a:srgbClr val="55606E"/>
                </a:solidFill>
                <a:latin typeface="Calibri" pitchFamily="34" charset="0"/>
                <a:ea typeface="Calibri" pitchFamily="34" charset="-122"/>
                <a:cs typeface="Calibri" pitchFamily="34" charset="-120"/>
              </a:rPr>
              <a:t>عقود وطلبات تتنقّل بين العربية والإنجليزية يدوياً — أخطاء ترجمة كلّفت القطاع عقوداً كبرى</a:t>
            </a:r>
            <a:endParaRPr lang="en-US" sz="1100" dirty="0"/>
          </a:p>
        </p:txBody>
      </p:sp>
      <p:sp>
        <p:nvSpPr>
          <p:cNvPr id="23" name="Shape 21"/>
          <p:cNvSpPr/>
          <p:nvPr/>
        </p:nvSpPr>
        <p:spPr>
          <a:xfrm>
            <a:off x="7985455" y="4279392"/>
            <a:ext cx="3657600" cy="1783080"/>
          </a:xfrm>
          <a:prstGeom prst="rect">
            <a:avLst/>
          </a:prstGeom>
          <a:solidFill>
            <a:srgbClr val="FFFFFF"/>
          </a:solidFill>
          <a:ln w="12700">
            <a:solidFill>
              <a:srgbClr val="E8E3D6"/>
            </a:solidFill>
            <a:prstDash val="solid"/>
          </a:ln>
        </p:spPr>
      </p:sp>
      <p:sp>
        <p:nvSpPr>
          <p:cNvPr id="24" name="Text 22"/>
          <p:cNvSpPr/>
          <p:nvPr/>
        </p:nvSpPr>
        <p:spPr>
          <a:xfrm>
            <a:off x="8122615" y="4389120"/>
            <a:ext cx="640080" cy="365760"/>
          </a:xfrm>
          <a:prstGeom prst="rect">
            <a:avLst/>
          </a:prstGeom>
          <a:noFill/>
          <a:ln/>
        </p:spPr>
        <p:txBody>
          <a:bodyPr wrap="square" rtlCol="0" anchor="ctr"/>
          <a:lstStyle/>
          <a:p>
            <a:pPr algn="l" indent="0" marL="0">
              <a:buNone/>
            </a:pPr>
            <a:r>
              <a:rPr lang="en-US" sz="1300" b="1" dirty="0">
                <a:solidFill>
                  <a:srgbClr val="D4A574"/>
                </a:solidFill>
                <a:latin typeface="Calibri" pitchFamily="34" charset="0"/>
                <a:ea typeface="Calibri" pitchFamily="34" charset="-122"/>
                <a:cs typeface="Calibri" pitchFamily="34" charset="-120"/>
              </a:rPr>
              <a:t>04</a:t>
            </a:r>
            <a:endParaRPr lang="en-US" sz="1300" dirty="0"/>
          </a:p>
        </p:txBody>
      </p:sp>
      <p:sp>
        <p:nvSpPr>
          <p:cNvPr id="25" name="Text 23"/>
          <p:cNvSpPr/>
          <p:nvPr/>
        </p:nvSpPr>
        <p:spPr>
          <a:xfrm>
            <a:off x="8168335" y="4416552"/>
            <a:ext cx="3291840" cy="411480"/>
          </a:xfrm>
          <a:prstGeom prst="rect">
            <a:avLst/>
          </a:prstGeom>
          <a:noFill/>
          <a:ln/>
        </p:spPr>
        <p:txBody>
          <a:bodyPr wrap="square" rtlCol="0" anchor="ctr"/>
          <a:lstStyle/>
          <a:p>
            <a:pPr rtl="1" algn="r" indent="0" marL="0">
              <a:buNone/>
            </a:pPr>
            <a:r>
              <a:rPr lang="en-US" sz="1500" b="1" dirty="0">
                <a:solidFill>
                  <a:srgbClr val="0A1628"/>
                </a:solidFill>
                <a:latin typeface="Calibri" pitchFamily="34" charset="0"/>
                <a:ea typeface="Calibri" pitchFamily="34" charset="-122"/>
                <a:cs typeface="Calibri" pitchFamily="34" charset="-120"/>
              </a:rPr>
              <a:t>احتكاك التوسّع الخليجي</a:t>
            </a:r>
            <a:endParaRPr lang="en-US" sz="1500" dirty="0"/>
          </a:p>
        </p:txBody>
      </p:sp>
      <p:sp>
        <p:nvSpPr>
          <p:cNvPr id="26" name="Shape 24"/>
          <p:cNvSpPr/>
          <p:nvPr/>
        </p:nvSpPr>
        <p:spPr>
          <a:xfrm>
            <a:off x="11048695" y="4919472"/>
            <a:ext cx="411480" cy="18288"/>
          </a:xfrm>
          <a:prstGeom prst="rect">
            <a:avLst/>
          </a:prstGeom>
          <a:solidFill>
            <a:srgbClr val="D4A574"/>
          </a:solidFill>
          <a:ln/>
        </p:spPr>
      </p:sp>
      <p:sp>
        <p:nvSpPr>
          <p:cNvPr id="27" name="Text 25"/>
          <p:cNvSpPr/>
          <p:nvPr/>
        </p:nvSpPr>
        <p:spPr>
          <a:xfrm>
            <a:off x="8168335" y="4992624"/>
            <a:ext cx="3291840" cy="960120"/>
          </a:xfrm>
          <a:prstGeom prst="rect">
            <a:avLst/>
          </a:prstGeom>
          <a:noFill/>
          <a:ln/>
        </p:spPr>
        <p:txBody>
          <a:bodyPr wrap="square" rtlCol="0" anchor="t"/>
          <a:lstStyle/>
          <a:p>
            <a:pPr rtl="1" algn="r" indent="0" marL="0">
              <a:buNone/>
            </a:pPr>
            <a:r>
              <a:rPr lang="en-US" sz="1100" dirty="0">
                <a:solidFill>
                  <a:srgbClr val="55606E"/>
                </a:solidFill>
                <a:latin typeface="Calibri" pitchFamily="34" charset="0"/>
                <a:ea typeface="Calibri" pitchFamily="34" charset="-122"/>
                <a:cs typeface="Calibri" pitchFamily="34" charset="-120"/>
              </a:rPr>
              <a:t>فروع الرياض وجدة ودبي والكويت تعمل على أنظمة متفرقة — لا رؤية موحّدة لخط المبيعات</a:t>
            </a:r>
            <a:endParaRPr lang="en-US" sz="1100" dirty="0"/>
          </a:p>
        </p:txBody>
      </p:sp>
      <p:sp>
        <p:nvSpPr>
          <p:cNvPr id="28" name="Shape 26"/>
          <p:cNvSpPr/>
          <p:nvPr/>
        </p:nvSpPr>
        <p:spPr>
          <a:xfrm>
            <a:off x="4190695" y="4279392"/>
            <a:ext cx="3657600" cy="1783080"/>
          </a:xfrm>
          <a:prstGeom prst="rect">
            <a:avLst/>
          </a:prstGeom>
          <a:solidFill>
            <a:srgbClr val="FFFFFF"/>
          </a:solidFill>
          <a:ln w="12700">
            <a:solidFill>
              <a:srgbClr val="E8E3D6"/>
            </a:solidFill>
            <a:prstDash val="solid"/>
          </a:ln>
        </p:spPr>
      </p:sp>
      <p:sp>
        <p:nvSpPr>
          <p:cNvPr id="29" name="Text 27"/>
          <p:cNvSpPr/>
          <p:nvPr/>
        </p:nvSpPr>
        <p:spPr>
          <a:xfrm>
            <a:off x="4327855" y="4389120"/>
            <a:ext cx="640080" cy="365760"/>
          </a:xfrm>
          <a:prstGeom prst="rect">
            <a:avLst/>
          </a:prstGeom>
          <a:noFill/>
          <a:ln/>
        </p:spPr>
        <p:txBody>
          <a:bodyPr wrap="square" rtlCol="0" anchor="ctr"/>
          <a:lstStyle/>
          <a:p>
            <a:pPr algn="l" indent="0" marL="0">
              <a:buNone/>
            </a:pPr>
            <a:r>
              <a:rPr lang="en-US" sz="1300" b="1" dirty="0">
                <a:solidFill>
                  <a:srgbClr val="D4A574"/>
                </a:solidFill>
                <a:latin typeface="Calibri" pitchFamily="34" charset="0"/>
                <a:ea typeface="Calibri" pitchFamily="34" charset="-122"/>
                <a:cs typeface="Calibri" pitchFamily="34" charset="-120"/>
              </a:rPr>
              <a:t>05</a:t>
            </a:r>
            <a:endParaRPr lang="en-US" sz="1300" dirty="0"/>
          </a:p>
        </p:txBody>
      </p:sp>
      <p:sp>
        <p:nvSpPr>
          <p:cNvPr id="30" name="Text 28"/>
          <p:cNvSpPr/>
          <p:nvPr/>
        </p:nvSpPr>
        <p:spPr>
          <a:xfrm>
            <a:off x="4373575" y="4416552"/>
            <a:ext cx="3291840" cy="411480"/>
          </a:xfrm>
          <a:prstGeom prst="rect">
            <a:avLst/>
          </a:prstGeom>
          <a:noFill/>
          <a:ln/>
        </p:spPr>
        <p:txBody>
          <a:bodyPr wrap="square" rtlCol="0" anchor="ctr"/>
          <a:lstStyle/>
          <a:p>
            <a:pPr rtl="1" algn="r" indent="0" marL="0">
              <a:buNone/>
            </a:pPr>
            <a:r>
              <a:rPr lang="en-US" sz="1500" b="1" dirty="0">
                <a:solidFill>
                  <a:srgbClr val="0A1628"/>
                </a:solidFill>
                <a:latin typeface="Calibri" pitchFamily="34" charset="0"/>
                <a:ea typeface="Calibri" pitchFamily="34" charset="-122"/>
                <a:cs typeface="Calibri" pitchFamily="34" charset="-120"/>
              </a:rPr>
              <a:t>أنظمة CRM منعزلة</a:t>
            </a:r>
            <a:endParaRPr lang="en-US" sz="1500" dirty="0"/>
          </a:p>
        </p:txBody>
      </p:sp>
      <p:sp>
        <p:nvSpPr>
          <p:cNvPr id="31" name="Shape 29"/>
          <p:cNvSpPr/>
          <p:nvPr/>
        </p:nvSpPr>
        <p:spPr>
          <a:xfrm>
            <a:off x="7253935" y="4919472"/>
            <a:ext cx="411480" cy="18288"/>
          </a:xfrm>
          <a:prstGeom prst="rect">
            <a:avLst/>
          </a:prstGeom>
          <a:solidFill>
            <a:srgbClr val="D4A574"/>
          </a:solidFill>
          <a:ln/>
        </p:spPr>
      </p:sp>
      <p:sp>
        <p:nvSpPr>
          <p:cNvPr id="32" name="Text 30"/>
          <p:cNvSpPr/>
          <p:nvPr/>
        </p:nvSpPr>
        <p:spPr>
          <a:xfrm>
            <a:off x="4373575" y="4992624"/>
            <a:ext cx="3291840" cy="960120"/>
          </a:xfrm>
          <a:prstGeom prst="rect">
            <a:avLst/>
          </a:prstGeom>
          <a:noFill/>
          <a:ln/>
        </p:spPr>
        <p:txBody>
          <a:bodyPr wrap="square" rtlCol="0" anchor="t"/>
          <a:lstStyle/>
          <a:p>
            <a:pPr rtl="1" algn="r" indent="0" marL="0">
              <a:buNone/>
            </a:pPr>
            <a:r>
              <a:rPr lang="en-US" sz="1100" dirty="0">
                <a:solidFill>
                  <a:srgbClr val="55606E"/>
                </a:solidFill>
                <a:latin typeface="Calibri" pitchFamily="34" charset="0"/>
                <a:ea typeface="Calibri" pitchFamily="34" charset="-122"/>
                <a:cs typeface="Calibri" pitchFamily="34" charset="-120"/>
              </a:rPr>
              <a:t>Salesforce/HubSpot غير مُهيّأة للعربية، والأنظمة المحلية لا تدعم WhatsApp Business API الأصلي</a:t>
            </a:r>
            <a:endParaRPr lang="en-US" sz="1100" dirty="0"/>
          </a:p>
        </p:txBody>
      </p:sp>
      <p:sp>
        <p:nvSpPr>
          <p:cNvPr id="33" name="Shape 31"/>
          <p:cNvSpPr/>
          <p:nvPr/>
        </p:nvSpPr>
        <p:spPr>
          <a:xfrm>
            <a:off x="395935" y="4279392"/>
            <a:ext cx="3657600" cy="1783080"/>
          </a:xfrm>
          <a:prstGeom prst="rect">
            <a:avLst/>
          </a:prstGeom>
          <a:solidFill>
            <a:srgbClr val="FFFFFF"/>
          </a:solidFill>
          <a:ln w="12700">
            <a:solidFill>
              <a:srgbClr val="E8E3D6"/>
            </a:solidFill>
            <a:prstDash val="solid"/>
          </a:ln>
        </p:spPr>
      </p:sp>
      <p:sp>
        <p:nvSpPr>
          <p:cNvPr id="34" name="Text 32"/>
          <p:cNvSpPr/>
          <p:nvPr/>
        </p:nvSpPr>
        <p:spPr>
          <a:xfrm>
            <a:off x="533095" y="4389120"/>
            <a:ext cx="640080" cy="365760"/>
          </a:xfrm>
          <a:prstGeom prst="rect">
            <a:avLst/>
          </a:prstGeom>
          <a:noFill/>
          <a:ln/>
        </p:spPr>
        <p:txBody>
          <a:bodyPr wrap="square" rtlCol="0" anchor="ctr"/>
          <a:lstStyle/>
          <a:p>
            <a:pPr algn="l" indent="0" marL="0">
              <a:buNone/>
            </a:pPr>
            <a:r>
              <a:rPr lang="en-US" sz="1300" b="1" dirty="0">
                <a:solidFill>
                  <a:srgbClr val="D4A574"/>
                </a:solidFill>
                <a:latin typeface="Calibri" pitchFamily="34" charset="0"/>
                <a:ea typeface="Calibri" pitchFamily="34" charset="-122"/>
                <a:cs typeface="Calibri" pitchFamily="34" charset="-120"/>
              </a:rPr>
              <a:t>06</a:t>
            </a:r>
            <a:endParaRPr lang="en-US" sz="1300" dirty="0"/>
          </a:p>
        </p:txBody>
      </p:sp>
      <p:sp>
        <p:nvSpPr>
          <p:cNvPr id="35" name="Text 33"/>
          <p:cNvSpPr/>
          <p:nvPr/>
        </p:nvSpPr>
        <p:spPr>
          <a:xfrm>
            <a:off x="578815" y="4416552"/>
            <a:ext cx="3291840" cy="411480"/>
          </a:xfrm>
          <a:prstGeom prst="rect">
            <a:avLst/>
          </a:prstGeom>
          <a:noFill/>
          <a:ln/>
        </p:spPr>
        <p:txBody>
          <a:bodyPr wrap="square" rtlCol="0" anchor="ctr"/>
          <a:lstStyle/>
          <a:p>
            <a:pPr rtl="1" algn="r" indent="0" marL="0">
              <a:buNone/>
            </a:pPr>
            <a:r>
              <a:rPr lang="en-US" sz="1500" b="1" dirty="0">
                <a:solidFill>
                  <a:srgbClr val="0A1628"/>
                </a:solidFill>
                <a:latin typeface="Calibri" pitchFamily="34" charset="0"/>
                <a:ea typeface="Calibri" pitchFamily="34" charset="-122"/>
                <a:cs typeface="Calibri" pitchFamily="34" charset="-120"/>
              </a:rPr>
              <a:t>فجوة إسناد الإيراد</a:t>
            </a:r>
            <a:endParaRPr lang="en-US" sz="1500" dirty="0"/>
          </a:p>
        </p:txBody>
      </p:sp>
      <p:sp>
        <p:nvSpPr>
          <p:cNvPr id="36" name="Shape 34"/>
          <p:cNvSpPr/>
          <p:nvPr/>
        </p:nvSpPr>
        <p:spPr>
          <a:xfrm>
            <a:off x="3459175" y="4919472"/>
            <a:ext cx="411480" cy="18288"/>
          </a:xfrm>
          <a:prstGeom prst="rect">
            <a:avLst/>
          </a:prstGeom>
          <a:solidFill>
            <a:srgbClr val="D4A574"/>
          </a:solidFill>
          <a:ln/>
        </p:spPr>
      </p:sp>
      <p:sp>
        <p:nvSpPr>
          <p:cNvPr id="37" name="Text 35"/>
          <p:cNvSpPr/>
          <p:nvPr/>
        </p:nvSpPr>
        <p:spPr>
          <a:xfrm>
            <a:off x="578815" y="4992624"/>
            <a:ext cx="3291840" cy="960120"/>
          </a:xfrm>
          <a:prstGeom prst="rect">
            <a:avLst/>
          </a:prstGeom>
          <a:noFill/>
          <a:ln/>
        </p:spPr>
        <p:txBody>
          <a:bodyPr wrap="square" rtlCol="0" anchor="t"/>
          <a:lstStyle/>
          <a:p>
            <a:pPr rtl="1" algn="r" indent="0" marL="0">
              <a:buNone/>
            </a:pPr>
            <a:r>
              <a:rPr lang="en-US" sz="1100" dirty="0">
                <a:solidFill>
                  <a:srgbClr val="55606E"/>
                </a:solidFill>
                <a:latin typeface="Calibri" pitchFamily="34" charset="0"/>
                <a:ea typeface="Calibri" pitchFamily="34" charset="-122"/>
                <a:cs typeface="Calibri" pitchFamily="34" charset="-120"/>
              </a:rPr>
              <a:t>صعوبة الإجابة على السؤال البسيط: أي قناة أنتجت هذا العقد الكبير؟</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3"/>
        </a:solidFill>
      </p:bgPr>
    </p:bg>
    <p:spTree>
      <p:nvGrpSpPr>
        <p:cNvPr id="1" name=""/>
        <p:cNvGrpSpPr/>
        <p:nvPr/>
      </p:nvGrpSpPr>
      <p:grpSpPr>
        <a:xfrm>
          <a:off x="0" y="0"/>
          <a:ext cx="0" cy="0"/>
          <a:chOff x="0" y="0"/>
          <a:chExt cx="0" cy="0"/>
        </a:xfrm>
      </p:grpSpPr>
      <p:sp>
        <p:nvSpPr>
          <p:cNvPr id="2" name="Shape 0"/>
          <p:cNvSpPr/>
          <p:nvPr/>
        </p:nvSpPr>
        <p:spPr>
          <a:xfrm>
            <a:off x="11734495" y="320040"/>
            <a:ext cx="73152" cy="411480"/>
          </a:xfrm>
          <a:prstGeom prst="rect">
            <a:avLst/>
          </a:prstGeom>
          <a:solidFill>
            <a:srgbClr val="D4A574"/>
          </a:solidFill>
          <a:ln/>
        </p:spPr>
      </p:sp>
      <p:sp>
        <p:nvSpPr>
          <p:cNvPr id="3" name="Text 1"/>
          <p:cNvSpPr/>
          <p:nvPr/>
        </p:nvSpPr>
        <p:spPr>
          <a:xfrm>
            <a:off x="8076895" y="274320"/>
            <a:ext cx="3566160" cy="365760"/>
          </a:xfrm>
          <a:prstGeom prst="rect">
            <a:avLst/>
          </a:prstGeom>
          <a:noFill/>
          <a:ln/>
        </p:spPr>
        <p:txBody>
          <a:bodyPr wrap="square" rtlCol="0" anchor="ctr"/>
          <a:lstStyle/>
          <a:p>
            <a:pPr rtl="1" algn="r" indent="0" marL="0">
              <a:buNone/>
            </a:pPr>
            <a:r>
              <a:rPr lang="en-US" sz="1200" b="1" dirty="0">
                <a:solidFill>
                  <a:srgbClr val="55606E"/>
                </a:solidFill>
                <a:latin typeface="Calibri" pitchFamily="34" charset="0"/>
                <a:ea typeface="Calibri" pitchFamily="34" charset="-122"/>
                <a:cs typeface="Calibri" pitchFamily="34" charset="-120"/>
              </a:rPr>
              <a:t>الفجوة</a:t>
            </a:r>
            <a:endParaRPr lang="en-US" sz="1200" dirty="0"/>
          </a:p>
        </p:txBody>
      </p:sp>
      <p:sp>
        <p:nvSpPr>
          <p:cNvPr id="4" name="Text 2"/>
          <p:cNvSpPr/>
          <p:nvPr/>
        </p:nvSpPr>
        <p:spPr>
          <a:xfrm>
            <a:off x="457200" y="6446520"/>
            <a:ext cx="2286000" cy="274320"/>
          </a:xfrm>
          <a:prstGeom prst="rect">
            <a:avLst/>
          </a:prstGeom>
          <a:noFill/>
          <a:ln/>
        </p:spPr>
        <p:txBody>
          <a:bodyPr wrap="square" rtlCol="0" anchor="ctr"/>
          <a:lstStyle/>
          <a:p>
            <a:pPr algn="l" indent="0" marL="0">
              <a:buNone/>
            </a:pPr>
            <a:r>
              <a:rPr lang="en-US" sz="900" dirty="0">
                <a:solidFill>
                  <a:srgbClr val="8B95A3"/>
                </a:solidFill>
                <a:latin typeface="Calibri" pitchFamily="34" charset="0"/>
                <a:ea typeface="Calibri" pitchFamily="34" charset="-122"/>
                <a:cs typeface="Calibri" pitchFamily="34" charset="-120"/>
              </a:rPr>
              <a:t>Dealix · ديلكس</a:t>
            </a:r>
            <a:endParaRPr lang="en-US" sz="900" dirty="0"/>
          </a:p>
        </p:txBody>
      </p:sp>
      <p:sp>
        <p:nvSpPr>
          <p:cNvPr id="5" name="Text 3"/>
          <p:cNvSpPr/>
          <p:nvPr/>
        </p:nvSpPr>
        <p:spPr>
          <a:xfrm>
            <a:off x="11094415" y="6446520"/>
            <a:ext cx="640080" cy="274320"/>
          </a:xfrm>
          <a:prstGeom prst="rect">
            <a:avLst/>
          </a:prstGeom>
          <a:noFill/>
          <a:ln/>
        </p:spPr>
        <p:txBody>
          <a:bodyPr wrap="square" rtlCol="0" anchor="ctr"/>
          <a:lstStyle/>
          <a:p>
            <a:pPr algn="r" indent="0" marL="0">
              <a:buNone/>
            </a:pPr>
            <a:r>
              <a:rPr lang="en-US" sz="900" b="1" dirty="0">
                <a:solidFill>
                  <a:srgbClr val="8B95A3"/>
                </a:solidFill>
                <a:latin typeface="Calibri" pitchFamily="34" charset="0"/>
                <a:ea typeface="Calibri" pitchFamily="34" charset="-122"/>
                <a:cs typeface="Calibri" pitchFamily="34" charset="-120"/>
              </a:rPr>
              <a:t>06</a:t>
            </a:r>
            <a:endParaRPr lang="en-US" sz="900" dirty="0"/>
          </a:p>
        </p:txBody>
      </p:sp>
      <p:sp>
        <p:nvSpPr>
          <p:cNvPr id="6" name="Text 4"/>
          <p:cNvSpPr/>
          <p:nvPr/>
        </p:nvSpPr>
        <p:spPr>
          <a:xfrm>
            <a:off x="548640" y="914400"/>
            <a:ext cx="11094415" cy="822960"/>
          </a:xfrm>
          <a:prstGeom prst="rect">
            <a:avLst/>
          </a:prstGeom>
          <a:noFill/>
          <a:ln/>
        </p:spPr>
        <p:txBody>
          <a:bodyPr wrap="square" rtlCol="0" anchor="ctr"/>
          <a:lstStyle/>
          <a:p>
            <a:pPr rtl="1" algn="r" indent="0" marL="0">
              <a:buNone/>
            </a:pPr>
            <a:r>
              <a:rPr lang="en-US" sz="3400" b="1" dirty="0">
                <a:solidFill>
                  <a:srgbClr val="0A1628"/>
                </a:solidFill>
                <a:latin typeface="Calibri" pitchFamily="34" charset="0"/>
                <a:ea typeface="Calibri" pitchFamily="34" charset="-122"/>
                <a:cs typeface="Calibri" pitchFamily="34" charset="-120"/>
              </a:rPr>
              <a:t>الفجوة — أين يتسرّب الإيراد فعلياً</a:t>
            </a:r>
            <a:endParaRPr lang="en-US" sz="3400" dirty="0"/>
          </a:p>
        </p:txBody>
      </p:sp>
      <p:sp>
        <p:nvSpPr>
          <p:cNvPr id="7" name="Text 5"/>
          <p:cNvSpPr/>
          <p:nvPr/>
        </p:nvSpPr>
        <p:spPr>
          <a:xfrm>
            <a:off x="548640" y="1691640"/>
            <a:ext cx="11094415" cy="411480"/>
          </a:xfrm>
          <a:prstGeom prst="rect">
            <a:avLst/>
          </a:prstGeom>
          <a:noFill/>
          <a:ln/>
        </p:spPr>
        <p:txBody>
          <a:bodyPr wrap="square" rtlCol="0" anchor="ctr"/>
          <a:lstStyle/>
          <a:p>
            <a:pPr rtl="1" algn="r" indent="0" marL="0">
              <a:buNone/>
            </a:pPr>
            <a:r>
              <a:rPr lang="en-US" sz="1500" dirty="0">
                <a:solidFill>
                  <a:srgbClr val="55606E"/>
                </a:solidFill>
                <a:latin typeface="Calibri" pitchFamily="34" charset="0"/>
                <a:ea typeface="Calibri" pitchFamily="34" charset="-122"/>
                <a:cs typeface="Calibri" pitchFamily="34" charset="-120"/>
              </a:rPr>
              <a:t>قياس ملموس للفاقد الشهري في شركة لوجستيات سعودية/خليجية بحجم مماثل لحجمكم</a:t>
            </a:r>
            <a:endParaRPr lang="en-US" sz="1500" dirty="0"/>
          </a:p>
        </p:txBody>
      </p:sp>
      <p:sp>
        <p:nvSpPr>
          <p:cNvPr id="8" name="Shape 6"/>
          <p:cNvSpPr/>
          <p:nvPr/>
        </p:nvSpPr>
        <p:spPr>
          <a:xfrm>
            <a:off x="2041855" y="2331720"/>
            <a:ext cx="9601200" cy="566928"/>
          </a:xfrm>
          <a:prstGeom prst="rect">
            <a:avLst/>
          </a:prstGeom>
          <a:solidFill>
            <a:srgbClr val="0A1628"/>
          </a:solidFill>
          <a:ln/>
        </p:spPr>
      </p:sp>
      <p:sp>
        <p:nvSpPr>
          <p:cNvPr id="9" name="Text 7"/>
          <p:cNvSpPr/>
          <p:nvPr/>
        </p:nvSpPr>
        <p:spPr>
          <a:xfrm>
            <a:off x="2224735" y="2377440"/>
            <a:ext cx="9235440" cy="274320"/>
          </a:xfrm>
          <a:prstGeom prst="rect">
            <a:avLst/>
          </a:prstGeom>
          <a:noFill/>
          <a:ln/>
        </p:spPr>
        <p:txBody>
          <a:bodyPr wrap="square" rtlCol="0" anchor="ctr"/>
          <a:lstStyle/>
          <a:p>
            <a:pPr rtl="1" algn="r" indent="0" marL="0">
              <a:buNone/>
            </a:pPr>
            <a:r>
              <a:rPr lang="en-US" sz="1100" b="1" dirty="0">
                <a:solidFill>
                  <a:srgbClr val="FFFFFF"/>
                </a:solidFill>
                <a:latin typeface="Calibri" pitchFamily="34" charset="0"/>
                <a:ea typeface="Calibri" pitchFamily="34" charset="-122"/>
                <a:cs typeface="Calibri" pitchFamily="34" charset="-120"/>
              </a:rPr>
              <a:t>RFPs واردة شهرياً</a:t>
            </a:r>
            <a:endParaRPr lang="en-US" sz="1100" dirty="0"/>
          </a:p>
        </p:txBody>
      </p:sp>
      <p:sp>
        <p:nvSpPr>
          <p:cNvPr id="10" name="Text 8"/>
          <p:cNvSpPr/>
          <p:nvPr/>
        </p:nvSpPr>
        <p:spPr>
          <a:xfrm>
            <a:off x="2224735" y="2624328"/>
            <a:ext cx="9235440" cy="256032"/>
          </a:xfrm>
          <a:prstGeom prst="rect">
            <a:avLst/>
          </a:prstGeom>
          <a:noFill/>
          <a:ln/>
        </p:spPr>
        <p:txBody>
          <a:bodyPr wrap="square" rtlCol="0" anchor="ctr"/>
          <a:lstStyle/>
          <a:p>
            <a:pPr rtl="1" algn="r" indent="0" marL="0">
              <a:buNone/>
            </a:pPr>
            <a:r>
              <a:rPr lang="en-US" sz="900" dirty="0">
                <a:solidFill>
                  <a:srgbClr val="E5E5E5"/>
                </a:solidFill>
                <a:latin typeface="Calibri" pitchFamily="34" charset="0"/>
                <a:ea typeface="Calibri" pitchFamily="34" charset="-122"/>
                <a:cs typeface="Calibri" pitchFamily="34" charset="-120"/>
              </a:rPr>
              <a:t>تندرات حكومية + أرامكو + سابك + سلاسل تجزئة</a:t>
            </a:r>
            <a:endParaRPr lang="en-US" sz="900" dirty="0"/>
          </a:p>
        </p:txBody>
      </p:sp>
      <p:sp>
        <p:nvSpPr>
          <p:cNvPr id="11" name="Text 9"/>
          <p:cNvSpPr/>
          <p:nvPr/>
        </p:nvSpPr>
        <p:spPr>
          <a:xfrm>
            <a:off x="853135" y="2331720"/>
            <a:ext cx="1097280" cy="566928"/>
          </a:xfrm>
          <a:prstGeom prst="rect">
            <a:avLst/>
          </a:prstGeom>
          <a:noFill/>
          <a:ln/>
        </p:spPr>
        <p:txBody>
          <a:bodyPr wrap="square" rtlCol="0" anchor="ctr"/>
          <a:lstStyle/>
          <a:p>
            <a:pPr rtl="1" algn="r" indent="0" marL="0">
              <a:buNone/>
            </a:pPr>
            <a:r>
              <a:rPr lang="en-US" sz="2400" b="1" dirty="0">
                <a:solidFill>
                  <a:srgbClr val="0A1628"/>
                </a:solidFill>
                <a:latin typeface="Calibri" pitchFamily="34" charset="0"/>
                <a:ea typeface="Calibri" pitchFamily="34" charset="-122"/>
                <a:cs typeface="Calibri" pitchFamily="34" charset="-120"/>
              </a:rPr>
              <a:t>800</a:t>
            </a:r>
            <a:endParaRPr lang="en-US" sz="2400" dirty="0"/>
          </a:p>
        </p:txBody>
      </p:sp>
      <p:sp>
        <p:nvSpPr>
          <p:cNvPr id="12" name="Shape 10"/>
          <p:cNvSpPr/>
          <p:nvPr/>
        </p:nvSpPr>
        <p:spPr>
          <a:xfrm>
            <a:off x="3413455" y="3017520"/>
            <a:ext cx="8229600" cy="566928"/>
          </a:xfrm>
          <a:prstGeom prst="rect">
            <a:avLst/>
          </a:prstGeom>
          <a:solidFill>
            <a:srgbClr val="13233F"/>
          </a:solidFill>
          <a:ln/>
        </p:spPr>
      </p:sp>
      <p:sp>
        <p:nvSpPr>
          <p:cNvPr id="13" name="Text 11"/>
          <p:cNvSpPr/>
          <p:nvPr/>
        </p:nvSpPr>
        <p:spPr>
          <a:xfrm>
            <a:off x="3596335" y="3063240"/>
            <a:ext cx="7863840" cy="274320"/>
          </a:xfrm>
          <a:prstGeom prst="rect">
            <a:avLst/>
          </a:prstGeom>
          <a:noFill/>
          <a:ln/>
        </p:spPr>
        <p:txBody>
          <a:bodyPr wrap="square" rtlCol="0" anchor="ctr"/>
          <a:lstStyle/>
          <a:p>
            <a:pPr rtl="1" algn="r" indent="0" marL="0">
              <a:buNone/>
            </a:pPr>
            <a:r>
              <a:rPr lang="en-US" sz="1100" b="1" dirty="0">
                <a:solidFill>
                  <a:srgbClr val="FFFFFF"/>
                </a:solidFill>
                <a:latin typeface="Calibri" pitchFamily="34" charset="0"/>
                <a:ea typeface="Calibri" pitchFamily="34" charset="-122"/>
                <a:cs typeface="Calibri" pitchFamily="34" charset="-120"/>
              </a:rPr>
              <a:t>تصل للفريق المختص في الوقت المناسب</a:t>
            </a:r>
            <a:endParaRPr lang="en-US" sz="1100" dirty="0"/>
          </a:p>
        </p:txBody>
      </p:sp>
      <p:sp>
        <p:nvSpPr>
          <p:cNvPr id="14" name="Text 12"/>
          <p:cNvSpPr/>
          <p:nvPr/>
        </p:nvSpPr>
        <p:spPr>
          <a:xfrm>
            <a:off x="3596335" y="3310128"/>
            <a:ext cx="7863840" cy="256032"/>
          </a:xfrm>
          <a:prstGeom prst="rect">
            <a:avLst/>
          </a:prstGeom>
          <a:noFill/>
          <a:ln/>
        </p:spPr>
        <p:txBody>
          <a:bodyPr wrap="square" rtlCol="0" anchor="ctr"/>
          <a:lstStyle/>
          <a:p>
            <a:pPr rtl="1" algn="r" indent="0" marL="0">
              <a:buNone/>
            </a:pPr>
            <a:r>
              <a:rPr lang="en-US" sz="900" dirty="0">
                <a:solidFill>
                  <a:srgbClr val="E5E5E5"/>
                </a:solidFill>
                <a:latin typeface="Calibri" pitchFamily="34" charset="0"/>
                <a:ea typeface="Calibri" pitchFamily="34" charset="-122"/>
                <a:cs typeface="Calibri" pitchFamily="34" charset="-120"/>
              </a:rPr>
              <a:t>35% تضيع في البريد أو تصل متأخرة</a:t>
            </a:r>
            <a:endParaRPr lang="en-US" sz="900" dirty="0"/>
          </a:p>
        </p:txBody>
      </p:sp>
      <p:sp>
        <p:nvSpPr>
          <p:cNvPr id="15" name="Text 13"/>
          <p:cNvSpPr/>
          <p:nvPr/>
        </p:nvSpPr>
        <p:spPr>
          <a:xfrm>
            <a:off x="2224735" y="3017520"/>
            <a:ext cx="1097280" cy="566928"/>
          </a:xfrm>
          <a:prstGeom prst="rect">
            <a:avLst/>
          </a:prstGeom>
          <a:noFill/>
          <a:ln/>
        </p:spPr>
        <p:txBody>
          <a:bodyPr wrap="square" rtlCol="0" anchor="ctr"/>
          <a:lstStyle/>
          <a:p>
            <a:pPr rtl="1" algn="r" indent="0" marL="0">
              <a:buNone/>
            </a:pPr>
            <a:r>
              <a:rPr lang="en-US" sz="2400" b="1" dirty="0">
                <a:solidFill>
                  <a:srgbClr val="0A1628"/>
                </a:solidFill>
                <a:latin typeface="Calibri" pitchFamily="34" charset="0"/>
                <a:ea typeface="Calibri" pitchFamily="34" charset="-122"/>
                <a:cs typeface="Calibri" pitchFamily="34" charset="-120"/>
              </a:rPr>
              <a:t>520</a:t>
            </a:r>
            <a:endParaRPr lang="en-US" sz="2400" dirty="0"/>
          </a:p>
        </p:txBody>
      </p:sp>
      <p:sp>
        <p:nvSpPr>
          <p:cNvPr id="16" name="Text 14"/>
          <p:cNvSpPr/>
          <p:nvPr/>
        </p:nvSpPr>
        <p:spPr>
          <a:xfrm>
            <a:off x="548640" y="3017520"/>
            <a:ext cx="1005840" cy="566928"/>
          </a:xfrm>
          <a:prstGeom prst="rect">
            <a:avLst/>
          </a:prstGeom>
          <a:noFill/>
          <a:ln/>
        </p:spPr>
        <p:txBody>
          <a:bodyPr wrap="square" rtlCol="0" anchor="ctr"/>
          <a:lstStyle/>
          <a:p>
            <a:pPr algn="l" indent="0" marL="0">
              <a:buNone/>
            </a:pPr>
            <a:r>
              <a:rPr lang="en-US" sz="1600" b="1" dirty="0">
                <a:solidFill>
                  <a:srgbClr val="A12C4A"/>
                </a:solidFill>
                <a:latin typeface="Calibri" pitchFamily="34" charset="0"/>
                <a:ea typeface="Calibri" pitchFamily="34" charset="-122"/>
                <a:cs typeface="Calibri" pitchFamily="34" charset="-120"/>
              </a:rPr>
              <a:t>-35%</a:t>
            </a:r>
            <a:endParaRPr lang="en-US" sz="1600" dirty="0"/>
          </a:p>
        </p:txBody>
      </p:sp>
      <p:sp>
        <p:nvSpPr>
          <p:cNvPr id="17" name="Shape 15"/>
          <p:cNvSpPr/>
          <p:nvPr/>
        </p:nvSpPr>
        <p:spPr>
          <a:xfrm>
            <a:off x="4967935" y="3703320"/>
            <a:ext cx="6675120" cy="566928"/>
          </a:xfrm>
          <a:prstGeom prst="rect">
            <a:avLst/>
          </a:prstGeom>
          <a:solidFill>
            <a:srgbClr val="B8874C"/>
          </a:solidFill>
          <a:ln/>
        </p:spPr>
      </p:sp>
      <p:sp>
        <p:nvSpPr>
          <p:cNvPr id="18" name="Text 16"/>
          <p:cNvSpPr/>
          <p:nvPr/>
        </p:nvSpPr>
        <p:spPr>
          <a:xfrm>
            <a:off x="5150815" y="3749040"/>
            <a:ext cx="6309360" cy="274320"/>
          </a:xfrm>
          <a:prstGeom prst="rect">
            <a:avLst/>
          </a:prstGeom>
          <a:noFill/>
          <a:ln/>
        </p:spPr>
        <p:txBody>
          <a:bodyPr wrap="square" rtlCol="0" anchor="ctr"/>
          <a:lstStyle/>
          <a:p>
            <a:pPr rtl="1" algn="r" indent="0" marL="0">
              <a:buNone/>
            </a:pPr>
            <a:r>
              <a:rPr lang="en-US" sz="1100" b="1" dirty="0">
                <a:solidFill>
                  <a:srgbClr val="FFFFFF"/>
                </a:solidFill>
                <a:latin typeface="Calibri" pitchFamily="34" charset="0"/>
                <a:ea typeface="Calibri" pitchFamily="34" charset="-122"/>
                <a:cs typeface="Calibri" pitchFamily="34" charset="-120"/>
              </a:rPr>
              <a:t>تُؤهَّل ويُبدأ العمل عليها</a:t>
            </a:r>
            <a:endParaRPr lang="en-US" sz="1100" dirty="0"/>
          </a:p>
        </p:txBody>
      </p:sp>
      <p:sp>
        <p:nvSpPr>
          <p:cNvPr id="19" name="Text 17"/>
          <p:cNvSpPr/>
          <p:nvPr/>
        </p:nvSpPr>
        <p:spPr>
          <a:xfrm>
            <a:off x="5150815" y="3995928"/>
            <a:ext cx="6309360" cy="256032"/>
          </a:xfrm>
          <a:prstGeom prst="rect">
            <a:avLst/>
          </a:prstGeom>
          <a:noFill/>
          <a:ln/>
        </p:spPr>
        <p:txBody>
          <a:bodyPr wrap="square" rtlCol="0" anchor="ctr"/>
          <a:lstStyle/>
          <a:p>
            <a:pPr rtl="1" algn="r" indent="0" marL="0">
              <a:buNone/>
            </a:pPr>
            <a:r>
              <a:rPr lang="en-US" sz="900" dirty="0">
                <a:solidFill>
                  <a:srgbClr val="E5E5E5"/>
                </a:solidFill>
                <a:latin typeface="Calibri" pitchFamily="34" charset="0"/>
                <a:ea typeface="Calibri" pitchFamily="34" charset="-122"/>
                <a:cs typeface="Calibri" pitchFamily="34" charset="-120"/>
              </a:rPr>
              <a:t>31% تُقصى بسبب غياب أدوات التأهيل الآلي</a:t>
            </a:r>
            <a:endParaRPr lang="en-US" sz="900" dirty="0"/>
          </a:p>
        </p:txBody>
      </p:sp>
      <p:sp>
        <p:nvSpPr>
          <p:cNvPr id="20" name="Text 18"/>
          <p:cNvSpPr/>
          <p:nvPr/>
        </p:nvSpPr>
        <p:spPr>
          <a:xfrm>
            <a:off x="3779215" y="3703320"/>
            <a:ext cx="1097280" cy="566928"/>
          </a:xfrm>
          <a:prstGeom prst="rect">
            <a:avLst/>
          </a:prstGeom>
          <a:noFill/>
          <a:ln/>
        </p:spPr>
        <p:txBody>
          <a:bodyPr wrap="square" rtlCol="0" anchor="ctr"/>
          <a:lstStyle/>
          <a:p>
            <a:pPr rtl="1" algn="r" indent="0" marL="0">
              <a:buNone/>
            </a:pPr>
            <a:r>
              <a:rPr lang="en-US" sz="2400" b="1" dirty="0">
                <a:solidFill>
                  <a:srgbClr val="0A1628"/>
                </a:solidFill>
                <a:latin typeface="Calibri" pitchFamily="34" charset="0"/>
                <a:ea typeface="Calibri" pitchFamily="34" charset="-122"/>
                <a:cs typeface="Calibri" pitchFamily="34" charset="-120"/>
              </a:rPr>
              <a:t>360</a:t>
            </a:r>
            <a:endParaRPr lang="en-US" sz="2400" dirty="0"/>
          </a:p>
        </p:txBody>
      </p:sp>
      <p:sp>
        <p:nvSpPr>
          <p:cNvPr id="21" name="Text 19"/>
          <p:cNvSpPr/>
          <p:nvPr/>
        </p:nvSpPr>
        <p:spPr>
          <a:xfrm>
            <a:off x="548640" y="3703320"/>
            <a:ext cx="1005840" cy="566928"/>
          </a:xfrm>
          <a:prstGeom prst="rect">
            <a:avLst/>
          </a:prstGeom>
          <a:noFill/>
          <a:ln/>
        </p:spPr>
        <p:txBody>
          <a:bodyPr wrap="square" rtlCol="0" anchor="ctr"/>
          <a:lstStyle/>
          <a:p>
            <a:pPr algn="l" indent="0" marL="0">
              <a:buNone/>
            </a:pPr>
            <a:r>
              <a:rPr lang="en-US" sz="1600" b="1" dirty="0">
                <a:solidFill>
                  <a:srgbClr val="A12C4A"/>
                </a:solidFill>
                <a:latin typeface="Calibri" pitchFamily="34" charset="0"/>
                <a:ea typeface="Calibri" pitchFamily="34" charset="-122"/>
                <a:cs typeface="Calibri" pitchFamily="34" charset="-120"/>
              </a:rPr>
              <a:t>-31%</a:t>
            </a:r>
            <a:endParaRPr lang="en-US" sz="1600" dirty="0"/>
          </a:p>
        </p:txBody>
      </p:sp>
      <p:sp>
        <p:nvSpPr>
          <p:cNvPr id="22" name="Shape 20"/>
          <p:cNvSpPr/>
          <p:nvPr/>
        </p:nvSpPr>
        <p:spPr>
          <a:xfrm>
            <a:off x="6796735" y="4389120"/>
            <a:ext cx="4846320" cy="566928"/>
          </a:xfrm>
          <a:prstGeom prst="rect">
            <a:avLst/>
          </a:prstGeom>
          <a:solidFill>
            <a:srgbClr val="D4A574"/>
          </a:solidFill>
          <a:ln/>
        </p:spPr>
      </p:sp>
      <p:sp>
        <p:nvSpPr>
          <p:cNvPr id="23" name="Text 21"/>
          <p:cNvSpPr/>
          <p:nvPr/>
        </p:nvSpPr>
        <p:spPr>
          <a:xfrm>
            <a:off x="6979615" y="4434840"/>
            <a:ext cx="4480560" cy="274320"/>
          </a:xfrm>
          <a:prstGeom prst="rect">
            <a:avLst/>
          </a:prstGeom>
          <a:noFill/>
          <a:ln/>
        </p:spPr>
        <p:txBody>
          <a:bodyPr wrap="square" rtlCol="0" anchor="ctr"/>
          <a:lstStyle/>
          <a:p>
            <a:pPr rtl="1" algn="r" indent="0" marL="0">
              <a:buNone/>
            </a:pPr>
            <a:r>
              <a:rPr lang="en-US" sz="1100" b="1" dirty="0">
                <a:solidFill>
                  <a:srgbClr val="FFFFFF"/>
                </a:solidFill>
                <a:latin typeface="Calibri" pitchFamily="34" charset="0"/>
                <a:ea typeface="Calibri" pitchFamily="34" charset="-122"/>
                <a:cs typeface="Calibri" pitchFamily="34" charset="-120"/>
              </a:rPr>
              <a:t>يُقدَّم عرض فني ومالي</a:t>
            </a:r>
            <a:endParaRPr lang="en-US" sz="1100" dirty="0"/>
          </a:p>
        </p:txBody>
      </p:sp>
      <p:sp>
        <p:nvSpPr>
          <p:cNvPr id="24" name="Text 22"/>
          <p:cNvSpPr/>
          <p:nvPr/>
        </p:nvSpPr>
        <p:spPr>
          <a:xfrm>
            <a:off x="6979615" y="4681728"/>
            <a:ext cx="4480560" cy="256032"/>
          </a:xfrm>
          <a:prstGeom prst="rect">
            <a:avLst/>
          </a:prstGeom>
          <a:noFill/>
          <a:ln/>
        </p:spPr>
        <p:txBody>
          <a:bodyPr wrap="square" rtlCol="0" anchor="ctr"/>
          <a:lstStyle/>
          <a:p>
            <a:pPr rtl="1" algn="r" indent="0" marL="0">
              <a:buNone/>
            </a:pPr>
            <a:r>
              <a:rPr lang="en-US" sz="900" dirty="0">
                <a:solidFill>
                  <a:srgbClr val="E5E5E5"/>
                </a:solidFill>
                <a:latin typeface="Calibri" pitchFamily="34" charset="0"/>
                <a:ea typeface="Calibri" pitchFamily="34" charset="-122"/>
                <a:cs typeface="Calibri" pitchFamily="34" charset="-120"/>
              </a:rPr>
              <a:t>39% يُترَك بسبب بطء إعداد العروض</a:t>
            </a:r>
            <a:endParaRPr lang="en-US" sz="900" dirty="0"/>
          </a:p>
        </p:txBody>
      </p:sp>
      <p:sp>
        <p:nvSpPr>
          <p:cNvPr id="25" name="Text 23"/>
          <p:cNvSpPr/>
          <p:nvPr/>
        </p:nvSpPr>
        <p:spPr>
          <a:xfrm>
            <a:off x="5608015" y="4389120"/>
            <a:ext cx="1097280" cy="566928"/>
          </a:xfrm>
          <a:prstGeom prst="rect">
            <a:avLst/>
          </a:prstGeom>
          <a:noFill/>
          <a:ln/>
        </p:spPr>
        <p:txBody>
          <a:bodyPr wrap="square" rtlCol="0" anchor="ctr"/>
          <a:lstStyle/>
          <a:p>
            <a:pPr rtl="1" algn="r" indent="0" marL="0">
              <a:buNone/>
            </a:pPr>
            <a:r>
              <a:rPr lang="en-US" sz="2400" b="1" dirty="0">
                <a:solidFill>
                  <a:srgbClr val="0A1628"/>
                </a:solidFill>
                <a:latin typeface="Calibri" pitchFamily="34" charset="0"/>
                <a:ea typeface="Calibri" pitchFamily="34" charset="-122"/>
                <a:cs typeface="Calibri" pitchFamily="34" charset="-120"/>
              </a:rPr>
              <a:t>220</a:t>
            </a:r>
            <a:endParaRPr lang="en-US" sz="2400" dirty="0"/>
          </a:p>
        </p:txBody>
      </p:sp>
      <p:sp>
        <p:nvSpPr>
          <p:cNvPr id="26" name="Text 24"/>
          <p:cNvSpPr/>
          <p:nvPr/>
        </p:nvSpPr>
        <p:spPr>
          <a:xfrm>
            <a:off x="548640" y="4389120"/>
            <a:ext cx="1005840" cy="566928"/>
          </a:xfrm>
          <a:prstGeom prst="rect">
            <a:avLst/>
          </a:prstGeom>
          <a:noFill/>
          <a:ln/>
        </p:spPr>
        <p:txBody>
          <a:bodyPr wrap="square" rtlCol="0" anchor="ctr"/>
          <a:lstStyle/>
          <a:p>
            <a:pPr algn="l" indent="0" marL="0">
              <a:buNone/>
            </a:pPr>
            <a:r>
              <a:rPr lang="en-US" sz="1600" b="1" dirty="0">
                <a:solidFill>
                  <a:srgbClr val="A12C4A"/>
                </a:solidFill>
                <a:latin typeface="Calibri" pitchFamily="34" charset="0"/>
                <a:ea typeface="Calibri" pitchFamily="34" charset="-122"/>
                <a:cs typeface="Calibri" pitchFamily="34" charset="-120"/>
              </a:rPr>
              <a:t>-39%</a:t>
            </a:r>
            <a:endParaRPr lang="en-US" sz="1600" dirty="0"/>
          </a:p>
        </p:txBody>
      </p:sp>
      <p:sp>
        <p:nvSpPr>
          <p:cNvPr id="27" name="Shape 25"/>
          <p:cNvSpPr/>
          <p:nvPr/>
        </p:nvSpPr>
        <p:spPr>
          <a:xfrm>
            <a:off x="9539935" y="5074920"/>
            <a:ext cx="2103120" cy="566928"/>
          </a:xfrm>
          <a:prstGeom prst="rect">
            <a:avLst/>
          </a:prstGeom>
          <a:solidFill>
            <a:srgbClr val="A12C4A"/>
          </a:solidFill>
          <a:ln/>
        </p:spPr>
      </p:sp>
      <p:sp>
        <p:nvSpPr>
          <p:cNvPr id="28" name="Text 26"/>
          <p:cNvSpPr/>
          <p:nvPr/>
        </p:nvSpPr>
        <p:spPr>
          <a:xfrm>
            <a:off x="9722815" y="5120640"/>
            <a:ext cx="1737360" cy="274320"/>
          </a:xfrm>
          <a:prstGeom prst="rect">
            <a:avLst/>
          </a:prstGeom>
          <a:noFill/>
          <a:ln/>
        </p:spPr>
        <p:txBody>
          <a:bodyPr wrap="square" rtlCol="0" anchor="ctr"/>
          <a:lstStyle/>
          <a:p>
            <a:pPr rtl="1" algn="r" indent="0" marL="0">
              <a:buNone/>
            </a:pPr>
            <a:r>
              <a:rPr lang="en-US" sz="1100" b="1" dirty="0">
                <a:solidFill>
                  <a:srgbClr val="FFFFFF"/>
                </a:solidFill>
                <a:latin typeface="Calibri" pitchFamily="34" charset="0"/>
                <a:ea typeface="Calibri" pitchFamily="34" charset="-122"/>
                <a:cs typeface="Calibri" pitchFamily="34" charset="-120"/>
              </a:rPr>
              <a:t>عقود موقّعة</a:t>
            </a:r>
            <a:endParaRPr lang="en-US" sz="1100" dirty="0"/>
          </a:p>
        </p:txBody>
      </p:sp>
      <p:sp>
        <p:nvSpPr>
          <p:cNvPr id="29" name="Text 27"/>
          <p:cNvSpPr/>
          <p:nvPr/>
        </p:nvSpPr>
        <p:spPr>
          <a:xfrm>
            <a:off x="9722815" y="5367528"/>
            <a:ext cx="1737360" cy="256032"/>
          </a:xfrm>
          <a:prstGeom prst="rect">
            <a:avLst/>
          </a:prstGeom>
          <a:noFill/>
          <a:ln/>
        </p:spPr>
        <p:txBody>
          <a:bodyPr wrap="square" rtlCol="0" anchor="ctr"/>
          <a:lstStyle/>
          <a:p>
            <a:pPr rtl="1" algn="r" indent="0" marL="0">
              <a:buNone/>
            </a:pPr>
            <a:r>
              <a:rPr lang="en-US" sz="900" dirty="0">
                <a:solidFill>
                  <a:srgbClr val="E5E5E5"/>
                </a:solidFill>
                <a:latin typeface="Calibri" pitchFamily="34" charset="0"/>
                <a:ea typeface="Calibri" pitchFamily="34" charset="-122"/>
                <a:cs typeface="Calibri" pitchFamily="34" charset="-120"/>
              </a:rPr>
              <a:t>75% من العروض تُفقَد — معدّل إغلاق 25%</a:t>
            </a:r>
            <a:endParaRPr lang="en-US" sz="900" dirty="0"/>
          </a:p>
        </p:txBody>
      </p:sp>
      <p:sp>
        <p:nvSpPr>
          <p:cNvPr id="30" name="Text 28"/>
          <p:cNvSpPr/>
          <p:nvPr/>
        </p:nvSpPr>
        <p:spPr>
          <a:xfrm>
            <a:off x="8351215" y="5074920"/>
            <a:ext cx="1097280" cy="566928"/>
          </a:xfrm>
          <a:prstGeom prst="rect">
            <a:avLst/>
          </a:prstGeom>
          <a:noFill/>
          <a:ln/>
        </p:spPr>
        <p:txBody>
          <a:bodyPr wrap="square" rtlCol="0" anchor="ctr"/>
          <a:lstStyle/>
          <a:p>
            <a:pPr rtl="1" algn="r" indent="0" marL="0">
              <a:buNone/>
            </a:pPr>
            <a:r>
              <a:rPr lang="en-US" sz="2400" b="1" dirty="0">
                <a:solidFill>
                  <a:srgbClr val="0A1628"/>
                </a:solidFill>
                <a:latin typeface="Calibri" pitchFamily="34" charset="0"/>
                <a:ea typeface="Calibri" pitchFamily="34" charset="-122"/>
                <a:cs typeface="Calibri" pitchFamily="34" charset="-120"/>
              </a:rPr>
              <a:t>55</a:t>
            </a:r>
            <a:endParaRPr lang="en-US" sz="2400" dirty="0"/>
          </a:p>
        </p:txBody>
      </p:sp>
      <p:sp>
        <p:nvSpPr>
          <p:cNvPr id="31" name="Text 29"/>
          <p:cNvSpPr/>
          <p:nvPr/>
        </p:nvSpPr>
        <p:spPr>
          <a:xfrm>
            <a:off x="548640" y="5074920"/>
            <a:ext cx="1005840" cy="566928"/>
          </a:xfrm>
          <a:prstGeom prst="rect">
            <a:avLst/>
          </a:prstGeom>
          <a:noFill/>
          <a:ln/>
        </p:spPr>
        <p:txBody>
          <a:bodyPr wrap="square" rtlCol="0" anchor="ctr"/>
          <a:lstStyle/>
          <a:p>
            <a:pPr algn="l" indent="0" marL="0">
              <a:buNone/>
            </a:pPr>
            <a:r>
              <a:rPr lang="en-US" sz="1600" b="1" dirty="0">
                <a:solidFill>
                  <a:srgbClr val="A12C4A"/>
                </a:solidFill>
                <a:latin typeface="Calibri" pitchFamily="34" charset="0"/>
                <a:ea typeface="Calibri" pitchFamily="34" charset="-122"/>
                <a:cs typeface="Calibri" pitchFamily="34" charset="-120"/>
              </a:rPr>
              <a:t>-75%</a:t>
            </a:r>
            <a:endParaRPr lang="en-US" sz="1600" dirty="0"/>
          </a:p>
        </p:txBody>
      </p:sp>
      <p:sp>
        <p:nvSpPr>
          <p:cNvPr id="32" name="Shape 30"/>
          <p:cNvSpPr/>
          <p:nvPr/>
        </p:nvSpPr>
        <p:spPr>
          <a:xfrm>
            <a:off x="548640" y="5852160"/>
            <a:ext cx="11094415" cy="457200"/>
          </a:xfrm>
          <a:prstGeom prst="rect">
            <a:avLst/>
          </a:prstGeom>
          <a:solidFill>
            <a:srgbClr val="0A1628"/>
          </a:solidFill>
          <a:ln/>
        </p:spPr>
      </p:sp>
      <p:sp>
        <p:nvSpPr>
          <p:cNvPr id="33" name="Text 31"/>
          <p:cNvSpPr/>
          <p:nvPr/>
        </p:nvSpPr>
        <p:spPr>
          <a:xfrm>
            <a:off x="548640" y="5852160"/>
            <a:ext cx="11094415" cy="457200"/>
          </a:xfrm>
          <a:prstGeom prst="rect">
            <a:avLst/>
          </a:prstGeom>
          <a:noFill/>
          <a:ln/>
        </p:spPr>
        <p:txBody>
          <a:bodyPr wrap="square" rtlCol="0" anchor="ctr"/>
          <a:lstStyle/>
          <a:p>
            <a:pPr rtl="1" algn="r" indent="0" marL="0">
              <a:buNone/>
            </a:pPr>
            <a:r>
              <a:rPr lang="en-US" sz="1400" b="1" dirty="0">
                <a:solidFill>
                  <a:srgbClr val="D4A574"/>
                </a:solidFill>
                <a:latin typeface="Calibri" pitchFamily="34" charset="0"/>
                <a:ea typeface="Calibri" pitchFamily="34" charset="-122"/>
                <a:cs typeface="Calibri" pitchFamily="34" charset="-120"/>
              </a:rPr>
              <a:t>النتيجة: من 800 فرصة شهرية — 55 فقط تتحوّل إلى عقود. الفجوة = 745 عقد ضائع شهرياً</a:t>
            </a:r>
            <a:endParaRPr lang="en-US" sz="1400" dirty="0"/>
          </a:p>
        </p:txBody>
      </p:sp>
      <p:sp>
        <p:nvSpPr>
          <p:cNvPr id="34" name="Text 32"/>
          <p:cNvSpPr/>
          <p:nvPr/>
        </p:nvSpPr>
        <p:spPr>
          <a:xfrm>
            <a:off x="457200" y="6172200"/>
            <a:ext cx="10362895" cy="256032"/>
          </a:xfrm>
          <a:prstGeom prst="rect">
            <a:avLst/>
          </a:prstGeom>
          <a:noFill/>
          <a:ln/>
        </p:spPr>
        <p:txBody>
          <a:bodyPr wrap="square" rtlCol="0" anchor="ctr"/>
          <a:lstStyle/>
          <a:p>
            <a:pPr rtl="1" algn="r" indent="0" marL="0">
              <a:buNone/>
            </a:pPr>
            <a:r>
              <a:rPr lang="en-US" sz="900" dirty="0">
                <a:solidFill>
                  <a:srgbClr val="8B95A3"/>
                </a:solidFill>
                <a:latin typeface="Calibri" pitchFamily="34" charset="0"/>
                <a:ea typeface="Calibri" pitchFamily="34" charset="-122"/>
                <a:cs typeface="Calibri" pitchFamily="34" charset="-120"/>
              </a:rPr>
              <a:t>المصدر: </a:t>
            </a:r>
            <a:pPr rtl="1" algn="r" indent="0" marL="0">
              <a:buNone/>
            </a:pPr>
            <a:r>
              <a:rPr lang="en-US" sz="900" u="sng" dirty="0">
                <a:solidFill>
                  <a:srgbClr val="B8874C"/>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Salesforce State of Sales</a:t>
            </a:r>
            <a:pPr algn="r" indent="0" marL="0">
              <a:buNone/>
            </a:pPr>
            <a:r>
              <a:rPr lang="en-US" sz="900" dirty="0">
                <a:solidFill>
                  <a:srgbClr val="8B95A3"/>
                </a:solidFill>
                <a:latin typeface="Calibri" pitchFamily="34" charset="0"/>
                <a:ea typeface="Calibri" pitchFamily="34" charset="-122"/>
                <a:cs typeface="Calibri" pitchFamily="34" charset="-120"/>
              </a:rPr>
              <a:t> · </a:t>
            </a:r>
            <a:pPr rtl="1" algn="r" indent="0" marL="0">
              <a:buNone/>
            </a:pPr>
            <a:r>
              <a:rPr lang="en-US" sz="900" u="sng" dirty="0">
                <a:solidFill>
                  <a:srgbClr val="B8874C"/>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Dealix Research</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F3"/>
        </a:solidFill>
      </p:bgPr>
    </p:bg>
    <p:spTree>
      <p:nvGrpSpPr>
        <p:cNvPr id="1" name=""/>
        <p:cNvGrpSpPr/>
        <p:nvPr/>
      </p:nvGrpSpPr>
      <p:grpSpPr>
        <a:xfrm>
          <a:off x="0" y="0"/>
          <a:ext cx="0" cy="0"/>
          <a:chOff x="0" y="0"/>
          <a:chExt cx="0" cy="0"/>
        </a:xfrm>
      </p:grpSpPr>
      <p:sp>
        <p:nvSpPr>
          <p:cNvPr id="2" name="Shape 0"/>
          <p:cNvSpPr/>
          <p:nvPr/>
        </p:nvSpPr>
        <p:spPr>
          <a:xfrm>
            <a:off x="11734495" y="320040"/>
            <a:ext cx="73152" cy="411480"/>
          </a:xfrm>
          <a:prstGeom prst="rect">
            <a:avLst/>
          </a:prstGeom>
          <a:solidFill>
            <a:srgbClr val="D4A574"/>
          </a:solidFill>
          <a:ln/>
        </p:spPr>
      </p:sp>
      <p:sp>
        <p:nvSpPr>
          <p:cNvPr id="3" name="Text 1"/>
          <p:cNvSpPr/>
          <p:nvPr/>
        </p:nvSpPr>
        <p:spPr>
          <a:xfrm>
            <a:off x="8076895" y="274320"/>
            <a:ext cx="3566160" cy="365760"/>
          </a:xfrm>
          <a:prstGeom prst="rect">
            <a:avLst/>
          </a:prstGeom>
          <a:noFill/>
          <a:ln/>
        </p:spPr>
        <p:txBody>
          <a:bodyPr wrap="square" rtlCol="0" anchor="ctr"/>
          <a:lstStyle/>
          <a:p>
            <a:pPr rtl="1" algn="r" indent="0" marL="0">
              <a:buNone/>
            </a:pPr>
            <a:r>
              <a:rPr lang="en-US" sz="1200" b="1" dirty="0">
                <a:solidFill>
                  <a:srgbClr val="55606E"/>
                </a:solidFill>
                <a:latin typeface="Calibri" pitchFamily="34" charset="0"/>
                <a:ea typeface="Calibri" pitchFamily="34" charset="-122"/>
                <a:cs typeface="Calibri" pitchFamily="34" charset="-120"/>
              </a:rPr>
              <a:t>لماذا الأدوات الحالية تفشل</a:t>
            </a:r>
            <a:endParaRPr lang="en-US" sz="1200" dirty="0"/>
          </a:p>
        </p:txBody>
      </p:sp>
      <p:sp>
        <p:nvSpPr>
          <p:cNvPr id="4" name="Text 2"/>
          <p:cNvSpPr/>
          <p:nvPr/>
        </p:nvSpPr>
        <p:spPr>
          <a:xfrm>
            <a:off x="457200" y="6446520"/>
            <a:ext cx="2286000" cy="274320"/>
          </a:xfrm>
          <a:prstGeom prst="rect">
            <a:avLst/>
          </a:prstGeom>
          <a:noFill/>
          <a:ln/>
        </p:spPr>
        <p:txBody>
          <a:bodyPr wrap="square" rtlCol="0" anchor="ctr"/>
          <a:lstStyle/>
          <a:p>
            <a:pPr algn="l" indent="0" marL="0">
              <a:buNone/>
            </a:pPr>
            <a:r>
              <a:rPr lang="en-US" sz="900" dirty="0">
                <a:solidFill>
                  <a:srgbClr val="8B95A3"/>
                </a:solidFill>
                <a:latin typeface="Calibri" pitchFamily="34" charset="0"/>
                <a:ea typeface="Calibri" pitchFamily="34" charset="-122"/>
                <a:cs typeface="Calibri" pitchFamily="34" charset="-120"/>
              </a:rPr>
              <a:t>Dealix · ديلكس</a:t>
            </a:r>
            <a:endParaRPr lang="en-US" sz="900" dirty="0"/>
          </a:p>
        </p:txBody>
      </p:sp>
      <p:sp>
        <p:nvSpPr>
          <p:cNvPr id="5" name="Text 3"/>
          <p:cNvSpPr/>
          <p:nvPr/>
        </p:nvSpPr>
        <p:spPr>
          <a:xfrm>
            <a:off x="11094415" y="6446520"/>
            <a:ext cx="640080" cy="274320"/>
          </a:xfrm>
          <a:prstGeom prst="rect">
            <a:avLst/>
          </a:prstGeom>
          <a:noFill/>
          <a:ln/>
        </p:spPr>
        <p:txBody>
          <a:bodyPr wrap="square" rtlCol="0" anchor="ctr"/>
          <a:lstStyle/>
          <a:p>
            <a:pPr algn="r" indent="0" marL="0">
              <a:buNone/>
            </a:pPr>
            <a:r>
              <a:rPr lang="en-US" sz="900" b="1" dirty="0">
                <a:solidFill>
                  <a:srgbClr val="8B95A3"/>
                </a:solidFill>
                <a:latin typeface="Calibri" pitchFamily="34" charset="0"/>
                <a:ea typeface="Calibri" pitchFamily="34" charset="-122"/>
                <a:cs typeface="Calibri" pitchFamily="34" charset="-120"/>
              </a:rPr>
              <a:t>07</a:t>
            </a:r>
            <a:endParaRPr lang="en-US" sz="900" dirty="0"/>
          </a:p>
        </p:txBody>
      </p:sp>
      <p:sp>
        <p:nvSpPr>
          <p:cNvPr id="6" name="Text 4"/>
          <p:cNvSpPr/>
          <p:nvPr/>
        </p:nvSpPr>
        <p:spPr>
          <a:xfrm>
            <a:off x="548640" y="914400"/>
            <a:ext cx="11094415" cy="822960"/>
          </a:xfrm>
          <a:prstGeom prst="rect">
            <a:avLst/>
          </a:prstGeom>
          <a:noFill/>
          <a:ln/>
        </p:spPr>
        <p:txBody>
          <a:bodyPr wrap="square" rtlCol="0" anchor="ctr"/>
          <a:lstStyle/>
          <a:p>
            <a:pPr rtl="1" algn="r" indent="0" marL="0">
              <a:buNone/>
            </a:pPr>
            <a:r>
              <a:rPr lang="en-US" sz="3400" b="1" dirty="0">
                <a:solidFill>
                  <a:srgbClr val="0A1628"/>
                </a:solidFill>
                <a:latin typeface="Calibri" pitchFamily="34" charset="0"/>
                <a:ea typeface="Calibri" pitchFamily="34" charset="-122"/>
                <a:cs typeface="Calibri" pitchFamily="34" charset="-120"/>
              </a:rPr>
              <a:t>لماذا الأدوات الحالية لا تكفي لبيئتكم</a:t>
            </a:r>
            <a:endParaRPr lang="en-US" sz="3400" dirty="0"/>
          </a:p>
        </p:txBody>
      </p:sp>
      <p:sp>
        <p:nvSpPr>
          <p:cNvPr id="7" name="Text 5"/>
          <p:cNvSpPr/>
          <p:nvPr/>
        </p:nvSpPr>
        <p:spPr>
          <a:xfrm>
            <a:off x="548640" y="1691640"/>
            <a:ext cx="11094415" cy="411480"/>
          </a:xfrm>
          <a:prstGeom prst="rect">
            <a:avLst/>
          </a:prstGeom>
          <a:noFill/>
          <a:ln/>
        </p:spPr>
        <p:txBody>
          <a:bodyPr wrap="square" rtlCol="0" anchor="ctr"/>
          <a:lstStyle/>
          <a:p>
            <a:pPr rtl="1" algn="r" indent="0" marL="0">
              <a:buNone/>
            </a:pPr>
            <a:r>
              <a:rPr lang="en-US" sz="1500" dirty="0">
                <a:solidFill>
                  <a:srgbClr val="55606E"/>
                </a:solidFill>
                <a:latin typeface="Calibri" pitchFamily="34" charset="0"/>
                <a:ea typeface="Calibri" pitchFamily="34" charset="-122"/>
                <a:cs typeface="Calibri" pitchFamily="34" charset="-120"/>
              </a:rPr>
              <a:t>نظرة نقدية على Salesforce و HubSpot وأنظمة CRM المحلية — من زاوية مدير عمليات سعودي</a:t>
            </a:r>
            <a:endParaRPr lang="en-US" sz="1500" dirty="0"/>
          </a:p>
        </p:txBody>
      </p:sp>
      <p:sp>
        <p:nvSpPr>
          <p:cNvPr id="8" name="Shape 6"/>
          <p:cNvSpPr/>
          <p:nvPr/>
        </p:nvSpPr>
        <p:spPr>
          <a:xfrm>
            <a:off x="548640" y="2331720"/>
            <a:ext cx="11064240" cy="502920"/>
          </a:xfrm>
          <a:prstGeom prst="rect">
            <a:avLst/>
          </a:prstGeom>
          <a:solidFill>
            <a:srgbClr val="0A1628"/>
          </a:solidFill>
          <a:ln/>
        </p:spPr>
      </p:sp>
      <p:sp>
        <p:nvSpPr>
          <p:cNvPr id="9" name="Text 7"/>
          <p:cNvSpPr/>
          <p:nvPr/>
        </p:nvSpPr>
        <p:spPr>
          <a:xfrm>
            <a:off x="548640" y="2331720"/>
            <a:ext cx="3474720" cy="502920"/>
          </a:xfrm>
          <a:prstGeom prst="rect">
            <a:avLst/>
          </a:prstGeom>
          <a:noFill/>
          <a:ln/>
        </p:spPr>
        <p:txBody>
          <a:bodyPr wrap="square" rtlCol="0" anchor="ctr"/>
          <a:lstStyle/>
          <a:p>
            <a:pPr algn="ctr" indent="0" marL="0">
              <a:buNone/>
            </a:pPr>
            <a:r>
              <a:rPr lang="en-US" sz="1200" b="1" dirty="0">
                <a:solidFill>
                  <a:srgbClr val="D4A574"/>
                </a:solidFill>
                <a:latin typeface="Calibri" pitchFamily="34" charset="0"/>
                <a:ea typeface="Calibri" pitchFamily="34" charset="-122"/>
                <a:cs typeface="Calibri" pitchFamily="34" charset="-120"/>
              </a:rPr>
              <a:t>ديلكس</a:t>
            </a:r>
            <a:endParaRPr lang="en-US" sz="1200" dirty="0"/>
          </a:p>
        </p:txBody>
      </p:sp>
      <p:sp>
        <p:nvSpPr>
          <p:cNvPr id="10" name="Text 8"/>
          <p:cNvSpPr/>
          <p:nvPr/>
        </p:nvSpPr>
        <p:spPr>
          <a:xfrm>
            <a:off x="4023360" y="2331720"/>
            <a:ext cx="155448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Salesforce</a:t>
            </a:r>
            <a:endParaRPr lang="en-US" sz="1200" dirty="0"/>
          </a:p>
        </p:txBody>
      </p:sp>
      <p:sp>
        <p:nvSpPr>
          <p:cNvPr id="11" name="Text 9"/>
          <p:cNvSpPr/>
          <p:nvPr/>
        </p:nvSpPr>
        <p:spPr>
          <a:xfrm>
            <a:off x="5577840" y="2331720"/>
            <a:ext cx="155448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HubSpot</a:t>
            </a:r>
            <a:endParaRPr lang="en-US" sz="1200" dirty="0"/>
          </a:p>
        </p:txBody>
      </p:sp>
      <p:sp>
        <p:nvSpPr>
          <p:cNvPr id="12" name="Text 10"/>
          <p:cNvSpPr/>
          <p:nvPr/>
        </p:nvSpPr>
        <p:spPr>
          <a:xfrm>
            <a:off x="7132320" y="2331720"/>
            <a:ext cx="155448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CRM محلي</a:t>
            </a:r>
            <a:endParaRPr lang="en-US" sz="1200" dirty="0"/>
          </a:p>
        </p:txBody>
      </p:sp>
      <p:sp>
        <p:nvSpPr>
          <p:cNvPr id="13" name="Text 11"/>
          <p:cNvSpPr/>
          <p:nvPr/>
        </p:nvSpPr>
        <p:spPr>
          <a:xfrm>
            <a:off x="8686800" y="2331720"/>
            <a:ext cx="2926080" cy="502920"/>
          </a:xfrm>
          <a:prstGeom prst="rect">
            <a:avLst/>
          </a:prstGeom>
          <a:noFill/>
          <a:ln/>
        </p:spPr>
        <p:txBody>
          <a:bodyPr wrap="square" rtlCol="0" anchor="ctr"/>
          <a:lstStyle/>
          <a:p>
            <a:pPr rtl="1" algn="r" indent="0" marL="0">
              <a:buNone/>
            </a:pPr>
            <a:r>
              <a:rPr lang="en-US" sz="1200" b="1" dirty="0">
                <a:solidFill>
                  <a:srgbClr val="FFFFFF"/>
                </a:solidFill>
                <a:latin typeface="Calibri" pitchFamily="34" charset="0"/>
                <a:ea typeface="Calibri" pitchFamily="34" charset="-122"/>
                <a:cs typeface="Calibri" pitchFamily="34" charset="-120"/>
              </a:rPr>
              <a:t>المعيار</a:t>
            </a:r>
            <a:endParaRPr lang="en-US" sz="1200" dirty="0"/>
          </a:p>
        </p:txBody>
      </p:sp>
      <p:sp>
        <p:nvSpPr>
          <p:cNvPr id="14" name="Shape 12"/>
          <p:cNvSpPr/>
          <p:nvPr/>
        </p:nvSpPr>
        <p:spPr>
          <a:xfrm>
            <a:off x="548640" y="2834640"/>
            <a:ext cx="11064240" cy="457200"/>
          </a:xfrm>
          <a:prstGeom prst="rect">
            <a:avLst/>
          </a:prstGeom>
          <a:solidFill>
            <a:srgbClr val="FFFFFF"/>
          </a:solidFill>
          <a:ln w="6350">
            <a:solidFill>
              <a:srgbClr val="E8E3D6"/>
            </a:solidFill>
            <a:prstDash val="solid"/>
          </a:ln>
        </p:spPr>
      </p:sp>
      <p:sp>
        <p:nvSpPr>
          <p:cNvPr id="15" name="Text 13"/>
          <p:cNvSpPr/>
          <p:nvPr/>
        </p:nvSpPr>
        <p:spPr>
          <a:xfrm>
            <a:off x="594360" y="2834640"/>
            <a:ext cx="3383280" cy="457200"/>
          </a:xfrm>
          <a:prstGeom prst="rect">
            <a:avLst/>
          </a:prstGeom>
          <a:noFill/>
          <a:ln/>
        </p:spPr>
        <p:txBody>
          <a:bodyPr wrap="square" rtlCol="0" anchor="ctr"/>
          <a:lstStyle/>
          <a:p>
            <a:pPr algn="ctr" indent="0" marL="0">
              <a:buNone/>
            </a:pPr>
            <a:r>
              <a:rPr lang="en-US" sz="1100" b="1" dirty="0">
                <a:solidFill>
                  <a:srgbClr val="0A1628"/>
                </a:solidFill>
                <a:latin typeface="Calibri" pitchFamily="34" charset="0"/>
                <a:ea typeface="Calibri" pitchFamily="34" charset="-122"/>
                <a:cs typeface="Calibri" pitchFamily="34" charset="-120"/>
              </a:rPr>
              <a:t>نعم — لهجة سعودية</a:t>
            </a:r>
            <a:endParaRPr lang="en-US" sz="1100" dirty="0"/>
          </a:p>
        </p:txBody>
      </p:sp>
      <p:sp>
        <p:nvSpPr>
          <p:cNvPr id="16" name="Text 14"/>
          <p:cNvSpPr/>
          <p:nvPr/>
        </p:nvSpPr>
        <p:spPr>
          <a:xfrm>
            <a:off x="4069080" y="2834640"/>
            <a:ext cx="1463040" cy="457200"/>
          </a:xfrm>
          <a:prstGeom prst="rect">
            <a:avLst/>
          </a:prstGeom>
          <a:noFill/>
          <a:ln/>
        </p:spPr>
        <p:txBody>
          <a:bodyPr wrap="square"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جزئي</a:t>
            </a:r>
            <a:endParaRPr lang="en-US" sz="1100" dirty="0"/>
          </a:p>
        </p:txBody>
      </p:sp>
      <p:sp>
        <p:nvSpPr>
          <p:cNvPr id="17" name="Text 15"/>
          <p:cNvSpPr/>
          <p:nvPr/>
        </p:nvSpPr>
        <p:spPr>
          <a:xfrm>
            <a:off x="5623560" y="2834640"/>
            <a:ext cx="1463040" cy="457200"/>
          </a:xfrm>
          <a:prstGeom prst="rect">
            <a:avLst/>
          </a:prstGeom>
          <a:noFill/>
          <a:ln/>
        </p:spPr>
        <p:txBody>
          <a:bodyPr wrap="square"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جزئي</a:t>
            </a:r>
            <a:endParaRPr lang="en-US" sz="1100" dirty="0"/>
          </a:p>
        </p:txBody>
      </p:sp>
      <p:sp>
        <p:nvSpPr>
          <p:cNvPr id="18" name="Text 16"/>
          <p:cNvSpPr/>
          <p:nvPr/>
        </p:nvSpPr>
        <p:spPr>
          <a:xfrm>
            <a:off x="7178040" y="2834640"/>
            <a:ext cx="1463040" cy="457200"/>
          </a:xfrm>
          <a:prstGeom prst="rect">
            <a:avLst/>
          </a:prstGeom>
          <a:noFill/>
          <a:ln/>
        </p:spPr>
        <p:txBody>
          <a:bodyPr wrap="square"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نعم</a:t>
            </a:r>
            <a:endParaRPr lang="en-US" sz="1100" dirty="0"/>
          </a:p>
        </p:txBody>
      </p:sp>
      <p:sp>
        <p:nvSpPr>
          <p:cNvPr id="19" name="Text 17"/>
          <p:cNvSpPr/>
          <p:nvPr/>
        </p:nvSpPr>
        <p:spPr>
          <a:xfrm>
            <a:off x="8732520" y="2834640"/>
            <a:ext cx="2834640" cy="457200"/>
          </a:xfrm>
          <a:prstGeom prst="rect">
            <a:avLst/>
          </a:prstGeom>
          <a:noFill/>
          <a:ln/>
        </p:spPr>
        <p:txBody>
          <a:bodyPr wrap="square" rtlCol="0" anchor="ctr"/>
          <a:lstStyle/>
          <a:p>
            <a:pPr rtl="1" algn="r" indent="0" marL="0">
              <a:buNone/>
            </a:pPr>
            <a:r>
              <a:rPr lang="en-US" sz="1100" b="1" dirty="0">
                <a:solidFill>
                  <a:srgbClr val="1A1A1A"/>
                </a:solidFill>
                <a:latin typeface="Calibri" pitchFamily="34" charset="0"/>
                <a:ea typeface="Calibri" pitchFamily="34" charset="-122"/>
                <a:cs typeface="Calibri" pitchFamily="34" charset="-120"/>
              </a:rPr>
              <a:t>دعم اللغة العربية (RTL أصلي)</a:t>
            </a:r>
            <a:endParaRPr lang="en-US" sz="1100" dirty="0"/>
          </a:p>
        </p:txBody>
      </p:sp>
      <p:sp>
        <p:nvSpPr>
          <p:cNvPr id="20" name="Shape 18"/>
          <p:cNvSpPr/>
          <p:nvPr/>
        </p:nvSpPr>
        <p:spPr>
          <a:xfrm>
            <a:off x="548640" y="3291840"/>
            <a:ext cx="11064240" cy="0"/>
          </a:xfrm>
          <a:prstGeom prst="line">
            <a:avLst/>
          </a:prstGeom>
          <a:noFill/>
          <a:ln w="6350">
            <a:solidFill>
              <a:srgbClr val="E8E3D6"/>
            </a:solidFill>
            <a:prstDash val="solid"/>
          </a:ln>
        </p:spPr>
      </p:sp>
      <p:sp>
        <p:nvSpPr>
          <p:cNvPr id="21" name="Shape 19"/>
          <p:cNvSpPr/>
          <p:nvPr/>
        </p:nvSpPr>
        <p:spPr>
          <a:xfrm>
            <a:off x="548640" y="3291840"/>
            <a:ext cx="11064240" cy="457200"/>
          </a:xfrm>
          <a:prstGeom prst="rect">
            <a:avLst/>
          </a:prstGeom>
          <a:solidFill>
            <a:srgbClr val="F2EEE4"/>
          </a:solidFill>
          <a:ln w="6350">
            <a:solidFill>
              <a:srgbClr val="E8E3D6"/>
            </a:solidFill>
            <a:prstDash val="solid"/>
          </a:ln>
        </p:spPr>
      </p:sp>
      <p:sp>
        <p:nvSpPr>
          <p:cNvPr id="22" name="Text 20"/>
          <p:cNvSpPr/>
          <p:nvPr/>
        </p:nvSpPr>
        <p:spPr>
          <a:xfrm>
            <a:off x="594360" y="3291840"/>
            <a:ext cx="3383280" cy="457200"/>
          </a:xfrm>
          <a:prstGeom prst="rect">
            <a:avLst/>
          </a:prstGeom>
          <a:noFill/>
          <a:ln/>
        </p:spPr>
        <p:txBody>
          <a:bodyPr wrap="square" rtlCol="0" anchor="ctr"/>
          <a:lstStyle/>
          <a:p>
            <a:pPr algn="ctr" indent="0" marL="0">
              <a:buNone/>
            </a:pPr>
            <a:r>
              <a:rPr lang="en-US" sz="1100" b="1" dirty="0">
                <a:solidFill>
                  <a:srgbClr val="0A1628"/>
                </a:solidFill>
                <a:latin typeface="Calibri" pitchFamily="34" charset="0"/>
                <a:ea typeface="Calibri" pitchFamily="34" charset="-122"/>
                <a:cs typeface="Calibri" pitchFamily="34" charset="-120"/>
              </a:rPr>
              <a:t>مدمج</a:t>
            </a:r>
            <a:endParaRPr lang="en-US" sz="1100" dirty="0"/>
          </a:p>
        </p:txBody>
      </p:sp>
      <p:sp>
        <p:nvSpPr>
          <p:cNvPr id="23" name="Text 21"/>
          <p:cNvSpPr/>
          <p:nvPr/>
        </p:nvSpPr>
        <p:spPr>
          <a:xfrm>
            <a:off x="4069080" y="3291840"/>
            <a:ext cx="1463040" cy="457200"/>
          </a:xfrm>
          <a:prstGeom prst="rect">
            <a:avLst/>
          </a:prstGeom>
          <a:noFill/>
          <a:ln/>
        </p:spPr>
        <p:txBody>
          <a:bodyPr wrap="square"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عبر وسيط</a:t>
            </a:r>
            <a:endParaRPr lang="en-US" sz="1100" dirty="0"/>
          </a:p>
        </p:txBody>
      </p:sp>
      <p:sp>
        <p:nvSpPr>
          <p:cNvPr id="24" name="Text 22"/>
          <p:cNvSpPr/>
          <p:nvPr/>
        </p:nvSpPr>
        <p:spPr>
          <a:xfrm>
            <a:off x="5623560" y="3291840"/>
            <a:ext cx="1463040" cy="457200"/>
          </a:xfrm>
          <a:prstGeom prst="rect">
            <a:avLst/>
          </a:prstGeom>
          <a:noFill/>
          <a:ln/>
        </p:spPr>
        <p:txBody>
          <a:bodyPr wrap="square"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عبر وسيط</a:t>
            </a:r>
            <a:endParaRPr lang="en-US" sz="1100" dirty="0"/>
          </a:p>
        </p:txBody>
      </p:sp>
      <p:sp>
        <p:nvSpPr>
          <p:cNvPr id="25" name="Text 23"/>
          <p:cNvSpPr/>
          <p:nvPr/>
        </p:nvSpPr>
        <p:spPr>
          <a:xfrm>
            <a:off x="7178040" y="3291840"/>
            <a:ext cx="1463040" cy="457200"/>
          </a:xfrm>
          <a:prstGeom prst="rect">
            <a:avLst/>
          </a:prstGeom>
          <a:noFill/>
          <a:ln/>
        </p:spPr>
        <p:txBody>
          <a:bodyPr wrap="square"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محدود</a:t>
            </a:r>
            <a:endParaRPr lang="en-US" sz="1100" dirty="0"/>
          </a:p>
        </p:txBody>
      </p:sp>
      <p:sp>
        <p:nvSpPr>
          <p:cNvPr id="26" name="Text 24"/>
          <p:cNvSpPr/>
          <p:nvPr/>
        </p:nvSpPr>
        <p:spPr>
          <a:xfrm>
            <a:off x="8732520" y="3291840"/>
            <a:ext cx="2834640" cy="457200"/>
          </a:xfrm>
          <a:prstGeom prst="rect">
            <a:avLst/>
          </a:prstGeom>
          <a:noFill/>
          <a:ln/>
        </p:spPr>
        <p:txBody>
          <a:bodyPr wrap="square" rtlCol="0" anchor="ctr"/>
          <a:lstStyle/>
          <a:p>
            <a:pPr rtl="1" algn="r" indent="0" marL="0">
              <a:buNone/>
            </a:pPr>
            <a:r>
              <a:rPr lang="en-US" sz="1100" b="1" dirty="0">
                <a:solidFill>
                  <a:srgbClr val="1A1A1A"/>
                </a:solidFill>
                <a:latin typeface="Calibri" pitchFamily="34" charset="0"/>
                <a:ea typeface="Calibri" pitchFamily="34" charset="-122"/>
                <a:cs typeface="Calibri" pitchFamily="34" charset="-120"/>
              </a:rPr>
              <a:t>WhatsApp Business API أصلي</a:t>
            </a:r>
            <a:endParaRPr lang="en-US" sz="1100" dirty="0"/>
          </a:p>
        </p:txBody>
      </p:sp>
      <p:sp>
        <p:nvSpPr>
          <p:cNvPr id="27" name="Shape 25"/>
          <p:cNvSpPr/>
          <p:nvPr/>
        </p:nvSpPr>
        <p:spPr>
          <a:xfrm>
            <a:off x="548640" y="3749040"/>
            <a:ext cx="11064240" cy="0"/>
          </a:xfrm>
          <a:prstGeom prst="line">
            <a:avLst/>
          </a:prstGeom>
          <a:noFill/>
          <a:ln w="6350">
            <a:solidFill>
              <a:srgbClr val="E8E3D6"/>
            </a:solidFill>
            <a:prstDash val="solid"/>
          </a:ln>
        </p:spPr>
      </p:sp>
      <p:sp>
        <p:nvSpPr>
          <p:cNvPr id="28" name="Shape 26"/>
          <p:cNvSpPr/>
          <p:nvPr/>
        </p:nvSpPr>
        <p:spPr>
          <a:xfrm>
            <a:off x="548640" y="3749040"/>
            <a:ext cx="11064240" cy="457200"/>
          </a:xfrm>
          <a:prstGeom prst="rect">
            <a:avLst/>
          </a:prstGeom>
          <a:solidFill>
            <a:srgbClr val="FFFFFF"/>
          </a:solidFill>
          <a:ln w="6350">
            <a:solidFill>
              <a:srgbClr val="E8E3D6"/>
            </a:solidFill>
            <a:prstDash val="solid"/>
          </a:ln>
        </p:spPr>
      </p:sp>
      <p:sp>
        <p:nvSpPr>
          <p:cNvPr id="29" name="Text 27"/>
          <p:cNvSpPr/>
          <p:nvPr/>
        </p:nvSpPr>
        <p:spPr>
          <a:xfrm>
            <a:off x="594360" y="3749040"/>
            <a:ext cx="3383280" cy="457200"/>
          </a:xfrm>
          <a:prstGeom prst="rect">
            <a:avLst/>
          </a:prstGeom>
          <a:noFill/>
          <a:ln/>
        </p:spPr>
        <p:txBody>
          <a:bodyPr wrap="square" rtlCol="0" anchor="ctr"/>
          <a:lstStyle/>
          <a:p>
            <a:pPr algn="ctr" indent="0" marL="0">
              <a:buNone/>
            </a:pPr>
            <a:r>
              <a:rPr lang="en-US" sz="1100" b="1" dirty="0">
                <a:solidFill>
                  <a:srgbClr val="0A1628"/>
                </a:solidFill>
                <a:latin typeface="Calibri" pitchFamily="34" charset="0"/>
                <a:ea typeface="Calibri" pitchFamily="34" charset="-122"/>
                <a:cs typeface="Calibri" pitchFamily="34" charset="-120"/>
              </a:rPr>
              <a:t>آلي بالذكاء الاصطناعي</a:t>
            </a:r>
            <a:endParaRPr lang="en-US" sz="1100" dirty="0"/>
          </a:p>
        </p:txBody>
      </p:sp>
      <p:sp>
        <p:nvSpPr>
          <p:cNvPr id="30" name="Text 28"/>
          <p:cNvSpPr/>
          <p:nvPr/>
        </p:nvSpPr>
        <p:spPr>
          <a:xfrm>
            <a:off x="4069080" y="3749040"/>
            <a:ext cx="1463040" cy="457200"/>
          </a:xfrm>
          <a:prstGeom prst="rect">
            <a:avLst/>
          </a:prstGeom>
          <a:noFill/>
          <a:ln/>
        </p:spPr>
        <p:txBody>
          <a:bodyPr wrap="square"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لا</a:t>
            </a:r>
            <a:endParaRPr lang="en-US" sz="1100" dirty="0"/>
          </a:p>
        </p:txBody>
      </p:sp>
      <p:sp>
        <p:nvSpPr>
          <p:cNvPr id="31" name="Text 29"/>
          <p:cNvSpPr/>
          <p:nvPr/>
        </p:nvSpPr>
        <p:spPr>
          <a:xfrm>
            <a:off x="5623560" y="3749040"/>
            <a:ext cx="1463040" cy="457200"/>
          </a:xfrm>
          <a:prstGeom prst="rect">
            <a:avLst/>
          </a:prstGeom>
          <a:noFill/>
          <a:ln/>
        </p:spPr>
        <p:txBody>
          <a:bodyPr wrap="square"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لا</a:t>
            </a:r>
            <a:endParaRPr lang="en-US" sz="1100" dirty="0"/>
          </a:p>
        </p:txBody>
      </p:sp>
      <p:sp>
        <p:nvSpPr>
          <p:cNvPr id="32" name="Text 30"/>
          <p:cNvSpPr/>
          <p:nvPr/>
        </p:nvSpPr>
        <p:spPr>
          <a:xfrm>
            <a:off x="7178040" y="3749040"/>
            <a:ext cx="1463040" cy="457200"/>
          </a:xfrm>
          <a:prstGeom prst="rect">
            <a:avLst/>
          </a:prstGeom>
          <a:noFill/>
          <a:ln/>
        </p:spPr>
        <p:txBody>
          <a:bodyPr wrap="square"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لا</a:t>
            </a:r>
            <a:endParaRPr lang="en-US" sz="1100" dirty="0"/>
          </a:p>
        </p:txBody>
      </p:sp>
      <p:sp>
        <p:nvSpPr>
          <p:cNvPr id="33" name="Text 31"/>
          <p:cNvSpPr/>
          <p:nvPr/>
        </p:nvSpPr>
        <p:spPr>
          <a:xfrm>
            <a:off x="8732520" y="3749040"/>
            <a:ext cx="2834640" cy="457200"/>
          </a:xfrm>
          <a:prstGeom prst="rect">
            <a:avLst/>
          </a:prstGeom>
          <a:noFill/>
          <a:ln/>
        </p:spPr>
        <p:txBody>
          <a:bodyPr wrap="square" rtlCol="0" anchor="ctr"/>
          <a:lstStyle/>
          <a:p>
            <a:pPr rtl="1" algn="r" indent="0" marL="0">
              <a:buNone/>
            </a:pPr>
            <a:r>
              <a:rPr lang="en-US" sz="1100" b="1" dirty="0">
                <a:solidFill>
                  <a:srgbClr val="1A1A1A"/>
                </a:solidFill>
                <a:latin typeface="Calibri" pitchFamily="34" charset="0"/>
                <a:ea typeface="Calibri" pitchFamily="34" charset="-122"/>
                <a:cs typeface="Calibri" pitchFamily="34" charset="-120"/>
              </a:rPr>
              <a:t>مُعالجة RFP/التندرات</a:t>
            </a:r>
            <a:endParaRPr lang="en-US" sz="1100" dirty="0"/>
          </a:p>
        </p:txBody>
      </p:sp>
      <p:sp>
        <p:nvSpPr>
          <p:cNvPr id="34" name="Shape 32"/>
          <p:cNvSpPr/>
          <p:nvPr/>
        </p:nvSpPr>
        <p:spPr>
          <a:xfrm>
            <a:off x="548640" y="4206240"/>
            <a:ext cx="11064240" cy="0"/>
          </a:xfrm>
          <a:prstGeom prst="line">
            <a:avLst/>
          </a:prstGeom>
          <a:noFill/>
          <a:ln w="6350">
            <a:solidFill>
              <a:srgbClr val="E8E3D6"/>
            </a:solidFill>
            <a:prstDash val="solid"/>
          </a:ln>
        </p:spPr>
      </p:sp>
      <p:sp>
        <p:nvSpPr>
          <p:cNvPr id="35" name="Shape 33"/>
          <p:cNvSpPr/>
          <p:nvPr/>
        </p:nvSpPr>
        <p:spPr>
          <a:xfrm>
            <a:off x="548640" y="4206240"/>
            <a:ext cx="11064240" cy="457200"/>
          </a:xfrm>
          <a:prstGeom prst="rect">
            <a:avLst/>
          </a:prstGeom>
          <a:solidFill>
            <a:srgbClr val="F2EEE4"/>
          </a:solidFill>
          <a:ln w="6350">
            <a:solidFill>
              <a:srgbClr val="E8E3D6"/>
            </a:solidFill>
            <a:prstDash val="solid"/>
          </a:ln>
        </p:spPr>
      </p:sp>
      <p:sp>
        <p:nvSpPr>
          <p:cNvPr id="36" name="Text 34"/>
          <p:cNvSpPr/>
          <p:nvPr/>
        </p:nvSpPr>
        <p:spPr>
          <a:xfrm>
            <a:off x="594360" y="4206240"/>
            <a:ext cx="3383280" cy="457200"/>
          </a:xfrm>
          <a:prstGeom prst="rect">
            <a:avLst/>
          </a:prstGeom>
          <a:noFill/>
          <a:ln/>
        </p:spPr>
        <p:txBody>
          <a:bodyPr wrap="square" rtlCol="0" anchor="ctr"/>
          <a:lstStyle/>
          <a:p>
            <a:pPr algn="ctr" indent="0" marL="0">
              <a:buNone/>
            </a:pPr>
            <a:r>
              <a:rPr lang="en-US" sz="1100" b="1" dirty="0">
                <a:solidFill>
                  <a:srgbClr val="0A1628"/>
                </a:solidFill>
                <a:latin typeface="Calibri" pitchFamily="34" charset="0"/>
                <a:ea typeface="Calibri" pitchFamily="34" charset="-122"/>
                <a:cs typeface="Calibri" pitchFamily="34" charset="-120"/>
              </a:rPr>
              <a:t>مصمّم عليه</a:t>
            </a:r>
            <a:endParaRPr lang="en-US" sz="1100" dirty="0"/>
          </a:p>
        </p:txBody>
      </p:sp>
      <p:sp>
        <p:nvSpPr>
          <p:cNvPr id="37" name="Text 35"/>
          <p:cNvSpPr/>
          <p:nvPr/>
        </p:nvSpPr>
        <p:spPr>
          <a:xfrm>
            <a:off x="4069080" y="4206240"/>
            <a:ext cx="1463040" cy="457200"/>
          </a:xfrm>
          <a:prstGeom prst="rect">
            <a:avLst/>
          </a:prstGeom>
          <a:noFill/>
          <a:ln/>
        </p:spPr>
        <p:txBody>
          <a:bodyPr wrap="square"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خارجي</a:t>
            </a:r>
            <a:endParaRPr lang="en-US" sz="1100" dirty="0"/>
          </a:p>
        </p:txBody>
      </p:sp>
      <p:sp>
        <p:nvSpPr>
          <p:cNvPr id="38" name="Text 36"/>
          <p:cNvSpPr/>
          <p:nvPr/>
        </p:nvSpPr>
        <p:spPr>
          <a:xfrm>
            <a:off x="5623560" y="4206240"/>
            <a:ext cx="1463040" cy="457200"/>
          </a:xfrm>
          <a:prstGeom prst="rect">
            <a:avLst/>
          </a:prstGeom>
          <a:noFill/>
          <a:ln/>
        </p:spPr>
        <p:txBody>
          <a:bodyPr wrap="square"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خارجي</a:t>
            </a:r>
            <a:endParaRPr lang="en-US" sz="1100" dirty="0"/>
          </a:p>
        </p:txBody>
      </p:sp>
      <p:sp>
        <p:nvSpPr>
          <p:cNvPr id="39" name="Text 37"/>
          <p:cNvSpPr/>
          <p:nvPr/>
        </p:nvSpPr>
        <p:spPr>
          <a:xfrm>
            <a:off x="7178040" y="4206240"/>
            <a:ext cx="1463040" cy="457200"/>
          </a:xfrm>
          <a:prstGeom prst="rect">
            <a:avLst/>
          </a:prstGeom>
          <a:noFill/>
          <a:ln/>
        </p:spPr>
        <p:txBody>
          <a:bodyPr wrap="square"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جزئي</a:t>
            </a:r>
            <a:endParaRPr lang="en-US" sz="1100" dirty="0"/>
          </a:p>
        </p:txBody>
      </p:sp>
      <p:sp>
        <p:nvSpPr>
          <p:cNvPr id="40" name="Text 38"/>
          <p:cNvSpPr/>
          <p:nvPr/>
        </p:nvSpPr>
        <p:spPr>
          <a:xfrm>
            <a:off x="8732520" y="4206240"/>
            <a:ext cx="2834640" cy="457200"/>
          </a:xfrm>
          <a:prstGeom prst="rect">
            <a:avLst/>
          </a:prstGeom>
          <a:noFill/>
          <a:ln/>
        </p:spPr>
        <p:txBody>
          <a:bodyPr wrap="square" rtlCol="0" anchor="ctr"/>
          <a:lstStyle/>
          <a:p>
            <a:pPr rtl="1" algn="r" indent="0" marL="0">
              <a:buNone/>
            </a:pPr>
            <a:r>
              <a:rPr lang="en-US" sz="1100" b="1" dirty="0">
                <a:solidFill>
                  <a:srgbClr val="1A1A1A"/>
                </a:solidFill>
                <a:latin typeface="Calibri" pitchFamily="34" charset="0"/>
                <a:ea typeface="Calibri" pitchFamily="34" charset="-122"/>
                <a:cs typeface="Calibri" pitchFamily="34" charset="-120"/>
              </a:rPr>
              <a:t>امتثال PDPL/ZATCA/NCA</a:t>
            </a:r>
            <a:endParaRPr lang="en-US" sz="1100" dirty="0"/>
          </a:p>
        </p:txBody>
      </p:sp>
      <p:sp>
        <p:nvSpPr>
          <p:cNvPr id="41" name="Shape 39"/>
          <p:cNvSpPr/>
          <p:nvPr/>
        </p:nvSpPr>
        <p:spPr>
          <a:xfrm>
            <a:off x="548640" y="4663440"/>
            <a:ext cx="11064240" cy="0"/>
          </a:xfrm>
          <a:prstGeom prst="line">
            <a:avLst/>
          </a:prstGeom>
          <a:noFill/>
          <a:ln w="6350">
            <a:solidFill>
              <a:srgbClr val="E8E3D6"/>
            </a:solidFill>
            <a:prstDash val="solid"/>
          </a:ln>
        </p:spPr>
      </p:sp>
      <p:sp>
        <p:nvSpPr>
          <p:cNvPr id="42" name="Shape 40"/>
          <p:cNvSpPr/>
          <p:nvPr/>
        </p:nvSpPr>
        <p:spPr>
          <a:xfrm>
            <a:off x="548640" y="4663440"/>
            <a:ext cx="11064240" cy="457200"/>
          </a:xfrm>
          <a:prstGeom prst="rect">
            <a:avLst/>
          </a:prstGeom>
          <a:solidFill>
            <a:srgbClr val="FFFFFF"/>
          </a:solidFill>
          <a:ln w="6350">
            <a:solidFill>
              <a:srgbClr val="E8E3D6"/>
            </a:solidFill>
            <a:prstDash val="solid"/>
          </a:ln>
        </p:spPr>
      </p:sp>
      <p:sp>
        <p:nvSpPr>
          <p:cNvPr id="43" name="Text 41"/>
          <p:cNvSpPr/>
          <p:nvPr/>
        </p:nvSpPr>
        <p:spPr>
          <a:xfrm>
            <a:off x="594360" y="4663440"/>
            <a:ext cx="3383280" cy="457200"/>
          </a:xfrm>
          <a:prstGeom prst="rect">
            <a:avLst/>
          </a:prstGeom>
          <a:noFill/>
          <a:ln/>
        </p:spPr>
        <p:txBody>
          <a:bodyPr wrap="square" rtlCol="0" anchor="ctr"/>
          <a:lstStyle/>
          <a:p>
            <a:pPr algn="ctr" indent="0" marL="0">
              <a:buNone/>
            </a:pPr>
            <a:r>
              <a:rPr lang="en-US" sz="1100" b="1" dirty="0">
                <a:solidFill>
                  <a:srgbClr val="0A1628"/>
                </a:solidFill>
                <a:latin typeface="Calibri" pitchFamily="34" charset="0"/>
                <a:ea typeface="Calibri" pitchFamily="34" charset="-122"/>
                <a:cs typeface="Calibri" pitchFamily="34" charset="-120"/>
              </a:rPr>
              <a:t>أصلي</a:t>
            </a:r>
            <a:endParaRPr lang="en-US" sz="1100" dirty="0"/>
          </a:p>
        </p:txBody>
      </p:sp>
      <p:sp>
        <p:nvSpPr>
          <p:cNvPr id="44" name="Text 42"/>
          <p:cNvSpPr/>
          <p:nvPr/>
        </p:nvSpPr>
        <p:spPr>
          <a:xfrm>
            <a:off x="4069080" y="4663440"/>
            <a:ext cx="1463040" cy="457200"/>
          </a:xfrm>
          <a:prstGeom prst="rect">
            <a:avLst/>
          </a:prstGeom>
          <a:noFill/>
          <a:ln/>
        </p:spPr>
        <p:txBody>
          <a:bodyPr wrap="square"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مُعقّد</a:t>
            </a:r>
            <a:endParaRPr lang="en-US" sz="1100" dirty="0"/>
          </a:p>
        </p:txBody>
      </p:sp>
      <p:sp>
        <p:nvSpPr>
          <p:cNvPr id="45" name="Text 43"/>
          <p:cNvSpPr/>
          <p:nvPr/>
        </p:nvSpPr>
        <p:spPr>
          <a:xfrm>
            <a:off x="5623560" y="4663440"/>
            <a:ext cx="1463040" cy="457200"/>
          </a:xfrm>
          <a:prstGeom prst="rect">
            <a:avLst/>
          </a:prstGeom>
          <a:noFill/>
          <a:ln/>
        </p:spPr>
        <p:txBody>
          <a:bodyPr wrap="square"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مُعقّد</a:t>
            </a:r>
            <a:endParaRPr lang="en-US" sz="1100" dirty="0"/>
          </a:p>
        </p:txBody>
      </p:sp>
      <p:sp>
        <p:nvSpPr>
          <p:cNvPr id="46" name="Text 44"/>
          <p:cNvSpPr/>
          <p:nvPr/>
        </p:nvSpPr>
        <p:spPr>
          <a:xfrm>
            <a:off x="7178040" y="4663440"/>
            <a:ext cx="1463040" cy="457200"/>
          </a:xfrm>
          <a:prstGeom prst="rect">
            <a:avLst/>
          </a:prstGeom>
          <a:noFill/>
          <a:ln/>
        </p:spPr>
        <p:txBody>
          <a:bodyPr wrap="square"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لا</a:t>
            </a:r>
            <a:endParaRPr lang="en-US" sz="1100" dirty="0"/>
          </a:p>
        </p:txBody>
      </p:sp>
      <p:sp>
        <p:nvSpPr>
          <p:cNvPr id="47" name="Text 45"/>
          <p:cNvSpPr/>
          <p:nvPr/>
        </p:nvSpPr>
        <p:spPr>
          <a:xfrm>
            <a:off x="8732520" y="4663440"/>
            <a:ext cx="2834640" cy="457200"/>
          </a:xfrm>
          <a:prstGeom prst="rect">
            <a:avLst/>
          </a:prstGeom>
          <a:noFill/>
          <a:ln/>
        </p:spPr>
        <p:txBody>
          <a:bodyPr wrap="square" rtlCol="0" anchor="ctr"/>
          <a:lstStyle/>
          <a:p>
            <a:pPr rtl="1" algn="r" indent="0" marL="0">
              <a:buNone/>
            </a:pPr>
            <a:r>
              <a:rPr lang="en-US" sz="1100" b="1" dirty="0">
                <a:solidFill>
                  <a:srgbClr val="1A1A1A"/>
                </a:solidFill>
                <a:latin typeface="Calibri" pitchFamily="34" charset="0"/>
                <a:ea typeface="Calibri" pitchFamily="34" charset="-122"/>
                <a:cs typeface="Calibri" pitchFamily="34" charset="-120"/>
              </a:rPr>
              <a:t>تعدد فروع الخليج بلوحة موحّدة</a:t>
            </a:r>
            <a:endParaRPr lang="en-US" sz="1100" dirty="0"/>
          </a:p>
        </p:txBody>
      </p:sp>
      <p:sp>
        <p:nvSpPr>
          <p:cNvPr id="48" name="Shape 46"/>
          <p:cNvSpPr/>
          <p:nvPr/>
        </p:nvSpPr>
        <p:spPr>
          <a:xfrm>
            <a:off x="548640" y="5120640"/>
            <a:ext cx="11064240" cy="0"/>
          </a:xfrm>
          <a:prstGeom prst="line">
            <a:avLst/>
          </a:prstGeom>
          <a:noFill/>
          <a:ln w="6350">
            <a:solidFill>
              <a:srgbClr val="E8E3D6"/>
            </a:solidFill>
            <a:prstDash val="solid"/>
          </a:ln>
        </p:spPr>
      </p:sp>
      <p:sp>
        <p:nvSpPr>
          <p:cNvPr id="49" name="Shape 47"/>
          <p:cNvSpPr/>
          <p:nvPr/>
        </p:nvSpPr>
        <p:spPr>
          <a:xfrm>
            <a:off x="548640" y="5120640"/>
            <a:ext cx="11064240" cy="457200"/>
          </a:xfrm>
          <a:prstGeom prst="rect">
            <a:avLst/>
          </a:prstGeom>
          <a:solidFill>
            <a:srgbClr val="F2EEE4"/>
          </a:solidFill>
          <a:ln w="6350">
            <a:solidFill>
              <a:srgbClr val="E8E3D6"/>
            </a:solidFill>
            <a:prstDash val="solid"/>
          </a:ln>
        </p:spPr>
      </p:sp>
      <p:sp>
        <p:nvSpPr>
          <p:cNvPr id="50" name="Text 48"/>
          <p:cNvSpPr/>
          <p:nvPr/>
        </p:nvSpPr>
        <p:spPr>
          <a:xfrm>
            <a:off x="594360" y="5120640"/>
            <a:ext cx="3383280" cy="457200"/>
          </a:xfrm>
          <a:prstGeom prst="rect">
            <a:avLst/>
          </a:prstGeom>
          <a:noFill/>
          <a:ln/>
        </p:spPr>
        <p:txBody>
          <a:bodyPr wrap="square" rtlCol="0" anchor="ctr"/>
          <a:lstStyle/>
          <a:p>
            <a:pPr algn="ctr" indent="0" marL="0">
              <a:buNone/>
            </a:pPr>
            <a:r>
              <a:rPr lang="en-US" sz="1100" b="1" dirty="0">
                <a:solidFill>
                  <a:srgbClr val="0A1628"/>
                </a:solidFill>
                <a:latin typeface="Calibri" pitchFamily="34" charset="0"/>
                <a:ea typeface="Calibri" pitchFamily="34" charset="-122"/>
                <a:cs typeface="Calibri" pitchFamily="34" charset="-120"/>
              </a:rPr>
              <a:t>4-8 أسابيع</a:t>
            </a:r>
            <a:endParaRPr lang="en-US" sz="1100" dirty="0"/>
          </a:p>
        </p:txBody>
      </p:sp>
      <p:sp>
        <p:nvSpPr>
          <p:cNvPr id="51" name="Text 49"/>
          <p:cNvSpPr/>
          <p:nvPr/>
        </p:nvSpPr>
        <p:spPr>
          <a:xfrm>
            <a:off x="4069080" y="5120640"/>
            <a:ext cx="1463040" cy="457200"/>
          </a:xfrm>
          <a:prstGeom prst="rect">
            <a:avLst/>
          </a:prstGeom>
          <a:noFill/>
          <a:ln/>
        </p:spPr>
        <p:txBody>
          <a:bodyPr wrap="square"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6-9 أشهر</a:t>
            </a:r>
            <a:endParaRPr lang="en-US" sz="1100" dirty="0"/>
          </a:p>
        </p:txBody>
      </p:sp>
      <p:sp>
        <p:nvSpPr>
          <p:cNvPr id="52" name="Text 50"/>
          <p:cNvSpPr/>
          <p:nvPr/>
        </p:nvSpPr>
        <p:spPr>
          <a:xfrm>
            <a:off x="5623560" y="5120640"/>
            <a:ext cx="1463040" cy="457200"/>
          </a:xfrm>
          <a:prstGeom prst="rect">
            <a:avLst/>
          </a:prstGeom>
          <a:noFill/>
          <a:ln/>
        </p:spPr>
        <p:txBody>
          <a:bodyPr wrap="square"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3-5 أشهر</a:t>
            </a:r>
            <a:endParaRPr lang="en-US" sz="1100" dirty="0"/>
          </a:p>
        </p:txBody>
      </p:sp>
      <p:sp>
        <p:nvSpPr>
          <p:cNvPr id="53" name="Text 51"/>
          <p:cNvSpPr/>
          <p:nvPr/>
        </p:nvSpPr>
        <p:spPr>
          <a:xfrm>
            <a:off x="7178040" y="5120640"/>
            <a:ext cx="1463040" cy="457200"/>
          </a:xfrm>
          <a:prstGeom prst="rect">
            <a:avLst/>
          </a:prstGeom>
          <a:noFill/>
          <a:ln/>
        </p:spPr>
        <p:txBody>
          <a:bodyPr wrap="square"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2-3 أشهر</a:t>
            </a:r>
            <a:endParaRPr lang="en-US" sz="1100" dirty="0"/>
          </a:p>
        </p:txBody>
      </p:sp>
      <p:sp>
        <p:nvSpPr>
          <p:cNvPr id="54" name="Text 52"/>
          <p:cNvSpPr/>
          <p:nvPr/>
        </p:nvSpPr>
        <p:spPr>
          <a:xfrm>
            <a:off x="8732520" y="5120640"/>
            <a:ext cx="2834640" cy="457200"/>
          </a:xfrm>
          <a:prstGeom prst="rect">
            <a:avLst/>
          </a:prstGeom>
          <a:noFill/>
          <a:ln/>
        </p:spPr>
        <p:txBody>
          <a:bodyPr wrap="square" rtlCol="0" anchor="ctr"/>
          <a:lstStyle/>
          <a:p>
            <a:pPr rtl="1" algn="r" indent="0" marL="0">
              <a:buNone/>
            </a:pPr>
            <a:r>
              <a:rPr lang="en-US" sz="1100" b="1" dirty="0">
                <a:solidFill>
                  <a:srgbClr val="1A1A1A"/>
                </a:solidFill>
                <a:latin typeface="Calibri" pitchFamily="34" charset="0"/>
                <a:ea typeface="Calibri" pitchFamily="34" charset="-122"/>
                <a:cs typeface="Calibri" pitchFamily="34" charset="-120"/>
              </a:rPr>
              <a:t>زمن التطبيق</a:t>
            </a:r>
            <a:endParaRPr lang="en-US" sz="1100" dirty="0"/>
          </a:p>
        </p:txBody>
      </p:sp>
      <p:sp>
        <p:nvSpPr>
          <p:cNvPr id="55" name="Shape 53"/>
          <p:cNvSpPr/>
          <p:nvPr/>
        </p:nvSpPr>
        <p:spPr>
          <a:xfrm>
            <a:off x="548640" y="5577840"/>
            <a:ext cx="11064240" cy="0"/>
          </a:xfrm>
          <a:prstGeom prst="line">
            <a:avLst/>
          </a:prstGeom>
          <a:noFill/>
          <a:ln w="6350">
            <a:solidFill>
              <a:srgbClr val="E8E3D6"/>
            </a:solidFill>
            <a:prstDash val="solid"/>
          </a:ln>
        </p:spPr>
      </p:sp>
      <p:sp>
        <p:nvSpPr>
          <p:cNvPr id="56" name="Shape 54"/>
          <p:cNvSpPr/>
          <p:nvPr/>
        </p:nvSpPr>
        <p:spPr>
          <a:xfrm>
            <a:off x="548640" y="5577840"/>
            <a:ext cx="11064240" cy="457200"/>
          </a:xfrm>
          <a:prstGeom prst="rect">
            <a:avLst/>
          </a:prstGeom>
          <a:solidFill>
            <a:srgbClr val="FFFFFF"/>
          </a:solidFill>
          <a:ln w="6350">
            <a:solidFill>
              <a:srgbClr val="E8E3D6"/>
            </a:solidFill>
            <a:prstDash val="solid"/>
          </a:ln>
        </p:spPr>
      </p:sp>
      <p:sp>
        <p:nvSpPr>
          <p:cNvPr id="57" name="Text 55"/>
          <p:cNvSpPr/>
          <p:nvPr/>
        </p:nvSpPr>
        <p:spPr>
          <a:xfrm>
            <a:off x="594360" y="5577840"/>
            <a:ext cx="3383280" cy="457200"/>
          </a:xfrm>
          <a:prstGeom prst="rect">
            <a:avLst/>
          </a:prstGeom>
          <a:noFill/>
          <a:ln/>
        </p:spPr>
        <p:txBody>
          <a:bodyPr wrap="square" rtlCol="0" anchor="ctr"/>
          <a:lstStyle/>
          <a:p>
            <a:pPr algn="ctr" indent="0" marL="0">
              <a:buNone/>
            </a:pPr>
            <a:r>
              <a:rPr lang="en-US" sz="1100" b="1" dirty="0">
                <a:solidFill>
                  <a:srgbClr val="0A1628"/>
                </a:solidFill>
                <a:latin typeface="Calibri" pitchFamily="34" charset="0"/>
                <a:ea typeface="Calibri" pitchFamily="34" charset="-122"/>
                <a:cs typeface="Calibri" pitchFamily="34" charset="-120"/>
              </a:rPr>
              <a:t>استرداد مضمون</a:t>
            </a:r>
            <a:endParaRPr lang="en-US" sz="1100" dirty="0"/>
          </a:p>
        </p:txBody>
      </p:sp>
      <p:sp>
        <p:nvSpPr>
          <p:cNvPr id="58" name="Text 56"/>
          <p:cNvSpPr/>
          <p:nvPr/>
        </p:nvSpPr>
        <p:spPr>
          <a:xfrm>
            <a:off x="4069080" y="5577840"/>
            <a:ext cx="1463040" cy="457200"/>
          </a:xfrm>
          <a:prstGeom prst="rect">
            <a:avLst/>
          </a:prstGeom>
          <a:noFill/>
          <a:ln/>
        </p:spPr>
        <p:txBody>
          <a:bodyPr wrap="square"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عالية</a:t>
            </a:r>
            <a:endParaRPr lang="en-US" sz="1100" dirty="0"/>
          </a:p>
        </p:txBody>
      </p:sp>
      <p:sp>
        <p:nvSpPr>
          <p:cNvPr id="59" name="Text 57"/>
          <p:cNvSpPr/>
          <p:nvPr/>
        </p:nvSpPr>
        <p:spPr>
          <a:xfrm>
            <a:off x="5623560" y="5577840"/>
            <a:ext cx="1463040" cy="457200"/>
          </a:xfrm>
          <a:prstGeom prst="rect">
            <a:avLst/>
          </a:prstGeom>
          <a:noFill/>
          <a:ln/>
        </p:spPr>
        <p:txBody>
          <a:bodyPr wrap="square"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متوسطة</a:t>
            </a:r>
            <a:endParaRPr lang="en-US" sz="1100" dirty="0"/>
          </a:p>
        </p:txBody>
      </p:sp>
      <p:sp>
        <p:nvSpPr>
          <p:cNvPr id="60" name="Text 58"/>
          <p:cNvSpPr/>
          <p:nvPr/>
        </p:nvSpPr>
        <p:spPr>
          <a:xfrm>
            <a:off x="7178040" y="5577840"/>
            <a:ext cx="1463040" cy="457200"/>
          </a:xfrm>
          <a:prstGeom prst="rect">
            <a:avLst/>
          </a:prstGeom>
          <a:noFill/>
          <a:ln/>
        </p:spPr>
        <p:txBody>
          <a:bodyPr wrap="square"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متوسطة</a:t>
            </a:r>
            <a:endParaRPr lang="en-US" sz="1100" dirty="0"/>
          </a:p>
        </p:txBody>
      </p:sp>
      <p:sp>
        <p:nvSpPr>
          <p:cNvPr id="61" name="Text 59"/>
          <p:cNvSpPr/>
          <p:nvPr/>
        </p:nvSpPr>
        <p:spPr>
          <a:xfrm>
            <a:off x="8732520" y="5577840"/>
            <a:ext cx="2834640" cy="457200"/>
          </a:xfrm>
          <a:prstGeom prst="rect">
            <a:avLst/>
          </a:prstGeom>
          <a:noFill/>
          <a:ln/>
        </p:spPr>
        <p:txBody>
          <a:bodyPr wrap="square" rtlCol="0" anchor="ctr"/>
          <a:lstStyle/>
          <a:p>
            <a:pPr rtl="1" algn="r" indent="0" marL="0">
              <a:buNone/>
            </a:pPr>
            <a:r>
              <a:rPr lang="en-US" sz="1100" b="1" dirty="0">
                <a:solidFill>
                  <a:srgbClr val="1A1A1A"/>
                </a:solidFill>
                <a:latin typeface="Calibri" pitchFamily="34" charset="0"/>
                <a:ea typeface="Calibri" pitchFamily="34" charset="-122"/>
                <a:cs typeface="Calibri" pitchFamily="34" charset="-120"/>
              </a:rPr>
              <a:t>مخاطر الفشل</a:t>
            </a:r>
            <a:endParaRPr lang="en-US" sz="1100" dirty="0"/>
          </a:p>
        </p:txBody>
      </p:sp>
      <p:sp>
        <p:nvSpPr>
          <p:cNvPr id="62" name="Shape 60"/>
          <p:cNvSpPr/>
          <p:nvPr/>
        </p:nvSpPr>
        <p:spPr>
          <a:xfrm>
            <a:off x="548640" y="2331720"/>
            <a:ext cx="3474720" cy="3703320"/>
          </a:xfrm>
          <a:prstGeom prst="rect">
            <a:avLst/>
          </a:prstGeom>
          <a:solidFill>
            <a:srgbClr val="FFFFFF">
              <a:alpha val="0"/>
            </a:srgbClr>
          </a:solidFill>
          <a:ln w="19050">
            <a:solidFill>
              <a:srgbClr val="D4A574"/>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F3"/>
        </a:solidFill>
      </p:bgPr>
    </p:bg>
    <p:spTree>
      <p:nvGrpSpPr>
        <p:cNvPr id="1" name=""/>
        <p:cNvGrpSpPr/>
        <p:nvPr/>
      </p:nvGrpSpPr>
      <p:grpSpPr>
        <a:xfrm>
          <a:off x="0" y="0"/>
          <a:ext cx="0" cy="0"/>
          <a:chOff x="0" y="0"/>
          <a:chExt cx="0" cy="0"/>
        </a:xfrm>
      </p:grpSpPr>
      <p:sp>
        <p:nvSpPr>
          <p:cNvPr id="2" name="Shape 0"/>
          <p:cNvSpPr/>
          <p:nvPr/>
        </p:nvSpPr>
        <p:spPr>
          <a:xfrm>
            <a:off x="11734495" y="320040"/>
            <a:ext cx="73152" cy="411480"/>
          </a:xfrm>
          <a:prstGeom prst="rect">
            <a:avLst/>
          </a:prstGeom>
          <a:solidFill>
            <a:srgbClr val="D4A574"/>
          </a:solidFill>
          <a:ln/>
        </p:spPr>
      </p:sp>
      <p:sp>
        <p:nvSpPr>
          <p:cNvPr id="3" name="Text 1"/>
          <p:cNvSpPr/>
          <p:nvPr/>
        </p:nvSpPr>
        <p:spPr>
          <a:xfrm>
            <a:off x="8076895" y="274320"/>
            <a:ext cx="3566160" cy="365760"/>
          </a:xfrm>
          <a:prstGeom prst="rect">
            <a:avLst/>
          </a:prstGeom>
          <a:noFill/>
          <a:ln/>
        </p:spPr>
        <p:txBody>
          <a:bodyPr wrap="square" rtlCol="0" anchor="ctr"/>
          <a:lstStyle/>
          <a:p>
            <a:pPr rtl="1" algn="r" indent="0" marL="0">
              <a:buNone/>
            </a:pPr>
            <a:r>
              <a:rPr lang="en-US" sz="1200" b="1" dirty="0">
                <a:solidFill>
                  <a:srgbClr val="55606E"/>
                </a:solidFill>
                <a:latin typeface="Calibri" pitchFamily="34" charset="0"/>
                <a:ea typeface="Calibri" pitchFamily="34" charset="-122"/>
                <a:cs typeface="Calibri" pitchFamily="34" charset="-120"/>
              </a:rPr>
              <a:t>كلفة الجمود</a:t>
            </a:r>
            <a:endParaRPr lang="en-US" sz="1200" dirty="0"/>
          </a:p>
        </p:txBody>
      </p:sp>
      <p:sp>
        <p:nvSpPr>
          <p:cNvPr id="4" name="Text 2"/>
          <p:cNvSpPr/>
          <p:nvPr/>
        </p:nvSpPr>
        <p:spPr>
          <a:xfrm>
            <a:off x="457200" y="6446520"/>
            <a:ext cx="2286000" cy="274320"/>
          </a:xfrm>
          <a:prstGeom prst="rect">
            <a:avLst/>
          </a:prstGeom>
          <a:noFill/>
          <a:ln/>
        </p:spPr>
        <p:txBody>
          <a:bodyPr wrap="square" rtlCol="0" anchor="ctr"/>
          <a:lstStyle/>
          <a:p>
            <a:pPr algn="l" indent="0" marL="0">
              <a:buNone/>
            </a:pPr>
            <a:r>
              <a:rPr lang="en-US" sz="900" dirty="0">
                <a:solidFill>
                  <a:srgbClr val="8B95A3"/>
                </a:solidFill>
                <a:latin typeface="Calibri" pitchFamily="34" charset="0"/>
                <a:ea typeface="Calibri" pitchFamily="34" charset="-122"/>
                <a:cs typeface="Calibri" pitchFamily="34" charset="-120"/>
              </a:rPr>
              <a:t>Dealix · ديلكس</a:t>
            </a:r>
            <a:endParaRPr lang="en-US" sz="900" dirty="0"/>
          </a:p>
        </p:txBody>
      </p:sp>
      <p:sp>
        <p:nvSpPr>
          <p:cNvPr id="5" name="Text 3"/>
          <p:cNvSpPr/>
          <p:nvPr/>
        </p:nvSpPr>
        <p:spPr>
          <a:xfrm>
            <a:off x="11094415" y="6446520"/>
            <a:ext cx="640080" cy="274320"/>
          </a:xfrm>
          <a:prstGeom prst="rect">
            <a:avLst/>
          </a:prstGeom>
          <a:noFill/>
          <a:ln/>
        </p:spPr>
        <p:txBody>
          <a:bodyPr wrap="square" rtlCol="0" anchor="ctr"/>
          <a:lstStyle/>
          <a:p>
            <a:pPr algn="r" indent="0" marL="0">
              <a:buNone/>
            </a:pPr>
            <a:r>
              <a:rPr lang="en-US" sz="900" b="1" dirty="0">
                <a:solidFill>
                  <a:srgbClr val="8B95A3"/>
                </a:solidFill>
                <a:latin typeface="Calibri" pitchFamily="34" charset="0"/>
                <a:ea typeface="Calibri" pitchFamily="34" charset="-122"/>
                <a:cs typeface="Calibri" pitchFamily="34" charset="-120"/>
              </a:rPr>
              <a:t>08</a:t>
            </a:r>
            <a:endParaRPr lang="en-US" sz="900" dirty="0"/>
          </a:p>
        </p:txBody>
      </p:sp>
      <p:sp>
        <p:nvSpPr>
          <p:cNvPr id="6" name="Text 4"/>
          <p:cNvSpPr/>
          <p:nvPr/>
        </p:nvSpPr>
        <p:spPr>
          <a:xfrm>
            <a:off x="548640" y="914400"/>
            <a:ext cx="11094415" cy="822960"/>
          </a:xfrm>
          <a:prstGeom prst="rect">
            <a:avLst/>
          </a:prstGeom>
          <a:noFill/>
          <a:ln/>
        </p:spPr>
        <p:txBody>
          <a:bodyPr wrap="square" rtlCol="0" anchor="ctr"/>
          <a:lstStyle/>
          <a:p>
            <a:pPr rtl="1" algn="r" indent="0" marL="0">
              <a:buNone/>
            </a:pPr>
            <a:r>
              <a:rPr lang="en-US" sz="3400" b="1" dirty="0">
                <a:solidFill>
                  <a:srgbClr val="0A1628"/>
                </a:solidFill>
                <a:latin typeface="Calibri" pitchFamily="34" charset="0"/>
                <a:ea typeface="Calibri" pitchFamily="34" charset="-122"/>
                <a:cs typeface="Calibri" pitchFamily="34" charset="-120"/>
              </a:rPr>
              <a:t>الكلفة الفعلية للجمود — ماذا يكلّفكم الانتظار</a:t>
            </a:r>
            <a:endParaRPr lang="en-US" sz="3400" dirty="0"/>
          </a:p>
        </p:txBody>
      </p:sp>
      <p:sp>
        <p:nvSpPr>
          <p:cNvPr id="7" name="Text 5"/>
          <p:cNvSpPr/>
          <p:nvPr/>
        </p:nvSpPr>
        <p:spPr>
          <a:xfrm>
            <a:off x="548640" y="1691640"/>
            <a:ext cx="11094415" cy="411480"/>
          </a:xfrm>
          <a:prstGeom prst="rect">
            <a:avLst/>
          </a:prstGeom>
          <a:noFill/>
          <a:ln/>
        </p:spPr>
        <p:txBody>
          <a:bodyPr wrap="square" rtlCol="0" anchor="ctr"/>
          <a:lstStyle/>
          <a:p>
            <a:pPr rtl="1" algn="r" indent="0" marL="0">
              <a:buNone/>
            </a:pPr>
            <a:r>
              <a:rPr lang="en-US" sz="1500" dirty="0">
                <a:solidFill>
                  <a:srgbClr val="55606E"/>
                </a:solidFill>
                <a:latin typeface="Calibri" pitchFamily="34" charset="0"/>
                <a:ea typeface="Calibri" pitchFamily="34" charset="-122"/>
                <a:cs typeface="Calibri" pitchFamily="34" charset="-120"/>
              </a:rPr>
              <a:t>قراءة نوعية لخسائر سنة واحدة من التأجيل في شركة لوجستيات بحجم مماثل</a:t>
            </a:r>
            <a:endParaRPr lang="en-US" sz="1500" dirty="0"/>
          </a:p>
        </p:txBody>
      </p:sp>
      <p:sp>
        <p:nvSpPr>
          <p:cNvPr id="8" name="Shape 6"/>
          <p:cNvSpPr/>
          <p:nvPr/>
        </p:nvSpPr>
        <p:spPr>
          <a:xfrm>
            <a:off x="548640" y="2331720"/>
            <a:ext cx="11094415" cy="621792"/>
          </a:xfrm>
          <a:prstGeom prst="rect">
            <a:avLst/>
          </a:prstGeom>
          <a:solidFill>
            <a:srgbClr val="FFFFFF"/>
          </a:solidFill>
          <a:ln w="12700">
            <a:solidFill>
              <a:srgbClr val="E8E3D6"/>
            </a:solidFill>
            <a:prstDash val="solid"/>
          </a:ln>
        </p:spPr>
      </p:sp>
      <p:sp>
        <p:nvSpPr>
          <p:cNvPr id="9" name="Text 7"/>
          <p:cNvSpPr/>
          <p:nvPr/>
        </p:nvSpPr>
        <p:spPr>
          <a:xfrm>
            <a:off x="731520" y="2331720"/>
            <a:ext cx="2377440" cy="621792"/>
          </a:xfrm>
          <a:prstGeom prst="rect">
            <a:avLst/>
          </a:prstGeom>
          <a:noFill/>
          <a:ln/>
        </p:spPr>
        <p:txBody>
          <a:bodyPr wrap="square" rtlCol="0" anchor="ctr"/>
          <a:lstStyle/>
          <a:p>
            <a:pPr algn="l" indent="0" marL="0">
              <a:buNone/>
            </a:pPr>
            <a:r>
              <a:rPr lang="en-US" sz="1600" b="1" dirty="0">
                <a:solidFill>
                  <a:srgbClr val="A12C4A"/>
                </a:solidFill>
                <a:latin typeface="Calibri" pitchFamily="34" charset="0"/>
                <a:ea typeface="Calibri" pitchFamily="34" charset="-122"/>
                <a:cs typeface="Calibri" pitchFamily="34" charset="-120"/>
              </a:rPr>
              <a:t>خسائر كبيرة</a:t>
            </a:r>
            <a:endParaRPr lang="en-US" sz="1600" dirty="0"/>
          </a:p>
        </p:txBody>
      </p:sp>
      <p:sp>
        <p:nvSpPr>
          <p:cNvPr id="10" name="Text 8"/>
          <p:cNvSpPr/>
          <p:nvPr/>
        </p:nvSpPr>
        <p:spPr>
          <a:xfrm>
            <a:off x="3200400" y="2331720"/>
            <a:ext cx="4236415" cy="621792"/>
          </a:xfrm>
          <a:prstGeom prst="rect">
            <a:avLst/>
          </a:prstGeom>
          <a:noFill/>
          <a:ln/>
        </p:spPr>
        <p:txBody>
          <a:bodyPr wrap="square" rtlCol="0" anchor="ctr"/>
          <a:lstStyle/>
          <a:p>
            <a:pPr rtl="1" algn="r" indent="0" marL="0">
              <a:buNone/>
            </a:pPr>
            <a:r>
              <a:rPr lang="en-US" sz="1100" dirty="0">
                <a:solidFill>
                  <a:srgbClr val="55606E"/>
                </a:solidFill>
                <a:latin typeface="Calibri" pitchFamily="34" charset="0"/>
                <a:ea typeface="Calibri" pitchFamily="34" charset="-122"/>
                <a:cs typeface="Calibri" pitchFamily="34" charset="-120"/>
              </a:rPr>
              <a:t>مئات التندرات تضيع شهرياً دون متابعة — أثر مباشر على خط الإيراد</a:t>
            </a:r>
            <a:endParaRPr lang="en-US" sz="1100" dirty="0"/>
          </a:p>
        </p:txBody>
      </p:sp>
      <p:sp>
        <p:nvSpPr>
          <p:cNvPr id="11" name="Text 9"/>
          <p:cNvSpPr/>
          <p:nvPr/>
        </p:nvSpPr>
        <p:spPr>
          <a:xfrm>
            <a:off x="7711135" y="2331720"/>
            <a:ext cx="3749040" cy="621792"/>
          </a:xfrm>
          <a:prstGeom prst="rect">
            <a:avLst/>
          </a:prstGeom>
          <a:noFill/>
          <a:ln/>
        </p:spPr>
        <p:txBody>
          <a:bodyPr wrap="square" rtlCol="0" anchor="ctr"/>
          <a:lstStyle/>
          <a:p>
            <a:pPr rtl="1" algn="r" indent="0" marL="0">
              <a:buNone/>
            </a:pPr>
            <a:r>
              <a:rPr lang="en-US" sz="1500" b="1" dirty="0">
                <a:solidFill>
                  <a:srgbClr val="0A1628"/>
                </a:solidFill>
                <a:latin typeface="Calibri" pitchFamily="34" charset="0"/>
                <a:ea typeface="Calibri" pitchFamily="34" charset="-122"/>
                <a:cs typeface="Calibri" pitchFamily="34" charset="-120"/>
              </a:rPr>
              <a:t>فرص RFP ضائعة</a:t>
            </a:r>
            <a:endParaRPr lang="en-US" sz="1500" dirty="0"/>
          </a:p>
        </p:txBody>
      </p:sp>
      <p:sp>
        <p:nvSpPr>
          <p:cNvPr id="12" name="Shape 10"/>
          <p:cNvSpPr/>
          <p:nvPr/>
        </p:nvSpPr>
        <p:spPr>
          <a:xfrm>
            <a:off x="548640" y="3044952"/>
            <a:ext cx="11094415" cy="621792"/>
          </a:xfrm>
          <a:prstGeom prst="rect">
            <a:avLst/>
          </a:prstGeom>
          <a:solidFill>
            <a:srgbClr val="FFFFFF"/>
          </a:solidFill>
          <a:ln w="12700">
            <a:solidFill>
              <a:srgbClr val="E8E3D6"/>
            </a:solidFill>
            <a:prstDash val="solid"/>
          </a:ln>
        </p:spPr>
      </p:sp>
      <p:sp>
        <p:nvSpPr>
          <p:cNvPr id="13" name="Text 11"/>
          <p:cNvSpPr/>
          <p:nvPr/>
        </p:nvSpPr>
        <p:spPr>
          <a:xfrm>
            <a:off x="731520" y="3044952"/>
            <a:ext cx="2377440" cy="621792"/>
          </a:xfrm>
          <a:prstGeom prst="rect">
            <a:avLst/>
          </a:prstGeom>
          <a:noFill/>
          <a:ln/>
        </p:spPr>
        <p:txBody>
          <a:bodyPr wrap="square" rtlCol="0" anchor="ctr"/>
          <a:lstStyle/>
          <a:p>
            <a:pPr algn="l" indent="0" marL="0">
              <a:buNone/>
            </a:pPr>
            <a:r>
              <a:rPr lang="en-US" sz="1600" b="1" dirty="0">
                <a:solidFill>
                  <a:srgbClr val="A12C4A"/>
                </a:solidFill>
                <a:latin typeface="Calibri" pitchFamily="34" charset="0"/>
                <a:ea typeface="Calibri" pitchFamily="34" charset="-122"/>
                <a:cs typeface="Calibri" pitchFamily="34" charset="-120"/>
              </a:rPr>
              <a:t>هدر مزمن</a:t>
            </a:r>
            <a:endParaRPr lang="en-US" sz="1600" dirty="0"/>
          </a:p>
        </p:txBody>
      </p:sp>
      <p:sp>
        <p:nvSpPr>
          <p:cNvPr id="14" name="Text 12"/>
          <p:cNvSpPr/>
          <p:nvPr/>
        </p:nvSpPr>
        <p:spPr>
          <a:xfrm>
            <a:off x="3200400" y="3044952"/>
            <a:ext cx="4236415" cy="621792"/>
          </a:xfrm>
          <a:prstGeom prst="rect">
            <a:avLst/>
          </a:prstGeom>
          <a:noFill/>
          <a:ln/>
        </p:spPr>
        <p:txBody>
          <a:bodyPr wrap="square" rtlCol="0" anchor="ctr"/>
          <a:lstStyle/>
          <a:p>
            <a:pPr rtl="1" algn="r" indent="0" marL="0">
              <a:buNone/>
            </a:pPr>
            <a:r>
              <a:rPr lang="en-US" sz="1100" dirty="0">
                <a:solidFill>
                  <a:srgbClr val="55606E"/>
                </a:solidFill>
                <a:latin typeface="Calibri" pitchFamily="34" charset="0"/>
                <a:ea typeface="Calibri" pitchFamily="34" charset="-122"/>
                <a:cs typeface="Calibri" pitchFamily="34" charset="-120"/>
              </a:rPr>
              <a:t>12 مندوب × 3 ساعات يومياً في مهام قابلة للأتمتة الكاملة</a:t>
            </a:r>
            <a:endParaRPr lang="en-US" sz="1100" dirty="0"/>
          </a:p>
        </p:txBody>
      </p:sp>
      <p:sp>
        <p:nvSpPr>
          <p:cNvPr id="15" name="Text 13"/>
          <p:cNvSpPr/>
          <p:nvPr/>
        </p:nvSpPr>
        <p:spPr>
          <a:xfrm>
            <a:off x="7711135" y="3044952"/>
            <a:ext cx="3749040" cy="621792"/>
          </a:xfrm>
          <a:prstGeom prst="rect">
            <a:avLst/>
          </a:prstGeom>
          <a:noFill/>
          <a:ln/>
        </p:spPr>
        <p:txBody>
          <a:bodyPr wrap="square" rtlCol="0" anchor="ctr"/>
          <a:lstStyle/>
          <a:p>
            <a:pPr rtl="1" algn="r" indent="0" marL="0">
              <a:buNone/>
            </a:pPr>
            <a:r>
              <a:rPr lang="en-US" sz="1500" b="1" dirty="0">
                <a:solidFill>
                  <a:srgbClr val="0A1628"/>
                </a:solidFill>
                <a:latin typeface="Calibri" pitchFamily="34" charset="0"/>
                <a:ea typeface="Calibri" pitchFamily="34" charset="-122"/>
                <a:cs typeface="Calibri" pitchFamily="34" charset="-120"/>
              </a:rPr>
              <a:t>ساعات فريق مبيعات مهدورة</a:t>
            </a:r>
            <a:endParaRPr lang="en-US" sz="1500" dirty="0"/>
          </a:p>
        </p:txBody>
      </p:sp>
      <p:sp>
        <p:nvSpPr>
          <p:cNvPr id="16" name="Shape 14"/>
          <p:cNvSpPr/>
          <p:nvPr/>
        </p:nvSpPr>
        <p:spPr>
          <a:xfrm>
            <a:off x="548640" y="3758184"/>
            <a:ext cx="11094415" cy="621792"/>
          </a:xfrm>
          <a:prstGeom prst="rect">
            <a:avLst/>
          </a:prstGeom>
          <a:solidFill>
            <a:srgbClr val="FFFFFF"/>
          </a:solidFill>
          <a:ln w="12700">
            <a:solidFill>
              <a:srgbClr val="E8E3D6"/>
            </a:solidFill>
            <a:prstDash val="solid"/>
          </a:ln>
        </p:spPr>
      </p:sp>
      <p:sp>
        <p:nvSpPr>
          <p:cNvPr id="17" name="Text 15"/>
          <p:cNvSpPr/>
          <p:nvPr/>
        </p:nvSpPr>
        <p:spPr>
          <a:xfrm>
            <a:off x="731520" y="3758184"/>
            <a:ext cx="2377440" cy="621792"/>
          </a:xfrm>
          <a:prstGeom prst="rect">
            <a:avLst/>
          </a:prstGeom>
          <a:noFill/>
          <a:ln/>
        </p:spPr>
        <p:txBody>
          <a:bodyPr wrap="square" rtlCol="0" anchor="ctr"/>
          <a:lstStyle/>
          <a:p>
            <a:pPr algn="l" indent="0" marL="0">
              <a:buNone/>
            </a:pPr>
            <a:r>
              <a:rPr lang="en-US" sz="1600" b="1" dirty="0">
                <a:solidFill>
                  <a:srgbClr val="A12C4A"/>
                </a:solidFill>
                <a:latin typeface="Calibri" pitchFamily="34" charset="0"/>
                <a:ea typeface="Calibri" pitchFamily="34" charset="-122"/>
                <a:cs typeface="Calibri" pitchFamily="34" charset="-120"/>
              </a:rPr>
              <a:t>ضغط على السيولة</a:t>
            </a:r>
            <a:endParaRPr lang="en-US" sz="1600" dirty="0"/>
          </a:p>
        </p:txBody>
      </p:sp>
      <p:sp>
        <p:nvSpPr>
          <p:cNvPr id="18" name="Text 16"/>
          <p:cNvSpPr/>
          <p:nvPr/>
        </p:nvSpPr>
        <p:spPr>
          <a:xfrm>
            <a:off x="3200400" y="3758184"/>
            <a:ext cx="4236415" cy="621792"/>
          </a:xfrm>
          <a:prstGeom prst="rect">
            <a:avLst/>
          </a:prstGeom>
          <a:noFill/>
          <a:ln/>
        </p:spPr>
        <p:txBody>
          <a:bodyPr wrap="square" rtlCol="0" anchor="ctr"/>
          <a:lstStyle/>
          <a:p>
            <a:pPr rtl="1" algn="r" indent="0" marL="0">
              <a:buNone/>
            </a:pPr>
            <a:r>
              <a:rPr lang="en-US" sz="1100" dirty="0">
                <a:solidFill>
                  <a:srgbClr val="55606E"/>
                </a:solidFill>
                <a:latin typeface="Calibri" pitchFamily="34" charset="0"/>
                <a:ea typeface="Calibri" pitchFamily="34" charset="-122"/>
                <a:cs typeface="Calibri" pitchFamily="34" charset="-120"/>
              </a:rPr>
              <a:t>سيولة معطّلة بسبب بطء التوقيع والفوترة — تكلفة تمويل إضافية</a:t>
            </a:r>
            <a:endParaRPr lang="en-US" sz="1100" dirty="0"/>
          </a:p>
        </p:txBody>
      </p:sp>
      <p:sp>
        <p:nvSpPr>
          <p:cNvPr id="19" name="Text 17"/>
          <p:cNvSpPr/>
          <p:nvPr/>
        </p:nvSpPr>
        <p:spPr>
          <a:xfrm>
            <a:off x="7711135" y="3758184"/>
            <a:ext cx="3749040" cy="621792"/>
          </a:xfrm>
          <a:prstGeom prst="rect">
            <a:avLst/>
          </a:prstGeom>
          <a:noFill/>
          <a:ln/>
        </p:spPr>
        <p:txBody>
          <a:bodyPr wrap="square" rtlCol="0" anchor="ctr"/>
          <a:lstStyle/>
          <a:p>
            <a:pPr rtl="1" algn="r" indent="0" marL="0">
              <a:buNone/>
            </a:pPr>
            <a:r>
              <a:rPr lang="en-US" sz="1500" b="1" dirty="0">
                <a:solidFill>
                  <a:srgbClr val="0A1628"/>
                </a:solidFill>
                <a:latin typeface="Calibri" pitchFamily="34" charset="0"/>
                <a:ea typeface="Calibri" pitchFamily="34" charset="-122"/>
                <a:cs typeface="Calibri" pitchFamily="34" charset="-120"/>
              </a:rPr>
              <a:t>تأخّر دورة التحصيل</a:t>
            </a:r>
            <a:endParaRPr lang="en-US" sz="1500" dirty="0"/>
          </a:p>
        </p:txBody>
      </p:sp>
      <p:sp>
        <p:nvSpPr>
          <p:cNvPr id="20" name="Shape 18"/>
          <p:cNvSpPr/>
          <p:nvPr/>
        </p:nvSpPr>
        <p:spPr>
          <a:xfrm>
            <a:off x="548640" y="4471416"/>
            <a:ext cx="11094415" cy="621792"/>
          </a:xfrm>
          <a:prstGeom prst="rect">
            <a:avLst/>
          </a:prstGeom>
          <a:solidFill>
            <a:srgbClr val="FFFFFF"/>
          </a:solidFill>
          <a:ln w="12700">
            <a:solidFill>
              <a:srgbClr val="E8E3D6"/>
            </a:solidFill>
            <a:prstDash val="solid"/>
          </a:ln>
        </p:spPr>
      </p:sp>
      <p:sp>
        <p:nvSpPr>
          <p:cNvPr id="21" name="Text 19"/>
          <p:cNvSpPr/>
          <p:nvPr/>
        </p:nvSpPr>
        <p:spPr>
          <a:xfrm>
            <a:off x="731520" y="4471416"/>
            <a:ext cx="2377440" cy="621792"/>
          </a:xfrm>
          <a:prstGeom prst="rect">
            <a:avLst/>
          </a:prstGeom>
          <a:noFill/>
          <a:ln/>
        </p:spPr>
        <p:txBody>
          <a:bodyPr wrap="square" rtlCol="0" anchor="ctr"/>
          <a:lstStyle/>
          <a:p>
            <a:pPr algn="l" indent="0" marL="0">
              <a:buNone/>
            </a:pPr>
            <a:r>
              <a:rPr lang="en-US" sz="1600" b="1" dirty="0">
                <a:solidFill>
                  <a:srgbClr val="A12C4A"/>
                </a:solidFill>
                <a:latin typeface="Calibri" pitchFamily="34" charset="0"/>
                <a:ea typeface="Calibri" pitchFamily="34" charset="-122"/>
                <a:cs typeface="Calibri" pitchFamily="34" charset="-120"/>
              </a:rPr>
              <a:t>تآكل حصة سوقية</a:t>
            </a:r>
            <a:endParaRPr lang="en-US" sz="1600" dirty="0"/>
          </a:p>
        </p:txBody>
      </p:sp>
      <p:sp>
        <p:nvSpPr>
          <p:cNvPr id="22" name="Text 20"/>
          <p:cNvSpPr/>
          <p:nvPr/>
        </p:nvSpPr>
        <p:spPr>
          <a:xfrm>
            <a:off x="3200400" y="4471416"/>
            <a:ext cx="4236415" cy="621792"/>
          </a:xfrm>
          <a:prstGeom prst="rect">
            <a:avLst/>
          </a:prstGeom>
          <a:noFill/>
          <a:ln/>
        </p:spPr>
        <p:txBody>
          <a:bodyPr wrap="square" rtlCol="0" anchor="ctr"/>
          <a:lstStyle/>
          <a:p>
            <a:pPr rtl="1" algn="r" indent="0" marL="0">
              <a:buNone/>
            </a:pPr>
            <a:r>
              <a:rPr lang="en-US" sz="1100" dirty="0">
                <a:solidFill>
                  <a:srgbClr val="55606E"/>
                </a:solidFill>
                <a:latin typeface="Calibri" pitchFamily="34" charset="0"/>
                <a:ea typeface="Calibri" pitchFamily="34" charset="-122"/>
                <a:cs typeface="Calibri" pitchFamily="34" charset="-120"/>
              </a:rPr>
              <a:t>15% من العملاء الجدد يذهبون لمن ردّ أسرع — لا يعودون</a:t>
            </a:r>
            <a:endParaRPr lang="en-US" sz="1100" dirty="0"/>
          </a:p>
        </p:txBody>
      </p:sp>
      <p:sp>
        <p:nvSpPr>
          <p:cNvPr id="23" name="Text 21"/>
          <p:cNvSpPr/>
          <p:nvPr/>
        </p:nvSpPr>
        <p:spPr>
          <a:xfrm>
            <a:off x="7711135" y="4471416"/>
            <a:ext cx="3749040" cy="621792"/>
          </a:xfrm>
          <a:prstGeom prst="rect">
            <a:avLst/>
          </a:prstGeom>
          <a:noFill/>
          <a:ln/>
        </p:spPr>
        <p:txBody>
          <a:bodyPr wrap="square" rtlCol="0" anchor="ctr"/>
          <a:lstStyle/>
          <a:p>
            <a:pPr rtl="1" algn="r" indent="0" marL="0">
              <a:buNone/>
            </a:pPr>
            <a:r>
              <a:rPr lang="en-US" sz="1500" b="1" dirty="0">
                <a:solidFill>
                  <a:srgbClr val="0A1628"/>
                </a:solidFill>
                <a:latin typeface="Calibri" pitchFamily="34" charset="0"/>
                <a:ea typeface="Calibri" pitchFamily="34" charset="-122"/>
                <a:cs typeface="Calibri" pitchFamily="34" charset="-120"/>
              </a:rPr>
              <a:t>فقد عملاء لصالح المنافسين</a:t>
            </a:r>
            <a:endParaRPr lang="en-US" sz="1500" dirty="0"/>
          </a:p>
        </p:txBody>
      </p:sp>
      <p:sp>
        <p:nvSpPr>
          <p:cNvPr id="24" name="Shape 22"/>
          <p:cNvSpPr/>
          <p:nvPr/>
        </p:nvSpPr>
        <p:spPr>
          <a:xfrm>
            <a:off x="548640" y="5184648"/>
            <a:ext cx="11094415" cy="621792"/>
          </a:xfrm>
          <a:prstGeom prst="rect">
            <a:avLst/>
          </a:prstGeom>
          <a:solidFill>
            <a:srgbClr val="FFFFFF"/>
          </a:solidFill>
          <a:ln w="12700">
            <a:solidFill>
              <a:srgbClr val="E8E3D6"/>
            </a:solidFill>
            <a:prstDash val="solid"/>
          </a:ln>
        </p:spPr>
      </p:sp>
      <p:sp>
        <p:nvSpPr>
          <p:cNvPr id="25" name="Text 23"/>
          <p:cNvSpPr/>
          <p:nvPr/>
        </p:nvSpPr>
        <p:spPr>
          <a:xfrm>
            <a:off x="731520" y="5184648"/>
            <a:ext cx="2377440" cy="621792"/>
          </a:xfrm>
          <a:prstGeom prst="rect">
            <a:avLst/>
          </a:prstGeom>
          <a:noFill/>
          <a:ln/>
        </p:spPr>
        <p:txBody>
          <a:bodyPr wrap="square" rtlCol="0" anchor="ctr"/>
          <a:lstStyle/>
          <a:p>
            <a:pPr algn="l" indent="0" marL="0">
              <a:buNone/>
            </a:pPr>
            <a:r>
              <a:rPr lang="en-US" sz="1600" b="1" dirty="0">
                <a:solidFill>
                  <a:srgbClr val="A12C4A"/>
                </a:solidFill>
                <a:latin typeface="Calibri" pitchFamily="34" charset="0"/>
                <a:ea typeface="Calibri" pitchFamily="34" charset="-122"/>
                <a:cs typeface="Calibri" pitchFamily="34" charset="-120"/>
              </a:rPr>
              <a:t>مخاطر تعاقدية</a:t>
            </a:r>
            <a:endParaRPr lang="en-US" sz="1600" dirty="0"/>
          </a:p>
        </p:txBody>
      </p:sp>
      <p:sp>
        <p:nvSpPr>
          <p:cNvPr id="26" name="Text 24"/>
          <p:cNvSpPr/>
          <p:nvPr/>
        </p:nvSpPr>
        <p:spPr>
          <a:xfrm>
            <a:off x="3200400" y="5184648"/>
            <a:ext cx="4236415" cy="621792"/>
          </a:xfrm>
          <a:prstGeom prst="rect">
            <a:avLst/>
          </a:prstGeom>
          <a:noFill/>
          <a:ln/>
        </p:spPr>
        <p:txBody>
          <a:bodyPr wrap="square" rtlCol="0" anchor="ctr"/>
          <a:lstStyle/>
          <a:p>
            <a:pPr rtl="1" algn="r" indent="0" marL="0">
              <a:buNone/>
            </a:pPr>
            <a:r>
              <a:rPr lang="en-US" sz="1100" dirty="0">
                <a:solidFill>
                  <a:srgbClr val="55606E"/>
                </a:solidFill>
                <a:latin typeface="Calibri" pitchFamily="34" charset="0"/>
                <a:ea typeface="Calibri" pitchFamily="34" charset="-122"/>
                <a:cs typeface="Calibri" pitchFamily="34" charset="-120"/>
              </a:rPr>
              <a:t>أخطاء ترجمة + عقود بحاجة لمراجعة قانونية متكررة</a:t>
            </a:r>
            <a:endParaRPr lang="en-US" sz="1100" dirty="0"/>
          </a:p>
        </p:txBody>
      </p:sp>
      <p:sp>
        <p:nvSpPr>
          <p:cNvPr id="27" name="Text 25"/>
          <p:cNvSpPr/>
          <p:nvPr/>
        </p:nvSpPr>
        <p:spPr>
          <a:xfrm>
            <a:off x="7711135" y="5184648"/>
            <a:ext cx="3749040" cy="621792"/>
          </a:xfrm>
          <a:prstGeom prst="rect">
            <a:avLst/>
          </a:prstGeom>
          <a:noFill/>
          <a:ln/>
        </p:spPr>
        <p:txBody>
          <a:bodyPr wrap="square" rtlCol="0" anchor="ctr"/>
          <a:lstStyle/>
          <a:p>
            <a:pPr rtl="1" algn="r" indent="0" marL="0">
              <a:buNone/>
            </a:pPr>
            <a:r>
              <a:rPr lang="en-US" sz="1500" b="1" dirty="0">
                <a:solidFill>
                  <a:srgbClr val="0A1628"/>
                </a:solidFill>
                <a:latin typeface="Calibri" pitchFamily="34" charset="0"/>
                <a:ea typeface="Calibri" pitchFamily="34" charset="-122"/>
                <a:cs typeface="Calibri" pitchFamily="34" charset="-120"/>
              </a:rPr>
              <a:t>إعادة عمل وأخطاء لغوية</a:t>
            </a:r>
            <a:endParaRPr lang="en-US" sz="1500" dirty="0"/>
          </a:p>
        </p:txBody>
      </p:sp>
      <p:sp>
        <p:nvSpPr>
          <p:cNvPr id="28" name="Shape 26"/>
          <p:cNvSpPr/>
          <p:nvPr/>
        </p:nvSpPr>
        <p:spPr>
          <a:xfrm>
            <a:off x="548640" y="5989320"/>
            <a:ext cx="11094415" cy="777240"/>
          </a:xfrm>
          <a:prstGeom prst="rect">
            <a:avLst/>
          </a:prstGeom>
          <a:solidFill>
            <a:srgbClr val="0A1628"/>
          </a:solidFill>
          <a:ln/>
        </p:spPr>
      </p:sp>
      <p:sp>
        <p:nvSpPr>
          <p:cNvPr id="29" name="Shape 27"/>
          <p:cNvSpPr/>
          <p:nvPr/>
        </p:nvSpPr>
        <p:spPr>
          <a:xfrm>
            <a:off x="11569903" y="5989320"/>
            <a:ext cx="73152" cy="777240"/>
          </a:xfrm>
          <a:prstGeom prst="rect">
            <a:avLst/>
          </a:prstGeom>
          <a:solidFill>
            <a:srgbClr val="D4A574"/>
          </a:solidFill>
          <a:ln/>
        </p:spPr>
      </p:sp>
      <p:sp>
        <p:nvSpPr>
          <p:cNvPr id="30" name="Text 28"/>
          <p:cNvSpPr/>
          <p:nvPr/>
        </p:nvSpPr>
        <p:spPr>
          <a:xfrm>
            <a:off x="731520" y="5989320"/>
            <a:ext cx="4114800" cy="777240"/>
          </a:xfrm>
          <a:prstGeom prst="rect">
            <a:avLst/>
          </a:prstGeom>
          <a:noFill/>
          <a:ln/>
        </p:spPr>
        <p:txBody>
          <a:bodyPr wrap="square" rtlCol="0" anchor="ctr"/>
          <a:lstStyle/>
          <a:p>
            <a:pPr algn="l" indent="0" marL="0">
              <a:buNone/>
            </a:pPr>
            <a:r>
              <a:rPr lang="en-US" sz="2600" b="1" dirty="0">
                <a:solidFill>
                  <a:srgbClr val="D4A574"/>
                </a:solidFill>
                <a:latin typeface="Calibri" pitchFamily="34" charset="0"/>
                <a:ea typeface="Calibri" pitchFamily="34" charset="-122"/>
                <a:cs typeface="Calibri" pitchFamily="34" charset="-120"/>
              </a:rPr>
              <a:t>خسائر جوهرية</a:t>
            </a:r>
            <a:endParaRPr lang="en-US" sz="2600" dirty="0"/>
          </a:p>
        </p:txBody>
      </p:sp>
      <p:sp>
        <p:nvSpPr>
          <p:cNvPr id="31" name="Text 29"/>
          <p:cNvSpPr/>
          <p:nvPr/>
        </p:nvSpPr>
        <p:spPr>
          <a:xfrm>
            <a:off x="5120640" y="5989320"/>
            <a:ext cx="6430975" cy="777240"/>
          </a:xfrm>
          <a:prstGeom prst="rect">
            <a:avLst/>
          </a:prstGeom>
          <a:noFill/>
          <a:ln/>
        </p:spPr>
        <p:txBody>
          <a:bodyPr wrap="square" rtlCol="0" anchor="ctr"/>
          <a:lstStyle/>
          <a:p>
            <a:pPr rtl="1" algn="r" indent="0" marL="0">
              <a:buNone/>
            </a:pPr>
            <a:r>
              <a:rPr lang="en-US" sz="1300" dirty="0">
                <a:solidFill>
                  <a:srgbClr val="F5F5F5"/>
                </a:solidFill>
                <a:latin typeface="Calibri" pitchFamily="34" charset="0"/>
                <a:ea typeface="Calibri" pitchFamily="34" charset="-122"/>
                <a:cs typeface="Calibri" pitchFamily="34" charset="-120"/>
              </a:rPr>
              <a:t>إجمالي الأثر السنوي للجمود — كلفة القرار بعدم اتخاذ قرار، وتتراكم مع كل ربع إضافي</a:t>
            </a:r>
            <a:endParaRPr lang="en-US" sz="1300" dirty="0"/>
          </a:p>
        </p:txBody>
      </p:sp>
      <p:sp>
        <p:nvSpPr>
          <p:cNvPr id="32" name="Text 30"/>
          <p:cNvSpPr/>
          <p:nvPr/>
        </p:nvSpPr>
        <p:spPr>
          <a:xfrm>
            <a:off x="457200" y="6172200"/>
            <a:ext cx="10362895" cy="256032"/>
          </a:xfrm>
          <a:prstGeom prst="rect">
            <a:avLst/>
          </a:prstGeom>
          <a:noFill/>
          <a:ln/>
        </p:spPr>
        <p:txBody>
          <a:bodyPr wrap="square" rtlCol="0" anchor="ctr"/>
          <a:lstStyle/>
          <a:p>
            <a:pPr rtl="1" algn="r" indent="0" marL="0">
              <a:buNone/>
            </a:pPr>
            <a:r>
              <a:rPr lang="en-US" sz="900" dirty="0">
                <a:solidFill>
                  <a:srgbClr val="8B95A3"/>
                </a:solidFill>
                <a:latin typeface="Calibri" pitchFamily="34" charset="0"/>
                <a:ea typeface="Calibri" pitchFamily="34" charset="-122"/>
                <a:cs typeface="Calibri" pitchFamily="34" charset="-120"/>
              </a:rPr>
              <a:t>المصدر: </a:t>
            </a:r>
            <a:pPr rtl="1" algn="r" indent="0" marL="0">
              <a:buNone/>
            </a:pPr>
            <a:r>
              <a:rPr lang="en-US" sz="900" u="sng" dirty="0">
                <a:solidFill>
                  <a:srgbClr val="B8874C"/>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Dealix Research</a:t>
            </a:r>
            <a:pPr algn="r" indent="0" marL="0">
              <a:buNone/>
            </a:pPr>
            <a:r>
              <a:rPr lang="en-US" sz="900" dirty="0">
                <a:solidFill>
                  <a:srgbClr val="8B95A3"/>
                </a:solidFill>
                <a:latin typeface="Calibri" pitchFamily="34" charset="0"/>
                <a:ea typeface="Calibri" pitchFamily="34" charset="-122"/>
                <a:cs typeface="Calibri" pitchFamily="34" charset="-120"/>
              </a:rPr>
              <a:t> · </a:t>
            </a:r>
            <a:pPr rtl="1" algn="r" indent="0" marL="0">
              <a:buNone/>
            </a:pPr>
            <a:r>
              <a:rPr lang="en-US" sz="900" u="sng" dirty="0">
                <a:solidFill>
                  <a:srgbClr val="B8874C"/>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Salesforce State of Sales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11734495" y="320040"/>
            <a:ext cx="73152" cy="411480"/>
          </a:xfrm>
          <a:prstGeom prst="rect">
            <a:avLst/>
          </a:prstGeom>
          <a:solidFill>
            <a:srgbClr val="D4A574"/>
          </a:solidFill>
          <a:ln/>
        </p:spPr>
      </p:sp>
      <p:sp>
        <p:nvSpPr>
          <p:cNvPr id="3" name="Text 1"/>
          <p:cNvSpPr/>
          <p:nvPr/>
        </p:nvSpPr>
        <p:spPr>
          <a:xfrm>
            <a:off x="8076895" y="274320"/>
            <a:ext cx="3566160" cy="365760"/>
          </a:xfrm>
          <a:prstGeom prst="rect">
            <a:avLst/>
          </a:prstGeom>
          <a:noFill/>
          <a:ln/>
        </p:spPr>
        <p:txBody>
          <a:bodyPr wrap="square" rtlCol="0" anchor="ctr"/>
          <a:lstStyle/>
          <a:p>
            <a:pPr rtl="1" algn="r" indent="0" marL="0">
              <a:buNone/>
            </a:pPr>
            <a:r>
              <a:rPr lang="en-US" sz="1200" b="1" dirty="0">
                <a:solidFill>
                  <a:srgbClr val="D4A574"/>
                </a:solidFill>
                <a:latin typeface="Calibri" pitchFamily="34" charset="0"/>
                <a:ea typeface="Calibri" pitchFamily="34" charset="-122"/>
                <a:cs typeface="Calibri" pitchFamily="34" charset="-120"/>
              </a:rPr>
              <a:t>الحل · ديلكس</a:t>
            </a:r>
            <a:endParaRPr lang="en-US" sz="1200" dirty="0"/>
          </a:p>
        </p:txBody>
      </p:sp>
      <p:sp>
        <p:nvSpPr>
          <p:cNvPr id="4" name="Text 2"/>
          <p:cNvSpPr/>
          <p:nvPr/>
        </p:nvSpPr>
        <p:spPr>
          <a:xfrm>
            <a:off x="457200" y="6446520"/>
            <a:ext cx="2286000" cy="274320"/>
          </a:xfrm>
          <a:prstGeom prst="rect">
            <a:avLst/>
          </a:prstGeom>
          <a:noFill/>
          <a:ln/>
        </p:spPr>
        <p:txBody>
          <a:bodyPr wrap="square" rtlCol="0" anchor="ctr"/>
          <a:lstStyle/>
          <a:p>
            <a:pPr algn="l" indent="0" marL="0">
              <a:buNone/>
            </a:pPr>
            <a:r>
              <a:rPr lang="en-US" sz="900" dirty="0">
                <a:solidFill>
                  <a:srgbClr val="B9C2CD"/>
                </a:solidFill>
                <a:latin typeface="Calibri" pitchFamily="34" charset="0"/>
                <a:ea typeface="Calibri" pitchFamily="34" charset="-122"/>
                <a:cs typeface="Calibri" pitchFamily="34" charset="-120"/>
              </a:rPr>
              <a:t>Dealix · ديلكس</a:t>
            </a:r>
            <a:endParaRPr lang="en-US" sz="900" dirty="0"/>
          </a:p>
        </p:txBody>
      </p:sp>
      <p:sp>
        <p:nvSpPr>
          <p:cNvPr id="5" name="Text 3"/>
          <p:cNvSpPr/>
          <p:nvPr/>
        </p:nvSpPr>
        <p:spPr>
          <a:xfrm>
            <a:off x="11094415" y="6446520"/>
            <a:ext cx="640080" cy="274320"/>
          </a:xfrm>
          <a:prstGeom prst="rect">
            <a:avLst/>
          </a:prstGeom>
          <a:noFill/>
          <a:ln/>
        </p:spPr>
        <p:txBody>
          <a:bodyPr wrap="square" rtlCol="0" anchor="ctr"/>
          <a:lstStyle/>
          <a:p>
            <a:pPr algn="r" indent="0" marL="0">
              <a:buNone/>
            </a:pPr>
            <a:r>
              <a:rPr lang="en-US" sz="900" b="1" dirty="0">
                <a:solidFill>
                  <a:srgbClr val="B9C2CD"/>
                </a:solidFill>
                <a:latin typeface="Calibri" pitchFamily="34" charset="0"/>
                <a:ea typeface="Calibri" pitchFamily="34" charset="-122"/>
                <a:cs typeface="Calibri" pitchFamily="34" charset="-120"/>
              </a:rPr>
              <a:t>09</a:t>
            </a:r>
            <a:endParaRPr lang="en-US" sz="900" dirty="0"/>
          </a:p>
        </p:txBody>
      </p:sp>
      <p:sp>
        <p:nvSpPr>
          <p:cNvPr id="6" name="Text 4"/>
          <p:cNvSpPr/>
          <p:nvPr/>
        </p:nvSpPr>
        <p:spPr>
          <a:xfrm>
            <a:off x="548640" y="914400"/>
            <a:ext cx="11094415" cy="822960"/>
          </a:xfrm>
          <a:prstGeom prst="rect">
            <a:avLst/>
          </a:prstGeom>
          <a:noFill/>
          <a:ln/>
        </p:spPr>
        <p:txBody>
          <a:bodyPr wrap="square" rtlCol="0" anchor="ctr"/>
          <a:lstStyle/>
          <a:p>
            <a:pPr rtl="1" algn="r" indent="0" marL="0">
              <a:buNone/>
            </a:pPr>
            <a:r>
              <a:rPr lang="en-US" sz="3400" b="1" dirty="0">
                <a:solidFill>
                  <a:srgbClr val="F5F5F5"/>
                </a:solidFill>
                <a:latin typeface="Calibri" pitchFamily="34" charset="0"/>
                <a:ea typeface="Calibri" pitchFamily="34" charset="-122"/>
                <a:cs typeface="Calibri" pitchFamily="34" charset="-120"/>
              </a:rPr>
              <a:t>ما هو ديلكس</a:t>
            </a:r>
            <a:endParaRPr lang="en-US" sz="3400" dirty="0"/>
          </a:p>
        </p:txBody>
      </p:sp>
      <p:sp>
        <p:nvSpPr>
          <p:cNvPr id="7" name="Text 5"/>
          <p:cNvSpPr/>
          <p:nvPr/>
        </p:nvSpPr>
        <p:spPr>
          <a:xfrm>
            <a:off x="548640" y="1691640"/>
            <a:ext cx="11094415" cy="411480"/>
          </a:xfrm>
          <a:prstGeom prst="rect">
            <a:avLst/>
          </a:prstGeom>
          <a:noFill/>
          <a:ln/>
        </p:spPr>
        <p:txBody>
          <a:bodyPr wrap="square" rtlCol="0" anchor="ctr"/>
          <a:lstStyle/>
          <a:p>
            <a:pPr rtl="1" algn="r" indent="0" marL="0">
              <a:buNone/>
            </a:pPr>
            <a:r>
              <a:rPr lang="en-US" sz="1500" dirty="0">
                <a:solidFill>
                  <a:srgbClr val="B9C2CD"/>
                </a:solidFill>
                <a:latin typeface="Calibri" pitchFamily="34" charset="0"/>
                <a:ea typeface="Calibri" pitchFamily="34" charset="-122"/>
                <a:cs typeface="Calibri" pitchFamily="34" charset="-120"/>
              </a:rPr>
              <a:t>منصة SaaS متخصصة تحوّل عملية البيع في شركات اللوجستيات من ردّة فعل إلى نظام تشغيل ذكي</a:t>
            </a:r>
            <a:endParaRPr lang="en-US" sz="1500" dirty="0"/>
          </a:p>
        </p:txBody>
      </p:sp>
      <p:sp>
        <p:nvSpPr>
          <p:cNvPr id="8" name="Shape 6"/>
          <p:cNvSpPr/>
          <p:nvPr/>
        </p:nvSpPr>
        <p:spPr>
          <a:xfrm>
            <a:off x="548640" y="2560320"/>
            <a:ext cx="11094415" cy="1097280"/>
          </a:xfrm>
          <a:prstGeom prst="rect">
            <a:avLst/>
          </a:prstGeom>
          <a:solidFill>
            <a:srgbClr val="13233F"/>
          </a:solidFill>
          <a:ln w="12700">
            <a:solidFill>
              <a:srgbClr val="D4A574"/>
            </a:solidFill>
            <a:prstDash val="solid"/>
          </a:ln>
        </p:spPr>
      </p:sp>
      <p:sp>
        <p:nvSpPr>
          <p:cNvPr id="9" name="Text 7"/>
          <p:cNvSpPr/>
          <p:nvPr/>
        </p:nvSpPr>
        <p:spPr>
          <a:xfrm>
            <a:off x="731520" y="2606040"/>
            <a:ext cx="10728655" cy="457200"/>
          </a:xfrm>
          <a:prstGeom prst="rect">
            <a:avLst/>
          </a:prstGeom>
          <a:noFill/>
          <a:ln/>
        </p:spPr>
        <p:txBody>
          <a:bodyPr wrap="square" rtlCol="0" anchor="ctr"/>
          <a:lstStyle/>
          <a:p>
            <a:pPr rtl="1" algn="r" indent="0" marL="0">
              <a:buNone/>
            </a:pPr>
            <a:r>
              <a:rPr lang="en-US" sz="1400" i="1" dirty="0">
                <a:solidFill>
                  <a:srgbClr val="D4A574"/>
                </a:solidFill>
                <a:latin typeface="Georgia" pitchFamily="34" charset="0"/>
                <a:ea typeface="Georgia" pitchFamily="34" charset="-122"/>
                <a:cs typeface="Georgia" pitchFamily="34" charset="-120"/>
              </a:rPr>
              <a:t>«Revenue Operating System» — مقولة فئوية مصاغة لأول مرة لقطاع اللوجستيات</a:t>
            </a:r>
            <a:endParaRPr lang="en-US" sz="1400" dirty="0"/>
          </a:p>
        </p:txBody>
      </p:sp>
      <p:sp>
        <p:nvSpPr>
          <p:cNvPr id="10" name="Text 8"/>
          <p:cNvSpPr/>
          <p:nvPr/>
        </p:nvSpPr>
        <p:spPr>
          <a:xfrm>
            <a:off x="731520" y="3063240"/>
            <a:ext cx="10728655" cy="548640"/>
          </a:xfrm>
          <a:prstGeom prst="rect">
            <a:avLst/>
          </a:prstGeom>
          <a:noFill/>
          <a:ln/>
        </p:spPr>
        <p:txBody>
          <a:bodyPr wrap="square" rtlCol="0" anchor="ctr"/>
          <a:lstStyle/>
          <a:p>
            <a:pPr rtl="1" algn="r" indent="0" marL="0">
              <a:buNone/>
            </a:pPr>
            <a:r>
              <a:rPr lang="en-US" sz="1500" dirty="0">
                <a:solidFill>
                  <a:srgbClr val="F5F5F5"/>
                </a:solidFill>
                <a:latin typeface="Calibri" pitchFamily="34" charset="0"/>
                <a:ea typeface="Calibri" pitchFamily="34" charset="-122"/>
                <a:cs typeface="Calibri" pitchFamily="34" charset="-120"/>
              </a:rPr>
              <a:t>ديلكس يوحّد اكتشاف العملاء، وتأهيلهم، والتواصل معهم، وإغلاق الصفقات، والتحليل — في منصة واحدة مصمّمة للبيئة العربية والخليجية</a:t>
            </a:r>
            <a:endParaRPr lang="en-US" sz="1500" dirty="0"/>
          </a:p>
        </p:txBody>
      </p:sp>
      <p:sp>
        <p:nvSpPr>
          <p:cNvPr id="11" name="Shape 9"/>
          <p:cNvSpPr/>
          <p:nvPr/>
        </p:nvSpPr>
        <p:spPr>
          <a:xfrm>
            <a:off x="8066837" y="4023360"/>
            <a:ext cx="3576218" cy="2011680"/>
          </a:xfrm>
          <a:prstGeom prst="rect">
            <a:avLst/>
          </a:prstGeom>
          <a:solidFill>
            <a:srgbClr val="060E1A"/>
          </a:solidFill>
          <a:ln w="9525">
            <a:solidFill>
              <a:srgbClr val="D4A574"/>
            </a:solidFill>
            <a:prstDash val="solid"/>
          </a:ln>
        </p:spPr>
      </p:sp>
      <p:sp>
        <p:nvSpPr>
          <p:cNvPr id="12" name="Text 10"/>
          <p:cNvSpPr/>
          <p:nvPr/>
        </p:nvSpPr>
        <p:spPr>
          <a:xfrm>
            <a:off x="8249717" y="4160520"/>
            <a:ext cx="3210458" cy="365760"/>
          </a:xfrm>
          <a:prstGeom prst="rect">
            <a:avLst/>
          </a:prstGeom>
          <a:noFill/>
          <a:ln/>
        </p:spPr>
        <p:txBody>
          <a:bodyPr wrap="square" rtlCol="0" anchor="ctr"/>
          <a:lstStyle/>
          <a:p>
            <a:pPr rtl="1" algn="r" indent="0" marL="0">
              <a:buNone/>
            </a:pPr>
            <a:r>
              <a:rPr lang="en-US" sz="1200" b="1" dirty="0">
                <a:solidFill>
                  <a:srgbClr val="D4A574"/>
                </a:solidFill>
                <a:latin typeface="Calibri" pitchFamily="34" charset="0"/>
                <a:ea typeface="Calibri" pitchFamily="34" charset="-122"/>
                <a:cs typeface="Calibri" pitchFamily="34" charset="-120"/>
              </a:rPr>
              <a:t>الذكاء · Intelligence</a:t>
            </a:r>
            <a:endParaRPr lang="en-US" sz="1200" dirty="0"/>
          </a:p>
        </p:txBody>
      </p:sp>
      <p:sp>
        <p:nvSpPr>
          <p:cNvPr id="13" name="Text 11"/>
          <p:cNvSpPr/>
          <p:nvPr/>
        </p:nvSpPr>
        <p:spPr>
          <a:xfrm>
            <a:off x="8249717" y="4526280"/>
            <a:ext cx="3210458" cy="594360"/>
          </a:xfrm>
          <a:prstGeom prst="rect">
            <a:avLst/>
          </a:prstGeom>
          <a:noFill/>
          <a:ln/>
        </p:spPr>
        <p:txBody>
          <a:bodyPr wrap="square" rtlCol="0" anchor="ctr"/>
          <a:lstStyle/>
          <a:p>
            <a:pPr rtl="1" algn="r" indent="0" marL="0">
              <a:buNone/>
            </a:pPr>
            <a:r>
              <a:rPr lang="en-US" sz="2800" b="1" dirty="0">
                <a:solidFill>
                  <a:srgbClr val="F5F5F5"/>
                </a:solidFill>
                <a:latin typeface="Calibri" pitchFamily="34" charset="0"/>
                <a:ea typeface="Calibri" pitchFamily="34" charset="-122"/>
                <a:cs typeface="Calibri" pitchFamily="34" charset="-120"/>
              </a:rPr>
              <a:t>الذكاء</a:t>
            </a:r>
            <a:endParaRPr lang="en-US" sz="2800" dirty="0"/>
          </a:p>
        </p:txBody>
      </p:sp>
      <p:sp>
        <p:nvSpPr>
          <p:cNvPr id="14" name="Shape 12"/>
          <p:cNvSpPr/>
          <p:nvPr/>
        </p:nvSpPr>
        <p:spPr>
          <a:xfrm>
            <a:off x="10957255" y="5120640"/>
            <a:ext cx="457200" cy="22860"/>
          </a:xfrm>
          <a:prstGeom prst="rect">
            <a:avLst/>
          </a:prstGeom>
          <a:solidFill>
            <a:srgbClr val="D4A574"/>
          </a:solidFill>
          <a:ln/>
        </p:spPr>
      </p:sp>
      <p:sp>
        <p:nvSpPr>
          <p:cNvPr id="15" name="Text 13"/>
          <p:cNvSpPr/>
          <p:nvPr/>
        </p:nvSpPr>
        <p:spPr>
          <a:xfrm>
            <a:off x="8249717" y="5212080"/>
            <a:ext cx="3210458" cy="777240"/>
          </a:xfrm>
          <a:prstGeom prst="rect">
            <a:avLst/>
          </a:prstGeom>
          <a:noFill/>
          <a:ln/>
        </p:spPr>
        <p:txBody>
          <a:bodyPr wrap="square" rtlCol="0" anchor="t"/>
          <a:lstStyle/>
          <a:p>
            <a:pPr rtl="1" algn="r" indent="0" marL="0">
              <a:buNone/>
            </a:pPr>
            <a:r>
              <a:rPr lang="en-US" sz="1100" dirty="0">
                <a:solidFill>
                  <a:srgbClr val="B9C2CD"/>
                </a:solidFill>
                <a:latin typeface="Calibri" pitchFamily="34" charset="0"/>
                <a:ea typeface="Calibri" pitchFamily="34" charset="-122"/>
                <a:cs typeface="Calibri" pitchFamily="34" charset="-120"/>
              </a:rPr>
              <a:t>اكتشاف التندرات وتأهيل العملاء من 8+ مصادر محلية وخليجية، بتحليل عربي وإنجليزي أصلي</a:t>
            </a:r>
            <a:endParaRPr lang="en-US" sz="1100" dirty="0"/>
          </a:p>
        </p:txBody>
      </p:sp>
      <p:sp>
        <p:nvSpPr>
          <p:cNvPr id="16" name="Shape 14"/>
          <p:cNvSpPr/>
          <p:nvPr/>
        </p:nvSpPr>
        <p:spPr>
          <a:xfrm>
            <a:off x="4307738" y="4023360"/>
            <a:ext cx="3576218" cy="2011680"/>
          </a:xfrm>
          <a:prstGeom prst="rect">
            <a:avLst/>
          </a:prstGeom>
          <a:solidFill>
            <a:srgbClr val="060E1A"/>
          </a:solidFill>
          <a:ln w="9525">
            <a:solidFill>
              <a:srgbClr val="D4A574"/>
            </a:solidFill>
            <a:prstDash val="solid"/>
          </a:ln>
        </p:spPr>
      </p:sp>
      <p:sp>
        <p:nvSpPr>
          <p:cNvPr id="17" name="Text 15"/>
          <p:cNvSpPr/>
          <p:nvPr/>
        </p:nvSpPr>
        <p:spPr>
          <a:xfrm>
            <a:off x="4490618" y="4160520"/>
            <a:ext cx="3210458" cy="365760"/>
          </a:xfrm>
          <a:prstGeom prst="rect">
            <a:avLst/>
          </a:prstGeom>
          <a:noFill/>
          <a:ln/>
        </p:spPr>
        <p:txBody>
          <a:bodyPr wrap="square" rtlCol="0" anchor="ctr"/>
          <a:lstStyle/>
          <a:p>
            <a:pPr rtl="1" algn="r" indent="0" marL="0">
              <a:buNone/>
            </a:pPr>
            <a:r>
              <a:rPr lang="en-US" sz="1200" b="1" dirty="0">
                <a:solidFill>
                  <a:srgbClr val="D4A574"/>
                </a:solidFill>
                <a:latin typeface="Calibri" pitchFamily="34" charset="0"/>
                <a:ea typeface="Calibri" pitchFamily="34" charset="-122"/>
                <a:cs typeface="Calibri" pitchFamily="34" charset="-120"/>
              </a:rPr>
              <a:t>التواصل · Engagement</a:t>
            </a:r>
            <a:endParaRPr lang="en-US" sz="1200" dirty="0"/>
          </a:p>
        </p:txBody>
      </p:sp>
      <p:sp>
        <p:nvSpPr>
          <p:cNvPr id="18" name="Text 16"/>
          <p:cNvSpPr/>
          <p:nvPr/>
        </p:nvSpPr>
        <p:spPr>
          <a:xfrm>
            <a:off x="4490618" y="4526280"/>
            <a:ext cx="3210458" cy="594360"/>
          </a:xfrm>
          <a:prstGeom prst="rect">
            <a:avLst/>
          </a:prstGeom>
          <a:noFill/>
          <a:ln/>
        </p:spPr>
        <p:txBody>
          <a:bodyPr wrap="square" rtlCol="0" anchor="ctr"/>
          <a:lstStyle/>
          <a:p>
            <a:pPr rtl="1" algn="r" indent="0" marL="0">
              <a:buNone/>
            </a:pPr>
            <a:r>
              <a:rPr lang="en-US" sz="2800" b="1" dirty="0">
                <a:solidFill>
                  <a:srgbClr val="F5F5F5"/>
                </a:solidFill>
                <a:latin typeface="Calibri" pitchFamily="34" charset="0"/>
                <a:ea typeface="Calibri" pitchFamily="34" charset="-122"/>
                <a:cs typeface="Calibri" pitchFamily="34" charset="-120"/>
              </a:rPr>
              <a:t>التواصل</a:t>
            </a:r>
            <a:endParaRPr lang="en-US" sz="2800" dirty="0"/>
          </a:p>
        </p:txBody>
      </p:sp>
      <p:sp>
        <p:nvSpPr>
          <p:cNvPr id="19" name="Shape 17"/>
          <p:cNvSpPr/>
          <p:nvPr/>
        </p:nvSpPr>
        <p:spPr>
          <a:xfrm>
            <a:off x="7198157" y="5120640"/>
            <a:ext cx="457200" cy="22860"/>
          </a:xfrm>
          <a:prstGeom prst="rect">
            <a:avLst/>
          </a:prstGeom>
          <a:solidFill>
            <a:srgbClr val="D4A574"/>
          </a:solidFill>
          <a:ln/>
        </p:spPr>
      </p:sp>
      <p:sp>
        <p:nvSpPr>
          <p:cNvPr id="20" name="Text 18"/>
          <p:cNvSpPr/>
          <p:nvPr/>
        </p:nvSpPr>
        <p:spPr>
          <a:xfrm>
            <a:off x="4490618" y="5212080"/>
            <a:ext cx="3210458" cy="777240"/>
          </a:xfrm>
          <a:prstGeom prst="rect">
            <a:avLst/>
          </a:prstGeom>
          <a:noFill/>
          <a:ln/>
        </p:spPr>
        <p:txBody>
          <a:bodyPr wrap="square" rtlCol="0" anchor="t"/>
          <a:lstStyle/>
          <a:p>
            <a:pPr rtl="1" algn="r" indent="0" marL="0">
              <a:buNone/>
            </a:pPr>
            <a:r>
              <a:rPr lang="en-US" sz="1100" dirty="0">
                <a:solidFill>
                  <a:srgbClr val="B9C2CD"/>
                </a:solidFill>
                <a:latin typeface="Calibri" pitchFamily="34" charset="0"/>
                <a:ea typeface="Calibri" pitchFamily="34" charset="-122"/>
                <a:cs typeface="Calibri" pitchFamily="34" charset="-120"/>
              </a:rPr>
              <a:t>WhatsApp · SMS · Email · LinkedIn · Voice — كل القنوات مدموجة مع وكيل ذكاء اصطناعي عربي</a:t>
            </a:r>
            <a:endParaRPr lang="en-US" sz="1100" dirty="0"/>
          </a:p>
        </p:txBody>
      </p:sp>
      <p:sp>
        <p:nvSpPr>
          <p:cNvPr id="21" name="Shape 19"/>
          <p:cNvSpPr/>
          <p:nvPr/>
        </p:nvSpPr>
        <p:spPr>
          <a:xfrm>
            <a:off x="548640" y="4023360"/>
            <a:ext cx="3576218" cy="2011680"/>
          </a:xfrm>
          <a:prstGeom prst="rect">
            <a:avLst/>
          </a:prstGeom>
          <a:solidFill>
            <a:srgbClr val="060E1A"/>
          </a:solidFill>
          <a:ln w="9525">
            <a:solidFill>
              <a:srgbClr val="D4A574"/>
            </a:solidFill>
            <a:prstDash val="solid"/>
          </a:ln>
        </p:spPr>
      </p:sp>
      <p:sp>
        <p:nvSpPr>
          <p:cNvPr id="22" name="Text 20"/>
          <p:cNvSpPr/>
          <p:nvPr/>
        </p:nvSpPr>
        <p:spPr>
          <a:xfrm>
            <a:off x="731520" y="4160520"/>
            <a:ext cx="3210458" cy="365760"/>
          </a:xfrm>
          <a:prstGeom prst="rect">
            <a:avLst/>
          </a:prstGeom>
          <a:noFill/>
          <a:ln/>
        </p:spPr>
        <p:txBody>
          <a:bodyPr wrap="square" rtlCol="0" anchor="ctr"/>
          <a:lstStyle/>
          <a:p>
            <a:pPr rtl="1" algn="r" indent="0" marL="0">
              <a:buNone/>
            </a:pPr>
            <a:r>
              <a:rPr lang="en-US" sz="1200" b="1" dirty="0">
                <a:solidFill>
                  <a:srgbClr val="D4A574"/>
                </a:solidFill>
                <a:latin typeface="Calibri" pitchFamily="34" charset="0"/>
                <a:ea typeface="Calibri" pitchFamily="34" charset="-122"/>
                <a:cs typeface="Calibri" pitchFamily="34" charset="-120"/>
              </a:rPr>
              <a:t>التنفيذ · Execution</a:t>
            </a:r>
            <a:endParaRPr lang="en-US" sz="1200" dirty="0"/>
          </a:p>
        </p:txBody>
      </p:sp>
      <p:sp>
        <p:nvSpPr>
          <p:cNvPr id="23" name="Text 21"/>
          <p:cNvSpPr/>
          <p:nvPr/>
        </p:nvSpPr>
        <p:spPr>
          <a:xfrm>
            <a:off x="731520" y="4526280"/>
            <a:ext cx="3210458" cy="594360"/>
          </a:xfrm>
          <a:prstGeom prst="rect">
            <a:avLst/>
          </a:prstGeom>
          <a:noFill/>
          <a:ln/>
        </p:spPr>
        <p:txBody>
          <a:bodyPr wrap="square" rtlCol="0" anchor="ctr"/>
          <a:lstStyle/>
          <a:p>
            <a:pPr rtl="1" algn="r" indent="0" marL="0">
              <a:buNone/>
            </a:pPr>
            <a:r>
              <a:rPr lang="en-US" sz="2800" b="1" dirty="0">
                <a:solidFill>
                  <a:srgbClr val="F5F5F5"/>
                </a:solidFill>
                <a:latin typeface="Calibri" pitchFamily="34" charset="0"/>
                <a:ea typeface="Calibri" pitchFamily="34" charset="-122"/>
                <a:cs typeface="Calibri" pitchFamily="34" charset="-120"/>
              </a:rPr>
              <a:t>التنفيذ</a:t>
            </a:r>
            <a:endParaRPr lang="en-US" sz="2800" dirty="0"/>
          </a:p>
        </p:txBody>
      </p:sp>
      <p:sp>
        <p:nvSpPr>
          <p:cNvPr id="24" name="Shape 22"/>
          <p:cNvSpPr/>
          <p:nvPr/>
        </p:nvSpPr>
        <p:spPr>
          <a:xfrm>
            <a:off x="3439058" y="5120640"/>
            <a:ext cx="457200" cy="22860"/>
          </a:xfrm>
          <a:prstGeom prst="rect">
            <a:avLst/>
          </a:prstGeom>
          <a:solidFill>
            <a:srgbClr val="D4A574"/>
          </a:solidFill>
          <a:ln/>
        </p:spPr>
      </p:sp>
      <p:sp>
        <p:nvSpPr>
          <p:cNvPr id="25" name="Text 23"/>
          <p:cNvSpPr/>
          <p:nvPr/>
        </p:nvSpPr>
        <p:spPr>
          <a:xfrm>
            <a:off x="731520" y="5212080"/>
            <a:ext cx="3210458" cy="777240"/>
          </a:xfrm>
          <a:prstGeom prst="rect">
            <a:avLst/>
          </a:prstGeom>
          <a:noFill/>
          <a:ln/>
        </p:spPr>
        <p:txBody>
          <a:bodyPr wrap="square" rtlCol="0" anchor="t"/>
          <a:lstStyle/>
          <a:p>
            <a:pPr rtl="1" algn="r" indent="0" marL="0">
              <a:buNone/>
            </a:pPr>
            <a:r>
              <a:rPr lang="en-US" sz="1100" dirty="0">
                <a:solidFill>
                  <a:srgbClr val="B9C2CD"/>
                </a:solidFill>
                <a:latin typeface="Calibri" pitchFamily="34" charset="0"/>
                <a:ea typeface="Calibri" pitchFamily="34" charset="-122"/>
                <a:cs typeface="Calibri" pitchFamily="34" charset="-120"/>
              </a:rPr>
              <a:t>خط مبيعات بصري + إعداد عروض آلي + تكاملات TMS/WMS/ERP + تقارير تنفيذية للمدير العام</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8F3"/>
        </a:solidFill>
      </p:bgPr>
    </p:bg>
    <p:spTree>
      <p:nvGrpSpPr>
        <p:cNvPr id="1" name=""/>
        <p:cNvGrpSpPr/>
        <p:nvPr/>
      </p:nvGrpSpPr>
      <p:grpSpPr>
        <a:xfrm>
          <a:off x="0" y="0"/>
          <a:ext cx="0" cy="0"/>
          <a:chOff x="0" y="0"/>
          <a:chExt cx="0" cy="0"/>
        </a:xfrm>
      </p:grpSpPr>
      <p:sp>
        <p:nvSpPr>
          <p:cNvPr id="2" name="Shape 0"/>
          <p:cNvSpPr/>
          <p:nvPr/>
        </p:nvSpPr>
        <p:spPr>
          <a:xfrm>
            <a:off x="11734495" y="320040"/>
            <a:ext cx="73152" cy="411480"/>
          </a:xfrm>
          <a:prstGeom prst="rect">
            <a:avLst/>
          </a:prstGeom>
          <a:solidFill>
            <a:srgbClr val="D4A574"/>
          </a:solidFill>
          <a:ln/>
        </p:spPr>
      </p:sp>
      <p:sp>
        <p:nvSpPr>
          <p:cNvPr id="3" name="Text 1"/>
          <p:cNvSpPr/>
          <p:nvPr/>
        </p:nvSpPr>
        <p:spPr>
          <a:xfrm>
            <a:off x="8076895" y="274320"/>
            <a:ext cx="3566160" cy="365760"/>
          </a:xfrm>
          <a:prstGeom prst="rect">
            <a:avLst/>
          </a:prstGeom>
          <a:noFill/>
          <a:ln/>
        </p:spPr>
        <p:txBody>
          <a:bodyPr wrap="square" rtlCol="0" anchor="ctr"/>
          <a:lstStyle/>
          <a:p>
            <a:pPr rtl="1" algn="r" indent="0" marL="0">
              <a:buNone/>
            </a:pPr>
            <a:r>
              <a:rPr lang="en-US" sz="1200" b="1" dirty="0">
                <a:solidFill>
                  <a:srgbClr val="55606E"/>
                </a:solidFill>
                <a:latin typeface="Calibri" pitchFamily="34" charset="0"/>
                <a:ea typeface="Calibri" pitchFamily="34" charset="-122"/>
                <a:cs typeface="Calibri" pitchFamily="34" charset="-120"/>
              </a:rPr>
              <a:t>معمارية المنتج</a:t>
            </a:r>
            <a:endParaRPr lang="en-US" sz="1200" dirty="0"/>
          </a:p>
        </p:txBody>
      </p:sp>
      <p:sp>
        <p:nvSpPr>
          <p:cNvPr id="4" name="Text 2"/>
          <p:cNvSpPr/>
          <p:nvPr/>
        </p:nvSpPr>
        <p:spPr>
          <a:xfrm>
            <a:off x="457200" y="6446520"/>
            <a:ext cx="2286000" cy="274320"/>
          </a:xfrm>
          <a:prstGeom prst="rect">
            <a:avLst/>
          </a:prstGeom>
          <a:noFill/>
          <a:ln/>
        </p:spPr>
        <p:txBody>
          <a:bodyPr wrap="square" rtlCol="0" anchor="ctr"/>
          <a:lstStyle/>
          <a:p>
            <a:pPr algn="l" indent="0" marL="0">
              <a:buNone/>
            </a:pPr>
            <a:r>
              <a:rPr lang="en-US" sz="900" dirty="0">
                <a:solidFill>
                  <a:srgbClr val="8B95A3"/>
                </a:solidFill>
                <a:latin typeface="Calibri" pitchFamily="34" charset="0"/>
                <a:ea typeface="Calibri" pitchFamily="34" charset="-122"/>
                <a:cs typeface="Calibri" pitchFamily="34" charset="-120"/>
              </a:rPr>
              <a:t>Dealix · ديلكس</a:t>
            </a:r>
            <a:endParaRPr lang="en-US" sz="900" dirty="0"/>
          </a:p>
        </p:txBody>
      </p:sp>
      <p:sp>
        <p:nvSpPr>
          <p:cNvPr id="5" name="Text 3"/>
          <p:cNvSpPr/>
          <p:nvPr/>
        </p:nvSpPr>
        <p:spPr>
          <a:xfrm>
            <a:off x="11094415" y="6446520"/>
            <a:ext cx="640080" cy="274320"/>
          </a:xfrm>
          <a:prstGeom prst="rect">
            <a:avLst/>
          </a:prstGeom>
          <a:noFill/>
          <a:ln/>
        </p:spPr>
        <p:txBody>
          <a:bodyPr wrap="square" rtlCol="0" anchor="ctr"/>
          <a:lstStyle/>
          <a:p>
            <a:pPr algn="r" indent="0" marL="0">
              <a:buNone/>
            </a:pPr>
            <a:r>
              <a:rPr lang="en-US" sz="900" b="1" dirty="0">
                <a:solidFill>
                  <a:srgbClr val="8B95A3"/>
                </a:solidFill>
                <a:latin typeface="Calibri" pitchFamily="34" charset="0"/>
                <a:ea typeface="Calibri" pitchFamily="34" charset="-122"/>
                <a:cs typeface="Calibri" pitchFamily="34" charset="-120"/>
              </a:rPr>
              <a:t>10</a:t>
            </a:r>
            <a:endParaRPr lang="en-US" sz="900" dirty="0"/>
          </a:p>
        </p:txBody>
      </p:sp>
      <p:sp>
        <p:nvSpPr>
          <p:cNvPr id="6" name="Text 4"/>
          <p:cNvSpPr/>
          <p:nvPr/>
        </p:nvSpPr>
        <p:spPr>
          <a:xfrm>
            <a:off x="548640" y="914400"/>
            <a:ext cx="11094415" cy="822960"/>
          </a:xfrm>
          <a:prstGeom prst="rect">
            <a:avLst/>
          </a:prstGeom>
          <a:noFill/>
          <a:ln/>
        </p:spPr>
        <p:txBody>
          <a:bodyPr wrap="square" rtlCol="0" anchor="ctr"/>
          <a:lstStyle/>
          <a:p>
            <a:pPr rtl="1" algn="r" indent="0" marL="0">
              <a:buNone/>
            </a:pPr>
            <a:r>
              <a:rPr lang="en-US" sz="3400" b="1" dirty="0">
                <a:solidFill>
                  <a:srgbClr val="0A1628"/>
                </a:solidFill>
                <a:latin typeface="Calibri" pitchFamily="34" charset="0"/>
                <a:ea typeface="Calibri" pitchFamily="34" charset="-122"/>
                <a:cs typeface="Calibri" pitchFamily="34" charset="-120"/>
              </a:rPr>
              <a:t>سبع ركائز — من الاكتشاف إلى التحليل</a:t>
            </a:r>
            <a:endParaRPr lang="en-US" sz="3400" dirty="0"/>
          </a:p>
        </p:txBody>
      </p:sp>
      <p:sp>
        <p:nvSpPr>
          <p:cNvPr id="7" name="Text 5"/>
          <p:cNvSpPr/>
          <p:nvPr/>
        </p:nvSpPr>
        <p:spPr>
          <a:xfrm>
            <a:off x="548640" y="1691640"/>
            <a:ext cx="11094415" cy="411480"/>
          </a:xfrm>
          <a:prstGeom prst="rect">
            <a:avLst/>
          </a:prstGeom>
          <a:noFill/>
          <a:ln/>
        </p:spPr>
        <p:txBody>
          <a:bodyPr wrap="square" rtlCol="0" anchor="ctr"/>
          <a:lstStyle/>
          <a:p>
            <a:pPr rtl="1" algn="r" indent="0" marL="0">
              <a:buNone/>
            </a:pPr>
            <a:r>
              <a:rPr lang="en-US" sz="1500" dirty="0">
                <a:solidFill>
                  <a:srgbClr val="55606E"/>
                </a:solidFill>
                <a:latin typeface="Calibri" pitchFamily="34" charset="0"/>
                <a:ea typeface="Calibri" pitchFamily="34" charset="-122"/>
                <a:cs typeface="Calibri" pitchFamily="34" charset="-120"/>
              </a:rPr>
              <a:t>رحلة إيراد متكاملة: اكتشف · أهّل · تواصل · اجدول · أغلق · احتفظ · حلّل</a:t>
            </a:r>
            <a:endParaRPr lang="en-US" sz="1500" dirty="0"/>
          </a:p>
        </p:txBody>
      </p:sp>
      <p:sp>
        <p:nvSpPr>
          <p:cNvPr id="8" name="Shape 6"/>
          <p:cNvSpPr/>
          <p:nvPr/>
        </p:nvSpPr>
        <p:spPr>
          <a:xfrm>
            <a:off x="10293270" y="2743200"/>
            <a:ext cx="1349785" cy="2926080"/>
          </a:xfrm>
          <a:prstGeom prst="roundRect">
            <a:avLst>
              <a:gd name="adj" fmla="val 5420"/>
            </a:avLst>
          </a:prstGeom>
          <a:solidFill>
            <a:srgbClr val="FFFFFF"/>
          </a:solidFill>
          <a:ln w="12700">
            <a:solidFill>
              <a:srgbClr val="E8E3D6"/>
            </a:solidFill>
            <a:prstDash val="solid"/>
          </a:ln>
        </p:spPr>
      </p:sp>
      <p:sp>
        <p:nvSpPr>
          <p:cNvPr id="9" name="Shape 7"/>
          <p:cNvSpPr/>
          <p:nvPr/>
        </p:nvSpPr>
        <p:spPr>
          <a:xfrm>
            <a:off x="10693843" y="2468880"/>
            <a:ext cx="548640" cy="548640"/>
          </a:xfrm>
          <a:prstGeom prst="ellipse">
            <a:avLst/>
          </a:prstGeom>
          <a:solidFill>
            <a:srgbClr val="0A1628"/>
          </a:solidFill>
          <a:ln w="19050">
            <a:solidFill>
              <a:srgbClr val="D4A574"/>
            </a:solidFill>
            <a:prstDash val="solid"/>
          </a:ln>
        </p:spPr>
      </p:sp>
      <p:sp>
        <p:nvSpPr>
          <p:cNvPr id="10" name="Text 8"/>
          <p:cNvSpPr/>
          <p:nvPr/>
        </p:nvSpPr>
        <p:spPr>
          <a:xfrm>
            <a:off x="10693843" y="2468880"/>
            <a:ext cx="548640" cy="548640"/>
          </a:xfrm>
          <a:prstGeom prst="rect">
            <a:avLst/>
          </a:prstGeom>
          <a:noFill/>
          <a:ln/>
        </p:spPr>
        <p:txBody>
          <a:bodyPr wrap="square" rtlCol="0" anchor="ctr"/>
          <a:lstStyle/>
          <a:p>
            <a:pPr algn="ctr" indent="0" marL="0">
              <a:buNone/>
            </a:pPr>
            <a:r>
              <a:rPr lang="en-US" sz="1800" b="1" dirty="0">
                <a:solidFill>
                  <a:srgbClr val="D4A574"/>
                </a:solidFill>
                <a:latin typeface="Calibri" pitchFamily="34" charset="0"/>
                <a:ea typeface="Calibri" pitchFamily="34" charset="-122"/>
                <a:cs typeface="Calibri" pitchFamily="34" charset="-120"/>
              </a:rPr>
              <a:t>1</a:t>
            </a:r>
            <a:endParaRPr lang="en-US" sz="1800" dirty="0"/>
          </a:p>
        </p:txBody>
      </p:sp>
      <p:sp>
        <p:nvSpPr>
          <p:cNvPr id="11" name="Text 9"/>
          <p:cNvSpPr/>
          <p:nvPr/>
        </p:nvSpPr>
        <p:spPr>
          <a:xfrm>
            <a:off x="10384710" y="3200400"/>
            <a:ext cx="1166905" cy="822960"/>
          </a:xfrm>
          <a:prstGeom prst="rect">
            <a:avLst/>
          </a:prstGeom>
          <a:noFill/>
          <a:ln/>
        </p:spPr>
        <p:txBody>
          <a:bodyPr wrap="square" rtlCol="0" anchor="t"/>
          <a:lstStyle/>
          <a:p>
            <a:pPr rtl="1" algn="ctr" indent="0" marL="0">
              <a:buNone/>
            </a:pPr>
            <a:r>
              <a:rPr lang="en-US" sz="1100" b="1" dirty="0">
                <a:solidFill>
                  <a:srgbClr val="0A1628"/>
                </a:solidFill>
                <a:latin typeface="Calibri" pitchFamily="34" charset="0"/>
                <a:ea typeface="Calibri" pitchFamily="34" charset="-122"/>
                <a:cs typeface="Calibri" pitchFamily="34" charset="-120"/>
              </a:rPr>
              <a:t>اكتشف · Discover</a:t>
            </a:r>
            <a:endParaRPr lang="en-US" sz="1100" dirty="0"/>
          </a:p>
        </p:txBody>
      </p:sp>
      <p:sp>
        <p:nvSpPr>
          <p:cNvPr id="12" name="Shape 10"/>
          <p:cNvSpPr/>
          <p:nvPr/>
        </p:nvSpPr>
        <p:spPr>
          <a:xfrm>
            <a:off x="10693843" y="4023360"/>
            <a:ext cx="548640" cy="18288"/>
          </a:xfrm>
          <a:prstGeom prst="rect">
            <a:avLst/>
          </a:prstGeom>
          <a:solidFill>
            <a:srgbClr val="D4A574"/>
          </a:solidFill>
          <a:ln/>
        </p:spPr>
      </p:sp>
      <p:sp>
        <p:nvSpPr>
          <p:cNvPr id="13" name="Text 11"/>
          <p:cNvSpPr/>
          <p:nvPr/>
        </p:nvSpPr>
        <p:spPr>
          <a:xfrm>
            <a:off x="10384710" y="4160520"/>
            <a:ext cx="1166905" cy="1371600"/>
          </a:xfrm>
          <a:prstGeom prst="rect">
            <a:avLst/>
          </a:prstGeom>
          <a:noFill/>
          <a:ln/>
        </p:spPr>
        <p:txBody>
          <a:bodyPr wrap="square" rtlCol="0" anchor="t"/>
          <a:lstStyle/>
          <a:p>
            <a:pPr rtl="1" algn="ctr" indent="0" marL="0">
              <a:buNone/>
            </a:pPr>
            <a:r>
              <a:rPr lang="en-US" sz="1000" dirty="0">
                <a:solidFill>
                  <a:srgbClr val="55606E"/>
                </a:solidFill>
                <a:latin typeface="Calibri" pitchFamily="34" charset="0"/>
                <a:ea typeface="Calibri" pitchFamily="34" charset="-122"/>
                <a:cs typeface="Calibri" pitchFamily="34" charset="-120"/>
              </a:rPr>
              <a:t>8+ مصادر تندرات وعملاء</a:t>
            </a:r>
            <a:endParaRPr lang="en-US" sz="1000" dirty="0"/>
          </a:p>
        </p:txBody>
      </p:sp>
      <p:sp>
        <p:nvSpPr>
          <p:cNvPr id="14" name="Shape 12"/>
          <p:cNvSpPr/>
          <p:nvPr/>
        </p:nvSpPr>
        <p:spPr>
          <a:xfrm flipH="1" rot="10800000">
            <a:off x="10110390" y="4114800"/>
            <a:ext cx="137160" cy="182880"/>
          </a:xfrm>
          <a:prstGeom prst="rightTriangle">
            <a:avLst/>
          </a:prstGeom>
          <a:solidFill>
            <a:srgbClr val="D4A574"/>
          </a:solidFill>
          <a:ln/>
        </p:spPr>
      </p:sp>
      <p:sp>
        <p:nvSpPr>
          <p:cNvPr id="15" name="Shape 13"/>
          <p:cNvSpPr/>
          <p:nvPr/>
        </p:nvSpPr>
        <p:spPr>
          <a:xfrm>
            <a:off x="8669165" y="2743200"/>
            <a:ext cx="1349785" cy="2926080"/>
          </a:xfrm>
          <a:prstGeom prst="roundRect">
            <a:avLst>
              <a:gd name="adj" fmla="val 5420"/>
            </a:avLst>
          </a:prstGeom>
          <a:solidFill>
            <a:srgbClr val="FFFFFF"/>
          </a:solidFill>
          <a:ln w="12700">
            <a:solidFill>
              <a:srgbClr val="E8E3D6"/>
            </a:solidFill>
            <a:prstDash val="solid"/>
          </a:ln>
        </p:spPr>
      </p:sp>
      <p:sp>
        <p:nvSpPr>
          <p:cNvPr id="16" name="Shape 14"/>
          <p:cNvSpPr/>
          <p:nvPr/>
        </p:nvSpPr>
        <p:spPr>
          <a:xfrm>
            <a:off x="9069738" y="2468880"/>
            <a:ext cx="548640" cy="548640"/>
          </a:xfrm>
          <a:prstGeom prst="ellipse">
            <a:avLst/>
          </a:prstGeom>
          <a:solidFill>
            <a:srgbClr val="0A1628"/>
          </a:solidFill>
          <a:ln w="19050">
            <a:solidFill>
              <a:srgbClr val="D4A574"/>
            </a:solidFill>
            <a:prstDash val="solid"/>
          </a:ln>
        </p:spPr>
      </p:sp>
      <p:sp>
        <p:nvSpPr>
          <p:cNvPr id="17" name="Text 15"/>
          <p:cNvSpPr/>
          <p:nvPr/>
        </p:nvSpPr>
        <p:spPr>
          <a:xfrm>
            <a:off x="9069738" y="2468880"/>
            <a:ext cx="548640" cy="548640"/>
          </a:xfrm>
          <a:prstGeom prst="rect">
            <a:avLst/>
          </a:prstGeom>
          <a:noFill/>
          <a:ln/>
        </p:spPr>
        <p:txBody>
          <a:bodyPr wrap="square" rtlCol="0" anchor="ctr"/>
          <a:lstStyle/>
          <a:p>
            <a:pPr algn="ctr" indent="0" marL="0">
              <a:buNone/>
            </a:pPr>
            <a:r>
              <a:rPr lang="en-US" sz="1800" b="1" dirty="0">
                <a:solidFill>
                  <a:srgbClr val="D4A574"/>
                </a:solidFill>
                <a:latin typeface="Calibri" pitchFamily="34" charset="0"/>
                <a:ea typeface="Calibri" pitchFamily="34" charset="-122"/>
                <a:cs typeface="Calibri" pitchFamily="34" charset="-120"/>
              </a:rPr>
              <a:t>2</a:t>
            </a:r>
            <a:endParaRPr lang="en-US" sz="1800" dirty="0"/>
          </a:p>
        </p:txBody>
      </p:sp>
      <p:sp>
        <p:nvSpPr>
          <p:cNvPr id="18" name="Text 16"/>
          <p:cNvSpPr/>
          <p:nvPr/>
        </p:nvSpPr>
        <p:spPr>
          <a:xfrm>
            <a:off x="8760605" y="3200400"/>
            <a:ext cx="1166905" cy="822960"/>
          </a:xfrm>
          <a:prstGeom prst="rect">
            <a:avLst/>
          </a:prstGeom>
          <a:noFill/>
          <a:ln/>
        </p:spPr>
        <p:txBody>
          <a:bodyPr wrap="square" rtlCol="0" anchor="t"/>
          <a:lstStyle/>
          <a:p>
            <a:pPr rtl="1" algn="ctr" indent="0" marL="0">
              <a:buNone/>
            </a:pPr>
            <a:r>
              <a:rPr lang="en-US" sz="1100" b="1" dirty="0">
                <a:solidFill>
                  <a:srgbClr val="0A1628"/>
                </a:solidFill>
                <a:latin typeface="Calibri" pitchFamily="34" charset="0"/>
                <a:ea typeface="Calibri" pitchFamily="34" charset="-122"/>
                <a:cs typeface="Calibri" pitchFamily="34" charset="-120"/>
              </a:rPr>
              <a:t>أهّل · Qualify</a:t>
            </a:r>
            <a:endParaRPr lang="en-US" sz="1100" dirty="0"/>
          </a:p>
        </p:txBody>
      </p:sp>
      <p:sp>
        <p:nvSpPr>
          <p:cNvPr id="19" name="Shape 17"/>
          <p:cNvSpPr/>
          <p:nvPr/>
        </p:nvSpPr>
        <p:spPr>
          <a:xfrm>
            <a:off x="9069738" y="4023360"/>
            <a:ext cx="548640" cy="18288"/>
          </a:xfrm>
          <a:prstGeom prst="rect">
            <a:avLst/>
          </a:prstGeom>
          <a:solidFill>
            <a:srgbClr val="D4A574"/>
          </a:solidFill>
          <a:ln/>
        </p:spPr>
      </p:sp>
      <p:sp>
        <p:nvSpPr>
          <p:cNvPr id="20" name="Text 18"/>
          <p:cNvSpPr/>
          <p:nvPr/>
        </p:nvSpPr>
        <p:spPr>
          <a:xfrm>
            <a:off x="8760605" y="4160520"/>
            <a:ext cx="1166905" cy="1371600"/>
          </a:xfrm>
          <a:prstGeom prst="rect">
            <a:avLst/>
          </a:prstGeom>
          <a:noFill/>
          <a:ln/>
        </p:spPr>
        <p:txBody>
          <a:bodyPr wrap="square" rtlCol="0" anchor="t"/>
          <a:lstStyle/>
          <a:p>
            <a:pPr rtl="1" algn="ctr" indent="0" marL="0">
              <a:buNone/>
            </a:pPr>
            <a:r>
              <a:rPr lang="en-US" sz="1000" dirty="0">
                <a:solidFill>
                  <a:srgbClr val="55606E"/>
                </a:solidFill>
                <a:latin typeface="Calibri" pitchFamily="34" charset="0"/>
                <a:ea typeface="Calibri" pitchFamily="34" charset="-122"/>
                <a:cs typeface="Calibri" pitchFamily="34" charset="-120"/>
              </a:rPr>
              <a:t>ذكاء اصطناعي يصنّف حسب حجم الفرصة</a:t>
            </a:r>
            <a:endParaRPr lang="en-US" sz="1000" dirty="0"/>
          </a:p>
        </p:txBody>
      </p:sp>
      <p:sp>
        <p:nvSpPr>
          <p:cNvPr id="21" name="Shape 19"/>
          <p:cNvSpPr/>
          <p:nvPr/>
        </p:nvSpPr>
        <p:spPr>
          <a:xfrm flipH="1" rot="10800000">
            <a:off x="8486285" y="4114800"/>
            <a:ext cx="137160" cy="182880"/>
          </a:xfrm>
          <a:prstGeom prst="rightTriangle">
            <a:avLst/>
          </a:prstGeom>
          <a:solidFill>
            <a:srgbClr val="D4A574"/>
          </a:solidFill>
          <a:ln/>
        </p:spPr>
      </p:sp>
      <p:sp>
        <p:nvSpPr>
          <p:cNvPr id="22" name="Shape 20"/>
          <p:cNvSpPr/>
          <p:nvPr/>
        </p:nvSpPr>
        <p:spPr>
          <a:xfrm>
            <a:off x="7045060" y="2743200"/>
            <a:ext cx="1349785" cy="2926080"/>
          </a:xfrm>
          <a:prstGeom prst="roundRect">
            <a:avLst>
              <a:gd name="adj" fmla="val 5420"/>
            </a:avLst>
          </a:prstGeom>
          <a:solidFill>
            <a:srgbClr val="FFFFFF"/>
          </a:solidFill>
          <a:ln w="12700">
            <a:solidFill>
              <a:srgbClr val="E8E3D6"/>
            </a:solidFill>
            <a:prstDash val="solid"/>
          </a:ln>
        </p:spPr>
      </p:sp>
      <p:sp>
        <p:nvSpPr>
          <p:cNvPr id="23" name="Shape 21"/>
          <p:cNvSpPr/>
          <p:nvPr/>
        </p:nvSpPr>
        <p:spPr>
          <a:xfrm>
            <a:off x="7445633" y="2468880"/>
            <a:ext cx="548640" cy="548640"/>
          </a:xfrm>
          <a:prstGeom prst="ellipse">
            <a:avLst/>
          </a:prstGeom>
          <a:solidFill>
            <a:srgbClr val="0A1628"/>
          </a:solidFill>
          <a:ln w="19050">
            <a:solidFill>
              <a:srgbClr val="D4A574"/>
            </a:solidFill>
            <a:prstDash val="solid"/>
          </a:ln>
        </p:spPr>
      </p:sp>
      <p:sp>
        <p:nvSpPr>
          <p:cNvPr id="24" name="Text 22"/>
          <p:cNvSpPr/>
          <p:nvPr/>
        </p:nvSpPr>
        <p:spPr>
          <a:xfrm>
            <a:off x="7445633" y="2468880"/>
            <a:ext cx="548640" cy="548640"/>
          </a:xfrm>
          <a:prstGeom prst="rect">
            <a:avLst/>
          </a:prstGeom>
          <a:noFill/>
          <a:ln/>
        </p:spPr>
        <p:txBody>
          <a:bodyPr wrap="square" rtlCol="0" anchor="ctr"/>
          <a:lstStyle/>
          <a:p>
            <a:pPr algn="ctr" indent="0" marL="0">
              <a:buNone/>
            </a:pPr>
            <a:r>
              <a:rPr lang="en-US" sz="1800" b="1" dirty="0">
                <a:solidFill>
                  <a:srgbClr val="D4A574"/>
                </a:solidFill>
                <a:latin typeface="Calibri" pitchFamily="34" charset="0"/>
                <a:ea typeface="Calibri" pitchFamily="34" charset="-122"/>
                <a:cs typeface="Calibri" pitchFamily="34" charset="-120"/>
              </a:rPr>
              <a:t>3</a:t>
            </a:r>
            <a:endParaRPr lang="en-US" sz="1800" dirty="0"/>
          </a:p>
        </p:txBody>
      </p:sp>
      <p:sp>
        <p:nvSpPr>
          <p:cNvPr id="25" name="Text 23"/>
          <p:cNvSpPr/>
          <p:nvPr/>
        </p:nvSpPr>
        <p:spPr>
          <a:xfrm>
            <a:off x="7136500" y="3200400"/>
            <a:ext cx="1166905" cy="822960"/>
          </a:xfrm>
          <a:prstGeom prst="rect">
            <a:avLst/>
          </a:prstGeom>
          <a:noFill/>
          <a:ln/>
        </p:spPr>
        <p:txBody>
          <a:bodyPr wrap="square" rtlCol="0" anchor="t"/>
          <a:lstStyle/>
          <a:p>
            <a:pPr rtl="1" algn="ctr" indent="0" marL="0">
              <a:buNone/>
            </a:pPr>
            <a:r>
              <a:rPr lang="en-US" sz="1100" b="1" dirty="0">
                <a:solidFill>
                  <a:srgbClr val="0A1628"/>
                </a:solidFill>
                <a:latin typeface="Calibri" pitchFamily="34" charset="0"/>
                <a:ea typeface="Calibri" pitchFamily="34" charset="-122"/>
                <a:cs typeface="Calibri" pitchFamily="34" charset="-120"/>
              </a:rPr>
              <a:t>تواصل · Engage</a:t>
            </a:r>
            <a:endParaRPr lang="en-US" sz="1100" dirty="0"/>
          </a:p>
        </p:txBody>
      </p:sp>
      <p:sp>
        <p:nvSpPr>
          <p:cNvPr id="26" name="Shape 24"/>
          <p:cNvSpPr/>
          <p:nvPr/>
        </p:nvSpPr>
        <p:spPr>
          <a:xfrm>
            <a:off x="7445633" y="4023360"/>
            <a:ext cx="548640" cy="18288"/>
          </a:xfrm>
          <a:prstGeom prst="rect">
            <a:avLst/>
          </a:prstGeom>
          <a:solidFill>
            <a:srgbClr val="D4A574"/>
          </a:solidFill>
          <a:ln/>
        </p:spPr>
      </p:sp>
      <p:sp>
        <p:nvSpPr>
          <p:cNvPr id="27" name="Text 25"/>
          <p:cNvSpPr/>
          <p:nvPr/>
        </p:nvSpPr>
        <p:spPr>
          <a:xfrm>
            <a:off x="7136500" y="4160520"/>
            <a:ext cx="1166905" cy="1371600"/>
          </a:xfrm>
          <a:prstGeom prst="rect">
            <a:avLst/>
          </a:prstGeom>
          <a:noFill/>
          <a:ln/>
        </p:spPr>
        <p:txBody>
          <a:bodyPr wrap="square" rtlCol="0" anchor="t"/>
          <a:lstStyle/>
          <a:p>
            <a:pPr rtl="1" algn="ctr" indent="0" marL="0">
              <a:buNone/>
            </a:pPr>
            <a:r>
              <a:rPr lang="en-US" sz="1000" dirty="0">
                <a:solidFill>
                  <a:srgbClr val="55606E"/>
                </a:solidFill>
                <a:latin typeface="Calibri" pitchFamily="34" charset="0"/>
                <a:ea typeface="Calibri" pitchFamily="34" charset="-122"/>
                <a:cs typeface="Calibri" pitchFamily="34" charset="-120"/>
              </a:rPr>
              <a:t>Omnichannel مع وكيل عربي</a:t>
            </a:r>
            <a:endParaRPr lang="en-US" sz="1000" dirty="0"/>
          </a:p>
        </p:txBody>
      </p:sp>
      <p:sp>
        <p:nvSpPr>
          <p:cNvPr id="28" name="Shape 26"/>
          <p:cNvSpPr/>
          <p:nvPr/>
        </p:nvSpPr>
        <p:spPr>
          <a:xfrm flipH="1" rot="10800000">
            <a:off x="6862180" y="4114800"/>
            <a:ext cx="137160" cy="182880"/>
          </a:xfrm>
          <a:prstGeom prst="rightTriangle">
            <a:avLst/>
          </a:prstGeom>
          <a:solidFill>
            <a:srgbClr val="D4A574"/>
          </a:solidFill>
          <a:ln/>
        </p:spPr>
      </p:sp>
      <p:sp>
        <p:nvSpPr>
          <p:cNvPr id="29" name="Shape 27"/>
          <p:cNvSpPr/>
          <p:nvPr/>
        </p:nvSpPr>
        <p:spPr>
          <a:xfrm>
            <a:off x="5420955" y="2743200"/>
            <a:ext cx="1349785" cy="2926080"/>
          </a:xfrm>
          <a:prstGeom prst="roundRect">
            <a:avLst>
              <a:gd name="adj" fmla="val 5420"/>
            </a:avLst>
          </a:prstGeom>
          <a:solidFill>
            <a:srgbClr val="FFFFFF"/>
          </a:solidFill>
          <a:ln w="12700">
            <a:solidFill>
              <a:srgbClr val="E8E3D6"/>
            </a:solidFill>
            <a:prstDash val="solid"/>
          </a:ln>
        </p:spPr>
      </p:sp>
      <p:sp>
        <p:nvSpPr>
          <p:cNvPr id="30" name="Shape 28"/>
          <p:cNvSpPr/>
          <p:nvPr/>
        </p:nvSpPr>
        <p:spPr>
          <a:xfrm>
            <a:off x="5821528" y="2468880"/>
            <a:ext cx="548640" cy="548640"/>
          </a:xfrm>
          <a:prstGeom prst="ellipse">
            <a:avLst/>
          </a:prstGeom>
          <a:solidFill>
            <a:srgbClr val="0A1628"/>
          </a:solidFill>
          <a:ln w="19050">
            <a:solidFill>
              <a:srgbClr val="D4A574"/>
            </a:solidFill>
            <a:prstDash val="solid"/>
          </a:ln>
        </p:spPr>
      </p:sp>
      <p:sp>
        <p:nvSpPr>
          <p:cNvPr id="31" name="Text 29"/>
          <p:cNvSpPr/>
          <p:nvPr/>
        </p:nvSpPr>
        <p:spPr>
          <a:xfrm>
            <a:off x="5821528" y="2468880"/>
            <a:ext cx="548640" cy="548640"/>
          </a:xfrm>
          <a:prstGeom prst="rect">
            <a:avLst/>
          </a:prstGeom>
          <a:noFill/>
          <a:ln/>
        </p:spPr>
        <p:txBody>
          <a:bodyPr wrap="square" rtlCol="0" anchor="ctr"/>
          <a:lstStyle/>
          <a:p>
            <a:pPr algn="ctr" indent="0" marL="0">
              <a:buNone/>
            </a:pPr>
            <a:r>
              <a:rPr lang="en-US" sz="1800" b="1" dirty="0">
                <a:solidFill>
                  <a:srgbClr val="D4A574"/>
                </a:solidFill>
                <a:latin typeface="Calibri" pitchFamily="34" charset="0"/>
                <a:ea typeface="Calibri" pitchFamily="34" charset="-122"/>
                <a:cs typeface="Calibri" pitchFamily="34" charset="-120"/>
              </a:rPr>
              <a:t>4</a:t>
            </a:r>
            <a:endParaRPr lang="en-US" sz="1800" dirty="0"/>
          </a:p>
        </p:txBody>
      </p:sp>
      <p:sp>
        <p:nvSpPr>
          <p:cNvPr id="32" name="Text 30"/>
          <p:cNvSpPr/>
          <p:nvPr/>
        </p:nvSpPr>
        <p:spPr>
          <a:xfrm>
            <a:off x="5512395" y="3200400"/>
            <a:ext cx="1166905" cy="822960"/>
          </a:xfrm>
          <a:prstGeom prst="rect">
            <a:avLst/>
          </a:prstGeom>
          <a:noFill/>
          <a:ln/>
        </p:spPr>
        <p:txBody>
          <a:bodyPr wrap="square" rtlCol="0" anchor="t"/>
          <a:lstStyle/>
          <a:p>
            <a:pPr rtl="1" algn="ctr" indent="0" marL="0">
              <a:buNone/>
            </a:pPr>
            <a:r>
              <a:rPr lang="en-US" sz="1100" b="1" dirty="0">
                <a:solidFill>
                  <a:srgbClr val="0A1628"/>
                </a:solidFill>
                <a:latin typeface="Calibri" pitchFamily="34" charset="0"/>
                <a:ea typeface="Calibri" pitchFamily="34" charset="-122"/>
                <a:cs typeface="Calibri" pitchFamily="34" charset="-120"/>
              </a:rPr>
              <a:t>اجدول · Schedule</a:t>
            </a:r>
            <a:endParaRPr lang="en-US" sz="1100" dirty="0"/>
          </a:p>
        </p:txBody>
      </p:sp>
      <p:sp>
        <p:nvSpPr>
          <p:cNvPr id="33" name="Shape 31"/>
          <p:cNvSpPr/>
          <p:nvPr/>
        </p:nvSpPr>
        <p:spPr>
          <a:xfrm>
            <a:off x="5821528" y="4023360"/>
            <a:ext cx="548640" cy="18288"/>
          </a:xfrm>
          <a:prstGeom prst="rect">
            <a:avLst/>
          </a:prstGeom>
          <a:solidFill>
            <a:srgbClr val="D4A574"/>
          </a:solidFill>
          <a:ln/>
        </p:spPr>
      </p:sp>
      <p:sp>
        <p:nvSpPr>
          <p:cNvPr id="34" name="Text 32"/>
          <p:cNvSpPr/>
          <p:nvPr/>
        </p:nvSpPr>
        <p:spPr>
          <a:xfrm>
            <a:off x="5512395" y="4160520"/>
            <a:ext cx="1166905" cy="1371600"/>
          </a:xfrm>
          <a:prstGeom prst="rect">
            <a:avLst/>
          </a:prstGeom>
          <a:noFill/>
          <a:ln/>
        </p:spPr>
        <p:txBody>
          <a:bodyPr wrap="square" rtlCol="0" anchor="t"/>
          <a:lstStyle/>
          <a:p>
            <a:pPr rtl="1" algn="ctr" indent="0" marL="0">
              <a:buNone/>
            </a:pPr>
            <a:r>
              <a:rPr lang="en-US" sz="1000" dirty="0">
                <a:solidFill>
                  <a:srgbClr val="55606E"/>
                </a:solidFill>
                <a:latin typeface="Calibri" pitchFamily="34" charset="0"/>
                <a:ea typeface="Calibri" pitchFamily="34" charset="-122"/>
                <a:cs typeface="Calibri" pitchFamily="34" charset="-120"/>
              </a:rPr>
              <a:t>حجز مواعيد ذكي + تقويم تنفيذي</a:t>
            </a:r>
            <a:endParaRPr lang="en-US" sz="1000" dirty="0"/>
          </a:p>
        </p:txBody>
      </p:sp>
      <p:sp>
        <p:nvSpPr>
          <p:cNvPr id="35" name="Shape 33"/>
          <p:cNvSpPr/>
          <p:nvPr/>
        </p:nvSpPr>
        <p:spPr>
          <a:xfrm flipH="1" rot="10800000">
            <a:off x="5238075" y="4114800"/>
            <a:ext cx="137160" cy="182880"/>
          </a:xfrm>
          <a:prstGeom prst="rightTriangle">
            <a:avLst/>
          </a:prstGeom>
          <a:solidFill>
            <a:srgbClr val="D4A574"/>
          </a:solidFill>
          <a:ln/>
        </p:spPr>
      </p:sp>
      <p:sp>
        <p:nvSpPr>
          <p:cNvPr id="36" name="Shape 34"/>
          <p:cNvSpPr/>
          <p:nvPr/>
        </p:nvSpPr>
        <p:spPr>
          <a:xfrm>
            <a:off x="3796850" y="2743200"/>
            <a:ext cx="1349785" cy="2926080"/>
          </a:xfrm>
          <a:prstGeom prst="roundRect">
            <a:avLst>
              <a:gd name="adj" fmla="val 5420"/>
            </a:avLst>
          </a:prstGeom>
          <a:solidFill>
            <a:srgbClr val="FFFFFF"/>
          </a:solidFill>
          <a:ln w="12700">
            <a:solidFill>
              <a:srgbClr val="E8E3D6"/>
            </a:solidFill>
            <a:prstDash val="solid"/>
          </a:ln>
        </p:spPr>
      </p:sp>
      <p:sp>
        <p:nvSpPr>
          <p:cNvPr id="37" name="Shape 35"/>
          <p:cNvSpPr/>
          <p:nvPr/>
        </p:nvSpPr>
        <p:spPr>
          <a:xfrm>
            <a:off x="4197423" y="2468880"/>
            <a:ext cx="548640" cy="548640"/>
          </a:xfrm>
          <a:prstGeom prst="ellipse">
            <a:avLst/>
          </a:prstGeom>
          <a:solidFill>
            <a:srgbClr val="0A1628"/>
          </a:solidFill>
          <a:ln w="19050">
            <a:solidFill>
              <a:srgbClr val="D4A574"/>
            </a:solidFill>
            <a:prstDash val="solid"/>
          </a:ln>
        </p:spPr>
      </p:sp>
      <p:sp>
        <p:nvSpPr>
          <p:cNvPr id="38" name="Text 36"/>
          <p:cNvSpPr/>
          <p:nvPr/>
        </p:nvSpPr>
        <p:spPr>
          <a:xfrm>
            <a:off x="4197423" y="2468880"/>
            <a:ext cx="548640" cy="548640"/>
          </a:xfrm>
          <a:prstGeom prst="rect">
            <a:avLst/>
          </a:prstGeom>
          <a:noFill/>
          <a:ln/>
        </p:spPr>
        <p:txBody>
          <a:bodyPr wrap="square" rtlCol="0" anchor="ctr"/>
          <a:lstStyle/>
          <a:p>
            <a:pPr algn="ctr" indent="0" marL="0">
              <a:buNone/>
            </a:pPr>
            <a:r>
              <a:rPr lang="en-US" sz="1800" b="1" dirty="0">
                <a:solidFill>
                  <a:srgbClr val="D4A574"/>
                </a:solidFill>
                <a:latin typeface="Calibri" pitchFamily="34" charset="0"/>
                <a:ea typeface="Calibri" pitchFamily="34" charset="-122"/>
                <a:cs typeface="Calibri" pitchFamily="34" charset="-120"/>
              </a:rPr>
              <a:t>5</a:t>
            </a:r>
            <a:endParaRPr lang="en-US" sz="1800" dirty="0"/>
          </a:p>
        </p:txBody>
      </p:sp>
      <p:sp>
        <p:nvSpPr>
          <p:cNvPr id="39" name="Text 37"/>
          <p:cNvSpPr/>
          <p:nvPr/>
        </p:nvSpPr>
        <p:spPr>
          <a:xfrm>
            <a:off x="3888290" y="3200400"/>
            <a:ext cx="1166905" cy="822960"/>
          </a:xfrm>
          <a:prstGeom prst="rect">
            <a:avLst/>
          </a:prstGeom>
          <a:noFill/>
          <a:ln/>
        </p:spPr>
        <p:txBody>
          <a:bodyPr wrap="square" rtlCol="0" anchor="t"/>
          <a:lstStyle/>
          <a:p>
            <a:pPr rtl="1" algn="ctr" indent="0" marL="0">
              <a:buNone/>
            </a:pPr>
            <a:r>
              <a:rPr lang="en-US" sz="1100" b="1" dirty="0">
                <a:solidFill>
                  <a:srgbClr val="0A1628"/>
                </a:solidFill>
                <a:latin typeface="Calibri" pitchFamily="34" charset="0"/>
                <a:ea typeface="Calibri" pitchFamily="34" charset="-122"/>
                <a:cs typeface="Calibri" pitchFamily="34" charset="-120"/>
              </a:rPr>
              <a:t>أغلق · Close</a:t>
            </a:r>
            <a:endParaRPr lang="en-US" sz="1100" dirty="0"/>
          </a:p>
        </p:txBody>
      </p:sp>
      <p:sp>
        <p:nvSpPr>
          <p:cNvPr id="40" name="Shape 38"/>
          <p:cNvSpPr/>
          <p:nvPr/>
        </p:nvSpPr>
        <p:spPr>
          <a:xfrm>
            <a:off x="4197423" y="4023360"/>
            <a:ext cx="548640" cy="18288"/>
          </a:xfrm>
          <a:prstGeom prst="rect">
            <a:avLst/>
          </a:prstGeom>
          <a:solidFill>
            <a:srgbClr val="D4A574"/>
          </a:solidFill>
          <a:ln/>
        </p:spPr>
      </p:sp>
      <p:sp>
        <p:nvSpPr>
          <p:cNvPr id="41" name="Text 39"/>
          <p:cNvSpPr/>
          <p:nvPr/>
        </p:nvSpPr>
        <p:spPr>
          <a:xfrm>
            <a:off x="3888290" y="4160520"/>
            <a:ext cx="1166905" cy="1371600"/>
          </a:xfrm>
          <a:prstGeom prst="rect">
            <a:avLst/>
          </a:prstGeom>
          <a:noFill/>
          <a:ln/>
        </p:spPr>
        <p:txBody>
          <a:bodyPr wrap="square" rtlCol="0" anchor="t"/>
          <a:lstStyle/>
          <a:p>
            <a:pPr rtl="1" algn="ctr" indent="0" marL="0">
              <a:buNone/>
            </a:pPr>
            <a:r>
              <a:rPr lang="en-US" sz="1000" dirty="0">
                <a:solidFill>
                  <a:srgbClr val="55606E"/>
                </a:solidFill>
                <a:latin typeface="Calibri" pitchFamily="34" charset="0"/>
                <a:ea typeface="Calibri" pitchFamily="34" charset="-122"/>
                <a:cs typeface="Calibri" pitchFamily="34" charset="-120"/>
              </a:rPr>
              <a:t>إعداد عرض آلي + توقيع إلكتروني</a:t>
            </a:r>
            <a:endParaRPr lang="en-US" sz="1000" dirty="0"/>
          </a:p>
        </p:txBody>
      </p:sp>
      <p:sp>
        <p:nvSpPr>
          <p:cNvPr id="42" name="Shape 40"/>
          <p:cNvSpPr/>
          <p:nvPr/>
        </p:nvSpPr>
        <p:spPr>
          <a:xfrm flipH="1" rot="10800000">
            <a:off x="3613970" y="4114800"/>
            <a:ext cx="137160" cy="182880"/>
          </a:xfrm>
          <a:prstGeom prst="rightTriangle">
            <a:avLst/>
          </a:prstGeom>
          <a:solidFill>
            <a:srgbClr val="D4A574"/>
          </a:solidFill>
          <a:ln/>
        </p:spPr>
      </p:sp>
      <p:sp>
        <p:nvSpPr>
          <p:cNvPr id="43" name="Shape 41"/>
          <p:cNvSpPr/>
          <p:nvPr/>
        </p:nvSpPr>
        <p:spPr>
          <a:xfrm>
            <a:off x="2172745" y="2743200"/>
            <a:ext cx="1349785" cy="2926080"/>
          </a:xfrm>
          <a:prstGeom prst="roundRect">
            <a:avLst>
              <a:gd name="adj" fmla="val 5420"/>
            </a:avLst>
          </a:prstGeom>
          <a:solidFill>
            <a:srgbClr val="FFFFFF"/>
          </a:solidFill>
          <a:ln w="12700">
            <a:solidFill>
              <a:srgbClr val="E8E3D6"/>
            </a:solidFill>
            <a:prstDash val="solid"/>
          </a:ln>
        </p:spPr>
      </p:sp>
      <p:sp>
        <p:nvSpPr>
          <p:cNvPr id="44" name="Shape 42"/>
          <p:cNvSpPr/>
          <p:nvPr/>
        </p:nvSpPr>
        <p:spPr>
          <a:xfrm>
            <a:off x="2573318" y="2468880"/>
            <a:ext cx="548640" cy="548640"/>
          </a:xfrm>
          <a:prstGeom prst="ellipse">
            <a:avLst/>
          </a:prstGeom>
          <a:solidFill>
            <a:srgbClr val="0A1628"/>
          </a:solidFill>
          <a:ln w="19050">
            <a:solidFill>
              <a:srgbClr val="D4A574"/>
            </a:solidFill>
            <a:prstDash val="solid"/>
          </a:ln>
        </p:spPr>
      </p:sp>
      <p:sp>
        <p:nvSpPr>
          <p:cNvPr id="45" name="Text 43"/>
          <p:cNvSpPr/>
          <p:nvPr/>
        </p:nvSpPr>
        <p:spPr>
          <a:xfrm>
            <a:off x="2573318" y="2468880"/>
            <a:ext cx="548640" cy="548640"/>
          </a:xfrm>
          <a:prstGeom prst="rect">
            <a:avLst/>
          </a:prstGeom>
          <a:noFill/>
          <a:ln/>
        </p:spPr>
        <p:txBody>
          <a:bodyPr wrap="square" rtlCol="0" anchor="ctr"/>
          <a:lstStyle/>
          <a:p>
            <a:pPr algn="ctr" indent="0" marL="0">
              <a:buNone/>
            </a:pPr>
            <a:r>
              <a:rPr lang="en-US" sz="1800" b="1" dirty="0">
                <a:solidFill>
                  <a:srgbClr val="D4A574"/>
                </a:solidFill>
                <a:latin typeface="Calibri" pitchFamily="34" charset="0"/>
                <a:ea typeface="Calibri" pitchFamily="34" charset="-122"/>
                <a:cs typeface="Calibri" pitchFamily="34" charset="-120"/>
              </a:rPr>
              <a:t>6</a:t>
            </a:r>
            <a:endParaRPr lang="en-US" sz="1800" dirty="0"/>
          </a:p>
        </p:txBody>
      </p:sp>
      <p:sp>
        <p:nvSpPr>
          <p:cNvPr id="46" name="Text 44"/>
          <p:cNvSpPr/>
          <p:nvPr/>
        </p:nvSpPr>
        <p:spPr>
          <a:xfrm>
            <a:off x="2264185" y="3200400"/>
            <a:ext cx="1166905" cy="822960"/>
          </a:xfrm>
          <a:prstGeom prst="rect">
            <a:avLst/>
          </a:prstGeom>
          <a:noFill/>
          <a:ln/>
        </p:spPr>
        <p:txBody>
          <a:bodyPr wrap="square" rtlCol="0" anchor="t"/>
          <a:lstStyle/>
          <a:p>
            <a:pPr rtl="1" algn="ctr" indent="0" marL="0">
              <a:buNone/>
            </a:pPr>
            <a:r>
              <a:rPr lang="en-US" sz="1100" b="1" dirty="0">
                <a:solidFill>
                  <a:srgbClr val="0A1628"/>
                </a:solidFill>
                <a:latin typeface="Calibri" pitchFamily="34" charset="0"/>
                <a:ea typeface="Calibri" pitchFamily="34" charset="-122"/>
                <a:cs typeface="Calibri" pitchFamily="34" charset="-120"/>
              </a:rPr>
              <a:t>احتفظ · Retain</a:t>
            </a:r>
            <a:endParaRPr lang="en-US" sz="1100" dirty="0"/>
          </a:p>
        </p:txBody>
      </p:sp>
      <p:sp>
        <p:nvSpPr>
          <p:cNvPr id="47" name="Shape 45"/>
          <p:cNvSpPr/>
          <p:nvPr/>
        </p:nvSpPr>
        <p:spPr>
          <a:xfrm>
            <a:off x="2573318" y="4023360"/>
            <a:ext cx="548640" cy="18288"/>
          </a:xfrm>
          <a:prstGeom prst="rect">
            <a:avLst/>
          </a:prstGeom>
          <a:solidFill>
            <a:srgbClr val="D4A574"/>
          </a:solidFill>
          <a:ln/>
        </p:spPr>
      </p:sp>
      <p:sp>
        <p:nvSpPr>
          <p:cNvPr id="48" name="Text 46"/>
          <p:cNvSpPr/>
          <p:nvPr/>
        </p:nvSpPr>
        <p:spPr>
          <a:xfrm>
            <a:off x="2264185" y="4160520"/>
            <a:ext cx="1166905" cy="1371600"/>
          </a:xfrm>
          <a:prstGeom prst="rect">
            <a:avLst/>
          </a:prstGeom>
          <a:noFill/>
          <a:ln/>
        </p:spPr>
        <p:txBody>
          <a:bodyPr wrap="square" rtlCol="0" anchor="t"/>
          <a:lstStyle/>
          <a:p>
            <a:pPr rtl="1" algn="ctr" indent="0" marL="0">
              <a:buNone/>
            </a:pPr>
            <a:r>
              <a:rPr lang="en-US" sz="1000" dirty="0">
                <a:solidFill>
                  <a:srgbClr val="55606E"/>
                </a:solidFill>
                <a:latin typeface="Calibri" pitchFamily="34" charset="0"/>
                <a:ea typeface="Calibri" pitchFamily="34" charset="-122"/>
                <a:cs typeface="Calibri" pitchFamily="34" charset="-120"/>
              </a:rPr>
              <a:t>تجديد تلقائي + إدارة حسابات</a:t>
            </a:r>
            <a:endParaRPr lang="en-US" sz="1000" dirty="0"/>
          </a:p>
        </p:txBody>
      </p:sp>
      <p:sp>
        <p:nvSpPr>
          <p:cNvPr id="49" name="Shape 47"/>
          <p:cNvSpPr/>
          <p:nvPr/>
        </p:nvSpPr>
        <p:spPr>
          <a:xfrm flipH="1" rot="10800000">
            <a:off x="1989865" y="4114800"/>
            <a:ext cx="137160" cy="182880"/>
          </a:xfrm>
          <a:prstGeom prst="rightTriangle">
            <a:avLst/>
          </a:prstGeom>
          <a:solidFill>
            <a:srgbClr val="D4A574"/>
          </a:solidFill>
          <a:ln/>
        </p:spPr>
      </p:sp>
      <p:sp>
        <p:nvSpPr>
          <p:cNvPr id="50" name="Shape 48"/>
          <p:cNvSpPr/>
          <p:nvPr/>
        </p:nvSpPr>
        <p:spPr>
          <a:xfrm>
            <a:off x="548640" y="2743200"/>
            <a:ext cx="1349785" cy="2926080"/>
          </a:xfrm>
          <a:prstGeom prst="roundRect">
            <a:avLst>
              <a:gd name="adj" fmla="val 5420"/>
            </a:avLst>
          </a:prstGeom>
          <a:solidFill>
            <a:srgbClr val="FFFFFF"/>
          </a:solidFill>
          <a:ln w="12700">
            <a:solidFill>
              <a:srgbClr val="E8E3D6"/>
            </a:solidFill>
            <a:prstDash val="solid"/>
          </a:ln>
        </p:spPr>
      </p:sp>
      <p:sp>
        <p:nvSpPr>
          <p:cNvPr id="51" name="Shape 49"/>
          <p:cNvSpPr/>
          <p:nvPr/>
        </p:nvSpPr>
        <p:spPr>
          <a:xfrm>
            <a:off x="949213" y="2468880"/>
            <a:ext cx="548640" cy="548640"/>
          </a:xfrm>
          <a:prstGeom prst="ellipse">
            <a:avLst/>
          </a:prstGeom>
          <a:solidFill>
            <a:srgbClr val="0A1628"/>
          </a:solidFill>
          <a:ln w="19050">
            <a:solidFill>
              <a:srgbClr val="D4A574"/>
            </a:solidFill>
            <a:prstDash val="solid"/>
          </a:ln>
        </p:spPr>
      </p:sp>
      <p:sp>
        <p:nvSpPr>
          <p:cNvPr id="52" name="Text 50"/>
          <p:cNvSpPr/>
          <p:nvPr/>
        </p:nvSpPr>
        <p:spPr>
          <a:xfrm>
            <a:off x="949213" y="2468880"/>
            <a:ext cx="548640" cy="548640"/>
          </a:xfrm>
          <a:prstGeom prst="rect">
            <a:avLst/>
          </a:prstGeom>
          <a:noFill/>
          <a:ln/>
        </p:spPr>
        <p:txBody>
          <a:bodyPr wrap="square" rtlCol="0" anchor="ctr"/>
          <a:lstStyle/>
          <a:p>
            <a:pPr algn="ctr" indent="0" marL="0">
              <a:buNone/>
            </a:pPr>
            <a:r>
              <a:rPr lang="en-US" sz="1800" b="1" dirty="0">
                <a:solidFill>
                  <a:srgbClr val="D4A574"/>
                </a:solidFill>
                <a:latin typeface="Calibri" pitchFamily="34" charset="0"/>
                <a:ea typeface="Calibri" pitchFamily="34" charset="-122"/>
                <a:cs typeface="Calibri" pitchFamily="34" charset="-120"/>
              </a:rPr>
              <a:t>7</a:t>
            </a:r>
            <a:endParaRPr lang="en-US" sz="1800" dirty="0"/>
          </a:p>
        </p:txBody>
      </p:sp>
      <p:sp>
        <p:nvSpPr>
          <p:cNvPr id="53" name="Text 51"/>
          <p:cNvSpPr/>
          <p:nvPr/>
        </p:nvSpPr>
        <p:spPr>
          <a:xfrm>
            <a:off x="640080" y="3200400"/>
            <a:ext cx="1166905" cy="822960"/>
          </a:xfrm>
          <a:prstGeom prst="rect">
            <a:avLst/>
          </a:prstGeom>
          <a:noFill/>
          <a:ln/>
        </p:spPr>
        <p:txBody>
          <a:bodyPr wrap="square" rtlCol="0" anchor="t"/>
          <a:lstStyle/>
          <a:p>
            <a:pPr rtl="1" algn="ctr" indent="0" marL="0">
              <a:buNone/>
            </a:pPr>
            <a:r>
              <a:rPr lang="en-US" sz="1100" b="1" dirty="0">
                <a:solidFill>
                  <a:srgbClr val="0A1628"/>
                </a:solidFill>
                <a:latin typeface="Calibri" pitchFamily="34" charset="0"/>
                <a:ea typeface="Calibri" pitchFamily="34" charset="-122"/>
                <a:cs typeface="Calibri" pitchFamily="34" charset="-120"/>
              </a:rPr>
              <a:t>حلّل · Analyze</a:t>
            </a:r>
            <a:endParaRPr lang="en-US" sz="1100" dirty="0"/>
          </a:p>
        </p:txBody>
      </p:sp>
      <p:sp>
        <p:nvSpPr>
          <p:cNvPr id="54" name="Shape 52"/>
          <p:cNvSpPr/>
          <p:nvPr/>
        </p:nvSpPr>
        <p:spPr>
          <a:xfrm>
            <a:off x="949213" y="4023360"/>
            <a:ext cx="548640" cy="18288"/>
          </a:xfrm>
          <a:prstGeom prst="rect">
            <a:avLst/>
          </a:prstGeom>
          <a:solidFill>
            <a:srgbClr val="D4A574"/>
          </a:solidFill>
          <a:ln/>
        </p:spPr>
      </p:sp>
      <p:sp>
        <p:nvSpPr>
          <p:cNvPr id="55" name="Text 53"/>
          <p:cNvSpPr/>
          <p:nvPr/>
        </p:nvSpPr>
        <p:spPr>
          <a:xfrm>
            <a:off x="640080" y="4160520"/>
            <a:ext cx="1166905" cy="1371600"/>
          </a:xfrm>
          <a:prstGeom prst="rect">
            <a:avLst/>
          </a:prstGeom>
          <a:noFill/>
          <a:ln/>
        </p:spPr>
        <p:txBody>
          <a:bodyPr wrap="square" rtlCol="0" anchor="t"/>
          <a:lstStyle/>
          <a:p>
            <a:pPr rtl="1" algn="ctr" indent="0" marL="0">
              <a:buNone/>
            </a:pPr>
            <a:r>
              <a:rPr lang="en-US" sz="1000" dirty="0">
                <a:solidFill>
                  <a:srgbClr val="55606E"/>
                </a:solidFill>
                <a:latin typeface="Calibri" pitchFamily="34" charset="0"/>
                <a:ea typeface="Calibri" pitchFamily="34" charset="-122"/>
                <a:cs typeface="Calibri" pitchFamily="34" charset="-120"/>
              </a:rPr>
              <a:t>لوحات تنفيذية + إسناد إيراد</a:t>
            </a:r>
            <a:endParaRPr lang="en-US" sz="1000" dirty="0"/>
          </a:p>
        </p:txBody>
      </p:sp>
      <p:sp>
        <p:nvSpPr>
          <p:cNvPr id="56" name="Text 54"/>
          <p:cNvSpPr/>
          <p:nvPr/>
        </p:nvSpPr>
        <p:spPr>
          <a:xfrm>
            <a:off x="548640" y="5943600"/>
            <a:ext cx="11094415" cy="365760"/>
          </a:xfrm>
          <a:prstGeom prst="rect">
            <a:avLst/>
          </a:prstGeom>
          <a:noFill/>
          <a:ln/>
        </p:spPr>
        <p:txBody>
          <a:bodyPr wrap="square" rtlCol="0" anchor="ctr"/>
          <a:lstStyle/>
          <a:p>
            <a:pPr rtl="1" algn="r" indent="0" marL="0">
              <a:buNone/>
            </a:pPr>
            <a:r>
              <a:rPr lang="en-US" sz="1300" i="1" dirty="0">
                <a:solidFill>
                  <a:srgbClr val="55606E"/>
                </a:solidFill>
                <a:latin typeface="Georgia" pitchFamily="34" charset="0"/>
                <a:ea typeface="Georgia" pitchFamily="34" charset="-122"/>
                <a:cs typeface="Georgia" pitchFamily="34" charset="-120"/>
              </a:rPr>
              <a:t>الدورة مغلقة: كل عقد يُغلق يعود كبيانات تدريب للذكاء الاصطناعي — فيتحسّن النظام مع كل صفقة</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8F3"/>
        </a:solidFill>
      </p:bgPr>
    </p:bg>
    <p:spTree>
      <p:nvGrpSpPr>
        <p:cNvPr id="1" name=""/>
        <p:cNvGrpSpPr/>
        <p:nvPr/>
      </p:nvGrpSpPr>
      <p:grpSpPr>
        <a:xfrm>
          <a:off x="0" y="0"/>
          <a:ext cx="0" cy="0"/>
          <a:chOff x="0" y="0"/>
          <a:chExt cx="0" cy="0"/>
        </a:xfrm>
      </p:grpSpPr>
      <p:sp>
        <p:nvSpPr>
          <p:cNvPr id="2" name="Shape 0"/>
          <p:cNvSpPr/>
          <p:nvPr/>
        </p:nvSpPr>
        <p:spPr>
          <a:xfrm>
            <a:off x="11734495" y="320040"/>
            <a:ext cx="73152" cy="411480"/>
          </a:xfrm>
          <a:prstGeom prst="rect">
            <a:avLst/>
          </a:prstGeom>
          <a:solidFill>
            <a:srgbClr val="D4A574"/>
          </a:solidFill>
          <a:ln/>
        </p:spPr>
      </p:sp>
      <p:sp>
        <p:nvSpPr>
          <p:cNvPr id="3" name="Text 1"/>
          <p:cNvSpPr/>
          <p:nvPr/>
        </p:nvSpPr>
        <p:spPr>
          <a:xfrm>
            <a:off x="8076895" y="274320"/>
            <a:ext cx="3566160" cy="365760"/>
          </a:xfrm>
          <a:prstGeom prst="rect">
            <a:avLst/>
          </a:prstGeom>
          <a:noFill/>
          <a:ln/>
        </p:spPr>
        <p:txBody>
          <a:bodyPr wrap="square" rtlCol="0" anchor="ctr"/>
          <a:lstStyle/>
          <a:p>
            <a:pPr rtl="1" algn="r" indent="0" marL="0">
              <a:buNone/>
            </a:pPr>
            <a:r>
              <a:rPr lang="en-US" sz="1200" b="1" dirty="0">
                <a:solidFill>
                  <a:srgbClr val="55606E"/>
                </a:solidFill>
                <a:latin typeface="Calibri" pitchFamily="34" charset="0"/>
                <a:ea typeface="Calibri" pitchFamily="34" charset="-122"/>
                <a:cs typeface="Calibri" pitchFamily="34" charset="-120"/>
              </a:rPr>
              <a:t>المنتج · ركيزة 1</a:t>
            </a:r>
            <a:endParaRPr lang="en-US" sz="1200" dirty="0"/>
          </a:p>
        </p:txBody>
      </p:sp>
      <p:sp>
        <p:nvSpPr>
          <p:cNvPr id="4" name="Text 2"/>
          <p:cNvSpPr/>
          <p:nvPr/>
        </p:nvSpPr>
        <p:spPr>
          <a:xfrm>
            <a:off x="457200" y="6446520"/>
            <a:ext cx="2286000" cy="274320"/>
          </a:xfrm>
          <a:prstGeom prst="rect">
            <a:avLst/>
          </a:prstGeom>
          <a:noFill/>
          <a:ln/>
        </p:spPr>
        <p:txBody>
          <a:bodyPr wrap="square" rtlCol="0" anchor="ctr"/>
          <a:lstStyle/>
          <a:p>
            <a:pPr algn="l" indent="0" marL="0">
              <a:buNone/>
            </a:pPr>
            <a:r>
              <a:rPr lang="en-US" sz="900" dirty="0">
                <a:solidFill>
                  <a:srgbClr val="8B95A3"/>
                </a:solidFill>
                <a:latin typeface="Calibri" pitchFamily="34" charset="0"/>
                <a:ea typeface="Calibri" pitchFamily="34" charset="-122"/>
                <a:cs typeface="Calibri" pitchFamily="34" charset="-120"/>
              </a:rPr>
              <a:t>Dealix · ديلكس</a:t>
            </a:r>
            <a:endParaRPr lang="en-US" sz="900" dirty="0"/>
          </a:p>
        </p:txBody>
      </p:sp>
      <p:sp>
        <p:nvSpPr>
          <p:cNvPr id="5" name="Text 3"/>
          <p:cNvSpPr/>
          <p:nvPr/>
        </p:nvSpPr>
        <p:spPr>
          <a:xfrm>
            <a:off x="11094415" y="6446520"/>
            <a:ext cx="640080" cy="274320"/>
          </a:xfrm>
          <a:prstGeom prst="rect">
            <a:avLst/>
          </a:prstGeom>
          <a:noFill/>
          <a:ln/>
        </p:spPr>
        <p:txBody>
          <a:bodyPr wrap="square" rtlCol="0" anchor="ctr"/>
          <a:lstStyle/>
          <a:p>
            <a:pPr algn="r" indent="0" marL="0">
              <a:buNone/>
            </a:pPr>
            <a:r>
              <a:rPr lang="en-US" sz="900" b="1" dirty="0">
                <a:solidFill>
                  <a:srgbClr val="8B95A3"/>
                </a:solidFill>
                <a:latin typeface="Calibri" pitchFamily="34" charset="0"/>
                <a:ea typeface="Calibri" pitchFamily="34" charset="-122"/>
                <a:cs typeface="Calibri" pitchFamily="34" charset="-120"/>
              </a:rPr>
              <a:t>11</a:t>
            </a:r>
            <a:endParaRPr lang="en-US" sz="900" dirty="0"/>
          </a:p>
        </p:txBody>
      </p:sp>
      <p:sp>
        <p:nvSpPr>
          <p:cNvPr id="6" name="Text 4"/>
          <p:cNvSpPr/>
          <p:nvPr/>
        </p:nvSpPr>
        <p:spPr>
          <a:xfrm>
            <a:off x="548640" y="914400"/>
            <a:ext cx="11094415" cy="822960"/>
          </a:xfrm>
          <a:prstGeom prst="rect">
            <a:avLst/>
          </a:prstGeom>
          <a:noFill/>
          <a:ln/>
        </p:spPr>
        <p:txBody>
          <a:bodyPr wrap="square" rtlCol="0" anchor="ctr"/>
          <a:lstStyle/>
          <a:p>
            <a:pPr rtl="1" algn="r" indent="0" marL="0">
              <a:buNone/>
            </a:pPr>
            <a:r>
              <a:rPr lang="en-US" sz="3400" b="1" dirty="0">
                <a:solidFill>
                  <a:srgbClr val="0A1628"/>
                </a:solidFill>
                <a:latin typeface="Calibri" pitchFamily="34" charset="0"/>
                <a:ea typeface="Calibri" pitchFamily="34" charset="-122"/>
                <a:cs typeface="Calibri" pitchFamily="34" charset="-120"/>
              </a:rPr>
              <a:t>محرك استخبارات العملاء V2</a:t>
            </a:r>
            <a:endParaRPr lang="en-US" sz="3400" dirty="0"/>
          </a:p>
        </p:txBody>
      </p:sp>
      <p:sp>
        <p:nvSpPr>
          <p:cNvPr id="7" name="Text 5"/>
          <p:cNvSpPr/>
          <p:nvPr/>
        </p:nvSpPr>
        <p:spPr>
          <a:xfrm>
            <a:off x="548640" y="1691640"/>
            <a:ext cx="11094415" cy="411480"/>
          </a:xfrm>
          <a:prstGeom prst="rect">
            <a:avLst/>
          </a:prstGeom>
          <a:noFill/>
          <a:ln/>
        </p:spPr>
        <p:txBody>
          <a:bodyPr wrap="square" rtlCol="0" anchor="ctr"/>
          <a:lstStyle/>
          <a:p>
            <a:pPr rtl="1" algn="r" indent="0" marL="0">
              <a:buNone/>
            </a:pPr>
            <a:r>
              <a:rPr lang="en-US" sz="1500" dirty="0">
                <a:solidFill>
                  <a:srgbClr val="55606E"/>
                </a:solidFill>
                <a:latin typeface="Calibri" pitchFamily="34" charset="0"/>
                <a:ea typeface="Calibri" pitchFamily="34" charset="-122"/>
                <a:cs typeface="Calibri" pitchFamily="34" charset="-120"/>
              </a:rPr>
              <a:t>Lead Intelligence Engine — الركيزة الأولى: اكتشاف + تأهيل آلي من أكثر من 8 مصادر محلية وخليجية</a:t>
            </a:r>
            <a:endParaRPr lang="en-US" sz="1500" dirty="0"/>
          </a:p>
        </p:txBody>
      </p:sp>
      <p:sp>
        <p:nvSpPr>
          <p:cNvPr id="8" name="Shape 6"/>
          <p:cNvSpPr/>
          <p:nvPr/>
        </p:nvSpPr>
        <p:spPr>
          <a:xfrm>
            <a:off x="502920" y="2240280"/>
            <a:ext cx="6675120" cy="3931920"/>
          </a:xfrm>
          <a:prstGeom prst="rect">
            <a:avLst/>
          </a:prstGeom>
          <a:solidFill>
            <a:srgbClr val="0A1628"/>
          </a:solidFill>
          <a:ln/>
        </p:spPr>
      </p:sp>
      <p:pic>
        <p:nvPicPr>
          <p:cNvPr id="9" name="Image 0" descr="/home/user/workspace/dealix-clean/dashboard/assets/v2-overview.png">    </p:cNvPr>
          <p:cNvPicPr>
            <a:picLocks noChangeAspect="1"/>
          </p:cNvPicPr>
          <p:nvPr/>
        </p:nvPicPr>
        <p:blipFill>
          <a:blip r:embed="rId1"/>
          <a:srcRect l="0" r="0" t="0" b="0"/>
          <a:stretch/>
        </p:blipFill>
        <p:spPr>
          <a:xfrm>
            <a:off x="548640" y="2286000"/>
            <a:ext cx="6583680" cy="3840480"/>
          </a:xfrm>
          <a:prstGeom prst="rect">
            <a:avLst/>
          </a:prstGeom>
        </p:spPr>
      </p:pic>
      <p:sp>
        <p:nvSpPr>
          <p:cNvPr id="10" name="Text 7"/>
          <p:cNvSpPr/>
          <p:nvPr/>
        </p:nvSpPr>
        <p:spPr>
          <a:xfrm>
            <a:off x="548640" y="6199632"/>
            <a:ext cx="6583680" cy="274320"/>
          </a:xfrm>
          <a:prstGeom prst="rect">
            <a:avLst/>
          </a:prstGeom>
          <a:noFill/>
          <a:ln/>
        </p:spPr>
        <p:txBody>
          <a:bodyPr wrap="square" rtlCol="0" anchor="ctr"/>
          <a:lstStyle/>
          <a:p>
            <a:pPr algn="l" indent="0" marL="0">
              <a:buNone/>
            </a:pPr>
            <a:r>
              <a:rPr lang="en-US" sz="1000" i="1" dirty="0">
                <a:solidFill>
                  <a:srgbClr val="8B95A3"/>
                </a:solidFill>
                <a:latin typeface="Calibri" pitchFamily="34" charset="0"/>
                <a:ea typeface="Calibri" pitchFamily="34" charset="-122"/>
                <a:cs typeface="Calibri" pitchFamily="34" charset="-120"/>
              </a:rPr>
              <a:t>Dealix Dashboard — Lead Intelligence Overview</a:t>
            </a:r>
            <a:endParaRPr lang="en-US" sz="1000" dirty="0"/>
          </a:p>
        </p:txBody>
      </p:sp>
      <p:sp>
        <p:nvSpPr>
          <p:cNvPr id="11" name="Text 8"/>
          <p:cNvSpPr/>
          <p:nvPr/>
        </p:nvSpPr>
        <p:spPr>
          <a:xfrm>
            <a:off x="7406640" y="2331720"/>
            <a:ext cx="4236415" cy="320040"/>
          </a:xfrm>
          <a:prstGeom prst="rect">
            <a:avLst/>
          </a:prstGeom>
          <a:noFill/>
          <a:ln/>
        </p:spPr>
        <p:txBody>
          <a:bodyPr wrap="square" rtlCol="0" anchor="ctr"/>
          <a:lstStyle/>
          <a:p>
            <a:pPr rtl="1" algn="r" indent="0" marL="0">
              <a:buNone/>
            </a:pPr>
            <a:r>
              <a:rPr lang="en-US" sz="1100" b="1" dirty="0">
                <a:solidFill>
                  <a:srgbClr val="D4A574"/>
                </a:solidFill>
                <a:latin typeface="Calibri" pitchFamily="34" charset="0"/>
                <a:ea typeface="Calibri" pitchFamily="34" charset="-122"/>
                <a:cs typeface="Calibri" pitchFamily="34" charset="-120"/>
              </a:rPr>
              <a:t>INTELLIGENCE · الاكتشاف</a:t>
            </a:r>
            <a:endParaRPr lang="en-US" sz="1100" dirty="0"/>
          </a:p>
        </p:txBody>
      </p:sp>
      <p:sp>
        <p:nvSpPr>
          <p:cNvPr id="12" name="Text 9"/>
          <p:cNvSpPr/>
          <p:nvPr/>
        </p:nvSpPr>
        <p:spPr>
          <a:xfrm>
            <a:off x="7406640" y="2651760"/>
            <a:ext cx="4236415" cy="640080"/>
          </a:xfrm>
          <a:prstGeom prst="rect">
            <a:avLst/>
          </a:prstGeom>
          <a:noFill/>
          <a:ln/>
        </p:spPr>
        <p:txBody>
          <a:bodyPr wrap="square" rtlCol="0" anchor="ctr"/>
          <a:lstStyle/>
          <a:p>
            <a:pPr rtl="1" algn="r" indent="0" marL="0">
              <a:buNone/>
            </a:pPr>
            <a:r>
              <a:rPr lang="en-US" sz="2200" b="1" dirty="0">
                <a:solidFill>
                  <a:srgbClr val="0A1628"/>
                </a:solidFill>
                <a:latin typeface="Calibri" pitchFamily="34" charset="0"/>
                <a:ea typeface="Calibri" pitchFamily="34" charset="-122"/>
                <a:cs typeface="Calibri" pitchFamily="34" charset="-120"/>
              </a:rPr>
              <a:t>ثمانية مصادر · لغتان · خليج واحد</a:t>
            </a:r>
            <a:endParaRPr lang="en-US" sz="2200" dirty="0"/>
          </a:p>
        </p:txBody>
      </p:sp>
      <p:sp>
        <p:nvSpPr>
          <p:cNvPr id="13" name="Shape 10"/>
          <p:cNvSpPr/>
          <p:nvPr/>
        </p:nvSpPr>
        <p:spPr>
          <a:xfrm>
            <a:off x="11094415" y="3337560"/>
            <a:ext cx="457200" cy="27432"/>
          </a:xfrm>
          <a:prstGeom prst="rect">
            <a:avLst/>
          </a:prstGeom>
          <a:solidFill>
            <a:srgbClr val="D4A574"/>
          </a:solidFill>
          <a:ln/>
        </p:spPr>
      </p:sp>
      <p:sp>
        <p:nvSpPr>
          <p:cNvPr id="14" name="Text 11"/>
          <p:cNvSpPr/>
          <p:nvPr/>
        </p:nvSpPr>
        <p:spPr>
          <a:xfrm>
            <a:off x="11368735" y="3429000"/>
            <a:ext cx="228600" cy="365760"/>
          </a:xfrm>
          <a:prstGeom prst="rect">
            <a:avLst/>
          </a:prstGeom>
          <a:noFill/>
          <a:ln/>
        </p:spPr>
        <p:txBody>
          <a:bodyPr wrap="square" rtlCol="0" anchor="t"/>
          <a:lstStyle/>
          <a:p>
            <a:pPr algn="r" indent="0" marL="0">
              <a:buNone/>
            </a:pPr>
            <a:r>
              <a:rPr lang="en-US" sz="1100" dirty="0">
                <a:solidFill>
                  <a:srgbClr val="D4A574"/>
                </a:solidFill>
                <a:latin typeface="Calibri" pitchFamily="34" charset="0"/>
                <a:ea typeface="Calibri" pitchFamily="34" charset="-122"/>
                <a:cs typeface="Calibri" pitchFamily="34" charset="-120"/>
              </a:rPr>
              <a:t>—</a:t>
            </a:r>
            <a:endParaRPr lang="en-US" sz="1100" dirty="0"/>
          </a:p>
        </p:txBody>
      </p:sp>
      <p:sp>
        <p:nvSpPr>
          <p:cNvPr id="15" name="Text 12"/>
          <p:cNvSpPr/>
          <p:nvPr/>
        </p:nvSpPr>
        <p:spPr>
          <a:xfrm>
            <a:off x="7406640" y="3429000"/>
            <a:ext cx="3870655" cy="434340"/>
          </a:xfrm>
          <a:prstGeom prst="rect">
            <a:avLst/>
          </a:prstGeom>
          <a:noFill/>
          <a:ln/>
        </p:spPr>
        <p:txBody>
          <a:bodyPr wrap="square" rtlCol="0" anchor="t"/>
          <a:lstStyle/>
          <a:p>
            <a:pPr rtl="1" algn="r" indent="0" marL="0">
              <a:buNone/>
            </a:pPr>
            <a:r>
              <a:rPr lang="en-US" sz="1100" dirty="0">
                <a:solidFill>
                  <a:srgbClr val="1A1A1A"/>
                </a:solidFill>
                <a:latin typeface="Calibri" pitchFamily="34" charset="0"/>
                <a:ea typeface="Calibri" pitchFamily="34" charset="-122"/>
                <a:cs typeface="Calibri" pitchFamily="34" charset="-120"/>
              </a:rPr>
              <a:t>اتاق (Etimad) · منصة المنافسات الحكومية السعودية — تنبيهات RFP فورية</a:t>
            </a:r>
            <a:endParaRPr lang="en-US" sz="1100" dirty="0"/>
          </a:p>
        </p:txBody>
      </p:sp>
      <p:sp>
        <p:nvSpPr>
          <p:cNvPr id="16" name="Text 13"/>
          <p:cNvSpPr/>
          <p:nvPr/>
        </p:nvSpPr>
        <p:spPr>
          <a:xfrm>
            <a:off x="11368735" y="3817620"/>
            <a:ext cx="228600" cy="365760"/>
          </a:xfrm>
          <a:prstGeom prst="rect">
            <a:avLst/>
          </a:prstGeom>
          <a:noFill/>
          <a:ln/>
        </p:spPr>
        <p:txBody>
          <a:bodyPr wrap="square" rtlCol="0" anchor="t"/>
          <a:lstStyle/>
          <a:p>
            <a:pPr algn="r" indent="0" marL="0">
              <a:buNone/>
            </a:pPr>
            <a:r>
              <a:rPr lang="en-US" sz="1100" dirty="0">
                <a:solidFill>
                  <a:srgbClr val="D4A574"/>
                </a:solidFill>
                <a:latin typeface="Calibri" pitchFamily="34" charset="0"/>
                <a:ea typeface="Calibri" pitchFamily="34" charset="-122"/>
                <a:cs typeface="Calibri" pitchFamily="34" charset="-120"/>
              </a:rPr>
              <a:t>—</a:t>
            </a:r>
            <a:endParaRPr lang="en-US" sz="1100" dirty="0"/>
          </a:p>
        </p:txBody>
      </p:sp>
      <p:sp>
        <p:nvSpPr>
          <p:cNvPr id="17" name="Text 14"/>
          <p:cNvSpPr/>
          <p:nvPr/>
        </p:nvSpPr>
        <p:spPr>
          <a:xfrm>
            <a:off x="7406640" y="3817620"/>
            <a:ext cx="3870655" cy="434340"/>
          </a:xfrm>
          <a:prstGeom prst="rect">
            <a:avLst/>
          </a:prstGeom>
          <a:noFill/>
          <a:ln/>
        </p:spPr>
        <p:txBody>
          <a:bodyPr wrap="square" rtlCol="0" anchor="t"/>
          <a:lstStyle/>
          <a:p>
            <a:pPr rtl="1" algn="r" indent="0" marL="0">
              <a:buNone/>
            </a:pPr>
            <a:r>
              <a:rPr lang="en-US" sz="1100" dirty="0">
                <a:solidFill>
                  <a:srgbClr val="1A1A1A"/>
                </a:solidFill>
                <a:latin typeface="Calibri" pitchFamily="34" charset="0"/>
                <a:ea typeface="Calibri" pitchFamily="34" charset="-122"/>
                <a:cs typeface="Calibri" pitchFamily="34" charset="-120"/>
              </a:rPr>
              <a:t>LinkedIn Sales Navigator + بوابات المناقصات الخليجية (DEWA · ADDED · MPW)</a:t>
            </a:r>
            <a:endParaRPr lang="en-US" sz="1100" dirty="0"/>
          </a:p>
        </p:txBody>
      </p:sp>
      <p:sp>
        <p:nvSpPr>
          <p:cNvPr id="18" name="Text 15"/>
          <p:cNvSpPr/>
          <p:nvPr/>
        </p:nvSpPr>
        <p:spPr>
          <a:xfrm>
            <a:off x="11368735" y="4206240"/>
            <a:ext cx="228600" cy="365760"/>
          </a:xfrm>
          <a:prstGeom prst="rect">
            <a:avLst/>
          </a:prstGeom>
          <a:noFill/>
          <a:ln/>
        </p:spPr>
        <p:txBody>
          <a:bodyPr wrap="square" rtlCol="0" anchor="t"/>
          <a:lstStyle/>
          <a:p>
            <a:pPr algn="r" indent="0" marL="0">
              <a:buNone/>
            </a:pPr>
            <a:r>
              <a:rPr lang="en-US" sz="1100" dirty="0">
                <a:solidFill>
                  <a:srgbClr val="D4A574"/>
                </a:solidFill>
                <a:latin typeface="Calibri" pitchFamily="34" charset="0"/>
                <a:ea typeface="Calibri" pitchFamily="34" charset="-122"/>
                <a:cs typeface="Calibri" pitchFamily="34" charset="-120"/>
              </a:rPr>
              <a:t>—</a:t>
            </a:r>
            <a:endParaRPr lang="en-US" sz="1100" dirty="0"/>
          </a:p>
        </p:txBody>
      </p:sp>
      <p:sp>
        <p:nvSpPr>
          <p:cNvPr id="19" name="Text 16"/>
          <p:cNvSpPr/>
          <p:nvPr/>
        </p:nvSpPr>
        <p:spPr>
          <a:xfrm>
            <a:off x="7406640" y="4206240"/>
            <a:ext cx="3870655" cy="434340"/>
          </a:xfrm>
          <a:prstGeom prst="rect">
            <a:avLst/>
          </a:prstGeom>
          <a:noFill/>
          <a:ln/>
        </p:spPr>
        <p:txBody>
          <a:bodyPr wrap="square" rtlCol="0" anchor="t"/>
          <a:lstStyle/>
          <a:p>
            <a:pPr rtl="1" algn="r" indent="0" marL="0">
              <a:buNone/>
            </a:pPr>
            <a:r>
              <a:rPr lang="en-US" sz="1100" dirty="0">
                <a:solidFill>
                  <a:srgbClr val="1A1A1A"/>
                </a:solidFill>
                <a:latin typeface="Calibri" pitchFamily="34" charset="0"/>
                <a:ea typeface="Calibri" pitchFamily="34" charset="-122"/>
                <a:cs typeface="Calibri" pitchFamily="34" charset="-120"/>
              </a:rPr>
              <a:t>WhatsApp Business API · نماذج الموقع · Google Forms</a:t>
            </a:r>
            <a:endParaRPr lang="en-US" sz="1100" dirty="0"/>
          </a:p>
        </p:txBody>
      </p:sp>
      <p:sp>
        <p:nvSpPr>
          <p:cNvPr id="20" name="Text 17"/>
          <p:cNvSpPr/>
          <p:nvPr/>
        </p:nvSpPr>
        <p:spPr>
          <a:xfrm>
            <a:off x="11368735" y="4594860"/>
            <a:ext cx="228600" cy="365760"/>
          </a:xfrm>
          <a:prstGeom prst="rect">
            <a:avLst/>
          </a:prstGeom>
          <a:noFill/>
          <a:ln/>
        </p:spPr>
        <p:txBody>
          <a:bodyPr wrap="square" rtlCol="0" anchor="t"/>
          <a:lstStyle/>
          <a:p>
            <a:pPr algn="r" indent="0" marL="0">
              <a:buNone/>
            </a:pPr>
            <a:r>
              <a:rPr lang="en-US" sz="1100" dirty="0">
                <a:solidFill>
                  <a:srgbClr val="D4A574"/>
                </a:solidFill>
                <a:latin typeface="Calibri" pitchFamily="34" charset="0"/>
                <a:ea typeface="Calibri" pitchFamily="34" charset="-122"/>
                <a:cs typeface="Calibri" pitchFamily="34" charset="-120"/>
              </a:rPr>
              <a:t>—</a:t>
            </a:r>
            <a:endParaRPr lang="en-US" sz="1100" dirty="0"/>
          </a:p>
        </p:txBody>
      </p:sp>
      <p:sp>
        <p:nvSpPr>
          <p:cNvPr id="21" name="Text 18"/>
          <p:cNvSpPr/>
          <p:nvPr/>
        </p:nvSpPr>
        <p:spPr>
          <a:xfrm>
            <a:off x="7406640" y="4594860"/>
            <a:ext cx="3870655" cy="434340"/>
          </a:xfrm>
          <a:prstGeom prst="rect">
            <a:avLst/>
          </a:prstGeom>
          <a:noFill/>
          <a:ln/>
        </p:spPr>
        <p:txBody>
          <a:bodyPr wrap="square" rtlCol="0" anchor="t"/>
          <a:lstStyle/>
          <a:p>
            <a:pPr rtl="1" algn="r" indent="0" marL="0">
              <a:buNone/>
            </a:pPr>
            <a:r>
              <a:rPr lang="en-US" sz="1100" dirty="0">
                <a:solidFill>
                  <a:srgbClr val="1A1A1A"/>
                </a:solidFill>
                <a:latin typeface="Calibri" pitchFamily="34" charset="0"/>
                <a:ea typeface="Calibri" pitchFamily="34" charset="-122"/>
                <a:cs typeface="Calibri" pitchFamily="34" charset="-120"/>
              </a:rPr>
              <a:t>Salla · Zid · Foodics · Odoo — توريد العملاء التجار</a:t>
            </a:r>
            <a:endParaRPr lang="en-US" sz="1100" dirty="0"/>
          </a:p>
        </p:txBody>
      </p:sp>
      <p:sp>
        <p:nvSpPr>
          <p:cNvPr id="22" name="Text 19"/>
          <p:cNvSpPr/>
          <p:nvPr/>
        </p:nvSpPr>
        <p:spPr>
          <a:xfrm>
            <a:off x="11368735" y="4983480"/>
            <a:ext cx="228600" cy="365760"/>
          </a:xfrm>
          <a:prstGeom prst="rect">
            <a:avLst/>
          </a:prstGeom>
          <a:noFill/>
          <a:ln/>
        </p:spPr>
        <p:txBody>
          <a:bodyPr wrap="square" rtlCol="0" anchor="t"/>
          <a:lstStyle/>
          <a:p>
            <a:pPr algn="r" indent="0" marL="0">
              <a:buNone/>
            </a:pPr>
            <a:r>
              <a:rPr lang="en-US" sz="1100" dirty="0">
                <a:solidFill>
                  <a:srgbClr val="D4A574"/>
                </a:solidFill>
                <a:latin typeface="Calibri" pitchFamily="34" charset="0"/>
                <a:ea typeface="Calibri" pitchFamily="34" charset="-122"/>
                <a:cs typeface="Calibri" pitchFamily="34" charset="-120"/>
              </a:rPr>
              <a:t>—</a:t>
            </a:r>
            <a:endParaRPr lang="en-US" sz="1100" dirty="0"/>
          </a:p>
        </p:txBody>
      </p:sp>
      <p:sp>
        <p:nvSpPr>
          <p:cNvPr id="23" name="Text 20"/>
          <p:cNvSpPr/>
          <p:nvPr/>
        </p:nvSpPr>
        <p:spPr>
          <a:xfrm>
            <a:off x="7406640" y="4983480"/>
            <a:ext cx="3870655" cy="434340"/>
          </a:xfrm>
          <a:prstGeom prst="rect">
            <a:avLst/>
          </a:prstGeom>
          <a:noFill/>
          <a:ln/>
        </p:spPr>
        <p:txBody>
          <a:bodyPr wrap="square" rtlCol="0" anchor="t"/>
          <a:lstStyle/>
          <a:p>
            <a:pPr rtl="1" algn="r" indent="0" marL="0">
              <a:buNone/>
            </a:pPr>
            <a:r>
              <a:rPr lang="en-US" sz="1100" dirty="0">
                <a:solidFill>
                  <a:srgbClr val="1A1A1A"/>
                </a:solidFill>
                <a:latin typeface="Calibri" pitchFamily="34" charset="0"/>
                <a:ea typeface="Calibri" pitchFamily="34" charset="-122"/>
                <a:cs typeface="Calibri" pitchFamily="34" charset="-120"/>
              </a:rPr>
              <a:t>تحليل NLP عربي — يفهم "شحن ثلّاجي" و"مناولة" و"نقل أسطول"</a:t>
            </a:r>
            <a:endParaRPr lang="en-US" sz="1100" dirty="0"/>
          </a:p>
        </p:txBody>
      </p:sp>
      <p:sp>
        <p:nvSpPr>
          <p:cNvPr id="24" name="Text 21"/>
          <p:cNvSpPr/>
          <p:nvPr/>
        </p:nvSpPr>
        <p:spPr>
          <a:xfrm>
            <a:off x="11368735" y="5372100"/>
            <a:ext cx="228600" cy="365760"/>
          </a:xfrm>
          <a:prstGeom prst="rect">
            <a:avLst/>
          </a:prstGeom>
          <a:noFill/>
          <a:ln/>
        </p:spPr>
        <p:txBody>
          <a:bodyPr wrap="square" rtlCol="0" anchor="t"/>
          <a:lstStyle/>
          <a:p>
            <a:pPr algn="r" indent="0" marL="0">
              <a:buNone/>
            </a:pPr>
            <a:r>
              <a:rPr lang="en-US" sz="1100" dirty="0">
                <a:solidFill>
                  <a:srgbClr val="D4A574"/>
                </a:solidFill>
                <a:latin typeface="Calibri" pitchFamily="34" charset="0"/>
                <a:ea typeface="Calibri" pitchFamily="34" charset="-122"/>
                <a:cs typeface="Calibri" pitchFamily="34" charset="-120"/>
              </a:rPr>
              <a:t>—</a:t>
            </a:r>
            <a:endParaRPr lang="en-US" sz="1100" dirty="0"/>
          </a:p>
        </p:txBody>
      </p:sp>
      <p:sp>
        <p:nvSpPr>
          <p:cNvPr id="25" name="Text 22"/>
          <p:cNvSpPr/>
          <p:nvPr/>
        </p:nvSpPr>
        <p:spPr>
          <a:xfrm>
            <a:off x="7406640" y="5372100"/>
            <a:ext cx="3870655" cy="434340"/>
          </a:xfrm>
          <a:prstGeom prst="rect">
            <a:avLst/>
          </a:prstGeom>
          <a:noFill/>
          <a:ln/>
        </p:spPr>
        <p:txBody>
          <a:bodyPr wrap="square" rtlCol="0" anchor="t"/>
          <a:lstStyle/>
          <a:p>
            <a:pPr rtl="1" algn="r" indent="0" marL="0">
              <a:buNone/>
            </a:pPr>
            <a:r>
              <a:rPr lang="en-US" sz="1100" dirty="0">
                <a:solidFill>
                  <a:srgbClr val="1A1A1A"/>
                </a:solidFill>
                <a:latin typeface="Calibri" pitchFamily="34" charset="0"/>
                <a:ea typeface="Calibri" pitchFamily="34" charset="-122"/>
                <a:cs typeface="Calibri" pitchFamily="34" charset="-120"/>
              </a:rPr>
              <a:t>تسجيل تلقائي من 0—100 حسب حجم الفرصة، الاستعجال، والاحتمالية</a:t>
            </a:r>
            <a:endParaRPr lang="en-US" sz="1100" dirty="0"/>
          </a:p>
        </p:txBody>
      </p:sp>
      <p:sp>
        <p:nvSpPr>
          <p:cNvPr id="26" name="Text 23"/>
          <p:cNvSpPr/>
          <p:nvPr/>
        </p:nvSpPr>
        <p:spPr>
          <a:xfrm>
            <a:off x="11368735" y="5760720"/>
            <a:ext cx="228600" cy="365760"/>
          </a:xfrm>
          <a:prstGeom prst="rect">
            <a:avLst/>
          </a:prstGeom>
          <a:noFill/>
          <a:ln/>
        </p:spPr>
        <p:txBody>
          <a:bodyPr wrap="square" rtlCol="0" anchor="t"/>
          <a:lstStyle/>
          <a:p>
            <a:pPr algn="r" indent="0" marL="0">
              <a:buNone/>
            </a:pPr>
            <a:r>
              <a:rPr lang="en-US" sz="1100" dirty="0">
                <a:solidFill>
                  <a:srgbClr val="D4A574"/>
                </a:solidFill>
                <a:latin typeface="Calibri" pitchFamily="34" charset="0"/>
                <a:ea typeface="Calibri" pitchFamily="34" charset="-122"/>
                <a:cs typeface="Calibri" pitchFamily="34" charset="-120"/>
              </a:rPr>
              <a:t>—</a:t>
            </a:r>
            <a:endParaRPr lang="en-US" sz="1100" dirty="0"/>
          </a:p>
        </p:txBody>
      </p:sp>
      <p:sp>
        <p:nvSpPr>
          <p:cNvPr id="27" name="Text 24"/>
          <p:cNvSpPr/>
          <p:nvPr/>
        </p:nvSpPr>
        <p:spPr>
          <a:xfrm>
            <a:off x="7406640" y="5760720"/>
            <a:ext cx="3870655" cy="434340"/>
          </a:xfrm>
          <a:prstGeom prst="rect">
            <a:avLst/>
          </a:prstGeom>
          <a:noFill/>
          <a:ln/>
        </p:spPr>
        <p:txBody>
          <a:bodyPr wrap="square" rtlCol="0" anchor="t"/>
          <a:lstStyle/>
          <a:p>
            <a:pPr rtl="1" algn="r" indent="0" marL="0">
              <a:buNone/>
            </a:pPr>
            <a:r>
              <a:rPr lang="en-US" sz="1100" dirty="0">
                <a:solidFill>
                  <a:srgbClr val="1A1A1A"/>
                </a:solidFill>
                <a:latin typeface="Calibri" pitchFamily="34" charset="0"/>
                <a:ea typeface="Calibri" pitchFamily="34" charset="-122"/>
                <a:cs typeface="Calibri" pitchFamily="34" charset="-120"/>
              </a:rPr>
              <a:t>توزيع فوري على المندوب المناسب حسب المدينة والقطاع والخبرة</a:t>
            </a:r>
            <a:endParaRPr lang="en-US" sz="1100" dirty="0"/>
          </a:p>
        </p:txBody>
      </p:sp>
      <p:sp>
        <p:nvSpPr>
          <p:cNvPr id="28" name="Text 25"/>
          <p:cNvSpPr/>
          <p:nvPr/>
        </p:nvSpPr>
        <p:spPr>
          <a:xfrm>
            <a:off x="457200" y="6172200"/>
            <a:ext cx="10362895" cy="256032"/>
          </a:xfrm>
          <a:prstGeom prst="rect">
            <a:avLst/>
          </a:prstGeom>
          <a:noFill/>
          <a:ln/>
        </p:spPr>
        <p:txBody>
          <a:bodyPr wrap="square" rtlCol="0" anchor="ctr"/>
          <a:lstStyle/>
          <a:p>
            <a:pPr rtl="1" algn="r" indent="0" marL="0">
              <a:buNone/>
            </a:pPr>
            <a:r>
              <a:rPr lang="en-US" sz="900" dirty="0">
                <a:solidFill>
                  <a:srgbClr val="8B95A3"/>
                </a:solidFill>
                <a:latin typeface="Calibri" pitchFamily="34" charset="0"/>
                <a:ea typeface="Calibri" pitchFamily="34" charset="-122"/>
                <a:cs typeface="Calibri" pitchFamily="34" charset="-120"/>
              </a:rPr>
              <a:t>المصدر: </a:t>
            </a:r>
            <a:pPr rtl="1" algn="r" indent="0" marL="0">
              <a:buNone/>
            </a:pPr>
            <a:r>
              <a:rPr lang="en-US" sz="900" u="sng" dirty="0">
                <a:solidFill>
                  <a:srgbClr val="B8874C"/>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Dealix Product Specs</a:t>
            </a:r>
            <a:pPr algn="r" indent="0" marL="0">
              <a:buNone/>
            </a:pPr>
            <a:r>
              <a:rPr lang="en-US" sz="900" dirty="0">
                <a:solidFill>
                  <a:srgbClr val="8B95A3"/>
                </a:solidFill>
                <a:latin typeface="Calibri" pitchFamily="34" charset="0"/>
                <a:ea typeface="Calibri" pitchFamily="34" charset="-122"/>
                <a:cs typeface="Calibri" pitchFamily="34" charset="-120"/>
              </a:rPr>
              <a:t> · </a:t>
            </a:r>
            <a:pPr rtl="1" algn="r" indent="0" marL="0">
              <a:buNone/>
            </a:pPr>
            <a:r>
              <a:rPr lang="en-US" sz="900" u="sng" dirty="0">
                <a:solidFill>
                  <a:srgbClr val="B8874C"/>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Etimad</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8F3"/>
        </a:solidFill>
      </p:bgPr>
    </p:bg>
    <p:spTree>
      <p:nvGrpSpPr>
        <p:cNvPr id="1" name=""/>
        <p:cNvGrpSpPr/>
        <p:nvPr/>
      </p:nvGrpSpPr>
      <p:grpSpPr>
        <a:xfrm>
          <a:off x="0" y="0"/>
          <a:ext cx="0" cy="0"/>
          <a:chOff x="0" y="0"/>
          <a:chExt cx="0" cy="0"/>
        </a:xfrm>
      </p:grpSpPr>
      <p:sp>
        <p:nvSpPr>
          <p:cNvPr id="2" name="Shape 0"/>
          <p:cNvSpPr/>
          <p:nvPr/>
        </p:nvSpPr>
        <p:spPr>
          <a:xfrm>
            <a:off x="11734495" y="320040"/>
            <a:ext cx="73152" cy="411480"/>
          </a:xfrm>
          <a:prstGeom prst="rect">
            <a:avLst/>
          </a:prstGeom>
          <a:solidFill>
            <a:srgbClr val="D4A574"/>
          </a:solidFill>
          <a:ln/>
        </p:spPr>
      </p:sp>
      <p:sp>
        <p:nvSpPr>
          <p:cNvPr id="3" name="Text 1"/>
          <p:cNvSpPr/>
          <p:nvPr/>
        </p:nvSpPr>
        <p:spPr>
          <a:xfrm>
            <a:off x="8076895" y="274320"/>
            <a:ext cx="3566160" cy="365760"/>
          </a:xfrm>
          <a:prstGeom prst="rect">
            <a:avLst/>
          </a:prstGeom>
          <a:noFill/>
          <a:ln/>
        </p:spPr>
        <p:txBody>
          <a:bodyPr wrap="square" rtlCol="0" anchor="ctr"/>
          <a:lstStyle/>
          <a:p>
            <a:pPr rtl="1" algn="r" indent="0" marL="0">
              <a:buNone/>
            </a:pPr>
            <a:r>
              <a:rPr lang="en-US" sz="1200" b="1" dirty="0">
                <a:solidFill>
                  <a:srgbClr val="55606E"/>
                </a:solidFill>
                <a:latin typeface="Calibri" pitchFamily="34" charset="0"/>
                <a:ea typeface="Calibri" pitchFamily="34" charset="-122"/>
                <a:cs typeface="Calibri" pitchFamily="34" charset="-120"/>
              </a:rPr>
              <a:t>المنتج · ركيزة 2</a:t>
            </a:r>
            <a:endParaRPr lang="en-US" sz="1200" dirty="0"/>
          </a:p>
        </p:txBody>
      </p:sp>
      <p:sp>
        <p:nvSpPr>
          <p:cNvPr id="4" name="Text 2"/>
          <p:cNvSpPr/>
          <p:nvPr/>
        </p:nvSpPr>
        <p:spPr>
          <a:xfrm>
            <a:off x="457200" y="6446520"/>
            <a:ext cx="2286000" cy="274320"/>
          </a:xfrm>
          <a:prstGeom prst="rect">
            <a:avLst/>
          </a:prstGeom>
          <a:noFill/>
          <a:ln/>
        </p:spPr>
        <p:txBody>
          <a:bodyPr wrap="square" rtlCol="0" anchor="ctr"/>
          <a:lstStyle/>
          <a:p>
            <a:pPr algn="l" indent="0" marL="0">
              <a:buNone/>
            </a:pPr>
            <a:r>
              <a:rPr lang="en-US" sz="900" dirty="0">
                <a:solidFill>
                  <a:srgbClr val="8B95A3"/>
                </a:solidFill>
                <a:latin typeface="Calibri" pitchFamily="34" charset="0"/>
                <a:ea typeface="Calibri" pitchFamily="34" charset="-122"/>
                <a:cs typeface="Calibri" pitchFamily="34" charset="-120"/>
              </a:rPr>
              <a:t>Dealix · ديلكس</a:t>
            </a:r>
            <a:endParaRPr lang="en-US" sz="900" dirty="0"/>
          </a:p>
        </p:txBody>
      </p:sp>
      <p:sp>
        <p:nvSpPr>
          <p:cNvPr id="5" name="Text 3"/>
          <p:cNvSpPr/>
          <p:nvPr/>
        </p:nvSpPr>
        <p:spPr>
          <a:xfrm>
            <a:off x="11094415" y="6446520"/>
            <a:ext cx="640080" cy="274320"/>
          </a:xfrm>
          <a:prstGeom prst="rect">
            <a:avLst/>
          </a:prstGeom>
          <a:noFill/>
          <a:ln/>
        </p:spPr>
        <p:txBody>
          <a:bodyPr wrap="square" rtlCol="0" anchor="ctr"/>
          <a:lstStyle/>
          <a:p>
            <a:pPr algn="r" indent="0" marL="0">
              <a:buNone/>
            </a:pPr>
            <a:r>
              <a:rPr lang="en-US" sz="900" b="1" dirty="0">
                <a:solidFill>
                  <a:srgbClr val="8B95A3"/>
                </a:solidFill>
                <a:latin typeface="Calibri" pitchFamily="34" charset="0"/>
                <a:ea typeface="Calibri" pitchFamily="34" charset="-122"/>
                <a:cs typeface="Calibri" pitchFamily="34" charset="-120"/>
              </a:rPr>
              <a:t>12</a:t>
            </a:r>
            <a:endParaRPr lang="en-US" sz="900" dirty="0"/>
          </a:p>
        </p:txBody>
      </p:sp>
      <p:sp>
        <p:nvSpPr>
          <p:cNvPr id="6" name="Text 4"/>
          <p:cNvSpPr/>
          <p:nvPr/>
        </p:nvSpPr>
        <p:spPr>
          <a:xfrm>
            <a:off x="548640" y="914400"/>
            <a:ext cx="11094415" cy="822960"/>
          </a:xfrm>
          <a:prstGeom prst="rect">
            <a:avLst/>
          </a:prstGeom>
          <a:noFill/>
          <a:ln/>
        </p:spPr>
        <p:txBody>
          <a:bodyPr wrap="square" rtlCol="0" anchor="ctr"/>
          <a:lstStyle/>
          <a:p>
            <a:pPr rtl="1" algn="r" indent="0" marL="0">
              <a:buNone/>
            </a:pPr>
            <a:r>
              <a:rPr lang="en-US" sz="3400" b="1" dirty="0">
                <a:solidFill>
                  <a:srgbClr val="0A1628"/>
                </a:solidFill>
                <a:latin typeface="Calibri" pitchFamily="34" charset="0"/>
                <a:ea typeface="Calibri" pitchFamily="34" charset="-122"/>
                <a:cs typeface="Calibri" pitchFamily="34" charset="-120"/>
              </a:rPr>
              <a:t>تواصل متعدد القنوات</a:t>
            </a:r>
            <a:endParaRPr lang="en-US" sz="3400" dirty="0"/>
          </a:p>
        </p:txBody>
      </p:sp>
      <p:sp>
        <p:nvSpPr>
          <p:cNvPr id="7" name="Text 5"/>
          <p:cNvSpPr/>
          <p:nvPr/>
        </p:nvSpPr>
        <p:spPr>
          <a:xfrm>
            <a:off x="548640" y="1691640"/>
            <a:ext cx="11094415" cy="411480"/>
          </a:xfrm>
          <a:prstGeom prst="rect">
            <a:avLst/>
          </a:prstGeom>
          <a:noFill/>
          <a:ln/>
        </p:spPr>
        <p:txBody>
          <a:bodyPr wrap="square" rtlCol="0" anchor="ctr"/>
          <a:lstStyle/>
          <a:p>
            <a:pPr rtl="1" algn="r" indent="0" marL="0">
              <a:buNone/>
            </a:pPr>
            <a:r>
              <a:rPr lang="en-US" sz="1500" dirty="0">
                <a:solidFill>
                  <a:srgbClr val="55606E"/>
                </a:solidFill>
                <a:latin typeface="Calibri" pitchFamily="34" charset="0"/>
                <a:ea typeface="Calibri" pitchFamily="34" charset="-122"/>
                <a:cs typeface="Calibri" pitchFamily="34" charset="-120"/>
              </a:rPr>
              <a:t>Omnichannel Engagement — كل القنوات في صندوق وارد موحّد، مع سياق كامل لكل عميل</a:t>
            </a:r>
            <a:endParaRPr lang="en-US" sz="1500" dirty="0"/>
          </a:p>
        </p:txBody>
      </p:sp>
      <p:sp>
        <p:nvSpPr>
          <p:cNvPr id="8" name="Shape 6"/>
          <p:cNvSpPr/>
          <p:nvPr/>
        </p:nvSpPr>
        <p:spPr>
          <a:xfrm>
            <a:off x="502920" y="2240280"/>
            <a:ext cx="6675120" cy="3931920"/>
          </a:xfrm>
          <a:prstGeom prst="rect">
            <a:avLst/>
          </a:prstGeom>
          <a:solidFill>
            <a:srgbClr val="0A1628"/>
          </a:solidFill>
          <a:ln/>
        </p:spPr>
      </p:sp>
      <p:pic>
        <p:nvPicPr>
          <p:cNvPr id="9" name="Image 0" descr="/home/user/workspace/dealix-clean/dashboard/assets/screenshot-inbox.png">    </p:cNvPr>
          <p:cNvPicPr>
            <a:picLocks noChangeAspect="1"/>
          </p:cNvPicPr>
          <p:nvPr/>
        </p:nvPicPr>
        <p:blipFill>
          <a:blip r:embed="rId1"/>
          <a:srcRect l="0" r="0" t="0" b="0"/>
          <a:stretch/>
        </p:blipFill>
        <p:spPr>
          <a:xfrm>
            <a:off x="548640" y="2286000"/>
            <a:ext cx="6583680" cy="3840480"/>
          </a:xfrm>
          <a:prstGeom prst="rect">
            <a:avLst/>
          </a:prstGeom>
        </p:spPr>
      </p:pic>
      <p:sp>
        <p:nvSpPr>
          <p:cNvPr id="10" name="Text 7"/>
          <p:cNvSpPr/>
          <p:nvPr/>
        </p:nvSpPr>
        <p:spPr>
          <a:xfrm>
            <a:off x="548640" y="6199632"/>
            <a:ext cx="6583680" cy="274320"/>
          </a:xfrm>
          <a:prstGeom prst="rect">
            <a:avLst/>
          </a:prstGeom>
          <a:noFill/>
          <a:ln/>
        </p:spPr>
        <p:txBody>
          <a:bodyPr wrap="square" rtlCol="0" anchor="ctr"/>
          <a:lstStyle/>
          <a:p>
            <a:pPr algn="l" indent="0" marL="0">
              <a:buNone/>
            </a:pPr>
            <a:r>
              <a:rPr lang="en-US" sz="1000" i="1" dirty="0">
                <a:solidFill>
                  <a:srgbClr val="8B95A3"/>
                </a:solidFill>
                <a:latin typeface="Calibri" pitchFamily="34" charset="0"/>
                <a:ea typeface="Calibri" pitchFamily="34" charset="-122"/>
                <a:cs typeface="Calibri" pitchFamily="34" charset="-120"/>
              </a:rPr>
              <a:t>Unified Inbox — WhatsApp · SMS · Email · LinkedIn · Voice</a:t>
            </a:r>
            <a:endParaRPr lang="en-US" sz="1000" dirty="0"/>
          </a:p>
        </p:txBody>
      </p:sp>
      <p:sp>
        <p:nvSpPr>
          <p:cNvPr id="11" name="Text 8"/>
          <p:cNvSpPr/>
          <p:nvPr/>
        </p:nvSpPr>
        <p:spPr>
          <a:xfrm>
            <a:off x="7406640" y="2331720"/>
            <a:ext cx="4236415" cy="320040"/>
          </a:xfrm>
          <a:prstGeom prst="rect">
            <a:avLst/>
          </a:prstGeom>
          <a:noFill/>
          <a:ln/>
        </p:spPr>
        <p:txBody>
          <a:bodyPr wrap="square" rtlCol="0" anchor="ctr"/>
          <a:lstStyle/>
          <a:p>
            <a:pPr rtl="1" algn="r" indent="0" marL="0">
              <a:buNone/>
            </a:pPr>
            <a:r>
              <a:rPr lang="en-US" sz="1100" b="1" dirty="0">
                <a:solidFill>
                  <a:srgbClr val="D4A574"/>
                </a:solidFill>
                <a:latin typeface="Calibri" pitchFamily="34" charset="0"/>
                <a:ea typeface="Calibri" pitchFamily="34" charset="-122"/>
                <a:cs typeface="Calibri" pitchFamily="34" charset="-120"/>
              </a:rPr>
              <a:t>ENGAGEMENT · التواصل</a:t>
            </a:r>
            <a:endParaRPr lang="en-US" sz="1100" dirty="0"/>
          </a:p>
        </p:txBody>
      </p:sp>
      <p:sp>
        <p:nvSpPr>
          <p:cNvPr id="12" name="Text 9"/>
          <p:cNvSpPr/>
          <p:nvPr/>
        </p:nvSpPr>
        <p:spPr>
          <a:xfrm>
            <a:off x="7406640" y="2651760"/>
            <a:ext cx="4236415" cy="640080"/>
          </a:xfrm>
          <a:prstGeom prst="rect">
            <a:avLst/>
          </a:prstGeom>
          <a:noFill/>
          <a:ln/>
        </p:spPr>
        <p:txBody>
          <a:bodyPr wrap="square" rtlCol="0" anchor="ctr"/>
          <a:lstStyle/>
          <a:p>
            <a:pPr rtl="1" algn="r" indent="0" marL="0">
              <a:buNone/>
            </a:pPr>
            <a:r>
              <a:rPr lang="en-US" sz="2200" b="1" dirty="0">
                <a:solidFill>
                  <a:srgbClr val="0A1628"/>
                </a:solidFill>
                <a:latin typeface="Calibri" pitchFamily="34" charset="0"/>
                <a:ea typeface="Calibri" pitchFamily="34" charset="-122"/>
                <a:cs typeface="Calibri" pitchFamily="34" charset="-120"/>
              </a:rPr>
              <a:t>صندوق وارد واحد لكل فروعكم</a:t>
            </a:r>
            <a:endParaRPr lang="en-US" sz="2200" dirty="0"/>
          </a:p>
        </p:txBody>
      </p:sp>
      <p:sp>
        <p:nvSpPr>
          <p:cNvPr id="13" name="Shape 10"/>
          <p:cNvSpPr/>
          <p:nvPr/>
        </p:nvSpPr>
        <p:spPr>
          <a:xfrm>
            <a:off x="11094415" y="3337560"/>
            <a:ext cx="457200" cy="27432"/>
          </a:xfrm>
          <a:prstGeom prst="rect">
            <a:avLst/>
          </a:prstGeom>
          <a:solidFill>
            <a:srgbClr val="D4A574"/>
          </a:solidFill>
          <a:ln/>
        </p:spPr>
      </p:sp>
      <p:sp>
        <p:nvSpPr>
          <p:cNvPr id="14" name="Text 11"/>
          <p:cNvSpPr/>
          <p:nvPr/>
        </p:nvSpPr>
        <p:spPr>
          <a:xfrm>
            <a:off x="11368735" y="3429000"/>
            <a:ext cx="228600" cy="365760"/>
          </a:xfrm>
          <a:prstGeom prst="rect">
            <a:avLst/>
          </a:prstGeom>
          <a:noFill/>
          <a:ln/>
        </p:spPr>
        <p:txBody>
          <a:bodyPr wrap="square" rtlCol="0" anchor="t"/>
          <a:lstStyle/>
          <a:p>
            <a:pPr algn="r" indent="0" marL="0">
              <a:buNone/>
            </a:pPr>
            <a:r>
              <a:rPr lang="en-US" sz="1100" dirty="0">
                <a:solidFill>
                  <a:srgbClr val="D4A574"/>
                </a:solidFill>
                <a:latin typeface="Calibri" pitchFamily="34" charset="0"/>
                <a:ea typeface="Calibri" pitchFamily="34" charset="-122"/>
                <a:cs typeface="Calibri" pitchFamily="34" charset="-120"/>
              </a:rPr>
              <a:t>—</a:t>
            </a:r>
            <a:endParaRPr lang="en-US" sz="1100" dirty="0"/>
          </a:p>
        </p:txBody>
      </p:sp>
      <p:sp>
        <p:nvSpPr>
          <p:cNvPr id="15" name="Text 12"/>
          <p:cNvSpPr/>
          <p:nvPr/>
        </p:nvSpPr>
        <p:spPr>
          <a:xfrm>
            <a:off x="7406640" y="3429000"/>
            <a:ext cx="3870655" cy="434340"/>
          </a:xfrm>
          <a:prstGeom prst="rect">
            <a:avLst/>
          </a:prstGeom>
          <a:noFill/>
          <a:ln/>
        </p:spPr>
        <p:txBody>
          <a:bodyPr wrap="square" rtlCol="0" anchor="t"/>
          <a:lstStyle/>
          <a:p>
            <a:pPr rtl="1" algn="r" indent="0" marL="0">
              <a:buNone/>
            </a:pPr>
            <a:r>
              <a:rPr lang="en-US" sz="1100" dirty="0">
                <a:solidFill>
                  <a:srgbClr val="1A1A1A"/>
                </a:solidFill>
                <a:latin typeface="Calibri" pitchFamily="34" charset="0"/>
                <a:ea typeface="Calibri" pitchFamily="34" charset="-122"/>
                <a:cs typeface="Calibri" pitchFamily="34" charset="-120"/>
              </a:rPr>
              <a:t>WhatsApp Business API أصلي (ليس عبر وسيط) — توثيق رسمي من Meta</a:t>
            </a:r>
            <a:endParaRPr lang="en-US" sz="1100" dirty="0"/>
          </a:p>
        </p:txBody>
      </p:sp>
      <p:sp>
        <p:nvSpPr>
          <p:cNvPr id="16" name="Text 13"/>
          <p:cNvSpPr/>
          <p:nvPr/>
        </p:nvSpPr>
        <p:spPr>
          <a:xfrm>
            <a:off x="11368735" y="3817620"/>
            <a:ext cx="228600" cy="365760"/>
          </a:xfrm>
          <a:prstGeom prst="rect">
            <a:avLst/>
          </a:prstGeom>
          <a:noFill/>
          <a:ln/>
        </p:spPr>
        <p:txBody>
          <a:bodyPr wrap="square" rtlCol="0" anchor="t"/>
          <a:lstStyle/>
          <a:p>
            <a:pPr algn="r" indent="0" marL="0">
              <a:buNone/>
            </a:pPr>
            <a:r>
              <a:rPr lang="en-US" sz="1100" dirty="0">
                <a:solidFill>
                  <a:srgbClr val="D4A574"/>
                </a:solidFill>
                <a:latin typeface="Calibri" pitchFamily="34" charset="0"/>
                <a:ea typeface="Calibri" pitchFamily="34" charset="-122"/>
                <a:cs typeface="Calibri" pitchFamily="34" charset="-120"/>
              </a:rPr>
              <a:t>—</a:t>
            </a:r>
            <a:endParaRPr lang="en-US" sz="1100" dirty="0"/>
          </a:p>
        </p:txBody>
      </p:sp>
      <p:sp>
        <p:nvSpPr>
          <p:cNvPr id="17" name="Text 14"/>
          <p:cNvSpPr/>
          <p:nvPr/>
        </p:nvSpPr>
        <p:spPr>
          <a:xfrm>
            <a:off x="7406640" y="3817620"/>
            <a:ext cx="3870655" cy="434340"/>
          </a:xfrm>
          <a:prstGeom prst="rect">
            <a:avLst/>
          </a:prstGeom>
          <a:noFill/>
          <a:ln/>
        </p:spPr>
        <p:txBody>
          <a:bodyPr wrap="square" rtlCol="0" anchor="t"/>
          <a:lstStyle/>
          <a:p>
            <a:pPr rtl="1" algn="r" indent="0" marL="0">
              <a:buNone/>
            </a:pPr>
            <a:r>
              <a:rPr lang="en-US" sz="1100" dirty="0">
                <a:solidFill>
                  <a:srgbClr val="1A1A1A"/>
                </a:solidFill>
                <a:latin typeface="Calibri" pitchFamily="34" charset="0"/>
                <a:ea typeface="Calibri" pitchFamily="34" charset="-122"/>
                <a:cs typeface="Calibri" pitchFamily="34" charset="-120"/>
              </a:rPr>
              <a:t>SMS عبر Twilio / Unifonic مع تتبّع التسليم والقراءة</a:t>
            </a:r>
            <a:endParaRPr lang="en-US" sz="1100" dirty="0"/>
          </a:p>
        </p:txBody>
      </p:sp>
      <p:sp>
        <p:nvSpPr>
          <p:cNvPr id="18" name="Text 15"/>
          <p:cNvSpPr/>
          <p:nvPr/>
        </p:nvSpPr>
        <p:spPr>
          <a:xfrm>
            <a:off x="11368735" y="4206240"/>
            <a:ext cx="228600" cy="365760"/>
          </a:xfrm>
          <a:prstGeom prst="rect">
            <a:avLst/>
          </a:prstGeom>
          <a:noFill/>
          <a:ln/>
        </p:spPr>
        <p:txBody>
          <a:bodyPr wrap="square" rtlCol="0" anchor="t"/>
          <a:lstStyle/>
          <a:p>
            <a:pPr algn="r" indent="0" marL="0">
              <a:buNone/>
            </a:pPr>
            <a:r>
              <a:rPr lang="en-US" sz="1100" dirty="0">
                <a:solidFill>
                  <a:srgbClr val="D4A574"/>
                </a:solidFill>
                <a:latin typeface="Calibri" pitchFamily="34" charset="0"/>
                <a:ea typeface="Calibri" pitchFamily="34" charset="-122"/>
                <a:cs typeface="Calibri" pitchFamily="34" charset="-120"/>
              </a:rPr>
              <a:t>—</a:t>
            </a:r>
            <a:endParaRPr lang="en-US" sz="1100" dirty="0"/>
          </a:p>
        </p:txBody>
      </p:sp>
      <p:sp>
        <p:nvSpPr>
          <p:cNvPr id="19" name="Text 16"/>
          <p:cNvSpPr/>
          <p:nvPr/>
        </p:nvSpPr>
        <p:spPr>
          <a:xfrm>
            <a:off x="7406640" y="4206240"/>
            <a:ext cx="3870655" cy="434340"/>
          </a:xfrm>
          <a:prstGeom prst="rect">
            <a:avLst/>
          </a:prstGeom>
          <a:noFill/>
          <a:ln/>
        </p:spPr>
        <p:txBody>
          <a:bodyPr wrap="square" rtlCol="0" anchor="t"/>
          <a:lstStyle/>
          <a:p>
            <a:pPr rtl="1" algn="r" indent="0" marL="0">
              <a:buNone/>
            </a:pPr>
            <a:r>
              <a:rPr lang="en-US" sz="1100" dirty="0">
                <a:solidFill>
                  <a:srgbClr val="1A1A1A"/>
                </a:solidFill>
                <a:latin typeface="Calibri" pitchFamily="34" charset="0"/>
                <a:ea typeface="Calibri" pitchFamily="34" charset="-122"/>
                <a:cs typeface="Calibri" pitchFamily="34" charset="-120"/>
              </a:rPr>
              <a:t>Email Threading ذكي — يفهم تسلسل المحادثة حتى لو تغيّر الموضوع</a:t>
            </a:r>
            <a:endParaRPr lang="en-US" sz="1100" dirty="0"/>
          </a:p>
        </p:txBody>
      </p:sp>
      <p:sp>
        <p:nvSpPr>
          <p:cNvPr id="20" name="Text 17"/>
          <p:cNvSpPr/>
          <p:nvPr/>
        </p:nvSpPr>
        <p:spPr>
          <a:xfrm>
            <a:off x="11368735" y="4594860"/>
            <a:ext cx="228600" cy="365760"/>
          </a:xfrm>
          <a:prstGeom prst="rect">
            <a:avLst/>
          </a:prstGeom>
          <a:noFill/>
          <a:ln/>
        </p:spPr>
        <p:txBody>
          <a:bodyPr wrap="square" rtlCol="0" anchor="t"/>
          <a:lstStyle/>
          <a:p>
            <a:pPr algn="r" indent="0" marL="0">
              <a:buNone/>
            </a:pPr>
            <a:r>
              <a:rPr lang="en-US" sz="1100" dirty="0">
                <a:solidFill>
                  <a:srgbClr val="D4A574"/>
                </a:solidFill>
                <a:latin typeface="Calibri" pitchFamily="34" charset="0"/>
                <a:ea typeface="Calibri" pitchFamily="34" charset="-122"/>
                <a:cs typeface="Calibri" pitchFamily="34" charset="-120"/>
              </a:rPr>
              <a:t>—</a:t>
            </a:r>
            <a:endParaRPr lang="en-US" sz="1100" dirty="0"/>
          </a:p>
        </p:txBody>
      </p:sp>
      <p:sp>
        <p:nvSpPr>
          <p:cNvPr id="21" name="Text 18"/>
          <p:cNvSpPr/>
          <p:nvPr/>
        </p:nvSpPr>
        <p:spPr>
          <a:xfrm>
            <a:off x="7406640" y="4594860"/>
            <a:ext cx="3870655" cy="434340"/>
          </a:xfrm>
          <a:prstGeom prst="rect">
            <a:avLst/>
          </a:prstGeom>
          <a:noFill/>
          <a:ln/>
        </p:spPr>
        <p:txBody>
          <a:bodyPr wrap="square" rtlCol="0" anchor="t"/>
          <a:lstStyle/>
          <a:p>
            <a:pPr rtl="1" algn="r" indent="0" marL="0">
              <a:buNone/>
            </a:pPr>
            <a:r>
              <a:rPr lang="en-US" sz="1100" dirty="0">
                <a:solidFill>
                  <a:srgbClr val="1A1A1A"/>
                </a:solidFill>
                <a:latin typeface="Calibri" pitchFamily="34" charset="0"/>
                <a:ea typeface="Calibri" pitchFamily="34" charset="-122"/>
                <a:cs typeface="Calibri" pitchFamily="34" charset="-120"/>
              </a:rPr>
              <a:t>LinkedIn InMail + Voice Drop — للعملاء على المستوى التنفيذي</a:t>
            </a:r>
            <a:endParaRPr lang="en-US" sz="1100" dirty="0"/>
          </a:p>
        </p:txBody>
      </p:sp>
      <p:sp>
        <p:nvSpPr>
          <p:cNvPr id="22" name="Text 19"/>
          <p:cNvSpPr/>
          <p:nvPr/>
        </p:nvSpPr>
        <p:spPr>
          <a:xfrm>
            <a:off x="11368735" y="4983480"/>
            <a:ext cx="228600" cy="365760"/>
          </a:xfrm>
          <a:prstGeom prst="rect">
            <a:avLst/>
          </a:prstGeom>
          <a:noFill/>
          <a:ln/>
        </p:spPr>
        <p:txBody>
          <a:bodyPr wrap="square" rtlCol="0" anchor="t"/>
          <a:lstStyle/>
          <a:p>
            <a:pPr algn="r" indent="0" marL="0">
              <a:buNone/>
            </a:pPr>
            <a:r>
              <a:rPr lang="en-US" sz="1100" dirty="0">
                <a:solidFill>
                  <a:srgbClr val="D4A574"/>
                </a:solidFill>
                <a:latin typeface="Calibri" pitchFamily="34" charset="0"/>
                <a:ea typeface="Calibri" pitchFamily="34" charset="-122"/>
                <a:cs typeface="Calibri" pitchFamily="34" charset="-120"/>
              </a:rPr>
              <a:t>—</a:t>
            </a:r>
            <a:endParaRPr lang="en-US" sz="1100" dirty="0"/>
          </a:p>
        </p:txBody>
      </p:sp>
      <p:sp>
        <p:nvSpPr>
          <p:cNvPr id="23" name="Text 20"/>
          <p:cNvSpPr/>
          <p:nvPr/>
        </p:nvSpPr>
        <p:spPr>
          <a:xfrm>
            <a:off x="7406640" y="4983480"/>
            <a:ext cx="3870655" cy="434340"/>
          </a:xfrm>
          <a:prstGeom prst="rect">
            <a:avLst/>
          </a:prstGeom>
          <a:noFill/>
          <a:ln/>
        </p:spPr>
        <p:txBody>
          <a:bodyPr wrap="square" rtlCol="0" anchor="t"/>
          <a:lstStyle/>
          <a:p>
            <a:pPr rtl="1" algn="r" indent="0" marL="0">
              <a:buNone/>
            </a:pPr>
            <a:r>
              <a:rPr lang="en-US" sz="1100" dirty="0">
                <a:solidFill>
                  <a:srgbClr val="1A1A1A"/>
                </a:solidFill>
                <a:latin typeface="Calibri" pitchFamily="34" charset="0"/>
                <a:ea typeface="Calibri" pitchFamily="34" charset="-122"/>
                <a:cs typeface="Calibri" pitchFamily="34" charset="-120"/>
              </a:rPr>
              <a:t>مكالمات صوتية مسجّلة مع تحويل الكلام إلى نص عربي</a:t>
            </a:r>
            <a:endParaRPr lang="en-US" sz="1100" dirty="0"/>
          </a:p>
        </p:txBody>
      </p:sp>
      <p:sp>
        <p:nvSpPr>
          <p:cNvPr id="24" name="Text 21"/>
          <p:cNvSpPr/>
          <p:nvPr/>
        </p:nvSpPr>
        <p:spPr>
          <a:xfrm>
            <a:off x="11368735" y="5372100"/>
            <a:ext cx="228600" cy="365760"/>
          </a:xfrm>
          <a:prstGeom prst="rect">
            <a:avLst/>
          </a:prstGeom>
          <a:noFill/>
          <a:ln/>
        </p:spPr>
        <p:txBody>
          <a:bodyPr wrap="square" rtlCol="0" anchor="t"/>
          <a:lstStyle/>
          <a:p>
            <a:pPr algn="r" indent="0" marL="0">
              <a:buNone/>
            </a:pPr>
            <a:r>
              <a:rPr lang="en-US" sz="1100" dirty="0">
                <a:solidFill>
                  <a:srgbClr val="D4A574"/>
                </a:solidFill>
                <a:latin typeface="Calibri" pitchFamily="34" charset="0"/>
                <a:ea typeface="Calibri" pitchFamily="34" charset="-122"/>
                <a:cs typeface="Calibri" pitchFamily="34" charset="-120"/>
              </a:rPr>
              <a:t>—</a:t>
            </a:r>
            <a:endParaRPr lang="en-US" sz="1100" dirty="0"/>
          </a:p>
        </p:txBody>
      </p:sp>
      <p:sp>
        <p:nvSpPr>
          <p:cNvPr id="25" name="Text 22"/>
          <p:cNvSpPr/>
          <p:nvPr/>
        </p:nvSpPr>
        <p:spPr>
          <a:xfrm>
            <a:off x="7406640" y="5372100"/>
            <a:ext cx="3870655" cy="434340"/>
          </a:xfrm>
          <a:prstGeom prst="rect">
            <a:avLst/>
          </a:prstGeom>
          <a:noFill/>
          <a:ln/>
        </p:spPr>
        <p:txBody>
          <a:bodyPr wrap="square" rtlCol="0" anchor="t"/>
          <a:lstStyle/>
          <a:p>
            <a:pPr rtl="1" algn="r" indent="0" marL="0">
              <a:buNone/>
            </a:pPr>
            <a:r>
              <a:rPr lang="en-US" sz="1100" dirty="0">
                <a:solidFill>
                  <a:srgbClr val="1A1A1A"/>
                </a:solidFill>
                <a:latin typeface="Calibri" pitchFamily="34" charset="0"/>
                <a:ea typeface="Calibri" pitchFamily="34" charset="-122"/>
                <a:cs typeface="Calibri" pitchFamily="34" charset="-120"/>
              </a:rPr>
              <a:t>تبديل قناة دون فقد السياق — العميل يبدأ على WhatsApp وينتقل لـ Email</a:t>
            </a:r>
            <a:endParaRPr lang="en-US" sz="1100" dirty="0"/>
          </a:p>
        </p:txBody>
      </p:sp>
      <p:sp>
        <p:nvSpPr>
          <p:cNvPr id="26" name="Text 23"/>
          <p:cNvSpPr/>
          <p:nvPr/>
        </p:nvSpPr>
        <p:spPr>
          <a:xfrm>
            <a:off x="11368735" y="5760720"/>
            <a:ext cx="228600" cy="365760"/>
          </a:xfrm>
          <a:prstGeom prst="rect">
            <a:avLst/>
          </a:prstGeom>
          <a:noFill/>
          <a:ln/>
        </p:spPr>
        <p:txBody>
          <a:bodyPr wrap="square" rtlCol="0" anchor="t"/>
          <a:lstStyle/>
          <a:p>
            <a:pPr algn="r" indent="0" marL="0">
              <a:buNone/>
            </a:pPr>
            <a:r>
              <a:rPr lang="en-US" sz="1100" dirty="0">
                <a:solidFill>
                  <a:srgbClr val="D4A574"/>
                </a:solidFill>
                <a:latin typeface="Calibri" pitchFamily="34" charset="0"/>
                <a:ea typeface="Calibri" pitchFamily="34" charset="-122"/>
                <a:cs typeface="Calibri" pitchFamily="34" charset="-120"/>
              </a:rPr>
              <a:t>—</a:t>
            </a:r>
            <a:endParaRPr lang="en-US" sz="1100" dirty="0"/>
          </a:p>
        </p:txBody>
      </p:sp>
      <p:sp>
        <p:nvSpPr>
          <p:cNvPr id="27" name="Text 24"/>
          <p:cNvSpPr/>
          <p:nvPr/>
        </p:nvSpPr>
        <p:spPr>
          <a:xfrm>
            <a:off x="7406640" y="5760720"/>
            <a:ext cx="3870655" cy="434340"/>
          </a:xfrm>
          <a:prstGeom prst="rect">
            <a:avLst/>
          </a:prstGeom>
          <a:noFill/>
          <a:ln/>
        </p:spPr>
        <p:txBody>
          <a:bodyPr wrap="square" rtlCol="0" anchor="t"/>
          <a:lstStyle/>
          <a:p>
            <a:pPr rtl="1" algn="r" indent="0" marL="0">
              <a:buNone/>
            </a:pPr>
            <a:r>
              <a:rPr lang="en-US" sz="1100" dirty="0">
                <a:solidFill>
                  <a:srgbClr val="1A1A1A"/>
                </a:solidFill>
                <a:latin typeface="Calibri" pitchFamily="34" charset="0"/>
                <a:ea typeface="Calibri" pitchFamily="34" charset="-122"/>
                <a:cs typeface="Calibri" pitchFamily="34" charset="-120"/>
              </a:rPr>
              <a:t>Templates معتمدة ومحدّثة — بالعربية الفصحى واللهجة السعودية</a:t>
            </a:r>
            <a:endParaRPr lang="en-US" sz="1100" dirty="0"/>
          </a:p>
        </p:txBody>
      </p:sp>
      <p:sp>
        <p:nvSpPr>
          <p:cNvPr id="28" name="Text 25"/>
          <p:cNvSpPr/>
          <p:nvPr/>
        </p:nvSpPr>
        <p:spPr>
          <a:xfrm>
            <a:off x="457200" y="6172200"/>
            <a:ext cx="10362895" cy="256032"/>
          </a:xfrm>
          <a:prstGeom prst="rect">
            <a:avLst/>
          </a:prstGeom>
          <a:noFill/>
          <a:ln/>
        </p:spPr>
        <p:txBody>
          <a:bodyPr wrap="square" rtlCol="0" anchor="ctr"/>
          <a:lstStyle/>
          <a:p>
            <a:pPr rtl="1" algn="r" indent="0" marL="0">
              <a:buNone/>
            </a:pPr>
            <a:r>
              <a:rPr lang="en-US" sz="900" dirty="0">
                <a:solidFill>
                  <a:srgbClr val="8B95A3"/>
                </a:solidFill>
                <a:latin typeface="Calibri" pitchFamily="34" charset="0"/>
                <a:ea typeface="Calibri" pitchFamily="34" charset="-122"/>
                <a:cs typeface="Calibri" pitchFamily="34" charset="-120"/>
              </a:rPr>
              <a:t>المصدر: </a:t>
            </a:r>
            <a:pPr rtl="1" algn="r" indent="0" marL="0">
              <a:buNone/>
            </a:pPr>
            <a:r>
              <a:rPr lang="en-US" sz="900" u="sng" dirty="0">
                <a:solidFill>
                  <a:srgbClr val="B8874C"/>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Meta WhatsApp Business API</a:t>
            </a:r>
            <a:pPr algn="r" indent="0" marL="0">
              <a:buNone/>
            </a:pPr>
            <a:r>
              <a:rPr lang="en-US" sz="900" dirty="0">
                <a:solidFill>
                  <a:srgbClr val="8B95A3"/>
                </a:solidFill>
                <a:latin typeface="Calibri" pitchFamily="34" charset="0"/>
                <a:ea typeface="Calibri" pitchFamily="34" charset="-122"/>
                <a:cs typeface="Calibri" pitchFamily="34" charset="-120"/>
              </a:rPr>
              <a:t> · </a:t>
            </a:r>
            <a:pPr rtl="1" algn="r" indent="0" marL="0">
              <a:buNone/>
            </a:pPr>
            <a:r>
              <a:rPr lang="en-US" sz="900" u="sng" dirty="0">
                <a:solidFill>
                  <a:srgbClr val="B8874C"/>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Twilio Docs</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8F3"/>
        </a:solidFill>
      </p:bgPr>
    </p:bg>
    <p:spTree>
      <p:nvGrpSpPr>
        <p:cNvPr id="1" name=""/>
        <p:cNvGrpSpPr/>
        <p:nvPr/>
      </p:nvGrpSpPr>
      <p:grpSpPr>
        <a:xfrm>
          <a:off x="0" y="0"/>
          <a:ext cx="0" cy="0"/>
          <a:chOff x="0" y="0"/>
          <a:chExt cx="0" cy="0"/>
        </a:xfrm>
      </p:grpSpPr>
      <p:sp>
        <p:nvSpPr>
          <p:cNvPr id="2" name="Shape 0"/>
          <p:cNvSpPr/>
          <p:nvPr/>
        </p:nvSpPr>
        <p:spPr>
          <a:xfrm>
            <a:off x="11734495" y="320040"/>
            <a:ext cx="73152" cy="411480"/>
          </a:xfrm>
          <a:prstGeom prst="rect">
            <a:avLst/>
          </a:prstGeom>
          <a:solidFill>
            <a:srgbClr val="D4A574"/>
          </a:solidFill>
          <a:ln/>
        </p:spPr>
      </p:sp>
      <p:sp>
        <p:nvSpPr>
          <p:cNvPr id="3" name="Text 1"/>
          <p:cNvSpPr/>
          <p:nvPr/>
        </p:nvSpPr>
        <p:spPr>
          <a:xfrm>
            <a:off x="8076895" y="274320"/>
            <a:ext cx="3566160" cy="365760"/>
          </a:xfrm>
          <a:prstGeom prst="rect">
            <a:avLst/>
          </a:prstGeom>
          <a:noFill/>
          <a:ln/>
        </p:spPr>
        <p:txBody>
          <a:bodyPr wrap="square" rtlCol="0" anchor="ctr"/>
          <a:lstStyle/>
          <a:p>
            <a:pPr rtl="1" algn="r" indent="0" marL="0">
              <a:buNone/>
            </a:pPr>
            <a:r>
              <a:rPr lang="en-US" sz="1200" b="1" dirty="0">
                <a:solidFill>
                  <a:srgbClr val="55606E"/>
                </a:solidFill>
                <a:latin typeface="Calibri" pitchFamily="34" charset="0"/>
                <a:ea typeface="Calibri" pitchFamily="34" charset="-122"/>
                <a:cs typeface="Calibri" pitchFamily="34" charset="-120"/>
              </a:rPr>
              <a:t>المنتج · ركيزة 3</a:t>
            </a:r>
            <a:endParaRPr lang="en-US" sz="1200" dirty="0"/>
          </a:p>
        </p:txBody>
      </p:sp>
      <p:sp>
        <p:nvSpPr>
          <p:cNvPr id="4" name="Text 2"/>
          <p:cNvSpPr/>
          <p:nvPr/>
        </p:nvSpPr>
        <p:spPr>
          <a:xfrm>
            <a:off x="457200" y="6446520"/>
            <a:ext cx="2286000" cy="274320"/>
          </a:xfrm>
          <a:prstGeom prst="rect">
            <a:avLst/>
          </a:prstGeom>
          <a:noFill/>
          <a:ln/>
        </p:spPr>
        <p:txBody>
          <a:bodyPr wrap="square" rtlCol="0" anchor="ctr"/>
          <a:lstStyle/>
          <a:p>
            <a:pPr algn="l" indent="0" marL="0">
              <a:buNone/>
            </a:pPr>
            <a:r>
              <a:rPr lang="en-US" sz="900" dirty="0">
                <a:solidFill>
                  <a:srgbClr val="8B95A3"/>
                </a:solidFill>
                <a:latin typeface="Calibri" pitchFamily="34" charset="0"/>
                <a:ea typeface="Calibri" pitchFamily="34" charset="-122"/>
                <a:cs typeface="Calibri" pitchFamily="34" charset="-120"/>
              </a:rPr>
              <a:t>Dealix · ديلكس</a:t>
            </a:r>
            <a:endParaRPr lang="en-US" sz="900" dirty="0"/>
          </a:p>
        </p:txBody>
      </p:sp>
      <p:sp>
        <p:nvSpPr>
          <p:cNvPr id="5" name="Text 3"/>
          <p:cNvSpPr/>
          <p:nvPr/>
        </p:nvSpPr>
        <p:spPr>
          <a:xfrm>
            <a:off x="11094415" y="6446520"/>
            <a:ext cx="640080" cy="274320"/>
          </a:xfrm>
          <a:prstGeom prst="rect">
            <a:avLst/>
          </a:prstGeom>
          <a:noFill/>
          <a:ln/>
        </p:spPr>
        <p:txBody>
          <a:bodyPr wrap="square" rtlCol="0" anchor="ctr"/>
          <a:lstStyle/>
          <a:p>
            <a:pPr algn="r" indent="0" marL="0">
              <a:buNone/>
            </a:pPr>
            <a:r>
              <a:rPr lang="en-US" sz="900" b="1" dirty="0">
                <a:solidFill>
                  <a:srgbClr val="8B95A3"/>
                </a:solidFill>
                <a:latin typeface="Calibri" pitchFamily="34" charset="0"/>
                <a:ea typeface="Calibri" pitchFamily="34" charset="-122"/>
                <a:cs typeface="Calibri" pitchFamily="34" charset="-120"/>
              </a:rPr>
              <a:t>13</a:t>
            </a:r>
            <a:endParaRPr lang="en-US" sz="900" dirty="0"/>
          </a:p>
        </p:txBody>
      </p:sp>
      <p:sp>
        <p:nvSpPr>
          <p:cNvPr id="6" name="Text 4"/>
          <p:cNvSpPr/>
          <p:nvPr/>
        </p:nvSpPr>
        <p:spPr>
          <a:xfrm>
            <a:off x="548640" y="914400"/>
            <a:ext cx="11094415" cy="822960"/>
          </a:xfrm>
          <a:prstGeom prst="rect">
            <a:avLst/>
          </a:prstGeom>
          <a:noFill/>
          <a:ln/>
        </p:spPr>
        <p:txBody>
          <a:bodyPr wrap="square" rtlCol="0" anchor="ctr"/>
          <a:lstStyle/>
          <a:p>
            <a:pPr rtl="1" algn="r" indent="0" marL="0">
              <a:buNone/>
            </a:pPr>
            <a:r>
              <a:rPr lang="en-US" sz="3400" b="1" dirty="0">
                <a:solidFill>
                  <a:srgbClr val="0A1628"/>
                </a:solidFill>
                <a:latin typeface="Calibri" pitchFamily="34" charset="0"/>
                <a:ea typeface="Calibri" pitchFamily="34" charset="-122"/>
                <a:cs typeface="Calibri" pitchFamily="34" charset="-120"/>
              </a:rPr>
              <a:t>وكيل المحادثة بالذكاء الاصطناعي</a:t>
            </a:r>
            <a:endParaRPr lang="en-US" sz="3400" dirty="0"/>
          </a:p>
        </p:txBody>
      </p:sp>
      <p:sp>
        <p:nvSpPr>
          <p:cNvPr id="7" name="Text 5"/>
          <p:cNvSpPr/>
          <p:nvPr/>
        </p:nvSpPr>
        <p:spPr>
          <a:xfrm>
            <a:off x="548640" y="1691640"/>
            <a:ext cx="11094415" cy="411480"/>
          </a:xfrm>
          <a:prstGeom prst="rect">
            <a:avLst/>
          </a:prstGeom>
          <a:noFill/>
          <a:ln/>
        </p:spPr>
        <p:txBody>
          <a:bodyPr wrap="square" rtlCol="0" anchor="ctr"/>
          <a:lstStyle/>
          <a:p>
            <a:pPr rtl="1" algn="r" indent="0" marL="0">
              <a:buNone/>
            </a:pPr>
            <a:r>
              <a:rPr lang="en-US" sz="1500" dirty="0">
                <a:solidFill>
                  <a:srgbClr val="55606E"/>
                </a:solidFill>
                <a:latin typeface="Calibri" pitchFamily="34" charset="0"/>
                <a:ea typeface="Calibri" pitchFamily="34" charset="-122"/>
                <a:cs typeface="Calibri" pitchFamily="34" charset="-120"/>
              </a:rPr>
              <a:t>AI Agent بلهجة سعودية — يفهم، يفاوض، ويحوّل للإنسان في اللحظة الصحيحة</a:t>
            </a:r>
            <a:endParaRPr lang="en-US" sz="1500" dirty="0"/>
          </a:p>
        </p:txBody>
      </p:sp>
      <p:sp>
        <p:nvSpPr>
          <p:cNvPr id="8" name="Shape 6"/>
          <p:cNvSpPr/>
          <p:nvPr/>
        </p:nvSpPr>
        <p:spPr>
          <a:xfrm>
            <a:off x="502920" y="2240280"/>
            <a:ext cx="6675120" cy="3931920"/>
          </a:xfrm>
          <a:prstGeom prst="rect">
            <a:avLst/>
          </a:prstGeom>
          <a:solidFill>
            <a:srgbClr val="0A1628"/>
          </a:solidFill>
          <a:ln/>
        </p:spPr>
      </p:sp>
      <p:pic>
        <p:nvPicPr>
          <p:cNvPr id="9" name="Image 0" descr="/home/user/workspace/dealix-clean/dashboard/assets/screenshot-agents.png">    </p:cNvPr>
          <p:cNvPicPr>
            <a:picLocks noChangeAspect="1"/>
          </p:cNvPicPr>
          <p:nvPr/>
        </p:nvPicPr>
        <p:blipFill>
          <a:blip r:embed="rId1"/>
          <a:srcRect l="0" r="0" t="0" b="0"/>
          <a:stretch/>
        </p:blipFill>
        <p:spPr>
          <a:xfrm>
            <a:off x="548640" y="2286000"/>
            <a:ext cx="6583680" cy="3840480"/>
          </a:xfrm>
          <a:prstGeom prst="rect">
            <a:avLst/>
          </a:prstGeom>
        </p:spPr>
      </p:pic>
      <p:sp>
        <p:nvSpPr>
          <p:cNvPr id="10" name="Text 7"/>
          <p:cNvSpPr/>
          <p:nvPr/>
        </p:nvSpPr>
        <p:spPr>
          <a:xfrm>
            <a:off x="548640" y="6199632"/>
            <a:ext cx="6583680" cy="274320"/>
          </a:xfrm>
          <a:prstGeom prst="rect">
            <a:avLst/>
          </a:prstGeom>
          <a:noFill/>
          <a:ln/>
        </p:spPr>
        <p:txBody>
          <a:bodyPr wrap="square" rtlCol="0" anchor="ctr"/>
          <a:lstStyle/>
          <a:p>
            <a:pPr algn="l" indent="0" marL="0">
              <a:buNone/>
            </a:pPr>
            <a:r>
              <a:rPr lang="en-US" sz="1000" i="1" dirty="0">
                <a:solidFill>
                  <a:srgbClr val="8B95A3"/>
                </a:solidFill>
                <a:latin typeface="Calibri" pitchFamily="34" charset="0"/>
                <a:ea typeface="Calibri" pitchFamily="34" charset="-122"/>
                <a:cs typeface="Calibri" pitchFamily="34" charset="-120"/>
              </a:rPr>
              <a:t>Dealix AI Agents — Arabic Conversation Engine</a:t>
            </a:r>
            <a:endParaRPr lang="en-US" sz="1000" dirty="0"/>
          </a:p>
        </p:txBody>
      </p:sp>
      <p:sp>
        <p:nvSpPr>
          <p:cNvPr id="11" name="Text 8"/>
          <p:cNvSpPr/>
          <p:nvPr/>
        </p:nvSpPr>
        <p:spPr>
          <a:xfrm>
            <a:off x="7406640" y="2331720"/>
            <a:ext cx="4236415" cy="320040"/>
          </a:xfrm>
          <a:prstGeom prst="rect">
            <a:avLst/>
          </a:prstGeom>
          <a:noFill/>
          <a:ln/>
        </p:spPr>
        <p:txBody>
          <a:bodyPr wrap="square" rtlCol="0" anchor="ctr"/>
          <a:lstStyle/>
          <a:p>
            <a:pPr rtl="1" algn="r" indent="0" marL="0">
              <a:buNone/>
            </a:pPr>
            <a:r>
              <a:rPr lang="en-US" sz="1100" b="1" dirty="0">
                <a:solidFill>
                  <a:srgbClr val="D4A574"/>
                </a:solidFill>
                <a:latin typeface="Calibri" pitchFamily="34" charset="0"/>
                <a:ea typeface="Calibri" pitchFamily="34" charset="-122"/>
                <a:cs typeface="Calibri" pitchFamily="34" charset="-120"/>
              </a:rPr>
              <a:t>INTELLIGENCE · الذكاء</a:t>
            </a:r>
            <a:endParaRPr lang="en-US" sz="1100" dirty="0"/>
          </a:p>
        </p:txBody>
      </p:sp>
      <p:sp>
        <p:nvSpPr>
          <p:cNvPr id="12" name="Text 9"/>
          <p:cNvSpPr/>
          <p:nvPr/>
        </p:nvSpPr>
        <p:spPr>
          <a:xfrm>
            <a:off x="7406640" y="2651760"/>
            <a:ext cx="4236415" cy="640080"/>
          </a:xfrm>
          <a:prstGeom prst="rect">
            <a:avLst/>
          </a:prstGeom>
          <a:noFill/>
          <a:ln/>
        </p:spPr>
        <p:txBody>
          <a:bodyPr wrap="square" rtlCol="0" anchor="ctr"/>
          <a:lstStyle/>
          <a:p>
            <a:pPr rtl="1" algn="r" indent="0" marL="0">
              <a:buNone/>
            </a:pPr>
            <a:r>
              <a:rPr lang="en-US" sz="2200" b="1" dirty="0">
                <a:solidFill>
                  <a:srgbClr val="0A1628"/>
                </a:solidFill>
                <a:latin typeface="Calibri" pitchFamily="34" charset="0"/>
                <a:ea typeface="Calibri" pitchFamily="34" charset="-122"/>
                <a:cs typeface="Calibri" pitchFamily="34" charset="-120"/>
              </a:rPr>
              <a:t>يتحدث عربي · يفهم السياق · يحترم الحدود</a:t>
            </a:r>
            <a:endParaRPr lang="en-US" sz="2200" dirty="0"/>
          </a:p>
        </p:txBody>
      </p:sp>
      <p:sp>
        <p:nvSpPr>
          <p:cNvPr id="13" name="Shape 10"/>
          <p:cNvSpPr/>
          <p:nvPr/>
        </p:nvSpPr>
        <p:spPr>
          <a:xfrm>
            <a:off x="11094415" y="3337560"/>
            <a:ext cx="457200" cy="27432"/>
          </a:xfrm>
          <a:prstGeom prst="rect">
            <a:avLst/>
          </a:prstGeom>
          <a:solidFill>
            <a:srgbClr val="D4A574"/>
          </a:solidFill>
          <a:ln/>
        </p:spPr>
      </p:sp>
      <p:sp>
        <p:nvSpPr>
          <p:cNvPr id="14" name="Text 11"/>
          <p:cNvSpPr/>
          <p:nvPr/>
        </p:nvSpPr>
        <p:spPr>
          <a:xfrm>
            <a:off x="11368735" y="3429000"/>
            <a:ext cx="228600" cy="365760"/>
          </a:xfrm>
          <a:prstGeom prst="rect">
            <a:avLst/>
          </a:prstGeom>
          <a:noFill/>
          <a:ln/>
        </p:spPr>
        <p:txBody>
          <a:bodyPr wrap="square" rtlCol="0" anchor="t"/>
          <a:lstStyle/>
          <a:p>
            <a:pPr algn="r" indent="0" marL="0">
              <a:buNone/>
            </a:pPr>
            <a:r>
              <a:rPr lang="en-US" sz="1100" dirty="0">
                <a:solidFill>
                  <a:srgbClr val="D4A574"/>
                </a:solidFill>
                <a:latin typeface="Calibri" pitchFamily="34" charset="0"/>
                <a:ea typeface="Calibri" pitchFamily="34" charset="-122"/>
                <a:cs typeface="Calibri" pitchFamily="34" charset="-120"/>
              </a:rPr>
              <a:t>—</a:t>
            </a:r>
            <a:endParaRPr lang="en-US" sz="1100" dirty="0"/>
          </a:p>
        </p:txBody>
      </p:sp>
      <p:sp>
        <p:nvSpPr>
          <p:cNvPr id="15" name="Text 12"/>
          <p:cNvSpPr/>
          <p:nvPr/>
        </p:nvSpPr>
        <p:spPr>
          <a:xfrm>
            <a:off x="7406640" y="3429000"/>
            <a:ext cx="3870655" cy="434340"/>
          </a:xfrm>
          <a:prstGeom prst="rect">
            <a:avLst/>
          </a:prstGeom>
          <a:noFill/>
          <a:ln/>
        </p:spPr>
        <p:txBody>
          <a:bodyPr wrap="square" rtlCol="0" anchor="t"/>
          <a:lstStyle/>
          <a:p>
            <a:pPr rtl="1" algn="r" indent="0" marL="0">
              <a:buNone/>
            </a:pPr>
            <a:r>
              <a:rPr lang="en-US" sz="1100" dirty="0">
                <a:solidFill>
                  <a:srgbClr val="1A1A1A"/>
                </a:solidFill>
                <a:latin typeface="Calibri" pitchFamily="34" charset="0"/>
                <a:ea typeface="Calibri" pitchFamily="34" charset="-122"/>
                <a:cs typeface="Calibri" pitchFamily="34" charset="-120"/>
              </a:rPr>
              <a:t>نموذج لغوي مدرّب على لهجات الخليج (سعودي · إماراتي · كويتي)</a:t>
            </a:r>
            <a:endParaRPr lang="en-US" sz="1100" dirty="0"/>
          </a:p>
        </p:txBody>
      </p:sp>
      <p:sp>
        <p:nvSpPr>
          <p:cNvPr id="16" name="Text 13"/>
          <p:cNvSpPr/>
          <p:nvPr/>
        </p:nvSpPr>
        <p:spPr>
          <a:xfrm>
            <a:off x="11368735" y="3817620"/>
            <a:ext cx="228600" cy="365760"/>
          </a:xfrm>
          <a:prstGeom prst="rect">
            <a:avLst/>
          </a:prstGeom>
          <a:noFill/>
          <a:ln/>
        </p:spPr>
        <p:txBody>
          <a:bodyPr wrap="square" rtlCol="0" anchor="t"/>
          <a:lstStyle/>
          <a:p>
            <a:pPr algn="r" indent="0" marL="0">
              <a:buNone/>
            </a:pPr>
            <a:r>
              <a:rPr lang="en-US" sz="1100" dirty="0">
                <a:solidFill>
                  <a:srgbClr val="D4A574"/>
                </a:solidFill>
                <a:latin typeface="Calibri" pitchFamily="34" charset="0"/>
                <a:ea typeface="Calibri" pitchFamily="34" charset="-122"/>
                <a:cs typeface="Calibri" pitchFamily="34" charset="-120"/>
              </a:rPr>
              <a:t>—</a:t>
            </a:r>
            <a:endParaRPr lang="en-US" sz="1100" dirty="0"/>
          </a:p>
        </p:txBody>
      </p:sp>
      <p:sp>
        <p:nvSpPr>
          <p:cNvPr id="17" name="Text 14"/>
          <p:cNvSpPr/>
          <p:nvPr/>
        </p:nvSpPr>
        <p:spPr>
          <a:xfrm>
            <a:off x="7406640" y="3817620"/>
            <a:ext cx="3870655" cy="434340"/>
          </a:xfrm>
          <a:prstGeom prst="rect">
            <a:avLst/>
          </a:prstGeom>
          <a:noFill/>
          <a:ln/>
        </p:spPr>
        <p:txBody>
          <a:bodyPr wrap="square" rtlCol="0" anchor="t"/>
          <a:lstStyle/>
          <a:p>
            <a:pPr rtl="1" algn="r" indent="0" marL="0">
              <a:buNone/>
            </a:pPr>
            <a:r>
              <a:rPr lang="en-US" sz="1100" dirty="0">
                <a:solidFill>
                  <a:srgbClr val="1A1A1A"/>
                </a:solidFill>
                <a:latin typeface="Calibri" pitchFamily="34" charset="0"/>
                <a:ea typeface="Calibri" pitchFamily="34" charset="-122"/>
                <a:cs typeface="Calibri" pitchFamily="34" charset="-120"/>
              </a:rPr>
              <a:t>يفهم المصطلحات اللوجستية: "FTL" · "LTL" · "كروس دوك" · "تكوين حمولة"</a:t>
            </a:r>
            <a:endParaRPr lang="en-US" sz="1100" dirty="0"/>
          </a:p>
        </p:txBody>
      </p:sp>
      <p:sp>
        <p:nvSpPr>
          <p:cNvPr id="18" name="Text 15"/>
          <p:cNvSpPr/>
          <p:nvPr/>
        </p:nvSpPr>
        <p:spPr>
          <a:xfrm>
            <a:off x="11368735" y="4206240"/>
            <a:ext cx="228600" cy="365760"/>
          </a:xfrm>
          <a:prstGeom prst="rect">
            <a:avLst/>
          </a:prstGeom>
          <a:noFill/>
          <a:ln/>
        </p:spPr>
        <p:txBody>
          <a:bodyPr wrap="square" rtlCol="0" anchor="t"/>
          <a:lstStyle/>
          <a:p>
            <a:pPr algn="r" indent="0" marL="0">
              <a:buNone/>
            </a:pPr>
            <a:r>
              <a:rPr lang="en-US" sz="1100" dirty="0">
                <a:solidFill>
                  <a:srgbClr val="D4A574"/>
                </a:solidFill>
                <a:latin typeface="Calibri" pitchFamily="34" charset="0"/>
                <a:ea typeface="Calibri" pitchFamily="34" charset="-122"/>
                <a:cs typeface="Calibri" pitchFamily="34" charset="-120"/>
              </a:rPr>
              <a:t>—</a:t>
            </a:r>
            <a:endParaRPr lang="en-US" sz="1100" dirty="0"/>
          </a:p>
        </p:txBody>
      </p:sp>
      <p:sp>
        <p:nvSpPr>
          <p:cNvPr id="19" name="Text 16"/>
          <p:cNvSpPr/>
          <p:nvPr/>
        </p:nvSpPr>
        <p:spPr>
          <a:xfrm>
            <a:off x="7406640" y="4206240"/>
            <a:ext cx="3870655" cy="434340"/>
          </a:xfrm>
          <a:prstGeom prst="rect">
            <a:avLst/>
          </a:prstGeom>
          <a:noFill/>
          <a:ln/>
        </p:spPr>
        <p:txBody>
          <a:bodyPr wrap="square" rtlCol="0" anchor="t"/>
          <a:lstStyle/>
          <a:p>
            <a:pPr rtl="1" algn="r" indent="0" marL="0">
              <a:buNone/>
            </a:pPr>
            <a:r>
              <a:rPr lang="en-US" sz="1100" dirty="0">
                <a:solidFill>
                  <a:srgbClr val="1A1A1A"/>
                </a:solidFill>
                <a:latin typeface="Calibri" pitchFamily="34" charset="0"/>
                <a:ea typeface="Calibri" pitchFamily="34" charset="-122"/>
                <a:cs typeface="Calibri" pitchFamily="34" charset="-120"/>
              </a:rPr>
              <a:t>يتفاوض على السعر ضمن نطاق معتمد مسبقاً — مع تسجيل كامل</a:t>
            </a:r>
            <a:endParaRPr lang="en-US" sz="1100" dirty="0"/>
          </a:p>
        </p:txBody>
      </p:sp>
      <p:sp>
        <p:nvSpPr>
          <p:cNvPr id="20" name="Text 17"/>
          <p:cNvSpPr/>
          <p:nvPr/>
        </p:nvSpPr>
        <p:spPr>
          <a:xfrm>
            <a:off x="11368735" y="4594860"/>
            <a:ext cx="228600" cy="365760"/>
          </a:xfrm>
          <a:prstGeom prst="rect">
            <a:avLst/>
          </a:prstGeom>
          <a:noFill/>
          <a:ln/>
        </p:spPr>
        <p:txBody>
          <a:bodyPr wrap="square" rtlCol="0" anchor="t"/>
          <a:lstStyle/>
          <a:p>
            <a:pPr algn="r" indent="0" marL="0">
              <a:buNone/>
            </a:pPr>
            <a:r>
              <a:rPr lang="en-US" sz="1100" dirty="0">
                <a:solidFill>
                  <a:srgbClr val="D4A574"/>
                </a:solidFill>
                <a:latin typeface="Calibri" pitchFamily="34" charset="0"/>
                <a:ea typeface="Calibri" pitchFamily="34" charset="-122"/>
                <a:cs typeface="Calibri" pitchFamily="34" charset="-120"/>
              </a:rPr>
              <a:t>—</a:t>
            </a:r>
            <a:endParaRPr lang="en-US" sz="1100" dirty="0"/>
          </a:p>
        </p:txBody>
      </p:sp>
      <p:sp>
        <p:nvSpPr>
          <p:cNvPr id="21" name="Text 18"/>
          <p:cNvSpPr/>
          <p:nvPr/>
        </p:nvSpPr>
        <p:spPr>
          <a:xfrm>
            <a:off x="7406640" y="4594860"/>
            <a:ext cx="3870655" cy="434340"/>
          </a:xfrm>
          <a:prstGeom prst="rect">
            <a:avLst/>
          </a:prstGeom>
          <a:noFill/>
          <a:ln/>
        </p:spPr>
        <p:txBody>
          <a:bodyPr wrap="square" rtlCol="0" anchor="t"/>
          <a:lstStyle/>
          <a:p>
            <a:pPr rtl="1" algn="r" indent="0" marL="0">
              <a:buNone/>
            </a:pPr>
            <a:r>
              <a:rPr lang="en-US" sz="1100" dirty="0">
                <a:solidFill>
                  <a:srgbClr val="1A1A1A"/>
                </a:solidFill>
                <a:latin typeface="Calibri" pitchFamily="34" charset="0"/>
                <a:ea typeface="Calibri" pitchFamily="34" charset="-122"/>
                <a:cs typeface="Calibri" pitchFamily="34" charset="-120"/>
              </a:rPr>
              <a:t>يعرف متى يُحوّل للإنسان: فرص عالية القيمة، شكوى، VIP</a:t>
            </a:r>
            <a:endParaRPr lang="en-US" sz="1100" dirty="0"/>
          </a:p>
        </p:txBody>
      </p:sp>
      <p:sp>
        <p:nvSpPr>
          <p:cNvPr id="22" name="Text 19"/>
          <p:cNvSpPr/>
          <p:nvPr/>
        </p:nvSpPr>
        <p:spPr>
          <a:xfrm>
            <a:off x="11368735" y="4983480"/>
            <a:ext cx="228600" cy="365760"/>
          </a:xfrm>
          <a:prstGeom prst="rect">
            <a:avLst/>
          </a:prstGeom>
          <a:noFill/>
          <a:ln/>
        </p:spPr>
        <p:txBody>
          <a:bodyPr wrap="square" rtlCol="0" anchor="t"/>
          <a:lstStyle/>
          <a:p>
            <a:pPr algn="r" indent="0" marL="0">
              <a:buNone/>
            </a:pPr>
            <a:r>
              <a:rPr lang="en-US" sz="1100" dirty="0">
                <a:solidFill>
                  <a:srgbClr val="D4A574"/>
                </a:solidFill>
                <a:latin typeface="Calibri" pitchFamily="34" charset="0"/>
                <a:ea typeface="Calibri" pitchFamily="34" charset="-122"/>
                <a:cs typeface="Calibri" pitchFamily="34" charset="-120"/>
              </a:rPr>
              <a:t>—</a:t>
            </a:r>
            <a:endParaRPr lang="en-US" sz="1100" dirty="0"/>
          </a:p>
        </p:txBody>
      </p:sp>
      <p:sp>
        <p:nvSpPr>
          <p:cNvPr id="23" name="Text 20"/>
          <p:cNvSpPr/>
          <p:nvPr/>
        </p:nvSpPr>
        <p:spPr>
          <a:xfrm>
            <a:off x="7406640" y="4983480"/>
            <a:ext cx="3870655" cy="434340"/>
          </a:xfrm>
          <a:prstGeom prst="rect">
            <a:avLst/>
          </a:prstGeom>
          <a:noFill/>
          <a:ln/>
        </p:spPr>
        <p:txBody>
          <a:bodyPr wrap="square" rtlCol="0" anchor="t"/>
          <a:lstStyle/>
          <a:p>
            <a:pPr rtl="1" algn="r" indent="0" marL="0">
              <a:buNone/>
            </a:pPr>
            <a:r>
              <a:rPr lang="en-US" sz="1100" dirty="0">
                <a:solidFill>
                  <a:srgbClr val="1A1A1A"/>
                </a:solidFill>
                <a:latin typeface="Calibri" pitchFamily="34" charset="0"/>
                <a:ea typeface="Calibri" pitchFamily="34" charset="-122"/>
                <a:cs typeface="Calibri" pitchFamily="34" charset="-120"/>
              </a:rPr>
              <a:t>Handoff سلس — المندوب يرى كامل المحادثة + ملخّص AI</a:t>
            </a:r>
            <a:endParaRPr lang="en-US" sz="1100" dirty="0"/>
          </a:p>
        </p:txBody>
      </p:sp>
      <p:sp>
        <p:nvSpPr>
          <p:cNvPr id="24" name="Text 21"/>
          <p:cNvSpPr/>
          <p:nvPr/>
        </p:nvSpPr>
        <p:spPr>
          <a:xfrm>
            <a:off x="11368735" y="5372100"/>
            <a:ext cx="228600" cy="365760"/>
          </a:xfrm>
          <a:prstGeom prst="rect">
            <a:avLst/>
          </a:prstGeom>
          <a:noFill/>
          <a:ln/>
        </p:spPr>
        <p:txBody>
          <a:bodyPr wrap="square" rtlCol="0" anchor="t"/>
          <a:lstStyle/>
          <a:p>
            <a:pPr algn="r" indent="0" marL="0">
              <a:buNone/>
            </a:pPr>
            <a:r>
              <a:rPr lang="en-US" sz="1100" dirty="0">
                <a:solidFill>
                  <a:srgbClr val="D4A574"/>
                </a:solidFill>
                <a:latin typeface="Calibri" pitchFamily="34" charset="0"/>
                <a:ea typeface="Calibri" pitchFamily="34" charset="-122"/>
                <a:cs typeface="Calibri" pitchFamily="34" charset="-120"/>
              </a:rPr>
              <a:t>—</a:t>
            </a:r>
            <a:endParaRPr lang="en-US" sz="1100" dirty="0"/>
          </a:p>
        </p:txBody>
      </p:sp>
      <p:sp>
        <p:nvSpPr>
          <p:cNvPr id="25" name="Text 22"/>
          <p:cNvSpPr/>
          <p:nvPr/>
        </p:nvSpPr>
        <p:spPr>
          <a:xfrm>
            <a:off x="7406640" y="5372100"/>
            <a:ext cx="3870655" cy="434340"/>
          </a:xfrm>
          <a:prstGeom prst="rect">
            <a:avLst/>
          </a:prstGeom>
          <a:noFill/>
          <a:ln/>
        </p:spPr>
        <p:txBody>
          <a:bodyPr wrap="square" rtlCol="0" anchor="t"/>
          <a:lstStyle/>
          <a:p>
            <a:pPr rtl="1" algn="r" indent="0" marL="0">
              <a:buNone/>
            </a:pPr>
            <a:r>
              <a:rPr lang="en-US" sz="1100" dirty="0">
                <a:solidFill>
                  <a:srgbClr val="1A1A1A"/>
                </a:solidFill>
                <a:latin typeface="Calibri" pitchFamily="34" charset="0"/>
                <a:ea typeface="Calibri" pitchFamily="34" charset="-122"/>
                <a:cs typeface="Calibri" pitchFamily="34" charset="-120"/>
              </a:rPr>
              <a:t>يعمل 24/7 — يستقبل RFP في منتصف الليل ويُؤهّله حتى الصباح</a:t>
            </a:r>
            <a:endParaRPr lang="en-US" sz="1100" dirty="0"/>
          </a:p>
        </p:txBody>
      </p:sp>
      <p:sp>
        <p:nvSpPr>
          <p:cNvPr id="26" name="Text 23"/>
          <p:cNvSpPr/>
          <p:nvPr/>
        </p:nvSpPr>
        <p:spPr>
          <a:xfrm>
            <a:off x="11368735" y="5760720"/>
            <a:ext cx="228600" cy="365760"/>
          </a:xfrm>
          <a:prstGeom prst="rect">
            <a:avLst/>
          </a:prstGeom>
          <a:noFill/>
          <a:ln/>
        </p:spPr>
        <p:txBody>
          <a:bodyPr wrap="square" rtlCol="0" anchor="t"/>
          <a:lstStyle/>
          <a:p>
            <a:pPr algn="r" indent="0" marL="0">
              <a:buNone/>
            </a:pPr>
            <a:r>
              <a:rPr lang="en-US" sz="1100" dirty="0">
                <a:solidFill>
                  <a:srgbClr val="D4A574"/>
                </a:solidFill>
                <a:latin typeface="Calibri" pitchFamily="34" charset="0"/>
                <a:ea typeface="Calibri" pitchFamily="34" charset="-122"/>
                <a:cs typeface="Calibri" pitchFamily="34" charset="-120"/>
              </a:rPr>
              <a:t>—</a:t>
            </a:r>
            <a:endParaRPr lang="en-US" sz="1100" dirty="0"/>
          </a:p>
        </p:txBody>
      </p:sp>
      <p:sp>
        <p:nvSpPr>
          <p:cNvPr id="27" name="Text 24"/>
          <p:cNvSpPr/>
          <p:nvPr/>
        </p:nvSpPr>
        <p:spPr>
          <a:xfrm>
            <a:off x="7406640" y="5760720"/>
            <a:ext cx="3870655" cy="434340"/>
          </a:xfrm>
          <a:prstGeom prst="rect">
            <a:avLst/>
          </a:prstGeom>
          <a:noFill/>
          <a:ln/>
        </p:spPr>
        <p:txBody>
          <a:bodyPr wrap="square" rtlCol="0" anchor="t"/>
          <a:lstStyle/>
          <a:p>
            <a:pPr rtl="1" algn="r" indent="0" marL="0">
              <a:buNone/>
            </a:pPr>
            <a:r>
              <a:rPr lang="en-US" sz="1100" dirty="0">
                <a:solidFill>
                  <a:srgbClr val="1A1A1A"/>
                </a:solidFill>
                <a:latin typeface="Calibri" pitchFamily="34" charset="0"/>
                <a:ea typeface="Calibri" pitchFamily="34" charset="-122"/>
                <a:cs typeface="Calibri" pitchFamily="34" charset="-120"/>
              </a:rPr>
              <a:t>حدود صارمة: لا يُوقّع عقداً ولا يُلزم الشركة دون تأكيد بشري</a:t>
            </a:r>
            <a:endParaRPr lang="en-US" sz="1100" dirty="0"/>
          </a:p>
        </p:txBody>
      </p:sp>
      <p:sp>
        <p:nvSpPr>
          <p:cNvPr id="28" name="Text 25"/>
          <p:cNvSpPr/>
          <p:nvPr/>
        </p:nvSpPr>
        <p:spPr>
          <a:xfrm>
            <a:off x="457200" y="6172200"/>
            <a:ext cx="10362895" cy="256032"/>
          </a:xfrm>
          <a:prstGeom prst="rect">
            <a:avLst/>
          </a:prstGeom>
          <a:noFill/>
          <a:ln/>
        </p:spPr>
        <p:txBody>
          <a:bodyPr wrap="square" rtlCol="0" anchor="ctr"/>
          <a:lstStyle/>
          <a:p>
            <a:pPr rtl="1" algn="r" indent="0" marL="0">
              <a:buNone/>
            </a:pPr>
            <a:r>
              <a:rPr lang="en-US" sz="900" dirty="0">
                <a:solidFill>
                  <a:srgbClr val="8B95A3"/>
                </a:solidFill>
                <a:latin typeface="Calibri" pitchFamily="34" charset="0"/>
                <a:ea typeface="Calibri" pitchFamily="34" charset="-122"/>
                <a:cs typeface="Calibri" pitchFamily="34" charset="-120"/>
              </a:rPr>
              <a:t>المصدر: </a:t>
            </a:r>
            <a:pPr rtl="1" algn="r" indent="0" marL="0">
              <a:buNone/>
            </a:pPr>
            <a:r>
              <a:rPr lang="en-US" sz="900" u="sng" dirty="0">
                <a:solidFill>
                  <a:srgbClr val="B8874C"/>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Dealix AI Specs</a:t>
            </a:r>
            <a:pPr algn="r" indent="0" marL="0">
              <a:buNone/>
            </a:pPr>
            <a:r>
              <a:rPr lang="en-US" sz="900" dirty="0">
                <a:solidFill>
                  <a:srgbClr val="8B95A3"/>
                </a:solidFill>
                <a:latin typeface="Calibri" pitchFamily="34" charset="0"/>
                <a:ea typeface="Calibri" pitchFamily="34" charset="-122"/>
                <a:cs typeface="Calibri" pitchFamily="34" charset="-120"/>
              </a:rPr>
              <a:t> · </a:t>
            </a:r>
            <a:pPr rtl="1" algn="r" indent="0" marL="0">
              <a:buNone/>
            </a:pPr>
            <a:r>
              <a:rPr lang="en-US" sz="900" u="sng" dirty="0">
                <a:solidFill>
                  <a:srgbClr val="B8874C"/>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NIST AI RMF</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8F3"/>
        </a:solidFill>
      </p:bgPr>
    </p:bg>
    <p:spTree>
      <p:nvGrpSpPr>
        <p:cNvPr id="1" name=""/>
        <p:cNvGrpSpPr/>
        <p:nvPr/>
      </p:nvGrpSpPr>
      <p:grpSpPr>
        <a:xfrm>
          <a:off x="0" y="0"/>
          <a:ext cx="0" cy="0"/>
          <a:chOff x="0" y="0"/>
          <a:chExt cx="0" cy="0"/>
        </a:xfrm>
      </p:grpSpPr>
      <p:sp>
        <p:nvSpPr>
          <p:cNvPr id="2" name="Shape 0"/>
          <p:cNvSpPr/>
          <p:nvPr/>
        </p:nvSpPr>
        <p:spPr>
          <a:xfrm>
            <a:off x="11734495" y="320040"/>
            <a:ext cx="73152" cy="411480"/>
          </a:xfrm>
          <a:prstGeom prst="rect">
            <a:avLst/>
          </a:prstGeom>
          <a:solidFill>
            <a:srgbClr val="D4A574"/>
          </a:solidFill>
          <a:ln/>
        </p:spPr>
      </p:sp>
      <p:sp>
        <p:nvSpPr>
          <p:cNvPr id="3" name="Text 1"/>
          <p:cNvSpPr/>
          <p:nvPr/>
        </p:nvSpPr>
        <p:spPr>
          <a:xfrm>
            <a:off x="8076895" y="274320"/>
            <a:ext cx="3566160" cy="365760"/>
          </a:xfrm>
          <a:prstGeom prst="rect">
            <a:avLst/>
          </a:prstGeom>
          <a:noFill/>
          <a:ln/>
        </p:spPr>
        <p:txBody>
          <a:bodyPr wrap="square" rtlCol="0" anchor="ctr"/>
          <a:lstStyle/>
          <a:p>
            <a:pPr rtl="1" algn="r" indent="0" marL="0">
              <a:buNone/>
            </a:pPr>
            <a:r>
              <a:rPr lang="en-US" sz="1200" b="1" dirty="0">
                <a:solidFill>
                  <a:srgbClr val="55606E"/>
                </a:solidFill>
                <a:latin typeface="Calibri" pitchFamily="34" charset="0"/>
                <a:ea typeface="Calibri" pitchFamily="34" charset="-122"/>
                <a:cs typeface="Calibri" pitchFamily="34" charset="-120"/>
              </a:rPr>
              <a:t>المنتج · ركيزة 4</a:t>
            </a:r>
            <a:endParaRPr lang="en-US" sz="1200" dirty="0"/>
          </a:p>
        </p:txBody>
      </p:sp>
      <p:sp>
        <p:nvSpPr>
          <p:cNvPr id="4" name="Text 2"/>
          <p:cNvSpPr/>
          <p:nvPr/>
        </p:nvSpPr>
        <p:spPr>
          <a:xfrm>
            <a:off x="457200" y="6446520"/>
            <a:ext cx="2286000" cy="274320"/>
          </a:xfrm>
          <a:prstGeom prst="rect">
            <a:avLst/>
          </a:prstGeom>
          <a:noFill/>
          <a:ln/>
        </p:spPr>
        <p:txBody>
          <a:bodyPr wrap="square" rtlCol="0" anchor="ctr"/>
          <a:lstStyle/>
          <a:p>
            <a:pPr algn="l" indent="0" marL="0">
              <a:buNone/>
            </a:pPr>
            <a:r>
              <a:rPr lang="en-US" sz="900" dirty="0">
                <a:solidFill>
                  <a:srgbClr val="8B95A3"/>
                </a:solidFill>
                <a:latin typeface="Calibri" pitchFamily="34" charset="0"/>
                <a:ea typeface="Calibri" pitchFamily="34" charset="-122"/>
                <a:cs typeface="Calibri" pitchFamily="34" charset="-120"/>
              </a:rPr>
              <a:t>Dealix · ديلكس</a:t>
            </a:r>
            <a:endParaRPr lang="en-US" sz="900" dirty="0"/>
          </a:p>
        </p:txBody>
      </p:sp>
      <p:sp>
        <p:nvSpPr>
          <p:cNvPr id="5" name="Text 3"/>
          <p:cNvSpPr/>
          <p:nvPr/>
        </p:nvSpPr>
        <p:spPr>
          <a:xfrm>
            <a:off x="11094415" y="6446520"/>
            <a:ext cx="640080" cy="274320"/>
          </a:xfrm>
          <a:prstGeom prst="rect">
            <a:avLst/>
          </a:prstGeom>
          <a:noFill/>
          <a:ln/>
        </p:spPr>
        <p:txBody>
          <a:bodyPr wrap="square" rtlCol="0" anchor="ctr"/>
          <a:lstStyle/>
          <a:p>
            <a:pPr algn="r" indent="0" marL="0">
              <a:buNone/>
            </a:pPr>
            <a:r>
              <a:rPr lang="en-US" sz="900" b="1" dirty="0">
                <a:solidFill>
                  <a:srgbClr val="8B95A3"/>
                </a:solidFill>
                <a:latin typeface="Calibri" pitchFamily="34" charset="0"/>
                <a:ea typeface="Calibri" pitchFamily="34" charset="-122"/>
                <a:cs typeface="Calibri" pitchFamily="34" charset="-120"/>
              </a:rPr>
              <a:t>14</a:t>
            </a:r>
            <a:endParaRPr lang="en-US" sz="900" dirty="0"/>
          </a:p>
        </p:txBody>
      </p:sp>
      <p:sp>
        <p:nvSpPr>
          <p:cNvPr id="6" name="Text 4"/>
          <p:cNvSpPr/>
          <p:nvPr/>
        </p:nvSpPr>
        <p:spPr>
          <a:xfrm>
            <a:off x="548640" y="914400"/>
            <a:ext cx="11094415" cy="822960"/>
          </a:xfrm>
          <a:prstGeom prst="rect">
            <a:avLst/>
          </a:prstGeom>
          <a:noFill/>
          <a:ln/>
        </p:spPr>
        <p:txBody>
          <a:bodyPr wrap="square" rtlCol="0" anchor="ctr"/>
          <a:lstStyle/>
          <a:p>
            <a:pPr rtl="1" algn="r" indent="0" marL="0">
              <a:buNone/>
            </a:pPr>
            <a:r>
              <a:rPr lang="en-US" sz="3400" b="1" dirty="0">
                <a:solidFill>
                  <a:srgbClr val="0A1628"/>
                </a:solidFill>
                <a:latin typeface="Calibri" pitchFamily="34" charset="0"/>
                <a:ea typeface="Calibri" pitchFamily="34" charset="-122"/>
                <a:cs typeface="Calibri" pitchFamily="34" charset="-120"/>
              </a:rPr>
              <a:t>خط المبيعات وإدارة العلاقات</a:t>
            </a:r>
            <a:endParaRPr lang="en-US" sz="3400" dirty="0"/>
          </a:p>
        </p:txBody>
      </p:sp>
      <p:sp>
        <p:nvSpPr>
          <p:cNvPr id="7" name="Text 5"/>
          <p:cNvSpPr/>
          <p:nvPr/>
        </p:nvSpPr>
        <p:spPr>
          <a:xfrm>
            <a:off x="548640" y="1691640"/>
            <a:ext cx="11094415" cy="411480"/>
          </a:xfrm>
          <a:prstGeom prst="rect">
            <a:avLst/>
          </a:prstGeom>
          <a:noFill/>
          <a:ln/>
        </p:spPr>
        <p:txBody>
          <a:bodyPr wrap="square" rtlCol="0" anchor="ctr"/>
          <a:lstStyle/>
          <a:p>
            <a:pPr rtl="1" algn="r" indent="0" marL="0">
              <a:buNone/>
            </a:pPr>
            <a:r>
              <a:rPr lang="en-US" sz="1500" dirty="0">
                <a:solidFill>
                  <a:srgbClr val="55606E"/>
                </a:solidFill>
                <a:latin typeface="Calibri" pitchFamily="34" charset="0"/>
                <a:ea typeface="Calibri" pitchFamily="34" charset="-122"/>
                <a:cs typeface="Calibri" pitchFamily="34" charset="-120"/>
              </a:rPr>
              <a:t>Pipeline CRM بصري — سحب وإفلات، مراحل مخصصة لكل قطاع (حكومي · أرامكو · تجزئة · تجار إلكتروني)</a:t>
            </a:r>
            <a:endParaRPr lang="en-US" sz="1500" dirty="0"/>
          </a:p>
        </p:txBody>
      </p:sp>
      <p:sp>
        <p:nvSpPr>
          <p:cNvPr id="8" name="Shape 6"/>
          <p:cNvSpPr/>
          <p:nvPr/>
        </p:nvSpPr>
        <p:spPr>
          <a:xfrm>
            <a:off x="502920" y="2240280"/>
            <a:ext cx="6675120" cy="3931920"/>
          </a:xfrm>
          <a:prstGeom prst="rect">
            <a:avLst/>
          </a:prstGeom>
          <a:solidFill>
            <a:srgbClr val="0A1628"/>
          </a:solidFill>
          <a:ln/>
        </p:spPr>
      </p:sp>
      <p:pic>
        <p:nvPicPr>
          <p:cNvPr id="9" name="Image 0" descr="/home/user/workspace/dealix-clean/dashboard/assets/screenshot-pipeline.png">    </p:cNvPr>
          <p:cNvPicPr>
            <a:picLocks noChangeAspect="1"/>
          </p:cNvPicPr>
          <p:nvPr/>
        </p:nvPicPr>
        <p:blipFill>
          <a:blip r:embed="rId1"/>
          <a:srcRect l="0" r="0" t="0" b="0"/>
          <a:stretch/>
        </p:blipFill>
        <p:spPr>
          <a:xfrm>
            <a:off x="548640" y="2286000"/>
            <a:ext cx="6583680" cy="3840480"/>
          </a:xfrm>
          <a:prstGeom prst="rect">
            <a:avLst/>
          </a:prstGeom>
        </p:spPr>
      </p:pic>
      <p:sp>
        <p:nvSpPr>
          <p:cNvPr id="10" name="Text 7"/>
          <p:cNvSpPr/>
          <p:nvPr/>
        </p:nvSpPr>
        <p:spPr>
          <a:xfrm>
            <a:off x="548640" y="6199632"/>
            <a:ext cx="6583680" cy="274320"/>
          </a:xfrm>
          <a:prstGeom prst="rect">
            <a:avLst/>
          </a:prstGeom>
          <a:noFill/>
          <a:ln/>
        </p:spPr>
        <p:txBody>
          <a:bodyPr wrap="square" rtlCol="0" anchor="ctr"/>
          <a:lstStyle/>
          <a:p>
            <a:pPr algn="l" indent="0" marL="0">
              <a:buNone/>
            </a:pPr>
            <a:r>
              <a:rPr lang="en-US" sz="1000" i="1" dirty="0">
                <a:solidFill>
                  <a:srgbClr val="8B95A3"/>
                </a:solidFill>
                <a:latin typeface="Calibri" pitchFamily="34" charset="0"/>
                <a:ea typeface="Calibri" pitchFamily="34" charset="-122"/>
                <a:cs typeface="Calibri" pitchFamily="34" charset="-120"/>
              </a:rPr>
              <a:t>Dealix Pipeline — Drag &amp; Drop, Multi-Vertical Stages</a:t>
            </a:r>
            <a:endParaRPr lang="en-US" sz="1000" dirty="0"/>
          </a:p>
        </p:txBody>
      </p:sp>
      <p:sp>
        <p:nvSpPr>
          <p:cNvPr id="11" name="Text 8"/>
          <p:cNvSpPr/>
          <p:nvPr/>
        </p:nvSpPr>
        <p:spPr>
          <a:xfrm>
            <a:off x="7406640" y="2331720"/>
            <a:ext cx="4236415" cy="320040"/>
          </a:xfrm>
          <a:prstGeom prst="rect">
            <a:avLst/>
          </a:prstGeom>
          <a:noFill/>
          <a:ln/>
        </p:spPr>
        <p:txBody>
          <a:bodyPr wrap="square" rtlCol="0" anchor="ctr"/>
          <a:lstStyle/>
          <a:p>
            <a:pPr rtl="1" algn="r" indent="0" marL="0">
              <a:buNone/>
            </a:pPr>
            <a:r>
              <a:rPr lang="en-US" sz="1100" b="1" dirty="0">
                <a:solidFill>
                  <a:srgbClr val="D4A574"/>
                </a:solidFill>
                <a:latin typeface="Calibri" pitchFamily="34" charset="0"/>
                <a:ea typeface="Calibri" pitchFamily="34" charset="-122"/>
                <a:cs typeface="Calibri" pitchFamily="34" charset="-120"/>
              </a:rPr>
              <a:t>EXECUTION · التنفيذ</a:t>
            </a:r>
            <a:endParaRPr lang="en-US" sz="1100" dirty="0"/>
          </a:p>
        </p:txBody>
      </p:sp>
      <p:sp>
        <p:nvSpPr>
          <p:cNvPr id="12" name="Text 9"/>
          <p:cNvSpPr/>
          <p:nvPr/>
        </p:nvSpPr>
        <p:spPr>
          <a:xfrm>
            <a:off x="7406640" y="2651760"/>
            <a:ext cx="4236415" cy="640080"/>
          </a:xfrm>
          <a:prstGeom prst="rect">
            <a:avLst/>
          </a:prstGeom>
          <a:noFill/>
          <a:ln/>
        </p:spPr>
        <p:txBody>
          <a:bodyPr wrap="square" rtlCol="0" anchor="ctr"/>
          <a:lstStyle/>
          <a:p>
            <a:pPr rtl="1" algn="r" indent="0" marL="0">
              <a:buNone/>
            </a:pPr>
            <a:r>
              <a:rPr lang="en-US" sz="2200" b="1" dirty="0">
                <a:solidFill>
                  <a:srgbClr val="0A1628"/>
                </a:solidFill>
                <a:latin typeface="Calibri" pitchFamily="34" charset="0"/>
                <a:ea typeface="Calibri" pitchFamily="34" charset="-122"/>
                <a:cs typeface="Calibri" pitchFamily="34" charset="-120"/>
              </a:rPr>
              <a:t>خط مبيعات يعكس واقع اللوجستيات</a:t>
            </a:r>
            <a:endParaRPr lang="en-US" sz="2200" dirty="0"/>
          </a:p>
        </p:txBody>
      </p:sp>
      <p:sp>
        <p:nvSpPr>
          <p:cNvPr id="13" name="Shape 10"/>
          <p:cNvSpPr/>
          <p:nvPr/>
        </p:nvSpPr>
        <p:spPr>
          <a:xfrm>
            <a:off x="11094415" y="3337560"/>
            <a:ext cx="457200" cy="27432"/>
          </a:xfrm>
          <a:prstGeom prst="rect">
            <a:avLst/>
          </a:prstGeom>
          <a:solidFill>
            <a:srgbClr val="D4A574"/>
          </a:solidFill>
          <a:ln/>
        </p:spPr>
      </p:sp>
      <p:sp>
        <p:nvSpPr>
          <p:cNvPr id="14" name="Text 11"/>
          <p:cNvSpPr/>
          <p:nvPr/>
        </p:nvSpPr>
        <p:spPr>
          <a:xfrm>
            <a:off x="11368735" y="3429000"/>
            <a:ext cx="228600" cy="365760"/>
          </a:xfrm>
          <a:prstGeom prst="rect">
            <a:avLst/>
          </a:prstGeom>
          <a:noFill/>
          <a:ln/>
        </p:spPr>
        <p:txBody>
          <a:bodyPr wrap="square" rtlCol="0" anchor="t"/>
          <a:lstStyle/>
          <a:p>
            <a:pPr algn="r" indent="0" marL="0">
              <a:buNone/>
            </a:pPr>
            <a:r>
              <a:rPr lang="en-US" sz="1100" dirty="0">
                <a:solidFill>
                  <a:srgbClr val="D4A574"/>
                </a:solidFill>
                <a:latin typeface="Calibri" pitchFamily="34" charset="0"/>
                <a:ea typeface="Calibri" pitchFamily="34" charset="-122"/>
                <a:cs typeface="Calibri" pitchFamily="34" charset="-120"/>
              </a:rPr>
              <a:t>—</a:t>
            </a:r>
            <a:endParaRPr lang="en-US" sz="1100" dirty="0"/>
          </a:p>
        </p:txBody>
      </p:sp>
      <p:sp>
        <p:nvSpPr>
          <p:cNvPr id="15" name="Text 12"/>
          <p:cNvSpPr/>
          <p:nvPr/>
        </p:nvSpPr>
        <p:spPr>
          <a:xfrm>
            <a:off x="7406640" y="3429000"/>
            <a:ext cx="3870655" cy="434340"/>
          </a:xfrm>
          <a:prstGeom prst="rect">
            <a:avLst/>
          </a:prstGeom>
          <a:noFill/>
          <a:ln/>
        </p:spPr>
        <p:txBody>
          <a:bodyPr wrap="square" rtlCol="0" anchor="t"/>
          <a:lstStyle/>
          <a:p>
            <a:pPr rtl="1" algn="r" indent="0" marL="0">
              <a:buNone/>
            </a:pPr>
            <a:r>
              <a:rPr lang="en-US" sz="1100" dirty="0">
                <a:solidFill>
                  <a:srgbClr val="1A1A1A"/>
                </a:solidFill>
                <a:latin typeface="Calibri" pitchFamily="34" charset="0"/>
                <a:ea typeface="Calibri" pitchFamily="34" charset="-122"/>
                <a:cs typeface="Calibri" pitchFamily="34" charset="-120"/>
              </a:rPr>
              <a:t>مراحل مخصصة لكل قطاع — تندر حكومي ≠ طلب تاجر ≠ عقد أرامكو</a:t>
            </a:r>
            <a:endParaRPr lang="en-US" sz="1100" dirty="0"/>
          </a:p>
        </p:txBody>
      </p:sp>
      <p:sp>
        <p:nvSpPr>
          <p:cNvPr id="16" name="Text 13"/>
          <p:cNvSpPr/>
          <p:nvPr/>
        </p:nvSpPr>
        <p:spPr>
          <a:xfrm>
            <a:off x="11368735" y="3817620"/>
            <a:ext cx="228600" cy="365760"/>
          </a:xfrm>
          <a:prstGeom prst="rect">
            <a:avLst/>
          </a:prstGeom>
          <a:noFill/>
          <a:ln/>
        </p:spPr>
        <p:txBody>
          <a:bodyPr wrap="square" rtlCol="0" anchor="t"/>
          <a:lstStyle/>
          <a:p>
            <a:pPr algn="r" indent="0" marL="0">
              <a:buNone/>
            </a:pPr>
            <a:r>
              <a:rPr lang="en-US" sz="1100" dirty="0">
                <a:solidFill>
                  <a:srgbClr val="D4A574"/>
                </a:solidFill>
                <a:latin typeface="Calibri" pitchFamily="34" charset="0"/>
                <a:ea typeface="Calibri" pitchFamily="34" charset="-122"/>
                <a:cs typeface="Calibri" pitchFamily="34" charset="-120"/>
              </a:rPr>
              <a:t>—</a:t>
            </a:r>
            <a:endParaRPr lang="en-US" sz="1100" dirty="0"/>
          </a:p>
        </p:txBody>
      </p:sp>
      <p:sp>
        <p:nvSpPr>
          <p:cNvPr id="17" name="Text 14"/>
          <p:cNvSpPr/>
          <p:nvPr/>
        </p:nvSpPr>
        <p:spPr>
          <a:xfrm>
            <a:off x="7406640" y="3817620"/>
            <a:ext cx="3870655" cy="434340"/>
          </a:xfrm>
          <a:prstGeom prst="rect">
            <a:avLst/>
          </a:prstGeom>
          <a:noFill/>
          <a:ln/>
        </p:spPr>
        <p:txBody>
          <a:bodyPr wrap="square" rtlCol="0" anchor="t"/>
          <a:lstStyle/>
          <a:p>
            <a:pPr rtl="1" algn="r" indent="0" marL="0">
              <a:buNone/>
            </a:pPr>
            <a:r>
              <a:rPr lang="en-US" sz="1100" dirty="0">
                <a:solidFill>
                  <a:srgbClr val="1A1A1A"/>
                </a:solidFill>
                <a:latin typeface="Calibri" pitchFamily="34" charset="0"/>
                <a:ea typeface="Calibri" pitchFamily="34" charset="-122"/>
                <a:cs typeface="Calibri" pitchFamily="34" charset="-120"/>
              </a:rPr>
              <a:t>حقول غنية: حجم الحمولة، نوع البضاعة، المنطقة، مستوى الاستعجال</a:t>
            </a:r>
            <a:endParaRPr lang="en-US" sz="1100" dirty="0"/>
          </a:p>
        </p:txBody>
      </p:sp>
      <p:sp>
        <p:nvSpPr>
          <p:cNvPr id="18" name="Text 15"/>
          <p:cNvSpPr/>
          <p:nvPr/>
        </p:nvSpPr>
        <p:spPr>
          <a:xfrm>
            <a:off x="11368735" y="4206240"/>
            <a:ext cx="228600" cy="365760"/>
          </a:xfrm>
          <a:prstGeom prst="rect">
            <a:avLst/>
          </a:prstGeom>
          <a:noFill/>
          <a:ln/>
        </p:spPr>
        <p:txBody>
          <a:bodyPr wrap="square" rtlCol="0" anchor="t"/>
          <a:lstStyle/>
          <a:p>
            <a:pPr algn="r" indent="0" marL="0">
              <a:buNone/>
            </a:pPr>
            <a:r>
              <a:rPr lang="en-US" sz="1100" dirty="0">
                <a:solidFill>
                  <a:srgbClr val="D4A574"/>
                </a:solidFill>
                <a:latin typeface="Calibri" pitchFamily="34" charset="0"/>
                <a:ea typeface="Calibri" pitchFamily="34" charset="-122"/>
                <a:cs typeface="Calibri" pitchFamily="34" charset="-120"/>
              </a:rPr>
              <a:t>—</a:t>
            </a:r>
            <a:endParaRPr lang="en-US" sz="1100" dirty="0"/>
          </a:p>
        </p:txBody>
      </p:sp>
      <p:sp>
        <p:nvSpPr>
          <p:cNvPr id="19" name="Text 16"/>
          <p:cNvSpPr/>
          <p:nvPr/>
        </p:nvSpPr>
        <p:spPr>
          <a:xfrm>
            <a:off x="7406640" y="4206240"/>
            <a:ext cx="3870655" cy="434340"/>
          </a:xfrm>
          <a:prstGeom prst="rect">
            <a:avLst/>
          </a:prstGeom>
          <a:noFill/>
          <a:ln/>
        </p:spPr>
        <p:txBody>
          <a:bodyPr wrap="square" rtlCol="0" anchor="t"/>
          <a:lstStyle/>
          <a:p>
            <a:pPr rtl="1" algn="r" indent="0" marL="0">
              <a:buNone/>
            </a:pPr>
            <a:r>
              <a:rPr lang="en-US" sz="1100" dirty="0">
                <a:solidFill>
                  <a:srgbClr val="1A1A1A"/>
                </a:solidFill>
                <a:latin typeface="Calibri" pitchFamily="34" charset="0"/>
                <a:ea typeface="Calibri" pitchFamily="34" charset="-122"/>
                <a:cs typeface="Calibri" pitchFamily="34" charset="-120"/>
              </a:rPr>
              <a:t>Workflow آلي: كل مرحلة تُشغّل إجراء (إرسال عرض، حجز مراجعة، تصعيد)</a:t>
            </a:r>
            <a:endParaRPr lang="en-US" sz="1100" dirty="0"/>
          </a:p>
        </p:txBody>
      </p:sp>
      <p:sp>
        <p:nvSpPr>
          <p:cNvPr id="20" name="Text 17"/>
          <p:cNvSpPr/>
          <p:nvPr/>
        </p:nvSpPr>
        <p:spPr>
          <a:xfrm>
            <a:off x="11368735" y="4594860"/>
            <a:ext cx="228600" cy="365760"/>
          </a:xfrm>
          <a:prstGeom prst="rect">
            <a:avLst/>
          </a:prstGeom>
          <a:noFill/>
          <a:ln/>
        </p:spPr>
        <p:txBody>
          <a:bodyPr wrap="square" rtlCol="0" anchor="t"/>
          <a:lstStyle/>
          <a:p>
            <a:pPr algn="r" indent="0" marL="0">
              <a:buNone/>
            </a:pPr>
            <a:r>
              <a:rPr lang="en-US" sz="1100" dirty="0">
                <a:solidFill>
                  <a:srgbClr val="D4A574"/>
                </a:solidFill>
                <a:latin typeface="Calibri" pitchFamily="34" charset="0"/>
                <a:ea typeface="Calibri" pitchFamily="34" charset="-122"/>
                <a:cs typeface="Calibri" pitchFamily="34" charset="-120"/>
              </a:rPr>
              <a:t>—</a:t>
            </a:r>
            <a:endParaRPr lang="en-US" sz="1100" dirty="0"/>
          </a:p>
        </p:txBody>
      </p:sp>
      <p:sp>
        <p:nvSpPr>
          <p:cNvPr id="21" name="Text 18"/>
          <p:cNvSpPr/>
          <p:nvPr/>
        </p:nvSpPr>
        <p:spPr>
          <a:xfrm>
            <a:off x="7406640" y="4594860"/>
            <a:ext cx="3870655" cy="434340"/>
          </a:xfrm>
          <a:prstGeom prst="rect">
            <a:avLst/>
          </a:prstGeom>
          <a:noFill/>
          <a:ln/>
        </p:spPr>
        <p:txBody>
          <a:bodyPr wrap="square" rtlCol="0" anchor="t"/>
          <a:lstStyle/>
          <a:p>
            <a:pPr rtl="1" algn="r" indent="0" marL="0">
              <a:buNone/>
            </a:pPr>
            <a:r>
              <a:rPr lang="en-US" sz="1100" dirty="0">
                <a:solidFill>
                  <a:srgbClr val="1A1A1A"/>
                </a:solidFill>
                <a:latin typeface="Calibri" pitchFamily="34" charset="0"/>
                <a:ea typeface="Calibri" pitchFamily="34" charset="-122"/>
                <a:cs typeface="Calibri" pitchFamily="34" charset="-120"/>
              </a:rPr>
              <a:t>توقّعات إيراد أسبوعية بدقة &gt; 85% (مبنية على بيانات 12 شهر)</a:t>
            </a:r>
            <a:endParaRPr lang="en-US" sz="1100" dirty="0"/>
          </a:p>
        </p:txBody>
      </p:sp>
      <p:sp>
        <p:nvSpPr>
          <p:cNvPr id="22" name="Text 19"/>
          <p:cNvSpPr/>
          <p:nvPr/>
        </p:nvSpPr>
        <p:spPr>
          <a:xfrm>
            <a:off x="11368735" y="4983480"/>
            <a:ext cx="228600" cy="365760"/>
          </a:xfrm>
          <a:prstGeom prst="rect">
            <a:avLst/>
          </a:prstGeom>
          <a:noFill/>
          <a:ln/>
        </p:spPr>
        <p:txBody>
          <a:bodyPr wrap="square" rtlCol="0" anchor="t"/>
          <a:lstStyle/>
          <a:p>
            <a:pPr algn="r" indent="0" marL="0">
              <a:buNone/>
            </a:pPr>
            <a:r>
              <a:rPr lang="en-US" sz="1100" dirty="0">
                <a:solidFill>
                  <a:srgbClr val="D4A574"/>
                </a:solidFill>
                <a:latin typeface="Calibri" pitchFamily="34" charset="0"/>
                <a:ea typeface="Calibri" pitchFamily="34" charset="-122"/>
                <a:cs typeface="Calibri" pitchFamily="34" charset="-120"/>
              </a:rPr>
              <a:t>—</a:t>
            </a:r>
            <a:endParaRPr lang="en-US" sz="1100" dirty="0"/>
          </a:p>
        </p:txBody>
      </p:sp>
      <p:sp>
        <p:nvSpPr>
          <p:cNvPr id="23" name="Text 20"/>
          <p:cNvSpPr/>
          <p:nvPr/>
        </p:nvSpPr>
        <p:spPr>
          <a:xfrm>
            <a:off x="7406640" y="4983480"/>
            <a:ext cx="3870655" cy="434340"/>
          </a:xfrm>
          <a:prstGeom prst="rect">
            <a:avLst/>
          </a:prstGeom>
          <a:noFill/>
          <a:ln/>
        </p:spPr>
        <p:txBody>
          <a:bodyPr wrap="square" rtlCol="0" anchor="t"/>
          <a:lstStyle/>
          <a:p>
            <a:pPr rtl="1" algn="r" indent="0" marL="0">
              <a:buNone/>
            </a:pPr>
            <a:r>
              <a:rPr lang="en-US" sz="1100" dirty="0">
                <a:solidFill>
                  <a:srgbClr val="1A1A1A"/>
                </a:solidFill>
                <a:latin typeface="Calibri" pitchFamily="34" charset="0"/>
                <a:ea typeface="Calibri" pitchFamily="34" charset="-122"/>
                <a:cs typeface="Calibri" pitchFamily="34" charset="-120"/>
              </a:rPr>
              <a:t>تاريخ كامل لكل عميل: تواصل، عروض، تندرات سابقة، نتائج</a:t>
            </a:r>
            <a:endParaRPr lang="en-US" sz="1100" dirty="0"/>
          </a:p>
        </p:txBody>
      </p:sp>
      <p:sp>
        <p:nvSpPr>
          <p:cNvPr id="24" name="Text 21"/>
          <p:cNvSpPr/>
          <p:nvPr/>
        </p:nvSpPr>
        <p:spPr>
          <a:xfrm>
            <a:off x="11368735" y="5372100"/>
            <a:ext cx="228600" cy="365760"/>
          </a:xfrm>
          <a:prstGeom prst="rect">
            <a:avLst/>
          </a:prstGeom>
          <a:noFill/>
          <a:ln/>
        </p:spPr>
        <p:txBody>
          <a:bodyPr wrap="square" rtlCol="0" anchor="t"/>
          <a:lstStyle/>
          <a:p>
            <a:pPr algn="r" indent="0" marL="0">
              <a:buNone/>
            </a:pPr>
            <a:r>
              <a:rPr lang="en-US" sz="1100" dirty="0">
                <a:solidFill>
                  <a:srgbClr val="D4A574"/>
                </a:solidFill>
                <a:latin typeface="Calibri" pitchFamily="34" charset="0"/>
                <a:ea typeface="Calibri" pitchFamily="34" charset="-122"/>
                <a:cs typeface="Calibri" pitchFamily="34" charset="-120"/>
              </a:rPr>
              <a:t>—</a:t>
            </a:r>
            <a:endParaRPr lang="en-US" sz="1100" dirty="0"/>
          </a:p>
        </p:txBody>
      </p:sp>
      <p:sp>
        <p:nvSpPr>
          <p:cNvPr id="25" name="Text 22"/>
          <p:cNvSpPr/>
          <p:nvPr/>
        </p:nvSpPr>
        <p:spPr>
          <a:xfrm>
            <a:off x="7406640" y="5372100"/>
            <a:ext cx="3870655" cy="434340"/>
          </a:xfrm>
          <a:prstGeom prst="rect">
            <a:avLst/>
          </a:prstGeom>
          <a:noFill/>
          <a:ln/>
        </p:spPr>
        <p:txBody>
          <a:bodyPr wrap="square" rtlCol="0" anchor="t"/>
          <a:lstStyle/>
          <a:p>
            <a:pPr rtl="1" algn="r" indent="0" marL="0">
              <a:buNone/>
            </a:pPr>
            <a:r>
              <a:rPr lang="en-US" sz="1100" dirty="0">
                <a:solidFill>
                  <a:srgbClr val="1A1A1A"/>
                </a:solidFill>
                <a:latin typeface="Calibri" pitchFamily="34" charset="0"/>
                <a:ea typeface="Calibri" pitchFamily="34" charset="-122"/>
                <a:cs typeface="Calibri" pitchFamily="34" charset="-120"/>
              </a:rPr>
              <a:t>Notes تنفيذية خاصة بالمدير العام — لا يراها المندوب</a:t>
            </a:r>
            <a:endParaRPr lang="en-US" sz="1100" dirty="0"/>
          </a:p>
        </p:txBody>
      </p:sp>
      <p:sp>
        <p:nvSpPr>
          <p:cNvPr id="26" name="Text 23"/>
          <p:cNvSpPr/>
          <p:nvPr/>
        </p:nvSpPr>
        <p:spPr>
          <a:xfrm>
            <a:off x="11368735" y="5760720"/>
            <a:ext cx="228600" cy="365760"/>
          </a:xfrm>
          <a:prstGeom prst="rect">
            <a:avLst/>
          </a:prstGeom>
          <a:noFill/>
          <a:ln/>
        </p:spPr>
        <p:txBody>
          <a:bodyPr wrap="square" rtlCol="0" anchor="t"/>
          <a:lstStyle/>
          <a:p>
            <a:pPr algn="r" indent="0" marL="0">
              <a:buNone/>
            </a:pPr>
            <a:r>
              <a:rPr lang="en-US" sz="1100" dirty="0">
                <a:solidFill>
                  <a:srgbClr val="D4A574"/>
                </a:solidFill>
                <a:latin typeface="Calibri" pitchFamily="34" charset="0"/>
                <a:ea typeface="Calibri" pitchFamily="34" charset="-122"/>
                <a:cs typeface="Calibri" pitchFamily="34" charset="-120"/>
              </a:rPr>
              <a:t>—</a:t>
            </a:r>
            <a:endParaRPr lang="en-US" sz="1100" dirty="0"/>
          </a:p>
        </p:txBody>
      </p:sp>
      <p:sp>
        <p:nvSpPr>
          <p:cNvPr id="27" name="Text 24"/>
          <p:cNvSpPr/>
          <p:nvPr/>
        </p:nvSpPr>
        <p:spPr>
          <a:xfrm>
            <a:off x="7406640" y="5760720"/>
            <a:ext cx="3870655" cy="434340"/>
          </a:xfrm>
          <a:prstGeom prst="rect">
            <a:avLst/>
          </a:prstGeom>
          <a:noFill/>
          <a:ln/>
        </p:spPr>
        <p:txBody>
          <a:bodyPr wrap="square" rtlCol="0" anchor="t"/>
          <a:lstStyle/>
          <a:p>
            <a:pPr rtl="1" algn="r" indent="0" marL="0">
              <a:buNone/>
            </a:pPr>
            <a:r>
              <a:rPr lang="en-US" sz="1100" dirty="0">
                <a:solidFill>
                  <a:srgbClr val="1A1A1A"/>
                </a:solidFill>
                <a:latin typeface="Calibri" pitchFamily="34" charset="0"/>
                <a:ea typeface="Calibri" pitchFamily="34" charset="-122"/>
                <a:cs typeface="Calibri" pitchFamily="34" charset="-120"/>
              </a:rPr>
              <a:t>تصدير تلقائي إلى Excel / Power BI للإدارة العليا</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8F3"/>
        </a:solidFill>
      </p:bgPr>
    </p:bg>
    <p:spTree>
      <p:nvGrpSpPr>
        <p:cNvPr id="1" name=""/>
        <p:cNvGrpSpPr/>
        <p:nvPr/>
      </p:nvGrpSpPr>
      <p:grpSpPr>
        <a:xfrm>
          <a:off x="0" y="0"/>
          <a:ext cx="0" cy="0"/>
          <a:chOff x="0" y="0"/>
          <a:chExt cx="0" cy="0"/>
        </a:xfrm>
      </p:grpSpPr>
      <p:sp>
        <p:nvSpPr>
          <p:cNvPr id="2" name="Shape 0"/>
          <p:cNvSpPr/>
          <p:nvPr/>
        </p:nvSpPr>
        <p:spPr>
          <a:xfrm>
            <a:off x="11734495" y="320040"/>
            <a:ext cx="73152" cy="411480"/>
          </a:xfrm>
          <a:prstGeom prst="rect">
            <a:avLst/>
          </a:prstGeom>
          <a:solidFill>
            <a:srgbClr val="D4A574"/>
          </a:solidFill>
          <a:ln/>
        </p:spPr>
      </p:sp>
      <p:sp>
        <p:nvSpPr>
          <p:cNvPr id="3" name="Text 1"/>
          <p:cNvSpPr/>
          <p:nvPr/>
        </p:nvSpPr>
        <p:spPr>
          <a:xfrm>
            <a:off x="8076895" y="274320"/>
            <a:ext cx="3566160" cy="365760"/>
          </a:xfrm>
          <a:prstGeom prst="rect">
            <a:avLst/>
          </a:prstGeom>
          <a:noFill/>
          <a:ln/>
        </p:spPr>
        <p:txBody>
          <a:bodyPr wrap="square" rtlCol="0" anchor="ctr"/>
          <a:lstStyle/>
          <a:p>
            <a:pPr rtl="1" algn="r" indent="0" marL="0">
              <a:buNone/>
            </a:pPr>
            <a:r>
              <a:rPr lang="en-US" sz="1200" b="1" dirty="0">
                <a:solidFill>
                  <a:srgbClr val="55606E"/>
                </a:solidFill>
                <a:latin typeface="Calibri" pitchFamily="34" charset="0"/>
                <a:ea typeface="Calibri" pitchFamily="34" charset="-122"/>
                <a:cs typeface="Calibri" pitchFamily="34" charset="-120"/>
              </a:rPr>
              <a:t>المنتج · ركيزة 5</a:t>
            </a:r>
            <a:endParaRPr lang="en-US" sz="1200" dirty="0"/>
          </a:p>
        </p:txBody>
      </p:sp>
      <p:sp>
        <p:nvSpPr>
          <p:cNvPr id="4" name="Text 2"/>
          <p:cNvSpPr/>
          <p:nvPr/>
        </p:nvSpPr>
        <p:spPr>
          <a:xfrm>
            <a:off x="457200" y="6446520"/>
            <a:ext cx="2286000" cy="274320"/>
          </a:xfrm>
          <a:prstGeom prst="rect">
            <a:avLst/>
          </a:prstGeom>
          <a:noFill/>
          <a:ln/>
        </p:spPr>
        <p:txBody>
          <a:bodyPr wrap="square" rtlCol="0" anchor="ctr"/>
          <a:lstStyle/>
          <a:p>
            <a:pPr algn="l" indent="0" marL="0">
              <a:buNone/>
            </a:pPr>
            <a:r>
              <a:rPr lang="en-US" sz="900" dirty="0">
                <a:solidFill>
                  <a:srgbClr val="8B95A3"/>
                </a:solidFill>
                <a:latin typeface="Calibri" pitchFamily="34" charset="0"/>
                <a:ea typeface="Calibri" pitchFamily="34" charset="-122"/>
                <a:cs typeface="Calibri" pitchFamily="34" charset="-120"/>
              </a:rPr>
              <a:t>Dealix · ديلكس</a:t>
            </a:r>
            <a:endParaRPr lang="en-US" sz="900" dirty="0"/>
          </a:p>
        </p:txBody>
      </p:sp>
      <p:sp>
        <p:nvSpPr>
          <p:cNvPr id="5" name="Text 3"/>
          <p:cNvSpPr/>
          <p:nvPr/>
        </p:nvSpPr>
        <p:spPr>
          <a:xfrm>
            <a:off x="11094415" y="6446520"/>
            <a:ext cx="640080" cy="274320"/>
          </a:xfrm>
          <a:prstGeom prst="rect">
            <a:avLst/>
          </a:prstGeom>
          <a:noFill/>
          <a:ln/>
        </p:spPr>
        <p:txBody>
          <a:bodyPr wrap="square" rtlCol="0" anchor="ctr"/>
          <a:lstStyle/>
          <a:p>
            <a:pPr algn="r" indent="0" marL="0">
              <a:buNone/>
            </a:pPr>
            <a:r>
              <a:rPr lang="en-US" sz="900" b="1" dirty="0">
                <a:solidFill>
                  <a:srgbClr val="8B95A3"/>
                </a:solidFill>
                <a:latin typeface="Calibri" pitchFamily="34" charset="0"/>
                <a:ea typeface="Calibri" pitchFamily="34" charset="-122"/>
                <a:cs typeface="Calibri" pitchFamily="34" charset="-120"/>
              </a:rPr>
              <a:t>15</a:t>
            </a:r>
            <a:endParaRPr lang="en-US" sz="900" dirty="0"/>
          </a:p>
        </p:txBody>
      </p:sp>
      <p:sp>
        <p:nvSpPr>
          <p:cNvPr id="6" name="Text 4"/>
          <p:cNvSpPr/>
          <p:nvPr/>
        </p:nvSpPr>
        <p:spPr>
          <a:xfrm>
            <a:off x="548640" y="914400"/>
            <a:ext cx="11094415" cy="822960"/>
          </a:xfrm>
          <a:prstGeom prst="rect">
            <a:avLst/>
          </a:prstGeom>
          <a:noFill/>
          <a:ln/>
        </p:spPr>
        <p:txBody>
          <a:bodyPr wrap="square" rtlCol="0" anchor="ctr"/>
          <a:lstStyle/>
          <a:p>
            <a:pPr rtl="1" algn="r" indent="0" marL="0">
              <a:buNone/>
            </a:pPr>
            <a:r>
              <a:rPr lang="en-US" sz="3400" b="1" dirty="0">
                <a:solidFill>
                  <a:srgbClr val="0A1628"/>
                </a:solidFill>
                <a:latin typeface="Calibri" pitchFamily="34" charset="0"/>
                <a:ea typeface="Calibri" pitchFamily="34" charset="-122"/>
                <a:cs typeface="Calibri" pitchFamily="34" charset="-120"/>
              </a:rPr>
              <a:t>تحليلات وإسناد الإيراد</a:t>
            </a:r>
            <a:endParaRPr lang="en-US" sz="3400" dirty="0"/>
          </a:p>
        </p:txBody>
      </p:sp>
      <p:sp>
        <p:nvSpPr>
          <p:cNvPr id="7" name="Text 5"/>
          <p:cNvSpPr/>
          <p:nvPr/>
        </p:nvSpPr>
        <p:spPr>
          <a:xfrm>
            <a:off x="548640" y="1691640"/>
            <a:ext cx="11094415" cy="411480"/>
          </a:xfrm>
          <a:prstGeom prst="rect">
            <a:avLst/>
          </a:prstGeom>
          <a:noFill/>
          <a:ln/>
        </p:spPr>
        <p:txBody>
          <a:bodyPr wrap="square" rtlCol="0" anchor="ctr"/>
          <a:lstStyle/>
          <a:p>
            <a:pPr rtl="1" algn="r" indent="0" marL="0">
              <a:buNone/>
            </a:pPr>
            <a:r>
              <a:rPr lang="en-US" sz="1500" dirty="0">
                <a:solidFill>
                  <a:srgbClr val="55606E"/>
                </a:solidFill>
                <a:latin typeface="Calibri" pitchFamily="34" charset="0"/>
                <a:ea typeface="Calibri" pitchFamily="34" charset="-122"/>
                <a:cs typeface="Calibri" pitchFamily="34" charset="-120"/>
              </a:rPr>
              <a:t>Analytics &amp; Revenue Attribution — تعرف بالضبط أي قناة، أي حملة، وأي مندوب أنتج كل صفقة</a:t>
            </a:r>
            <a:endParaRPr lang="en-US" sz="1500" dirty="0"/>
          </a:p>
        </p:txBody>
      </p:sp>
      <p:sp>
        <p:nvSpPr>
          <p:cNvPr id="8" name="Shape 6"/>
          <p:cNvSpPr/>
          <p:nvPr/>
        </p:nvSpPr>
        <p:spPr>
          <a:xfrm>
            <a:off x="502920" y="2240280"/>
            <a:ext cx="6675120" cy="3931920"/>
          </a:xfrm>
          <a:prstGeom prst="rect">
            <a:avLst/>
          </a:prstGeom>
          <a:solidFill>
            <a:srgbClr val="0A1628"/>
          </a:solidFill>
          <a:ln/>
        </p:spPr>
      </p:sp>
      <p:pic>
        <p:nvPicPr>
          <p:cNvPr id="9" name="Image 0" descr="/home/user/workspace/dealix-clean/dashboard/assets/screenshot-analytics.png">    </p:cNvPr>
          <p:cNvPicPr>
            <a:picLocks noChangeAspect="1"/>
          </p:cNvPicPr>
          <p:nvPr/>
        </p:nvPicPr>
        <p:blipFill>
          <a:blip r:embed="rId1"/>
          <a:srcRect l="0" r="0" t="0" b="0"/>
          <a:stretch/>
        </p:blipFill>
        <p:spPr>
          <a:xfrm>
            <a:off x="548640" y="2286000"/>
            <a:ext cx="6583680" cy="3840480"/>
          </a:xfrm>
          <a:prstGeom prst="rect">
            <a:avLst/>
          </a:prstGeom>
        </p:spPr>
      </p:pic>
      <p:sp>
        <p:nvSpPr>
          <p:cNvPr id="10" name="Text 7"/>
          <p:cNvSpPr/>
          <p:nvPr/>
        </p:nvSpPr>
        <p:spPr>
          <a:xfrm>
            <a:off x="548640" y="6199632"/>
            <a:ext cx="6583680" cy="274320"/>
          </a:xfrm>
          <a:prstGeom prst="rect">
            <a:avLst/>
          </a:prstGeom>
          <a:noFill/>
          <a:ln/>
        </p:spPr>
        <p:txBody>
          <a:bodyPr wrap="square" rtlCol="0" anchor="ctr"/>
          <a:lstStyle/>
          <a:p>
            <a:pPr algn="l" indent="0" marL="0">
              <a:buNone/>
            </a:pPr>
            <a:r>
              <a:rPr lang="en-US" sz="1000" i="1" dirty="0">
                <a:solidFill>
                  <a:srgbClr val="8B95A3"/>
                </a:solidFill>
                <a:latin typeface="Calibri" pitchFamily="34" charset="0"/>
                <a:ea typeface="Calibri" pitchFamily="34" charset="-122"/>
                <a:cs typeface="Calibri" pitchFamily="34" charset="-120"/>
              </a:rPr>
              <a:t>Dealix Analytics — Executive Dashboard</a:t>
            </a:r>
            <a:endParaRPr lang="en-US" sz="1000" dirty="0"/>
          </a:p>
        </p:txBody>
      </p:sp>
      <p:sp>
        <p:nvSpPr>
          <p:cNvPr id="11" name="Text 8"/>
          <p:cNvSpPr/>
          <p:nvPr/>
        </p:nvSpPr>
        <p:spPr>
          <a:xfrm>
            <a:off x="7406640" y="2331720"/>
            <a:ext cx="4236415" cy="320040"/>
          </a:xfrm>
          <a:prstGeom prst="rect">
            <a:avLst/>
          </a:prstGeom>
          <a:noFill/>
          <a:ln/>
        </p:spPr>
        <p:txBody>
          <a:bodyPr wrap="square" rtlCol="0" anchor="ctr"/>
          <a:lstStyle/>
          <a:p>
            <a:pPr rtl="1" algn="r" indent="0" marL="0">
              <a:buNone/>
            </a:pPr>
            <a:r>
              <a:rPr lang="en-US" sz="1100" b="1" dirty="0">
                <a:solidFill>
                  <a:srgbClr val="D4A574"/>
                </a:solidFill>
                <a:latin typeface="Calibri" pitchFamily="34" charset="0"/>
                <a:ea typeface="Calibri" pitchFamily="34" charset="-122"/>
                <a:cs typeface="Calibri" pitchFamily="34" charset="-120"/>
              </a:rPr>
              <a:t>ANALYTICS · التحليل</a:t>
            </a:r>
            <a:endParaRPr lang="en-US" sz="1100" dirty="0"/>
          </a:p>
        </p:txBody>
      </p:sp>
      <p:sp>
        <p:nvSpPr>
          <p:cNvPr id="12" name="Text 9"/>
          <p:cNvSpPr/>
          <p:nvPr/>
        </p:nvSpPr>
        <p:spPr>
          <a:xfrm>
            <a:off x="7406640" y="2651760"/>
            <a:ext cx="4236415" cy="640080"/>
          </a:xfrm>
          <a:prstGeom prst="rect">
            <a:avLst/>
          </a:prstGeom>
          <a:noFill/>
          <a:ln/>
        </p:spPr>
        <p:txBody>
          <a:bodyPr wrap="square" rtlCol="0" anchor="ctr"/>
          <a:lstStyle/>
          <a:p>
            <a:pPr rtl="1" algn="r" indent="0" marL="0">
              <a:buNone/>
            </a:pPr>
            <a:r>
              <a:rPr lang="en-US" sz="2200" b="1" dirty="0">
                <a:solidFill>
                  <a:srgbClr val="0A1628"/>
                </a:solidFill>
                <a:latin typeface="Calibri" pitchFamily="34" charset="0"/>
                <a:ea typeface="Calibri" pitchFamily="34" charset="-122"/>
                <a:cs typeface="Calibri" pitchFamily="34" charset="-120"/>
              </a:rPr>
              <a:t>من السؤال الصعب إلى الإجابة في 30 ثانية</a:t>
            </a:r>
            <a:endParaRPr lang="en-US" sz="2200" dirty="0"/>
          </a:p>
        </p:txBody>
      </p:sp>
      <p:sp>
        <p:nvSpPr>
          <p:cNvPr id="13" name="Shape 10"/>
          <p:cNvSpPr/>
          <p:nvPr/>
        </p:nvSpPr>
        <p:spPr>
          <a:xfrm>
            <a:off x="11094415" y="3337560"/>
            <a:ext cx="457200" cy="27432"/>
          </a:xfrm>
          <a:prstGeom prst="rect">
            <a:avLst/>
          </a:prstGeom>
          <a:solidFill>
            <a:srgbClr val="D4A574"/>
          </a:solidFill>
          <a:ln/>
        </p:spPr>
      </p:sp>
      <p:sp>
        <p:nvSpPr>
          <p:cNvPr id="14" name="Text 11"/>
          <p:cNvSpPr/>
          <p:nvPr/>
        </p:nvSpPr>
        <p:spPr>
          <a:xfrm>
            <a:off x="11368735" y="3429000"/>
            <a:ext cx="228600" cy="365760"/>
          </a:xfrm>
          <a:prstGeom prst="rect">
            <a:avLst/>
          </a:prstGeom>
          <a:noFill/>
          <a:ln/>
        </p:spPr>
        <p:txBody>
          <a:bodyPr wrap="square" rtlCol="0" anchor="t"/>
          <a:lstStyle/>
          <a:p>
            <a:pPr algn="r" indent="0" marL="0">
              <a:buNone/>
            </a:pPr>
            <a:r>
              <a:rPr lang="en-US" sz="1100" dirty="0">
                <a:solidFill>
                  <a:srgbClr val="D4A574"/>
                </a:solidFill>
                <a:latin typeface="Calibri" pitchFamily="34" charset="0"/>
                <a:ea typeface="Calibri" pitchFamily="34" charset="-122"/>
                <a:cs typeface="Calibri" pitchFamily="34" charset="-120"/>
              </a:rPr>
              <a:t>—</a:t>
            </a:r>
            <a:endParaRPr lang="en-US" sz="1100" dirty="0"/>
          </a:p>
        </p:txBody>
      </p:sp>
      <p:sp>
        <p:nvSpPr>
          <p:cNvPr id="15" name="Text 12"/>
          <p:cNvSpPr/>
          <p:nvPr/>
        </p:nvSpPr>
        <p:spPr>
          <a:xfrm>
            <a:off x="7406640" y="3429000"/>
            <a:ext cx="3870655" cy="434340"/>
          </a:xfrm>
          <a:prstGeom prst="rect">
            <a:avLst/>
          </a:prstGeom>
          <a:noFill/>
          <a:ln/>
        </p:spPr>
        <p:txBody>
          <a:bodyPr wrap="square" rtlCol="0" anchor="t"/>
          <a:lstStyle/>
          <a:p>
            <a:pPr rtl="1" algn="r" indent="0" marL="0">
              <a:buNone/>
            </a:pPr>
            <a:r>
              <a:rPr lang="en-US" sz="1100" dirty="0">
                <a:solidFill>
                  <a:srgbClr val="1A1A1A"/>
                </a:solidFill>
                <a:latin typeface="Calibri" pitchFamily="34" charset="0"/>
                <a:ea typeface="Calibri" pitchFamily="34" charset="-122"/>
                <a:cs typeface="Calibri" pitchFamily="34" charset="-120"/>
              </a:rPr>
              <a:t>لوحة تنفيذية للمدير العام — تحديث مباشر، بدون انتظار IT</a:t>
            </a:r>
            <a:endParaRPr lang="en-US" sz="1100" dirty="0"/>
          </a:p>
        </p:txBody>
      </p:sp>
      <p:sp>
        <p:nvSpPr>
          <p:cNvPr id="16" name="Text 13"/>
          <p:cNvSpPr/>
          <p:nvPr/>
        </p:nvSpPr>
        <p:spPr>
          <a:xfrm>
            <a:off x="11368735" y="3817620"/>
            <a:ext cx="228600" cy="365760"/>
          </a:xfrm>
          <a:prstGeom prst="rect">
            <a:avLst/>
          </a:prstGeom>
          <a:noFill/>
          <a:ln/>
        </p:spPr>
        <p:txBody>
          <a:bodyPr wrap="square" rtlCol="0" anchor="t"/>
          <a:lstStyle/>
          <a:p>
            <a:pPr algn="r" indent="0" marL="0">
              <a:buNone/>
            </a:pPr>
            <a:r>
              <a:rPr lang="en-US" sz="1100" dirty="0">
                <a:solidFill>
                  <a:srgbClr val="D4A574"/>
                </a:solidFill>
                <a:latin typeface="Calibri" pitchFamily="34" charset="0"/>
                <a:ea typeface="Calibri" pitchFamily="34" charset="-122"/>
                <a:cs typeface="Calibri" pitchFamily="34" charset="-120"/>
              </a:rPr>
              <a:t>—</a:t>
            </a:r>
            <a:endParaRPr lang="en-US" sz="1100" dirty="0"/>
          </a:p>
        </p:txBody>
      </p:sp>
      <p:sp>
        <p:nvSpPr>
          <p:cNvPr id="17" name="Text 14"/>
          <p:cNvSpPr/>
          <p:nvPr/>
        </p:nvSpPr>
        <p:spPr>
          <a:xfrm>
            <a:off x="7406640" y="3817620"/>
            <a:ext cx="3870655" cy="434340"/>
          </a:xfrm>
          <a:prstGeom prst="rect">
            <a:avLst/>
          </a:prstGeom>
          <a:noFill/>
          <a:ln/>
        </p:spPr>
        <p:txBody>
          <a:bodyPr wrap="square" rtlCol="0" anchor="t"/>
          <a:lstStyle/>
          <a:p>
            <a:pPr rtl="1" algn="r" indent="0" marL="0">
              <a:buNone/>
            </a:pPr>
            <a:r>
              <a:rPr lang="en-US" sz="1100" dirty="0">
                <a:solidFill>
                  <a:srgbClr val="1A1A1A"/>
                </a:solidFill>
                <a:latin typeface="Calibri" pitchFamily="34" charset="0"/>
                <a:ea typeface="Calibri" pitchFamily="34" charset="-122"/>
                <a:cs typeface="Calibri" pitchFamily="34" charset="-120"/>
              </a:rPr>
              <a:t>إسناد متعدد اللمسات — العميل رأى LinkedIn، تحدّث WhatsApp، أغلق Email</a:t>
            </a:r>
            <a:endParaRPr lang="en-US" sz="1100" dirty="0"/>
          </a:p>
        </p:txBody>
      </p:sp>
      <p:sp>
        <p:nvSpPr>
          <p:cNvPr id="18" name="Text 15"/>
          <p:cNvSpPr/>
          <p:nvPr/>
        </p:nvSpPr>
        <p:spPr>
          <a:xfrm>
            <a:off x="11368735" y="4206240"/>
            <a:ext cx="228600" cy="365760"/>
          </a:xfrm>
          <a:prstGeom prst="rect">
            <a:avLst/>
          </a:prstGeom>
          <a:noFill/>
          <a:ln/>
        </p:spPr>
        <p:txBody>
          <a:bodyPr wrap="square" rtlCol="0" anchor="t"/>
          <a:lstStyle/>
          <a:p>
            <a:pPr algn="r" indent="0" marL="0">
              <a:buNone/>
            </a:pPr>
            <a:r>
              <a:rPr lang="en-US" sz="1100" dirty="0">
                <a:solidFill>
                  <a:srgbClr val="D4A574"/>
                </a:solidFill>
                <a:latin typeface="Calibri" pitchFamily="34" charset="0"/>
                <a:ea typeface="Calibri" pitchFamily="34" charset="-122"/>
                <a:cs typeface="Calibri" pitchFamily="34" charset="-120"/>
              </a:rPr>
              <a:t>—</a:t>
            </a:r>
            <a:endParaRPr lang="en-US" sz="1100" dirty="0"/>
          </a:p>
        </p:txBody>
      </p:sp>
      <p:sp>
        <p:nvSpPr>
          <p:cNvPr id="19" name="Text 16"/>
          <p:cNvSpPr/>
          <p:nvPr/>
        </p:nvSpPr>
        <p:spPr>
          <a:xfrm>
            <a:off x="7406640" y="4206240"/>
            <a:ext cx="3870655" cy="434340"/>
          </a:xfrm>
          <a:prstGeom prst="rect">
            <a:avLst/>
          </a:prstGeom>
          <a:noFill/>
          <a:ln/>
        </p:spPr>
        <p:txBody>
          <a:bodyPr wrap="square" rtlCol="0" anchor="t"/>
          <a:lstStyle/>
          <a:p>
            <a:pPr rtl="1" algn="r" indent="0" marL="0">
              <a:buNone/>
            </a:pPr>
            <a:r>
              <a:rPr lang="en-US" sz="1100" dirty="0">
                <a:solidFill>
                  <a:srgbClr val="1A1A1A"/>
                </a:solidFill>
                <a:latin typeface="Calibri" pitchFamily="34" charset="0"/>
                <a:ea typeface="Calibri" pitchFamily="34" charset="-122"/>
                <a:cs typeface="Calibri" pitchFamily="34" charset="-120"/>
              </a:rPr>
              <a:t>مقارنة أداء الفروع: الرياض · جدة · الدمام · دبي · الكويت</a:t>
            </a:r>
            <a:endParaRPr lang="en-US" sz="1100" dirty="0"/>
          </a:p>
        </p:txBody>
      </p:sp>
      <p:sp>
        <p:nvSpPr>
          <p:cNvPr id="20" name="Text 17"/>
          <p:cNvSpPr/>
          <p:nvPr/>
        </p:nvSpPr>
        <p:spPr>
          <a:xfrm>
            <a:off x="11368735" y="4594860"/>
            <a:ext cx="228600" cy="365760"/>
          </a:xfrm>
          <a:prstGeom prst="rect">
            <a:avLst/>
          </a:prstGeom>
          <a:noFill/>
          <a:ln/>
        </p:spPr>
        <p:txBody>
          <a:bodyPr wrap="square" rtlCol="0" anchor="t"/>
          <a:lstStyle/>
          <a:p>
            <a:pPr algn="r" indent="0" marL="0">
              <a:buNone/>
            </a:pPr>
            <a:r>
              <a:rPr lang="en-US" sz="1100" dirty="0">
                <a:solidFill>
                  <a:srgbClr val="D4A574"/>
                </a:solidFill>
                <a:latin typeface="Calibri" pitchFamily="34" charset="0"/>
                <a:ea typeface="Calibri" pitchFamily="34" charset="-122"/>
                <a:cs typeface="Calibri" pitchFamily="34" charset="-120"/>
              </a:rPr>
              <a:t>—</a:t>
            </a:r>
            <a:endParaRPr lang="en-US" sz="1100" dirty="0"/>
          </a:p>
        </p:txBody>
      </p:sp>
      <p:sp>
        <p:nvSpPr>
          <p:cNvPr id="21" name="Text 18"/>
          <p:cNvSpPr/>
          <p:nvPr/>
        </p:nvSpPr>
        <p:spPr>
          <a:xfrm>
            <a:off x="7406640" y="4594860"/>
            <a:ext cx="3870655" cy="434340"/>
          </a:xfrm>
          <a:prstGeom prst="rect">
            <a:avLst/>
          </a:prstGeom>
          <a:noFill/>
          <a:ln/>
        </p:spPr>
        <p:txBody>
          <a:bodyPr wrap="square" rtlCol="0" anchor="t"/>
          <a:lstStyle/>
          <a:p>
            <a:pPr rtl="1" algn="r" indent="0" marL="0">
              <a:buNone/>
            </a:pPr>
            <a:r>
              <a:rPr lang="en-US" sz="1100" dirty="0">
                <a:solidFill>
                  <a:srgbClr val="1A1A1A"/>
                </a:solidFill>
                <a:latin typeface="Calibri" pitchFamily="34" charset="0"/>
                <a:ea typeface="Calibri" pitchFamily="34" charset="-122"/>
                <a:cs typeface="Calibri" pitchFamily="34" charset="-120"/>
              </a:rPr>
              <a:t>تحليل قطاعي: أي قطاع يُحقق أعلى هامش (حكومي · بتروكيماوي · تجزئة)</a:t>
            </a:r>
            <a:endParaRPr lang="en-US" sz="1100" dirty="0"/>
          </a:p>
        </p:txBody>
      </p:sp>
      <p:sp>
        <p:nvSpPr>
          <p:cNvPr id="22" name="Text 19"/>
          <p:cNvSpPr/>
          <p:nvPr/>
        </p:nvSpPr>
        <p:spPr>
          <a:xfrm>
            <a:off x="11368735" y="4983480"/>
            <a:ext cx="228600" cy="365760"/>
          </a:xfrm>
          <a:prstGeom prst="rect">
            <a:avLst/>
          </a:prstGeom>
          <a:noFill/>
          <a:ln/>
        </p:spPr>
        <p:txBody>
          <a:bodyPr wrap="square" rtlCol="0" anchor="t"/>
          <a:lstStyle/>
          <a:p>
            <a:pPr algn="r" indent="0" marL="0">
              <a:buNone/>
            </a:pPr>
            <a:r>
              <a:rPr lang="en-US" sz="1100" dirty="0">
                <a:solidFill>
                  <a:srgbClr val="D4A574"/>
                </a:solidFill>
                <a:latin typeface="Calibri" pitchFamily="34" charset="0"/>
                <a:ea typeface="Calibri" pitchFamily="34" charset="-122"/>
                <a:cs typeface="Calibri" pitchFamily="34" charset="-120"/>
              </a:rPr>
              <a:t>—</a:t>
            </a:r>
            <a:endParaRPr lang="en-US" sz="1100" dirty="0"/>
          </a:p>
        </p:txBody>
      </p:sp>
      <p:sp>
        <p:nvSpPr>
          <p:cNvPr id="23" name="Text 20"/>
          <p:cNvSpPr/>
          <p:nvPr/>
        </p:nvSpPr>
        <p:spPr>
          <a:xfrm>
            <a:off x="7406640" y="4983480"/>
            <a:ext cx="3870655" cy="434340"/>
          </a:xfrm>
          <a:prstGeom prst="rect">
            <a:avLst/>
          </a:prstGeom>
          <a:noFill/>
          <a:ln/>
        </p:spPr>
        <p:txBody>
          <a:bodyPr wrap="square" rtlCol="0" anchor="t"/>
          <a:lstStyle/>
          <a:p>
            <a:pPr rtl="1" algn="r" indent="0" marL="0">
              <a:buNone/>
            </a:pPr>
            <a:r>
              <a:rPr lang="en-US" sz="1100" dirty="0">
                <a:solidFill>
                  <a:srgbClr val="1A1A1A"/>
                </a:solidFill>
                <a:latin typeface="Calibri" pitchFamily="34" charset="0"/>
                <a:ea typeface="Calibri" pitchFamily="34" charset="-122"/>
                <a:cs typeface="Calibri" pitchFamily="34" charset="-120"/>
              </a:rPr>
              <a:t>معدّلات التحويل لكل مرحلة — تكتشف الاختناق قبل أن يكلّفك</a:t>
            </a:r>
            <a:endParaRPr lang="en-US" sz="1100" dirty="0"/>
          </a:p>
        </p:txBody>
      </p:sp>
      <p:sp>
        <p:nvSpPr>
          <p:cNvPr id="24" name="Text 21"/>
          <p:cNvSpPr/>
          <p:nvPr/>
        </p:nvSpPr>
        <p:spPr>
          <a:xfrm>
            <a:off x="11368735" y="5372100"/>
            <a:ext cx="228600" cy="365760"/>
          </a:xfrm>
          <a:prstGeom prst="rect">
            <a:avLst/>
          </a:prstGeom>
          <a:noFill/>
          <a:ln/>
        </p:spPr>
        <p:txBody>
          <a:bodyPr wrap="square" rtlCol="0" anchor="t"/>
          <a:lstStyle/>
          <a:p>
            <a:pPr algn="r" indent="0" marL="0">
              <a:buNone/>
            </a:pPr>
            <a:r>
              <a:rPr lang="en-US" sz="1100" dirty="0">
                <a:solidFill>
                  <a:srgbClr val="D4A574"/>
                </a:solidFill>
                <a:latin typeface="Calibri" pitchFamily="34" charset="0"/>
                <a:ea typeface="Calibri" pitchFamily="34" charset="-122"/>
                <a:cs typeface="Calibri" pitchFamily="34" charset="-120"/>
              </a:rPr>
              <a:t>—</a:t>
            </a:r>
            <a:endParaRPr lang="en-US" sz="1100" dirty="0"/>
          </a:p>
        </p:txBody>
      </p:sp>
      <p:sp>
        <p:nvSpPr>
          <p:cNvPr id="25" name="Text 22"/>
          <p:cNvSpPr/>
          <p:nvPr/>
        </p:nvSpPr>
        <p:spPr>
          <a:xfrm>
            <a:off x="7406640" y="5372100"/>
            <a:ext cx="3870655" cy="434340"/>
          </a:xfrm>
          <a:prstGeom prst="rect">
            <a:avLst/>
          </a:prstGeom>
          <a:noFill/>
          <a:ln/>
        </p:spPr>
        <p:txBody>
          <a:bodyPr wrap="square" rtlCol="0" anchor="t"/>
          <a:lstStyle/>
          <a:p>
            <a:pPr rtl="1" algn="r" indent="0" marL="0">
              <a:buNone/>
            </a:pPr>
            <a:r>
              <a:rPr lang="en-US" sz="1100" dirty="0">
                <a:solidFill>
                  <a:srgbClr val="1A1A1A"/>
                </a:solidFill>
                <a:latin typeface="Calibri" pitchFamily="34" charset="0"/>
                <a:ea typeface="Calibri" pitchFamily="34" charset="-122"/>
                <a:cs typeface="Calibri" pitchFamily="34" charset="-120"/>
              </a:rPr>
              <a:t>Cohort Analysis: كم عقد جديد مقابل كم تجديد — صحّة الإيراد</a:t>
            </a:r>
            <a:endParaRPr lang="en-US" sz="1100" dirty="0"/>
          </a:p>
        </p:txBody>
      </p:sp>
      <p:sp>
        <p:nvSpPr>
          <p:cNvPr id="26" name="Text 23"/>
          <p:cNvSpPr/>
          <p:nvPr/>
        </p:nvSpPr>
        <p:spPr>
          <a:xfrm>
            <a:off x="11368735" y="5760720"/>
            <a:ext cx="228600" cy="365760"/>
          </a:xfrm>
          <a:prstGeom prst="rect">
            <a:avLst/>
          </a:prstGeom>
          <a:noFill/>
          <a:ln/>
        </p:spPr>
        <p:txBody>
          <a:bodyPr wrap="square" rtlCol="0" anchor="t"/>
          <a:lstStyle/>
          <a:p>
            <a:pPr algn="r" indent="0" marL="0">
              <a:buNone/>
            </a:pPr>
            <a:r>
              <a:rPr lang="en-US" sz="1100" dirty="0">
                <a:solidFill>
                  <a:srgbClr val="D4A574"/>
                </a:solidFill>
                <a:latin typeface="Calibri" pitchFamily="34" charset="0"/>
                <a:ea typeface="Calibri" pitchFamily="34" charset="-122"/>
                <a:cs typeface="Calibri" pitchFamily="34" charset="-120"/>
              </a:rPr>
              <a:t>—</a:t>
            </a:r>
            <a:endParaRPr lang="en-US" sz="1100" dirty="0"/>
          </a:p>
        </p:txBody>
      </p:sp>
      <p:sp>
        <p:nvSpPr>
          <p:cNvPr id="27" name="Text 24"/>
          <p:cNvSpPr/>
          <p:nvPr/>
        </p:nvSpPr>
        <p:spPr>
          <a:xfrm>
            <a:off x="7406640" y="5760720"/>
            <a:ext cx="3870655" cy="434340"/>
          </a:xfrm>
          <a:prstGeom prst="rect">
            <a:avLst/>
          </a:prstGeom>
          <a:noFill/>
          <a:ln/>
        </p:spPr>
        <p:txBody>
          <a:bodyPr wrap="square" rtlCol="0" anchor="t"/>
          <a:lstStyle/>
          <a:p>
            <a:pPr rtl="1" algn="r" indent="0" marL="0">
              <a:buNone/>
            </a:pPr>
            <a:r>
              <a:rPr lang="en-US" sz="1100" dirty="0">
                <a:solidFill>
                  <a:srgbClr val="1A1A1A"/>
                </a:solidFill>
                <a:latin typeface="Calibri" pitchFamily="34" charset="0"/>
                <a:ea typeface="Calibri" pitchFamily="34" charset="-122"/>
                <a:cs typeface="Calibri" pitchFamily="34" charset="-120"/>
              </a:rPr>
              <a:t>تصدير تنفيذي بضغطة واحدة — PDF أنيق جاهز لمجلس الإدارة</a:t>
            </a:r>
            <a:endParaRPr lang="en-US" sz="1100" dirty="0"/>
          </a:p>
        </p:txBody>
      </p:sp>
      <p:sp>
        <p:nvSpPr>
          <p:cNvPr id="28" name="Text 25"/>
          <p:cNvSpPr/>
          <p:nvPr/>
        </p:nvSpPr>
        <p:spPr>
          <a:xfrm>
            <a:off x="457200" y="6172200"/>
            <a:ext cx="10362895" cy="256032"/>
          </a:xfrm>
          <a:prstGeom prst="rect">
            <a:avLst/>
          </a:prstGeom>
          <a:noFill/>
          <a:ln/>
        </p:spPr>
        <p:txBody>
          <a:bodyPr wrap="square" rtlCol="0" anchor="ctr"/>
          <a:lstStyle/>
          <a:p>
            <a:pPr rtl="1" algn="r" indent="0" marL="0">
              <a:buNone/>
            </a:pPr>
            <a:r>
              <a:rPr lang="en-US" sz="900" dirty="0">
                <a:solidFill>
                  <a:srgbClr val="8B95A3"/>
                </a:solidFill>
                <a:latin typeface="Calibri" pitchFamily="34" charset="0"/>
                <a:ea typeface="Calibri" pitchFamily="34" charset="-122"/>
                <a:cs typeface="Calibri" pitchFamily="34" charset="-120"/>
              </a:rPr>
              <a:t>المصدر: </a:t>
            </a:r>
            <a:pPr rtl="1" algn="r" indent="0" marL="0">
              <a:buNone/>
            </a:pPr>
            <a:r>
              <a:rPr lang="en-US" sz="900" u="sng" dirty="0">
                <a:solidFill>
                  <a:srgbClr val="B8874C"/>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Dealix Analytics</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8F3"/>
        </a:solidFill>
      </p:bgPr>
    </p:bg>
    <p:spTree>
      <p:nvGrpSpPr>
        <p:cNvPr id="1" name=""/>
        <p:cNvGrpSpPr/>
        <p:nvPr/>
      </p:nvGrpSpPr>
      <p:grpSpPr>
        <a:xfrm>
          <a:off x="0" y="0"/>
          <a:ext cx="0" cy="0"/>
          <a:chOff x="0" y="0"/>
          <a:chExt cx="0" cy="0"/>
        </a:xfrm>
      </p:grpSpPr>
      <p:sp>
        <p:nvSpPr>
          <p:cNvPr id="2" name="Shape 0"/>
          <p:cNvSpPr/>
          <p:nvPr/>
        </p:nvSpPr>
        <p:spPr>
          <a:xfrm>
            <a:off x="11734495" y="320040"/>
            <a:ext cx="73152" cy="411480"/>
          </a:xfrm>
          <a:prstGeom prst="rect">
            <a:avLst/>
          </a:prstGeom>
          <a:solidFill>
            <a:srgbClr val="D4A574"/>
          </a:solidFill>
          <a:ln/>
        </p:spPr>
      </p:sp>
      <p:sp>
        <p:nvSpPr>
          <p:cNvPr id="3" name="Text 1"/>
          <p:cNvSpPr/>
          <p:nvPr/>
        </p:nvSpPr>
        <p:spPr>
          <a:xfrm>
            <a:off x="8076895" y="274320"/>
            <a:ext cx="3566160" cy="365760"/>
          </a:xfrm>
          <a:prstGeom prst="rect">
            <a:avLst/>
          </a:prstGeom>
          <a:noFill/>
          <a:ln/>
        </p:spPr>
        <p:txBody>
          <a:bodyPr wrap="square" rtlCol="0" anchor="ctr"/>
          <a:lstStyle/>
          <a:p>
            <a:pPr rtl="1" algn="r" indent="0" marL="0">
              <a:buNone/>
            </a:pPr>
            <a:r>
              <a:rPr lang="en-US" sz="1200" b="1" dirty="0">
                <a:solidFill>
                  <a:srgbClr val="55606E"/>
                </a:solidFill>
                <a:latin typeface="Calibri" pitchFamily="34" charset="0"/>
                <a:ea typeface="Calibri" pitchFamily="34" charset="-122"/>
                <a:cs typeface="Calibri" pitchFamily="34" charset="-120"/>
              </a:rPr>
              <a:t>المنتج · ركيزة 6</a:t>
            </a:r>
            <a:endParaRPr lang="en-US" sz="1200" dirty="0"/>
          </a:p>
        </p:txBody>
      </p:sp>
      <p:sp>
        <p:nvSpPr>
          <p:cNvPr id="4" name="Text 2"/>
          <p:cNvSpPr/>
          <p:nvPr/>
        </p:nvSpPr>
        <p:spPr>
          <a:xfrm>
            <a:off x="457200" y="6446520"/>
            <a:ext cx="2286000" cy="274320"/>
          </a:xfrm>
          <a:prstGeom prst="rect">
            <a:avLst/>
          </a:prstGeom>
          <a:noFill/>
          <a:ln/>
        </p:spPr>
        <p:txBody>
          <a:bodyPr wrap="square" rtlCol="0" anchor="ctr"/>
          <a:lstStyle/>
          <a:p>
            <a:pPr algn="l" indent="0" marL="0">
              <a:buNone/>
            </a:pPr>
            <a:r>
              <a:rPr lang="en-US" sz="900" dirty="0">
                <a:solidFill>
                  <a:srgbClr val="8B95A3"/>
                </a:solidFill>
                <a:latin typeface="Calibri" pitchFamily="34" charset="0"/>
                <a:ea typeface="Calibri" pitchFamily="34" charset="-122"/>
                <a:cs typeface="Calibri" pitchFamily="34" charset="-120"/>
              </a:rPr>
              <a:t>Dealix · ديلكس</a:t>
            </a:r>
            <a:endParaRPr lang="en-US" sz="900" dirty="0"/>
          </a:p>
        </p:txBody>
      </p:sp>
      <p:sp>
        <p:nvSpPr>
          <p:cNvPr id="5" name="Text 3"/>
          <p:cNvSpPr/>
          <p:nvPr/>
        </p:nvSpPr>
        <p:spPr>
          <a:xfrm>
            <a:off x="11094415" y="6446520"/>
            <a:ext cx="640080" cy="274320"/>
          </a:xfrm>
          <a:prstGeom prst="rect">
            <a:avLst/>
          </a:prstGeom>
          <a:noFill/>
          <a:ln/>
        </p:spPr>
        <p:txBody>
          <a:bodyPr wrap="square" rtlCol="0" anchor="ctr"/>
          <a:lstStyle/>
          <a:p>
            <a:pPr algn="r" indent="0" marL="0">
              <a:buNone/>
            </a:pPr>
            <a:r>
              <a:rPr lang="en-US" sz="900" b="1" dirty="0">
                <a:solidFill>
                  <a:srgbClr val="8B95A3"/>
                </a:solidFill>
                <a:latin typeface="Calibri" pitchFamily="34" charset="0"/>
                <a:ea typeface="Calibri" pitchFamily="34" charset="-122"/>
                <a:cs typeface="Calibri" pitchFamily="34" charset="-120"/>
              </a:rPr>
              <a:t>16</a:t>
            </a:r>
            <a:endParaRPr lang="en-US" sz="900" dirty="0"/>
          </a:p>
        </p:txBody>
      </p:sp>
      <p:sp>
        <p:nvSpPr>
          <p:cNvPr id="6" name="Text 4"/>
          <p:cNvSpPr/>
          <p:nvPr/>
        </p:nvSpPr>
        <p:spPr>
          <a:xfrm>
            <a:off x="548640" y="914400"/>
            <a:ext cx="11094415" cy="822960"/>
          </a:xfrm>
          <a:prstGeom prst="rect">
            <a:avLst/>
          </a:prstGeom>
          <a:noFill/>
          <a:ln/>
        </p:spPr>
        <p:txBody>
          <a:bodyPr wrap="square" rtlCol="0" anchor="ctr"/>
          <a:lstStyle/>
          <a:p>
            <a:pPr rtl="1" algn="r" indent="0" marL="0">
              <a:buNone/>
            </a:pPr>
            <a:r>
              <a:rPr lang="en-US" sz="3400" b="1" dirty="0">
                <a:solidFill>
                  <a:srgbClr val="0A1628"/>
                </a:solidFill>
                <a:latin typeface="Calibri" pitchFamily="34" charset="0"/>
                <a:ea typeface="Calibri" pitchFamily="34" charset="-122"/>
                <a:cs typeface="Calibri" pitchFamily="34" charset="-120"/>
              </a:rPr>
              <a:t>تعدد الفروع والتوسّع الخليجي</a:t>
            </a:r>
            <a:endParaRPr lang="en-US" sz="3400" dirty="0"/>
          </a:p>
        </p:txBody>
      </p:sp>
      <p:sp>
        <p:nvSpPr>
          <p:cNvPr id="7" name="Text 5"/>
          <p:cNvSpPr/>
          <p:nvPr/>
        </p:nvSpPr>
        <p:spPr>
          <a:xfrm>
            <a:off x="548640" y="1691640"/>
            <a:ext cx="11094415" cy="411480"/>
          </a:xfrm>
          <a:prstGeom prst="rect">
            <a:avLst/>
          </a:prstGeom>
          <a:noFill/>
          <a:ln/>
        </p:spPr>
        <p:txBody>
          <a:bodyPr wrap="square" rtlCol="0" anchor="ctr"/>
          <a:lstStyle/>
          <a:p>
            <a:pPr rtl="1" algn="r" indent="0" marL="0">
              <a:buNone/>
            </a:pPr>
            <a:r>
              <a:rPr lang="en-US" sz="1500" dirty="0">
                <a:solidFill>
                  <a:srgbClr val="55606E"/>
                </a:solidFill>
                <a:latin typeface="Calibri" pitchFamily="34" charset="0"/>
                <a:ea typeface="Calibri" pitchFamily="34" charset="-122"/>
                <a:cs typeface="Calibri" pitchFamily="34" charset="-120"/>
              </a:rPr>
              <a:t>Multi-Tenant Architecture — كل فرع يعمل باستقلالية، مع لوحة موحّدة للإدارة</a:t>
            </a:r>
            <a:endParaRPr lang="en-US" sz="1500" dirty="0"/>
          </a:p>
        </p:txBody>
      </p:sp>
      <p:sp>
        <p:nvSpPr>
          <p:cNvPr id="8" name="Shape 6"/>
          <p:cNvSpPr/>
          <p:nvPr/>
        </p:nvSpPr>
        <p:spPr>
          <a:xfrm>
            <a:off x="4907128" y="3703320"/>
            <a:ext cx="2377440" cy="1188720"/>
          </a:xfrm>
          <a:prstGeom prst="rect">
            <a:avLst/>
          </a:prstGeom>
          <a:solidFill>
            <a:srgbClr val="0A1628"/>
          </a:solidFill>
          <a:ln w="25400">
            <a:solidFill>
              <a:srgbClr val="D4A574"/>
            </a:solidFill>
            <a:prstDash val="solid"/>
          </a:ln>
        </p:spPr>
      </p:sp>
      <p:sp>
        <p:nvSpPr>
          <p:cNvPr id="9" name="Text 7"/>
          <p:cNvSpPr/>
          <p:nvPr/>
        </p:nvSpPr>
        <p:spPr>
          <a:xfrm>
            <a:off x="4907128" y="3794760"/>
            <a:ext cx="2377440" cy="365760"/>
          </a:xfrm>
          <a:prstGeom prst="rect">
            <a:avLst/>
          </a:prstGeom>
          <a:noFill/>
          <a:ln/>
        </p:spPr>
        <p:txBody>
          <a:bodyPr wrap="square" rtlCol="0" anchor="ctr"/>
          <a:lstStyle/>
          <a:p>
            <a:pPr rtl="1" algn="ctr" indent="0" marL="0">
              <a:buNone/>
            </a:pPr>
            <a:r>
              <a:rPr lang="en-US" sz="1400" b="1" dirty="0">
                <a:solidFill>
                  <a:srgbClr val="D4A574"/>
                </a:solidFill>
                <a:latin typeface="Calibri" pitchFamily="34" charset="0"/>
                <a:ea typeface="Calibri" pitchFamily="34" charset="-122"/>
                <a:cs typeface="Calibri" pitchFamily="34" charset="-120"/>
              </a:rPr>
              <a:t>المقر الرئيسي</a:t>
            </a:r>
            <a:endParaRPr lang="en-US" sz="1400" dirty="0"/>
          </a:p>
        </p:txBody>
      </p:sp>
      <p:sp>
        <p:nvSpPr>
          <p:cNvPr id="10" name="Text 8"/>
          <p:cNvSpPr/>
          <p:nvPr/>
        </p:nvSpPr>
        <p:spPr>
          <a:xfrm>
            <a:off x="4907128" y="4160520"/>
            <a:ext cx="2377440" cy="274320"/>
          </a:xfrm>
          <a:prstGeom prst="rect">
            <a:avLst/>
          </a:prstGeom>
          <a:noFill/>
          <a:ln/>
        </p:spPr>
        <p:txBody>
          <a:bodyPr wrap="square" rtlCol="0" anchor="ctr"/>
          <a:lstStyle/>
          <a:p>
            <a:pPr algn="ctr" indent="0" marL="0">
              <a:buNone/>
            </a:pPr>
            <a:r>
              <a:rPr lang="en-US" sz="1000" dirty="0">
                <a:solidFill>
                  <a:srgbClr val="B9C2CD"/>
                </a:solidFill>
                <a:latin typeface="Calibri" pitchFamily="34" charset="0"/>
                <a:ea typeface="Calibri" pitchFamily="34" charset="-122"/>
                <a:cs typeface="Calibri" pitchFamily="34" charset="-120"/>
              </a:rPr>
              <a:t>Executive Dashboard</a:t>
            </a:r>
            <a:endParaRPr lang="en-US" sz="1000" dirty="0"/>
          </a:p>
        </p:txBody>
      </p:sp>
      <p:sp>
        <p:nvSpPr>
          <p:cNvPr id="11" name="Text 9"/>
          <p:cNvSpPr/>
          <p:nvPr/>
        </p:nvSpPr>
        <p:spPr>
          <a:xfrm>
            <a:off x="4907128" y="4480560"/>
            <a:ext cx="2377440" cy="274320"/>
          </a:xfrm>
          <a:prstGeom prst="rect">
            <a:avLst/>
          </a:prstGeom>
          <a:noFill/>
          <a:ln/>
        </p:spPr>
        <p:txBody>
          <a:bodyPr wrap="square" rtlCol="0" anchor="ctr"/>
          <a:lstStyle/>
          <a:p>
            <a:pPr rtl="1" algn="ctr" indent="0" marL="0">
              <a:buNone/>
            </a:pPr>
            <a:r>
              <a:rPr lang="en-US" sz="900" dirty="0">
                <a:solidFill>
                  <a:srgbClr val="B9C2CD"/>
                </a:solidFill>
                <a:latin typeface="Calibri" pitchFamily="34" charset="0"/>
                <a:ea typeface="Calibri" pitchFamily="34" charset="-122"/>
                <a:cs typeface="Calibri" pitchFamily="34" charset="-120"/>
              </a:rPr>
              <a:t>رؤية موحّدة · صلاحيات دقيقة</a:t>
            </a:r>
            <a:endParaRPr lang="en-US" sz="900" dirty="0"/>
          </a:p>
        </p:txBody>
      </p:sp>
      <p:sp>
        <p:nvSpPr>
          <p:cNvPr id="12" name="Shape 10"/>
          <p:cNvSpPr/>
          <p:nvPr/>
        </p:nvSpPr>
        <p:spPr>
          <a:xfrm>
            <a:off x="7284568" y="3589020"/>
            <a:ext cx="228600" cy="0"/>
          </a:xfrm>
          <a:prstGeom prst="line">
            <a:avLst/>
          </a:prstGeom>
          <a:noFill/>
          <a:ln w="12700">
            <a:solidFill>
              <a:srgbClr val="D4A574"/>
            </a:solidFill>
            <a:prstDash val="dash"/>
          </a:ln>
        </p:spPr>
      </p:sp>
      <p:sp>
        <p:nvSpPr>
          <p:cNvPr id="13" name="Shape 11"/>
          <p:cNvSpPr/>
          <p:nvPr/>
        </p:nvSpPr>
        <p:spPr>
          <a:xfrm>
            <a:off x="7513168" y="3200400"/>
            <a:ext cx="1737360" cy="777240"/>
          </a:xfrm>
          <a:prstGeom prst="rect">
            <a:avLst/>
          </a:prstGeom>
          <a:solidFill>
            <a:srgbClr val="FFFFFF"/>
          </a:solidFill>
          <a:ln w="12700">
            <a:solidFill>
              <a:srgbClr val="D4A574"/>
            </a:solidFill>
            <a:prstDash val="solid"/>
          </a:ln>
        </p:spPr>
      </p:sp>
      <p:sp>
        <p:nvSpPr>
          <p:cNvPr id="14" name="Text 12"/>
          <p:cNvSpPr/>
          <p:nvPr/>
        </p:nvSpPr>
        <p:spPr>
          <a:xfrm>
            <a:off x="7513168" y="3273552"/>
            <a:ext cx="1737360" cy="347472"/>
          </a:xfrm>
          <a:prstGeom prst="rect">
            <a:avLst/>
          </a:prstGeom>
          <a:noFill/>
          <a:ln/>
        </p:spPr>
        <p:txBody>
          <a:bodyPr wrap="square" rtlCol="0" anchor="ctr"/>
          <a:lstStyle/>
          <a:p>
            <a:pPr rtl="1" algn="ctr" indent="0" marL="0">
              <a:buNone/>
            </a:pPr>
            <a:r>
              <a:rPr lang="en-US" sz="1400" b="1" dirty="0">
                <a:solidFill>
                  <a:srgbClr val="0A1628"/>
                </a:solidFill>
                <a:latin typeface="Calibri" pitchFamily="34" charset="0"/>
                <a:ea typeface="Calibri" pitchFamily="34" charset="-122"/>
                <a:cs typeface="Calibri" pitchFamily="34" charset="-120"/>
              </a:rPr>
              <a:t>الرياض</a:t>
            </a:r>
            <a:endParaRPr lang="en-US" sz="1400" dirty="0"/>
          </a:p>
        </p:txBody>
      </p:sp>
      <p:sp>
        <p:nvSpPr>
          <p:cNvPr id="15" name="Text 13"/>
          <p:cNvSpPr/>
          <p:nvPr/>
        </p:nvSpPr>
        <p:spPr>
          <a:xfrm>
            <a:off x="7513168" y="3621024"/>
            <a:ext cx="1737360" cy="274320"/>
          </a:xfrm>
          <a:prstGeom prst="rect">
            <a:avLst/>
          </a:prstGeom>
          <a:noFill/>
          <a:ln/>
        </p:spPr>
        <p:txBody>
          <a:bodyPr wrap="square" rtlCol="0" anchor="ctr"/>
          <a:lstStyle/>
          <a:p>
            <a:pPr algn="ctr" indent="0" marL="0">
              <a:buNone/>
            </a:pPr>
            <a:r>
              <a:rPr lang="en-US" sz="900" dirty="0">
                <a:solidFill>
                  <a:srgbClr val="55606E"/>
                </a:solidFill>
                <a:latin typeface="Calibri" pitchFamily="34" charset="0"/>
                <a:ea typeface="Calibri" pitchFamily="34" charset="-122"/>
                <a:cs typeface="Calibri" pitchFamily="34" charset="-120"/>
              </a:rPr>
              <a:t>Riyadh · HQ Ops</a:t>
            </a:r>
            <a:endParaRPr lang="en-US" sz="900" dirty="0"/>
          </a:p>
        </p:txBody>
      </p:sp>
      <p:sp>
        <p:nvSpPr>
          <p:cNvPr id="16" name="Shape 14"/>
          <p:cNvSpPr/>
          <p:nvPr/>
        </p:nvSpPr>
        <p:spPr>
          <a:xfrm>
            <a:off x="7284568" y="4640580"/>
            <a:ext cx="228600" cy="0"/>
          </a:xfrm>
          <a:prstGeom prst="line">
            <a:avLst/>
          </a:prstGeom>
          <a:noFill/>
          <a:ln w="12700">
            <a:solidFill>
              <a:srgbClr val="D4A574"/>
            </a:solidFill>
            <a:prstDash val="dash"/>
          </a:ln>
        </p:spPr>
      </p:sp>
      <p:sp>
        <p:nvSpPr>
          <p:cNvPr id="17" name="Shape 15"/>
          <p:cNvSpPr/>
          <p:nvPr/>
        </p:nvSpPr>
        <p:spPr>
          <a:xfrm>
            <a:off x="7513168" y="4251960"/>
            <a:ext cx="1737360" cy="777240"/>
          </a:xfrm>
          <a:prstGeom prst="rect">
            <a:avLst/>
          </a:prstGeom>
          <a:solidFill>
            <a:srgbClr val="FFFFFF"/>
          </a:solidFill>
          <a:ln w="12700">
            <a:solidFill>
              <a:srgbClr val="D4A574"/>
            </a:solidFill>
            <a:prstDash val="solid"/>
          </a:ln>
        </p:spPr>
      </p:sp>
      <p:sp>
        <p:nvSpPr>
          <p:cNvPr id="18" name="Text 16"/>
          <p:cNvSpPr/>
          <p:nvPr/>
        </p:nvSpPr>
        <p:spPr>
          <a:xfrm>
            <a:off x="7513168" y="4325112"/>
            <a:ext cx="1737360" cy="347472"/>
          </a:xfrm>
          <a:prstGeom prst="rect">
            <a:avLst/>
          </a:prstGeom>
          <a:noFill/>
          <a:ln/>
        </p:spPr>
        <p:txBody>
          <a:bodyPr wrap="square" rtlCol="0" anchor="ctr"/>
          <a:lstStyle/>
          <a:p>
            <a:pPr rtl="1" algn="ctr" indent="0" marL="0">
              <a:buNone/>
            </a:pPr>
            <a:r>
              <a:rPr lang="en-US" sz="1400" b="1" dirty="0">
                <a:solidFill>
                  <a:srgbClr val="0A1628"/>
                </a:solidFill>
                <a:latin typeface="Calibri" pitchFamily="34" charset="0"/>
                <a:ea typeface="Calibri" pitchFamily="34" charset="-122"/>
                <a:cs typeface="Calibri" pitchFamily="34" charset="-120"/>
              </a:rPr>
              <a:t>جدة</a:t>
            </a:r>
            <a:endParaRPr lang="en-US" sz="1400" dirty="0"/>
          </a:p>
        </p:txBody>
      </p:sp>
      <p:sp>
        <p:nvSpPr>
          <p:cNvPr id="19" name="Text 17"/>
          <p:cNvSpPr/>
          <p:nvPr/>
        </p:nvSpPr>
        <p:spPr>
          <a:xfrm>
            <a:off x="7513168" y="4672584"/>
            <a:ext cx="1737360" cy="274320"/>
          </a:xfrm>
          <a:prstGeom prst="rect">
            <a:avLst/>
          </a:prstGeom>
          <a:noFill/>
          <a:ln/>
        </p:spPr>
        <p:txBody>
          <a:bodyPr wrap="square" rtlCol="0" anchor="ctr"/>
          <a:lstStyle/>
          <a:p>
            <a:pPr algn="ctr" indent="0" marL="0">
              <a:buNone/>
            </a:pPr>
            <a:r>
              <a:rPr lang="en-US" sz="900" dirty="0">
                <a:solidFill>
                  <a:srgbClr val="55606E"/>
                </a:solidFill>
                <a:latin typeface="Calibri" pitchFamily="34" charset="0"/>
                <a:ea typeface="Calibri" pitchFamily="34" charset="-122"/>
                <a:cs typeface="Calibri" pitchFamily="34" charset="-120"/>
              </a:rPr>
              <a:t>Jeddah · Red Sea</a:t>
            </a:r>
            <a:endParaRPr lang="en-US" sz="900" dirty="0"/>
          </a:p>
        </p:txBody>
      </p:sp>
      <p:sp>
        <p:nvSpPr>
          <p:cNvPr id="20" name="Shape 18"/>
          <p:cNvSpPr/>
          <p:nvPr/>
        </p:nvSpPr>
        <p:spPr>
          <a:xfrm>
            <a:off x="7284568" y="5692140"/>
            <a:ext cx="228600" cy="0"/>
          </a:xfrm>
          <a:prstGeom prst="line">
            <a:avLst/>
          </a:prstGeom>
          <a:noFill/>
          <a:ln w="12700">
            <a:solidFill>
              <a:srgbClr val="D4A574"/>
            </a:solidFill>
            <a:prstDash val="dash"/>
          </a:ln>
        </p:spPr>
      </p:sp>
      <p:sp>
        <p:nvSpPr>
          <p:cNvPr id="21" name="Shape 19"/>
          <p:cNvSpPr/>
          <p:nvPr/>
        </p:nvSpPr>
        <p:spPr>
          <a:xfrm>
            <a:off x="7513168" y="5303520"/>
            <a:ext cx="1737360" cy="777240"/>
          </a:xfrm>
          <a:prstGeom prst="rect">
            <a:avLst/>
          </a:prstGeom>
          <a:solidFill>
            <a:srgbClr val="FFFFFF"/>
          </a:solidFill>
          <a:ln w="12700">
            <a:solidFill>
              <a:srgbClr val="D4A574"/>
            </a:solidFill>
            <a:prstDash val="solid"/>
          </a:ln>
        </p:spPr>
      </p:sp>
      <p:sp>
        <p:nvSpPr>
          <p:cNvPr id="22" name="Text 20"/>
          <p:cNvSpPr/>
          <p:nvPr/>
        </p:nvSpPr>
        <p:spPr>
          <a:xfrm>
            <a:off x="7513168" y="5376672"/>
            <a:ext cx="1737360" cy="347472"/>
          </a:xfrm>
          <a:prstGeom prst="rect">
            <a:avLst/>
          </a:prstGeom>
          <a:noFill/>
          <a:ln/>
        </p:spPr>
        <p:txBody>
          <a:bodyPr wrap="square" rtlCol="0" anchor="ctr"/>
          <a:lstStyle/>
          <a:p>
            <a:pPr rtl="1" algn="ctr" indent="0" marL="0">
              <a:buNone/>
            </a:pPr>
            <a:r>
              <a:rPr lang="en-US" sz="1400" b="1" dirty="0">
                <a:solidFill>
                  <a:srgbClr val="0A1628"/>
                </a:solidFill>
                <a:latin typeface="Calibri" pitchFamily="34" charset="0"/>
                <a:ea typeface="Calibri" pitchFamily="34" charset="-122"/>
                <a:cs typeface="Calibri" pitchFamily="34" charset="-120"/>
              </a:rPr>
              <a:t>الدمام</a:t>
            </a:r>
            <a:endParaRPr lang="en-US" sz="1400" dirty="0"/>
          </a:p>
        </p:txBody>
      </p:sp>
      <p:sp>
        <p:nvSpPr>
          <p:cNvPr id="23" name="Text 21"/>
          <p:cNvSpPr/>
          <p:nvPr/>
        </p:nvSpPr>
        <p:spPr>
          <a:xfrm>
            <a:off x="7513168" y="5724144"/>
            <a:ext cx="1737360" cy="274320"/>
          </a:xfrm>
          <a:prstGeom prst="rect">
            <a:avLst/>
          </a:prstGeom>
          <a:noFill/>
          <a:ln/>
        </p:spPr>
        <p:txBody>
          <a:bodyPr wrap="square" rtlCol="0" anchor="ctr"/>
          <a:lstStyle/>
          <a:p>
            <a:pPr algn="ctr" indent="0" marL="0">
              <a:buNone/>
            </a:pPr>
            <a:r>
              <a:rPr lang="en-US" sz="900" dirty="0">
                <a:solidFill>
                  <a:srgbClr val="55606E"/>
                </a:solidFill>
                <a:latin typeface="Calibri" pitchFamily="34" charset="0"/>
                <a:ea typeface="Calibri" pitchFamily="34" charset="-122"/>
                <a:cs typeface="Calibri" pitchFamily="34" charset="-120"/>
              </a:rPr>
              <a:t>Dammam · Eastern</a:t>
            </a:r>
            <a:endParaRPr lang="en-US" sz="900" dirty="0"/>
          </a:p>
        </p:txBody>
      </p:sp>
      <p:sp>
        <p:nvSpPr>
          <p:cNvPr id="24" name="Shape 22"/>
          <p:cNvSpPr/>
          <p:nvPr/>
        </p:nvSpPr>
        <p:spPr>
          <a:xfrm>
            <a:off x="4678528" y="3589020"/>
            <a:ext cx="228600" cy="0"/>
          </a:xfrm>
          <a:prstGeom prst="line">
            <a:avLst/>
          </a:prstGeom>
          <a:noFill/>
          <a:ln w="12700">
            <a:solidFill>
              <a:srgbClr val="D4A574"/>
            </a:solidFill>
            <a:prstDash val="dash"/>
          </a:ln>
        </p:spPr>
      </p:sp>
      <p:sp>
        <p:nvSpPr>
          <p:cNvPr id="25" name="Shape 23"/>
          <p:cNvSpPr/>
          <p:nvPr/>
        </p:nvSpPr>
        <p:spPr>
          <a:xfrm>
            <a:off x="2941168" y="3200400"/>
            <a:ext cx="1737360" cy="777240"/>
          </a:xfrm>
          <a:prstGeom prst="rect">
            <a:avLst/>
          </a:prstGeom>
          <a:solidFill>
            <a:srgbClr val="FFFFFF"/>
          </a:solidFill>
          <a:ln w="12700">
            <a:solidFill>
              <a:srgbClr val="D4A574"/>
            </a:solidFill>
            <a:prstDash val="solid"/>
          </a:ln>
        </p:spPr>
      </p:sp>
      <p:sp>
        <p:nvSpPr>
          <p:cNvPr id="26" name="Text 24"/>
          <p:cNvSpPr/>
          <p:nvPr/>
        </p:nvSpPr>
        <p:spPr>
          <a:xfrm>
            <a:off x="2941168" y="3273552"/>
            <a:ext cx="1737360" cy="347472"/>
          </a:xfrm>
          <a:prstGeom prst="rect">
            <a:avLst/>
          </a:prstGeom>
          <a:noFill/>
          <a:ln/>
        </p:spPr>
        <p:txBody>
          <a:bodyPr wrap="square" rtlCol="0" anchor="ctr"/>
          <a:lstStyle/>
          <a:p>
            <a:pPr rtl="1" algn="ctr" indent="0" marL="0">
              <a:buNone/>
            </a:pPr>
            <a:r>
              <a:rPr lang="en-US" sz="1400" b="1" dirty="0">
                <a:solidFill>
                  <a:srgbClr val="0A1628"/>
                </a:solidFill>
                <a:latin typeface="Calibri" pitchFamily="34" charset="0"/>
                <a:ea typeface="Calibri" pitchFamily="34" charset="-122"/>
                <a:cs typeface="Calibri" pitchFamily="34" charset="-120"/>
              </a:rPr>
              <a:t>دبي</a:t>
            </a:r>
            <a:endParaRPr lang="en-US" sz="1400" dirty="0"/>
          </a:p>
        </p:txBody>
      </p:sp>
      <p:sp>
        <p:nvSpPr>
          <p:cNvPr id="27" name="Text 25"/>
          <p:cNvSpPr/>
          <p:nvPr/>
        </p:nvSpPr>
        <p:spPr>
          <a:xfrm>
            <a:off x="2941168" y="3621024"/>
            <a:ext cx="1737360" cy="274320"/>
          </a:xfrm>
          <a:prstGeom prst="rect">
            <a:avLst/>
          </a:prstGeom>
          <a:noFill/>
          <a:ln/>
        </p:spPr>
        <p:txBody>
          <a:bodyPr wrap="square" rtlCol="0" anchor="ctr"/>
          <a:lstStyle/>
          <a:p>
            <a:pPr algn="ctr" indent="0" marL="0">
              <a:buNone/>
            </a:pPr>
            <a:r>
              <a:rPr lang="en-US" sz="900" dirty="0">
                <a:solidFill>
                  <a:srgbClr val="55606E"/>
                </a:solidFill>
                <a:latin typeface="Calibri" pitchFamily="34" charset="0"/>
                <a:ea typeface="Calibri" pitchFamily="34" charset="-122"/>
                <a:cs typeface="Calibri" pitchFamily="34" charset="-120"/>
              </a:rPr>
              <a:t>Dubai · UAE</a:t>
            </a:r>
            <a:endParaRPr lang="en-US" sz="900" dirty="0"/>
          </a:p>
        </p:txBody>
      </p:sp>
      <p:sp>
        <p:nvSpPr>
          <p:cNvPr id="28" name="Shape 26"/>
          <p:cNvSpPr/>
          <p:nvPr/>
        </p:nvSpPr>
        <p:spPr>
          <a:xfrm>
            <a:off x="4678528" y="4640580"/>
            <a:ext cx="228600" cy="0"/>
          </a:xfrm>
          <a:prstGeom prst="line">
            <a:avLst/>
          </a:prstGeom>
          <a:noFill/>
          <a:ln w="12700">
            <a:solidFill>
              <a:srgbClr val="D4A574"/>
            </a:solidFill>
            <a:prstDash val="dash"/>
          </a:ln>
        </p:spPr>
      </p:sp>
      <p:sp>
        <p:nvSpPr>
          <p:cNvPr id="29" name="Shape 27"/>
          <p:cNvSpPr/>
          <p:nvPr/>
        </p:nvSpPr>
        <p:spPr>
          <a:xfrm>
            <a:off x="2941168" y="4251960"/>
            <a:ext cx="1737360" cy="777240"/>
          </a:xfrm>
          <a:prstGeom prst="rect">
            <a:avLst/>
          </a:prstGeom>
          <a:solidFill>
            <a:srgbClr val="FFFFFF"/>
          </a:solidFill>
          <a:ln w="12700">
            <a:solidFill>
              <a:srgbClr val="D4A574"/>
            </a:solidFill>
            <a:prstDash val="solid"/>
          </a:ln>
        </p:spPr>
      </p:sp>
      <p:sp>
        <p:nvSpPr>
          <p:cNvPr id="30" name="Text 28"/>
          <p:cNvSpPr/>
          <p:nvPr/>
        </p:nvSpPr>
        <p:spPr>
          <a:xfrm>
            <a:off x="2941168" y="4325112"/>
            <a:ext cx="1737360" cy="347472"/>
          </a:xfrm>
          <a:prstGeom prst="rect">
            <a:avLst/>
          </a:prstGeom>
          <a:noFill/>
          <a:ln/>
        </p:spPr>
        <p:txBody>
          <a:bodyPr wrap="square" rtlCol="0" anchor="ctr"/>
          <a:lstStyle/>
          <a:p>
            <a:pPr rtl="1" algn="ctr" indent="0" marL="0">
              <a:buNone/>
            </a:pPr>
            <a:r>
              <a:rPr lang="en-US" sz="1400" b="1" dirty="0">
                <a:solidFill>
                  <a:srgbClr val="0A1628"/>
                </a:solidFill>
                <a:latin typeface="Calibri" pitchFamily="34" charset="0"/>
                <a:ea typeface="Calibri" pitchFamily="34" charset="-122"/>
                <a:cs typeface="Calibri" pitchFamily="34" charset="-120"/>
              </a:rPr>
              <a:t>الكويت</a:t>
            </a:r>
            <a:endParaRPr lang="en-US" sz="1400" dirty="0"/>
          </a:p>
        </p:txBody>
      </p:sp>
      <p:sp>
        <p:nvSpPr>
          <p:cNvPr id="31" name="Text 29"/>
          <p:cNvSpPr/>
          <p:nvPr/>
        </p:nvSpPr>
        <p:spPr>
          <a:xfrm>
            <a:off x="2941168" y="4672584"/>
            <a:ext cx="1737360" cy="274320"/>
          </a:xfrm>
          <a:prstGeom prst="rect">
            <a:avLst/>
          </a:prstGeom>
          <a:noFill/>
          <a:ln/>
        </p:spPr>
        <p:txBody>
          <a:bodyPr wrap="square" rtlCol="0" anchor="ctr"/>
          <a:lstStyle/>
          <a:p>
            <a:pPr algn="ctr" indent="0" marL="0">
              <a:buNone/>
            </a:pPr>
            <a:r>
              <a:rPr lang="en-US" sz="900" dirty="0">
                <a:solidFill>
                  <a:srgbClr val="55606E"/>
                </a:solidFill>
                <a:latin typeface="Calibri" pitchFamily="34" charset="0"/>
                <a:ea typeface="Calibri" pitchFamily="34" charset="-122"/>
                <a:cs typeface="Calibri" pitchFamily="34" charset="-120"/>
              </a:rPr>
              <a:t>Kuwait · Gulf</a:t>
            </a:r>
            <a:endParaRPr lang="en-US" sz="900" dirty="0"/>
          </a:p>
        </p:txBody>
      </p:sp>
      <p:sp>
        <p:nvSpPr>
          <p:cNvPr id="32" name="Shape 30"/>
          <p:cNvSpPr/>
          <p:nvPr/>
        </p:nvSpPr>
        <p:spPr>
          <a:xfrm>
            <a:off x="4678528" y="5692140"/>
            <a:ext cx="228600" cy="0"/>
          </a:xfrm>
          <a:prstGeom prst="line">
            <a:avLst/>
          </a:prstGeom>
          <a:noFill/>
          <a:ln w="12700">
            <a:solidFill>
              <a:srgbClr val="D4A574"/>
            </a:solidFill>
            <a:prstDash val="dash"/>
          </a:ln>
        </p:spPr>
      </p:sp>
      <p:sp>
        <p:nvSpPr>
          <p:cNvPr id="33" name="Shape 31"/>
          <p:cNvSpPr/>
          <p:nvPr/>
        </p:nvSpPr>
        <p:spPr>
          <a:xfrm>
            <a:off x="2941168" y="5303520"/>
            <a:ext cx="1737360" cy="777240"/>
          </a:xfrm>
          <a:prstGeom prst="rect">
            <a:avLst/>
          </a:prstGeom>
          <a:solidFill>
            <a:srgbClr val="FFFFFF"/>
          </a:solidFill>
          <a:ln w="12700">
            <a:solidFill>
              <a:srgbClr val="D4A574"/>
            </a:solidFill>
            <a:prstDash val="solid"/>
          </a:ln>
        </p:spPr>
      </p:sp>
      <p:sp>
        <p:nvSpPr>
          <p:cNvPr id="34" name="Text 32"/>
          <p:cNvSpPr/>
          <p:nvPr/>
        </p:nvSpPr>
        <p:spPr>
          <a:xfrm>
            <a:off x="2941168" y="5376672"/>
            <a:ext cx="1737360" cy="347472"/>
          </a:xfrm>
          <a:prstGeom prst="rect">
            <a:avLst/>
          </a:prstGeom>
          <a:noFill/>
          <a:ln/>
        </p:spPr>
        <p:txBody>
          <a:bodyPr wrap="square" rtlCol="0" anchor="ctr"/>
          <a:lstStyle/>
          <a:p>
            <a:pPr rtl="1" algn="ctr" indent="0" marL="0">
              <a:buNone/>
            </a:pPr>
            <a:r>
              <a:rPr lang="en-US" sz="1400" b="1" dirty="0">
                <a:solidFill>
                  <a:srgbClr val="0A1628"/>
                </a:solidFill>
                <a:latin typeface="Calibri" pitchFamily="34" charset="0"/>
                <a:ea typeface="Calibri" pitchFamily="34" charset="-122"/>
                <a:cs typeface="Calibri" pitchFamily="34" charset="-120"/>
              </a:rPr>
              <a:t>الدوحة</a:t>
            </a:r>
            <a:endParaRPr lang="en-US" sz="1400" dirty="0"/>
          </a:p>
        </p:txBody>
      </p:sp>
      <p:sp>
        <p:nvSpPr>
          <p:cNvPr id="35" name="Text 33"/>
          <p:cNvSpPr/>
          <p:nvPr/>
        </p:nvSpPr>
        <p:spPr>
          <a:xfrm>
            <a:off x="2941168" y="5724144"/>
            <a:ext cx="1737360" cy="274320"/>
          </a:xfrm>
          <a:prstGeom prst="rect">
            <a:avLst/>
          </a:prstGeom>
          <a:noFill/>
          <a:ln/>
        </p:spPr>
        <p:txBody>
          <a:bodyPr wrap="square" rtlCol="0" anchor="ctr"/>
          <a:lstStyle/>
          <a:p>
            <a:pPr algn="ctr" indent="0" marL="0">
              <a:buNone/>
            </a:pPr>
            <a:r>
              <a:rPr lang="en-US" sz="900" dirty="0">
                <a:solidFill>
                  <a:srgbClr val="55606E"/>
                </a:solidFill>
                <a:latin typeface="Calibri" pitchFamily="34" charset="0"/>
                <a:ea typeface="Calibri" pitchFamily="34" charset="-122"/>
                <a:cs typeface="Calibri" pitchFamily="34" charset="-120"/>
              </a:rPr>
              <a:t>Doha · Qatar</a:t>
            </a:r>
            <a:endParaRPr lang="en-US" sz="900" dirty="0"/>
          </a:p>
        </p:txBody>
      </p:sp>
      <p:sp>
        <p:nvSpPr>
          <p:cNvPr id="36" name="Text 34"/>
          <p:cNvSpPr/>
          <p:nvPr/>
        </p:nvSpPr>
        <p:spPr>
          <a:xfrm>
            <a:off x="548640" y="6217920"/>
            <a:ext cx="11094415" cy="320040"/>
          </a:xfrm>
          <a:prstGeom prst="rect">
            <a:avLst/>
          </a:prstGeom>
          <a:noFill/>
          <a:ln/>
        </p:spPr>
        <p:txBody>
          <a:bodyPr wrap="square" rtlCol="0" anchor="ctr"/>
          <a:lstStyle/>
          <a:p>
            <a:pPr rtl="1" algn="ctr" indent="0" marL="0">
              <a:buNone/>
            </a:pPr>
            <a:r>
              <a:rPr lang="en-US" sz="1300" i="1" dirty="0">
                <a:solidFill>
                  <a:srgbClr val="1A1A1A"/>
                </a:solidFill>
                <a:latin typeface="Georgia" pitchFamily="34" charset="0"/>
                <a:ea typeface="Georgia" pitchFamily="34" charset="-122"/>
                <a:cs typeface="Georgia" pitchFamily="34" charset="-120"/>
              </a:rPr>
              <a:t>كل فرع يملك بياناته · لوحته · فريقه — لكن الإدارة العليا تملك المشهد الكامل بضغطة واحدة</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8F3"/>
        </a:solidFill>
      </p:bgPr>
    </p:bg>
    <p:spTree>
      <p:nvGrpSpPr>
        <p:cNvPr id="1" name=""/>
        <p:cNvGrpSpPr/>
        <p:nvPr/>
      </p:nvGrpSpPr>
      <p:grpSpPr>
        <a:xfrm>
          <a:off x="0" y="0"/>
          <a:ext cx="0" cy="0"/>
          <a:chOff x="0" y="0"/>
          <a:chExt cx="0" cy="0"/>
        </a:xfrm>
      </p:grpSpPr>
      <p:sp>
        <p:nvSpPr>
          <p:cNvPr id="2" name="Shape 0"/>
          <p:cNvSpPr/>
          <p:nvPr/>
        </p:nvSpPr>
        <p:spPr>
          <a:xfrm>
            <a:off x="11734495" y="320040"/>
            <a:ext cx="73152" cy="411480"/>
          </a:xfrm>
          <a:prstGeom prst="rect">
            <a:avLst/>
          </a:prstGeom>
          <a:solidFill>
            <a:srgbClr val="D4A574"/>
          </a:solidFill>
          <a:ln/>
        </p:spPr>
      </p:sp>
      <p:sp>
        <p:nvSpPr>
          <p:cNvPr id="3" name="Text 1"/>
          <p:cNvSpPr/>
          <p:nvPr/>
        </p:nvSpPr>
        <p:spPr>
          <a:xfrm>
            <a:off x="8076895" y="274320"/>
            <a:ext cx="3566160" cy="365760"/>
          </a:xfrm>
          <a:prstGeom prst="rect">
            <a:avLst/>
          </a:prstGeom>
          <a:noFill/>
          <a:ln/>
        </p:spPr>
        <p:txBody>
          <a:bodyPr wrap="square" rtlCol="0" anchor="ctr"/>
          <a:lstStyle/>
          <a:p>
            <a:pPr rtl="1" algn="r" indent="0" marL="0">
              <a:buNone/>
            </a:pPr>
            <a:r>
              <a:rPr lang="en-US" sz="1200" b="1" dirty="0">
                <a:solidFill>
                  <a:srgbClr val="55606E"/>
                </a:solidFill>
                <a:latin typeface="Calibri" pitchFamily="34" charset="0"/>
                <a:ea typeface="Calibri" pitchFamily="34" charset="-122"/>
                <a:cs typeface="Calibri" pitchFamily="34" charset="-120"/>
              </a:rPr>
              <a:t>المنتج · ركيزة 7</a:t>
            </a:r>
            <a:endParaRPr lang="en-US" sz="1200" dirty="0"/>
          </a:p>
        </p:txBody>
      </p:sp>
      <p:sp>
        <p:nvSpPr>
          <p:cNvPr id="4" name="Text 2"/>
          <p:cNvSpPr/>
          <p:nvPr/>
        </p:nvSpPr>
        <p:spPr>
          <a:xfrm>
            <a:off x="457200" y="6446520"/>
            <a:ext cx="2286000" cy="274320"/>
          </a:xfrm>
          <a:prstGeom prst="rect">
            <a:avLst/>
          </a:prstGeom>
          <a:noFill/>
          <a:ln/>
        </p:spPr>
        <p:txBody>
          <a:bodyPr wrap="square" rtlCol="0" anchor="ctr"/>
          <a:lstStyle/>
          <a:p>
            <a:pPr algn="l" indent="0" marL="0">
              <a:buNone/>
            </a:pPr>
            <a:r>
              <a:rPr lang="en-US" sz="900" dirty="0">
                <a:solidFill>
                  <a:srgbClr val="8B95A3"/>
                </a:solidFill>
                <a:latin typeface="Calibri" pitchFamily="34" charset="0"/>
                <a:ea typeface="Calibri" pitchFamily="34" charset="-122"/>
                <a:cs typeface="Calibri" pitchFamily="34" charset="-120"/>
              </a:rPr>
              <a:t>Dealix · ديلكس</a:t>
            </a:r>
            <a:endParaRPr lang="en-US" sz="900" dirty="0"/>
          </a:p>
        </p:txBody>
      </p:sp>
      <p:sp>
        <p:nvSpPr>
          <p:cNvPr id="5" name="Text 3"/>
          <p:cNvSpPr/>
          <p:nvPr/>
        </p:nvSpPr>
        <p:spPr>
          <a:xfrm>
            <a:off x="11094415" y="6446520"/>
            <a:ext cx="640080" cy="274320"/>
          </a:xfrm>
          <a:prstGeom prst="rect">
            <a:avLst/>
          </a:prstGeom>
          <a:noFill/>
          <a:ln/>
        </p:spPr>
        <p:txBody>
          <a:bodyPr wrap="square" rtlCol="0" anchor="ctr"/>
          <a:lstStyle/>
          <a:p>
            <a:pPr algn="r" indent="0" marL="0">
              <a:buNone/>
            </a:pPr>
            <a:r>
              <a:rPr lang="en-US" sz="900" b="1" dirty="0">
                <a:solidFill>
                  <a:srgbClr val="8B95A3"/>
                </a:solidFill>
                <a:latin typeface="Calibri" pitchFamily="34" charset="0"/>
                <a:ea typeface="Calibri" pitchFamily="34" charset="-122"/>
                <a:cs typeface="Calibri" pitchFamily="34" charset="-120"/>
              </a:rPr>
              <a:t>17</a:t>
            </a:r>
            <a:endParaRPr lang="en-US" sz="900" dirty="0"/>
          </a:p>
        </p:txBody>
      </p:sp>
      <p:sp>
        <p:nvSpPr>
          <p:cNvPr id="6" name="Text 4"/>
          <p:cNvSpPr/>
          <p:nvPr/>
        </p:nvSpPr>
        <p:spPr>
          <a:xfrm>
            <a:off x="548640" y="914400"/>
            <a:ext cx="11094415" cy="822960"/>
          </a:xfrm>
          <a:prstGeom prst="rect">
            <a:avLst/>
          </a:prstGeom>
          <a:noFill/>
          <a:ln/>
        </p:spPr>
        <p:txBody>
          <a:bodyPr wrap="square" rtlCol="0" anchor="ctr"/>
          <a:lstStyle/>
          <a:p>
            <a:pPr rtl="1" algn="r" indent="0" marL="0">
              <a:buNone/>
            </a:pPr>
            <a:r>
              <a:rPr lang="en-US" sz="3400" b="1" dirty="0">
                <a:solidFill>
                  <a:srgbClr val="0A1628"/>
                </a:solidFill>
                <a:latin typeface="Calibri" pitchFamily="34" charset="0"/>
                <a:ea typeface="Calibri" pitchFamily="34" charset="-122"/>
                <a:cs typeface="Calibri" pitchFamily="34" charset="-120"/>
              </a:rPr>
              <a:t>الامتثال والحوكمة</a:t>
            </a:r>
            <a:endParaRPr lang="en-US" sz="3400" dirty="0"/>
          </a:p>
        </p:txBody>
      </p:sp>
      <p:sp>
        <p:nvSpPr>
          <p:cNvPr id="7" name="Text 5"/>
          <p:cNvSpPr/>
          <p:nvPr/>
        </p:nvSpPr>
        <p:spPr>
          <a:xfrm>
            <a:off x="548640" y="1691640"/>
            <a:ext cx="11094415" cy="411480"/>
          </a:xfrm>
          <a:prstGeom prst="rect">
            <a:avLst/>
          </a:prstGeom>
          <a:noFill/>
          <a:ln/>
        </p:spPr>
        <p:txBody>
          <a:bodyPr wrap="square" rtlCol="0" anchor="ctr"/>
          <a:lstStyle/>
          <a:p>
            <a:pPr rtl="1" algn="r" indent="0" marL="0">
              <a:buNone/>
            </a:pPr>
            <a:r>
              <a:rPr lang="en-US" sz="1500" dirty="0">
                <a:solidFill>
                  <a:srgbClr val="55606E"/>
                </a:solidFill>
                <a:latin typeface="Calibri" pitchFamily="34" charset="0"/>
                <a:ea typeface="Calibri" pitchFamily="34" charset="-122"/>
                <a:cs typeface="Calibri" pitchFamily="34" charset="-120"/>
              </a:rPr>
              <a:t>مصمّم على PDPL · SAMA · ZATCA · NIST AI RMF — ليس مُضافاً لاحقاً</a:t>
            </a:r>
            <a:endParaRPr lang="en-US" sz="1500" dirty="0"/>
          </a:p>
        </p:txBody>
      </p:sp>
      <p:sp>
        <p:nvSpPr>
          <p:cNvPr id="8" name="Shape 6"/>
          <p:cNvSpPr/>
          <p:nvPr/>
        </p:nvSpPr>
        <p:spPr>
          <a:xfrm>
            <a:off x="9075191" y="2377440"/>
            <a:ext cx="2567864" cy="2926080"/>
          </a:xfrm>
          <a:prstGeom prst="rect">
            <a:avLst/>
          </a:prstGeom>
          <a:solidFill>
            <a:srgbClr val="FFFFFF"/>
          </a:solidFill>
          <a:ln w="12700">
            <a:solidFill>
              <a:srgbClr val="E8E3D6"/>
            </a:solidFill>
            <a:prstDash val="solid"/>
          </a:ln>
        </p:spPr>
      </p:sp>
      <p:sp>
        <p:nvSpPr>
          <p:cNvPr id="9" name="Shape 7"/>
          <p:cNvSpPr/>
          <p:nvPr/>
        </p:nvSpPr>
        <p:spPr>
          <a:xfrm>
            <a:off x="9075191" y="2377440"/>
            <a:ext cx="2567864" cy="502920"/>
          </a:xfrm>
          <a:prstGeom prst="rect">
            <a:avLst/>
          </a:prstGeom>
          <a:solidFill>
            <a:srgbClr val="0A1628"/>
          </a:solidFill>
          <a:ln/>
        </p:spPr>
      </p:sp>
      <p:sp>
        <p:nvSpPr>
          <p:cNvPr id="10" name="Text 8"/>
          <p:cNvSpPr/>
          <p:nvPr/>
        </p:nvSpPr>
        <p:spPr>
          <a:xfrm>
            <a:off x="9166631" y="2450592"/>
            <a:ext cx="2384984" cy="365760"/>
          </a:xfrm>
          <a:prstGeom prst="rect">
            <a:avLst/>
          </a:prstGeom>
          <a:noFill/>
          <a:ln/>
        </p:spPr>
        <p:txBody>
          <a:bodyPr wrap="square" rtlCol="0" anchor="ctr"/>
          <a:lstStyle/>
          <a:p>
            <a:pPr algn="ctr" indent="0" marL="0">
              <a:buNone/>
            </a:pPr>
            <a:r>
              <a:rPr lang="en-US" sz="1800" b="1" dirty="0">
                <a:solidFill>
                  <a:srgbClr val="D4A574"/>
                </a:solidFill>
                <a:latin typeface="Calibri" pitchFamily="34" charset="0"/>
                <a:ea typeface="Calibri" pitchFamily="34" charset="-122"/>
                <a:cs typeface="Calibri" pitchFamily="34" charset="-120"/>
              </a:rPr>
              <a:t>PDPL</a:t>
            </a:r>
            <a:endParaRPr lang="en-US" sz="1800" dirty="0"/>
          </a:p>
        </p:txBody>
      </p:sp>
      <p:sp>
        <p:nvSpPr>
          <p:cNvPr id="11" name="Text 9"/>
          <p:cNvSpPr/>
          <p:nvPr/>
        </p:nvSpPr>
        <p:spPr>
          <a:xfrm>
            <a:off x="9212351" y="3063240"/>
            <a:ext cx="2293544" cy="731520"/>
          </a:xfrm>
          <a:prstGeom prst="rect">
            <a:avLst/>
          </a:prstGeom>
          <a:noFill/>
          <a:ln/>
        </p:spPr>
        <p:txBody>
          <a:bodyPr wrap="square" rtlCol="0" anchor="t"/>
          <a:lstStyle/>
          <a:p>
            <a:pPr rtl="1" algn="r" indent="0" marL="0">
              <a:buNone/>
            </a:pPr>
            <a:r>
              <a:rPr lang="en-US" sz="1200" b="1" dirty="0">
                <a:solidFill>
                  <a:srgbClr val="0A1628"/>
                </a:solidFill>
                <a:latin typeface="Calibri" pitchFamily="34" charset="0"/>
                <a:ea typeface="Calibri" pitchFamily="34" charset="-122"/>
                <a:cs typeface="Calibri" pitchFamily="34" charset="-120"/>
              </a:rPr>
              <a:t>نظام حماية البيانات الشخصية</a:t>
            </a:r>
            <a:endParaRPr lang="en-US" sz="1200" dirty="0"/>
          </a:p>
        </p:txBody>
      </p:sp>
      <p:sp>
        <p:nvSpPr>
          <p:cNvPr id="12" name="Shape 10"/>
          <p:cNvSpPr/>
          <p:nvPr/>
        </p:nvSpPr>
        <p:spPr>
          <a:xfrm>
            <a:off x="10957255" y="3840480"/>
            <a:ext cx="457200" cy="18288"/>
          </a:xfrm>
          <a:prstGeom prst="rect">
            <a:avLst/>
          </a:prstGeom>
          <a:solidFill>
            <a:srgbClr val="D4A574"/>
          </a:solidFill>
          <a:ln/>
        </p:spPr>
      </p:sp>
      <p:sp>
        <p:nvSpPr>
          <p:cNvPr id="13" name="Text 11"/>
          <p:cNvSpPr/>
          <p:nvPr/>
        </p:nvSpPr>
        <p:spPr>
          <a:xfrm>
            <a:off x="9212351" y="3977640"/>
            <a:ext cx="2293544" cy="1234440"/>
          </a:xfrm>
          <a:prstGeom prst="rect">
            <a:avLst/>
          </a:prstGeom>
          <a:noFill/>
          <a:ln/>
        </p:spPr>
        <p:txBody>
          <a:bodyPr wrap="square" rtlCol="0" anchor="t"/>
          <a:lstStyle/>
          <a:p>
            <a:pPr rtl="1" algn="r" indent="0" marL="0">
              <a:buNone/>
            </a:pPr>
            <a:r>
              <a:rPr lang="en-US" sz="1000" dirty="0">
                <a:solidFill>
                  <a:srgbClr val="55606E"/>
                </a:solidFill>
                <a:latin typeface="Calibri" pitchFamily="34" charset="0"/>
                <a:ea typeface="Calibri" pitchFamily="34" charset="-122"/>
                <a:cs typeface="Calibri" pitchFamily="34" charset="-120"/>
              </a:rPr>
              <a:t>تصنيف تلقائي للبيانات الحساسة · تشفير في الطبقات الثلاث · حق النسيان · تصدير موثّق</a:t>
            </a:r>
            <a:endParaRPr lang="en-US" sz="1000" dirty="0"/>
          </a:p>
        </p:txBody>
      </p:sp>
      <p:sp>
        <p:nvSpPr>
          <p:cNvPr id="14" name="Shape 12"/>
          <p:cNvSpPr/>
          <p:nvPr/>
        </p:nvSpPr>
        <p:spPr>
          <a:xfrm>
            <a:off x="6233008" y="2377440"/>
            <a:ext cx="2567864" cy="2926080"/>
          </a:xfrm>
          <a:prstGeom prst="rect">
            <a:avLst/>
          </a:prstGeom>
          <a:solidFill>
            <a:srgbClr val="FFFFFF"/>
          </a:solidFill>
          <a:ln w="12700">
            <a:solidFill>
              <a:srgbClr val="E8E3D6"/>
            </a:solidFill>
            <a:prstDash val="solid"/>
          </a:ln>
        </p:spPr>
      </p:sp>
      <p:sp>
        <p:nvSpPr>
          <p:cNvPr id="15" name="Shape 13"/>
          <p:cNvSpPr/>
          <p:nvPr/>
        </p:nvSpPr>
        <p:spPr>
          <a:xfrm>
            <a:off x="6233008" y="2377440"/>
            <a:ext cx="2567864" cy="502920"/>
          </a:xfrm>
          <a:prstGeom prst="rect">
            <a:avLst/>
          </a:prstGeom>
          <a:solidFill>
            <a:srgbClr val="0A1628"/>
          </a:solidFill>
          <a:ln/>
        </p:spPr>
      </p:sp>
      <p:sp>
        <p:nvSpPr>
          <p:cNvPr id="16" name="Text 14"/>
          <p:cNvSpPr/>
          <p:nvPr/>
        </p:nvSpPr>
        <p:spPr>
          <a:xfrm>
            <a:off x="6324448" y="2450592"/>
            <a:ext cx="2384984" cy="365760"/>
          </a:xfrm>
          <a:prstGeom prst="rect">
            <a:avLst/>
          </a:prstGeom>
          <a:noFill/>
          <a:ln/>
        </p:spPr>
        <p:txBody>
          <a:bodyPr wrap="square" rtlCol="0" anchor="ctr"/>
          <a:lstStyle/>
          <a:p>
            <a:pPr algn="ctr" indent="0" marL="0">
              <a:buNone/>
            </a:pPr>
            <a:r>
              <a:rPr lang="en-US" sz="1800" b="1" dirty="0">
                <a:solidFill>
                  <a:srgbClr val="D4A574"/>
                </a:solidFill>
                <a:latin typeface="Calibri" pitchFamily="34" charset="0"/>
                <a:ea typeface="Calibri" pitchFamily="34" charset="-122"/>
                <a:cs typeface="Calibri" pitchFamily="34" charset="-120"/>
              </a:rPr>
              <a:t>SAMA</a:t>
            </a:r>
            <a:endParaRPr lang="en-US" sz="1800" dirty="0"/>
          </a:p>
        </p:txBody>
      </p:sp>
      <p:sp>
        <p:nvSpPr>
          <p:cNvPr id="17" name="Text 15"/>
          <p:cNvSpPr/>
          <p:nvPr/>
        </p:nvSpPr>
        <p:spPr>
          <a:xfrm>
            <a:off x="6370168" y="3063240"/>
            <a:ext cx="2293544" cy="731520"/>
          </a:xfrm>
          <a:prstGeom prst="rect">
            <a:avLst/>
          </a:prstGeom>
          <a:noFill/>
          <a:ln/>
        </p:spPr>
        <p:txBody>
          <a:bodyPr wrap="square" rtlCol="0" anchor="t"/>
          <a:lstStyle/>
          <a:p>
            <a:pPr rtl="1" algn="r" indent="0" marL="0">
              <a:buNone/>
            </a:pPr>
            <a:r>
              <a:rPr lang="en-US" sz="1200" b="1" dirty="0">
                <a:solidFill>
                  <a:srgbClr val="0A1628"/>
                </a:solidFill>
                <a:latin typeface="Calibri" pitchFamily="34" charset="0"/>
                <a:ea typeface="Calibri" pitchFamily="34" charset="-122"/>
                <a:cs typeface="Calibri" pitchFamily="34" charset="-120"/>
              </a:rPr>
              <a:t>مؤسسة النقد العربي السعودي</a:t>
            </a:r>
            <a:endParaRPr lang="en-US" sz="1200" dirty="0"/>
          </a:p>
        </p:txBody>
      </p:sp>
      <p:sp>
        <p:nvSpPr>
          <p:cNvPr id="18" name="Shape 16"/>
          <p:cNvSpPr/>
          <p:nvPr/>
        </p:nvSpPr>
        <p:spPr>
          <a:xfrm>
            <a:off x="8115071" y="3840480"/>
            <a:ext cx="457200" cy="18288"/>
          </a:xfrm>
          <a:prstGeom prst="rect">
            <a:avLst/>
          </a:prstGeom>
          <a:solidFill>
            <a:srgbClr val="D4A574"/>
          </a:solidFill>
          <a:ln/>
        </p:spPr>
      </p:sp>
      <p:sp>
        <p:nvSpPr>
          <p:cNvPr id="19" name="Text 17"/>
          <p:cNvSpPr/>
          <p:nvPr/>
        </p:nvSpPr>
        <p:spPr>
          <a:xfrm>
            <a:off x="6370168" y="3977640"/>
            <a:ext cx="2293544" cy="1234440"/>
          </a:xfrm>
          <a:prstGeom prst="rect">
            <a:avLst/>
          </a:prstGeom>
          <a:noFill/>
          <a:ln/>
        </p:spPr>
        <p:txBody>
          <a:bodyPr wrap="square" rtlCol="0" anchor="t"/>
          <a:lstStyle/>
          <a:p>
            <a:pPr rtl="1" algn="r" indent="0" marL="0">
              <a:buNone/>
            </a:pPr>
            <a:r>
              <a:rPr lang="en-US" sz="1000" dirty="0">
                <a:solidFill>
                  <a:srgbClr val="55606E"/>
                </a:solidFill>
                <a:latin typeface="Calibri" pitchFamily="34" charset="0"/>
                <a:ea typeface="Calibri" pitchFamily="34" charset="-122"/>
                <a:cs typeface="Calibri" pitchFamily="34" charset="-120"/>
              </a:rPr>
              <a:t>تصميم متوافق مع إطار الأمن السيبراني لـ SAMA · سجلات تدقيق كاملة · فصل الأدوار</a:t>
            </a:r>
            <a:endParaRPr lang="en-US" sz="1000" dirty="0"/>
          </a:p>
        </p:txBody>
      </p:sp>
      <p:sp>
        <p:nvSpPr>
          <p:cNvPr id="20" name="Shape 18"/>
          <p:cNvSpPr/>
          <p:nvPr/>
        </p:nvSpPr>
        <p:spPr>
          <a:xfrm>
            <a:off x="3390824" y="2377440"/>
            <a:ext cx="2567864" cy="2926080"/>
          </a:xfrm>
          <a:prstGeom prst="rect">
            <a:avLst/>
          </a:prstGeom>
          <a:solidFill>
            <a:srgbClr val="FFFFFF"/>
          </a:solidFill>
          <a:ln w="12700">
            <a:solidFill>
              <a:srgbClr val="E8E3D6"/>
            </a:solidFill>
            <a:prstDash val="solid"/>
          </a:ln>
        </p:spPr>
      </p:sp>
      <p:sp>
        <p:nvSpPr>
          <p:cNvPr id="21" name="Shape 19"/>
          <p:cNvSpPr/>
          <p:nvPr/>
        </p:nvSpPr>
        <p:spPr>
          <a:xfrm>
            <a:off x="3390824" y="2377440"/>
            <a:ext cx="2567864" cy="502920"/>
          </a:xfrm>
          <a:prstGeom prst="rect">
            <a:avLst/>
          </a:prstGeom>
          <a:solidFill>
            <a:srgbClr val="0A1628"/>
          </a:solidFill>
          <a:ln/>
        </p:spPr>
      </p:sp>
      <p:sp>
        <p:nvSpPr>
          <p:cNvPr id="22" name="Text 20"/>
          <p:cNvSpPr/>
          <p:nvPr/>
        </p:nvSpPr>
        <p:spPr>
          <a:xfrm>
            <a:off x="3482264" y="2450592"/>
            <a:ext cx="2384984" cy="365760"/>
          </a:xfrm>
          <a:prstGeom prst="rect">
            <a:avLst/>
          </a:prstGeom>
          <a:noFill/>
          <a:ln/>
        </p:spPr>
        <p:txBody>
          <a:bodyPr wrap="square" rtlCol="0" anchor="ctr"/>
          <a:lstStyle/>
          <a:p>
            <a:pPr algn="ctr" indent="0" marL="0">
              <a:buNone/>
            </a:pPr>
            <a:r>
              <a:rPr lang="en-US" sz="1800" b="1" dirty="0">
                <a:solidFill>
                  <a:srgbClr val="D4A574"/>
                </a:solidFill>
                <a:latin typeface="Calibri" pitchFamily="34" charset="0"/>
                <a:ea typeface="Calibri" pitchFamily="34" charset="-122"/>
                <a:cs typeface="Calibri" pitchFamily="34" charset="-120"/>
              </a:rPr>
              <a:t>ZATCA</a:t>
            </a:r>
            <a:endParaRPr lang="en-US" sz="1800" dirty="0"/>
          </a:p>
        </p:txBody>
      </p:sp>
      <p:sp>
        <p:nvSpPr>
          <p:cNvPr id="23" name="Text 21"/>
          <p:cNvSpPr/>
          <p:nvPr/>
        </p:nvSpPr>
        <p:spPr>
          <a:xfrm>
            <a:off x="3527984" y="3063240"/>
            <a:ext cx="2293544" cy="731520"/>
          </a:xfrm>
          <a:prstGeom prst="rect">
            <a:avLst/>
          </a:prstGeom>
          <a:noFill/>
          <a:ln/>
        </p:spPr>
        <p:txBody>
          <a:bodyPr wrap="square" rtlCol="0" anchor="t"/>
          <a:lstStyle/>
          <a:p>
            <a:pPr rtl="1" algn="r" indent="0" marL="0">
              <a:buNone/>
            </a:pPr>
            <a:r>
              <a:rPr lang="en-US" sz="1200" b="1" dirty="0">
                <a:solidFill>
                  <a:srgbClr val="0A1628"/>
                </a:solidFill>
                <a:latin typeface="Calibri" pitchFamily="34" charset="0"/>
                <a:ea typeface="Calibri" pitchFamily="34" charset="-122"/>
                <a:cs typeface="Calibri" pitchFamily="34" charset="-120"/>
              </a:rPr>
              <a:t>الزكاة والضريبة والجمارك</a:t>
            </a:r>
            <a:endParaRPr lang="en-US" sz="1200" dirty="0"/>
          </a:p>
        </p:txBody>
      </p:sp>
      <p:sp>
        <p:nvSpPr>
          <p:cNvPr id="24" name="Shape 22"/>
          <p:cNvSpPr/>
          <p:nvPr/>
        </p:nvSpPr>
        <p:spPr>
          <a:xfrm>
            <a:off x="5272888" y="3840480"/>
            <a:ext cx="457200" cy="18288"/>
          </a:xfrm>
          <a:prstGeom prst="rect">
            <a:avLst/>
          </a:prstGeom>
          <a:solidFill>
            <a:srgbClr val="D4A574"/>
          </a:solidFill>
          <a:ln/>
        </p:spPr>
      </p:sp>
      <p:sp>
        <p:nvSpPr>
          <p:cNvPr id="25" name="Text 23"/>
          <p:cNvSpPr/>
          <p:nvPr/>
        </p:nvSpPr>
        <p:spPr>
          <a:xfrm>
            <a:off x="3527984" y="3977640"/>
            <a:ext cx="2293544" cy="1234440"/>
          </a:xfrm>
          <a:prstGeom prst="rect">
            <a:avLst/>
          </a:prstGeom>
          <a:noFill/>
          <a:ln/>
        </p:spPr>
        <p:txBody>
          <a:bodyPr wrap="square" rtlCol="0" anchor="t"/>
          <a:lstStyle/>
          <a:p>
            <a:pPr rtl="1" algn="r" indent="0" marL="0">
              <a:buNone/>
            </a:pPr>
            <a:r>
              <a:rPr lang="en-US" sz="1000" dirty="0">
                <a:solidFill>
                  <a:srgbClr val="55606E"/>
                </a:solidFill>
                <a:latin typeface="Calibri" pitchFamily="34" charset="0"/>
                <a:ea typeface="Calibri" pitchFamily="34" charset="-122"/>
                <a:cs typeface="Calibri" pitchFamily="34" charset="-120"/>
              </a:rPr>
              <a:t>تكامل مع الفوترة الإلكترونية (Phase 2) · ربط آلي مع ERP · توافق تام</a:t>
            </a:r>
            <a:endParaRPr lang="en-US" sz="1000" dirty="0"/>
          </a:p>
        </p:txBody>
      </p:sp>
      <p:sp>
        <p:nvSpPr>
          <p:cNvPr id="26" name="Shape 24"/>
          <p:cNvSpPr/>
          <p:nvPr/>
        </p:nvSpPr>
        <p:spPr>
          <a:xfrm>
            <a:off x="548640" y="2377440"/>
            <a:ext cx="2567864" cy="2926080"/>
          </a:xfrm>
          <a:prstGeom prst="rect">
            <a:avLst/>
          </a:prstGeom>
          <a:solidFill>
            <a:srgbClr val="FFFFFF"/>
          </a:solidFill>
          <a:ln w="12700">
            <a:solidFill>
              <a:srgbClr val="E8E3D6"/>
            </a:solidFill>
            <a:prstDash val="solid"/>
          </a:ln>
        </p:spPr>
      </p:sp>
      <p:sp>
        <p:nvSpPr>
          <p:cNvPr id="27" name="Shape 25"/>
          <p:cNvSpPr/>
          <p:nvPr/>
        </p:nvSpPr>
        <p:spPr>
          <a:xfrm>
            <a:off x="548640" y="2377440"/>
            <a:ext cx="2567864" cy="502920"/>
          </a:xfrm>
          <a:prstGeom prst="rect">
            <a:avLst/>
          </a:prstGeom>
          <a:solidFill>
            <a:srgbClr val="0A1628"/>
          </a:solidFill>
          <a:ln/>
        </p:spPr>
      </p:sp>
      <p:sp>
        <p:nvSpPr>
          <p:cNvPr id="28" name="Text 26"/>
          <p:cNvSpPr/>
          <p:nvPr/>
        </p:nvSpPr>
        <p:spPr>
          <a:xfrm>
            <a:off x="640080" y="2450592"/>
            <a:ext cx="2384984" cy="365760"/>
          </a:xfrm>
          <a:prstGeom prst="rect">
            <a:avLst/>
          </a:prstGeom>
          <a:noFill/>
          <a:ln/>
        </p:spPr>
        <p:txBody>
          <a:bodyPr wrap="square" rtlCol="0" anchor="ctr"/>
          <a:lstStyle/>
          <a:p>
            <a:pPr algn="ctr" indent="0" marL="0">
              <a:buNone/>
            </a:pPr>
            <a:r>
              <a:rPr lang="en-US" sz="1800" b="1" dirty="0">
                <a:solidFill>
                  <a:srgbClr val="D4A574"/>
                </a:solidFill>
                <a:latin typeface="Calibri" pitchFamily="34" charset="0"/>
                <a:ea typeface="Calibri" pitchFamily="34" charset="-122"/>
                <a:cs typeface="Calibri" pitchFamily="34" charset="-120"/>
              </a:rPr>
              <a:t>8 Gates</a:t>
            </a:r>
            <a:endParaRPr lang="en-US" sz="1800" dirty="0"/>
          </a:p>
        </p:txBody>
      </p:sp>
      <p:sp>
        <p:nvSpPr>
          <p:cNvPr id="29" name="Text 27"/>
          <p:cNvSpPr/>
          <p:nvPr/>
        </p:nvSpPr>
        <p:spPr>
          <a:xfrm>
            <a:off x="685800" y="3063240"/>
            <a:ext cx="2293544" cy="731520"/>
          </a:xfrm>
          <a:prstGeom prst="rect">
            <a:avLst/>
          </a:prstGeom>
          <a:noFill/>
          <a:ln/>
        </p:spPr>
        <p:txBody>
          <a:bodyPr wrap="square" rtlCol="0" anchor="t"/>
          <a:lstStyle/>
          <a:p>
            <a:pPr rtl="1" algn="r" indent="0" marL="0">
              <a:buNone/>
            </a:pPr>
            <a:r>
              <a:rPr lang="en-US" sz="1200" b="1" dirty="0">
                <a:solidFill>
                  <a:srgbClr val="0A1628"/>
                </a:solidFill>
                <a:latin typeface="Calibri" pitchFamily="34" charset="0"/>
                <a:ea typeface="Calibri" pitchFamily="34" charset="-122"/>
                <a:cs typeface="Calibri" pitchFamily="34" charset="-120"/>
              </a:rPr>
              <a:t>NIST AI Risk Management</a:t>
            </a:r>
            <a:endParaRPr lang="en-US" sz="1200" dirty="0"/>
          </a:p>
        </p:txBody>
      </p:sp>
      <p:sp>
        <p:nvSpPr>
          <p:cNvPr id="30" name="Shape 28"/>
          <p:cNvSpPr/>
          <p:nvPr/>
        </p:nvSpPr>
        <p:spPr>
          <a:xfrm>
            <a:off x="2430704" y="3840480"/>
            <a:ext cx="457200" cy="18288"/>
          </a:xfrm>
          <a:prstGeom prst="rect">
            <a:avLst/>
          </a:prstGeom>
          <a:solidFill>
            <a:srgbClr val="D4A574"/>
          </a:solidFill>
          <a:ln/>
        </p:spPr>
      </p:sp>
      <p:sp>
        <p:nvSpPr>
          <p:cNvPr id="31" name="Text 29"/>
          <p:cNvSpPr/>
          <p:nvPr/>
        </p:nvSpPr>
        <p:spPr>
          <a:xfrm>
            <a:off x="685800" y="3977640"/>
            <a:ext cx="2293544" cy="1234440"/>
          </a:xfrm>
          <a:prstGeom prst="rect">
            <a:avLst/>
          </a:prstGeom>
          <a:noFill/>
          <a:ln/>
        </p:spPr>
        <p:txBody>
          <a:bodyPr wrap="square" rtlCol="0" anchor="t"/>
          <a:lstStyle/>
          <a:p>
            <a:pPr rtl="1" algn="r" indent="0" marL="0">
              <a:buNone/>
            </a:pPr>
            <a:r>
              <a:rPr lang="en-US" sz="1000" dirty="0">
                <a:solidFill>
                  <a:srgbClr val="55606E"/>
                </a:solidFill>
                <a:latin typeface="Calibri" pitchFamily="34" charset="0"/>
                <a:ea typeface="Calibri" pitchFamily="34" charset="-122"/>
                <a:cs typeface="Calibri" pitchFamily="34" charset="-120"/>
              </a:rPr>
              <a:t>ثماني بوابات حوكمة للذكاء الاصطناعي · شفافية كاملة · قابلية التفسير · اختبار الانحياز</a:t>
            </a:r>
            <a:endParaRPr lang="en-US" sz="1000" dirty="0"/>
          </a:p>
        </p:txBody>
      </p:sp>
      <p:sp>
        <p:nvSpPr>
          <p:cNvPr id="32" name="Shape 30"/>
          <p:cNvSpPr/>
          <p:nvPr/>
        </p:nvSpPr>
        <p:spPr>
          <a:xfrm>
            <a:off x="548640" y="5623560"/>
            <a:ext cx="11094415" cy="548640"/>
          </a:xfrm>
          <a:prstGeom prst="rect">
            <a:avLst/>
          </a:prstGeom>
          <a:solidFill>
            <a:srgbClr val="0A1628"/>
          </a:solidFill>
          <a:ln/>
        </p:spPr>
      </p:sp>
      <p:sp>
        <p:nvSpPr>
          <p:cNvPr id="33" name="Shape 31"/>
          <p:cNvSpPr/>
          <p:nvPr/>
        </p:nvSpPr>
        <p:spPr>
          <a:xfrm>
            <a:off x="11569903" y="5623560"/>
            <a:ext cx="73152" cy="548640"/>
          </a:xfrm>
          <a:prstGeom prst="rect">
            <a:avLst/>
          </a:prstGeom>
          <a:solidFill>
            <a:srgbClr val="D4A574"/>
          </a:solidFill>
          <a:ln/>
        </p:spPr>
      </p:sp>
      <p:sp>
        <p:nvSpPr>
          <p:cNvPr id="34" name="Text 32"/>
          <p:cNvSpPr/>
          <p:nvPr/>
        </p:nvSpPr>
        <p:spPr>
          <a:xfrm>
            <a:off x="731520" y="5623560"/>
            <a:ext cx="10545775" cy="548640"/>
          </a:xfrm>
          <a:prstGeom prst="rect">
            <a:avLst/>
          </a:prstGeom>
          <a:noFill/>
          <a:ln/>
        </p:spPr>
        <p:txBody>
          <a:bodyPr wrap="square" rtlCol="0" anchor="ctr"/>
          <a:lstStyle/>
          <a:p>
            <a:pPr rtl="1" algn="r" indent="0" marL="0">
              <a:buNone/>
            </a:pPr>
            <a:r>
              <a:rPr lang="en-US" sz="1300" b="1" dirty="0">
                <a:solidFill>
                  <a:srgbClr val="F5F5F5"/>
                </a:solidFill>
                <a:latin typeface="Calibri" pitchFamily="34" charset="0"/>
                <a:ea typeface="Calibri" pitchFamily="34" charset="-122"/>
                <a:cs typeface="Calibri" pitchFamily="34" charset="-120"/>
              </a:rPr>
              <a:t>استضافة اختيارية داخل المملكة — STC Cloud أو سحابة سيادية معتمدة من NCA</a:t>
            </a:r>
            <a:endParaRPr lang="en-US" sz="1300" dirty="0"/>
          </a:p>
        </p:txBody>
      </p:sp>
      <p:sp>
        <p:nvSpPr>
          <p:cNvPr id="35" name="Text 33"/>
          <p:cNvSpPr/>
          <p:nvPr/>
        </p:nvSpPr>
        <p:spPr>
          <a:xfrm>
            <a:off x="457200" y="6172200"/>
            <a:ext cx="10362895" cy="256032"/>
          </a:xfrm>
          <a:prstGeom prst="rect">
            <a:avLst/>
          </a:prstGeom>
          <a:noFill/>
          <a:ln/>
        </p:spPr>
        <p:txBody>
          <a:bodyPr wrap="square" rtlCol="0" anchor="ctr"/>
          <a:lstStyle/>
          <a:p>
            <a:pPr rtl="1" algn="r" indent="0" marL="0">
              <a:buNone/>
            </a:pPr>
            <a:r>
              <a:rPr lang="en-US" sz="900" dirty="0">
                <a:solidFill>
                  <a:srgbClr val="8B95A3"/>
                </a:solidFill>
                <a:latin typeface="Calibri" pitchFamily="34" charset="0"/>
                <a:ea typeface="Calibri" pitchFamily="34" charset="-122"/>
                <a:cs typeface="Calibri" pitchFamily="34" charset="-120"/>
              </a:rPr>
              <a:t>المصدر: </a:t>
            </a:r>
            <a:pPr rtl="1" algn="r" indent="0" marL="0">
              <a:buNone/>
            </a:pPr>
            <a:r>
              <a:rPr lang="en-US" sz="900" u="sng" dirty="0">
                <a:solidFill>
                  <a:srgbClr val="B8874C"/>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PDPL — Saudi Data Authority</a:t>
            </a:r>
            <a:pPr algn="r" indent="0" marL="0">
              <a:buNone/>
            </a:pPr>
            <a:r>
              <a:rPr lang="en-US" sz="900" dirty="0">
                <a:solidFill>
                  <a:srgbClr val="8B95A3"/>
                </a:solidFill>
                <a:latin typeface="Calibri" pitchFamily="34" charset="0"/>
                <a:ea typeface="Calibri" pitchFamily="34" charset="-122"/>
                <a:cs typeface="Calibri" pitchFamily="34" charset="-120"/>
              </a:rPr>
              <a:t> · </a:t>
            </a:r>
            <a:pPr rtl="1" algn="r" indent="0" marL="0">
              <a:buNone/>
            </a:pPr>
            <a:r>
              <a:rPr lang="en-US" sz="900" u="sng" dirty="0">
                <a:solidFill>
                  <a:srgbClr val="B8874C"/>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ZATCA E-Invoicing</a:t>
            </a:r>
            <a:pPr algn="r" indent="0" marL="0">
              <a:buNone/>
            </a:pPr>
            <a:r>
              <a:rPr lang="en-US" sz="900" dirty="0">
                <a:solidFill>
                  <a:srgbClr val="8B95A3"/>
                </a:solidFill>
                <a:latin typeface="Calibri" pitchFamily="34" charset="0"/>
                <a:ea typeface="Calibri" pitchFamily="34" charset="-122"/>
                <a:cs typeface="Calibri" pitchFamily="34" charset="-120"/>
              </a:rPr>
              <a:t> · </a:t>
            </a:r>
            <a:pPr rtl="1" algn="r" indent="0" marL="0">
              <a:buNone/>
            </a:pPr>
            <a:r>
              <a:rPr lang="en-US" sz="900" u="sng" dirty="0">
                <a:solidFill>
                  <a:srgbClr val="B8874C"/>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NIST AI RMF</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8F3"/>
        </a:solidFill>
      </p:bgPr>
    </p:bg>
    <p:spTree>
      <p:nvGrpSpPr>
        <p:cNvPr id="1" name=""/>
        <p:cNvGrpSpPr/>
        <p:nvPr/>
      </p:nvGrpSpPr>
      <p:grpSpPr>
        <a:xfrm>
          <a:off x="0" y="0"/>
          <a:ext cx="0" cy="0"/>
          <a:chOff x="0" y="0"/>
          <a:chExt cx="0" cy="0"/>
        </a:xfrm>
      </p:grpSpPr>
      <p:sp>
        <p:nvSpPr>
          <p:cNvPr id="2" name="Shape 0"/>
          <p:cNvSpPr/>
          <p:nvPr/>
        </p:nvSpPr>
        <p:spPr>
          <a:xfrm>
            <a:off x="11734495" y="320040"/>
            <a:ext cx="73152" cy="411480"/>
          </a:xfrm>
          <a:prstGeom prst="rect">
            <a:avLst/>
          </a:prstGeom>
          <a:solidFill>
            <a:srgbClr val="D4A574"/>
          </a:solidFill>
          <a:ln/>
        </p:spPr>
      </p:sp>
      <p:sp>
        <p:nvSpPr>
          <p:cNvPr id="3" name="Text 1"/>
          <p:cNvSpPr/>
          <p:nvPr/>
        </p:nvSpPr>
        <p:spPr>
          <a:xfrm>
            <a:off x="8076895" y="274320"/>
            <a:ext cx="3566160" cy="365760"/>
          </a:xfrm>
          <a:prstGeom prst="rect">
            <a:avLst/>
          </a:prstGeom>
          <a:noFill/>
          <a:ln/>
        </p:spPr>
        <p:txBody>
          <a:bodyPr wrap="square" rtlCol="0" anchor="ctr"/>
          <a:lstStyle/>
          <a:p>
            <a:pPr rtl="1" algn="r" indent="0" marL="0">
              <a:buNone/>
            </a:pPr>
            <a:r>
              <a:rPr lang="en-US" sz="1200" b="1" dirty="0">
                <a:solidFill>
                  <a:srgbClr val="55606E"/>
                </a:solidFill>
                <a:latin typeface="Calibri" pitchFamily="34" charset="0"/>
                <a:ea typeface="Calibri" pitchFamily="34" charset="-122"/>
                <a:cs typeface="Calibri" pitchFamily="34" charset="-120"/>
              </a:rPr>
              <a:t>المنتج · التكاملات</a:t>
            </a:r>
            <a:endParaRPr lang="en-US" sz="1200" dirty="0"/>
          </a:p>
        </p:txBody>
      </p:sp>
      <p:sp>
        <p:nvSpPr>
          <p:cNvPr id="4" name="Text 2"/>
          <p:cNvSpPr/>
          <p:nvPr/>
        </p:nvSpPr>
        <p:spPr>
          <a:xfrm>
            <a:off x="457200" y="6446520"/>
            <a:ext cx="2286000" cy="274320"/>
          </a:xfrm>
          <a:prstGeom prst="rect">
            <a:avLst/>
          </a:prstGeom>
          <a:noFill/>
          <a:ln/>
        </p:spPr>
        <p:txBody>
          <a:bodyPr wrap="square" rtlCol="0" anchor="ctr"/>
          <a:lstStyle/>
          <a:p>
            <a:pPr algn="l" indent="0" marL="0">
              <a:buNone/>
            </a:pPr>
            <a:r>
              <a:rPr lang="en-US" sz="900" dirty="0">
                <a:solidFill>
                  <a:srgbClr val="8B95A3"/>
                </a:solidFill>
                <a:latin typeface="Calibri" pitchFamily="34" charset="0"/>
                <a:ea typeface="Calibri" pitchFamily="34" charset="-122"/>
                <a:cs typeface="Calibri" pitchFamily="34" charset="-120"/>
              </a:rPr>
              <a:t>Dealix · ديلكس</a:t>
            </a:r>
            <a:endParaRPr lang="en-US" sz="900" dirty="0"/>
          </a:p>
        </p:txBody>
      </p:sp>
      <p:sp>
        <p:nvSpPr>
          <p:cNvPr id="5" name="Text 3"/>
          <p:cNvSpPr/>
          <p:nvPr/>
        </p:nvSpPr>
        <p:spPr>
          <a:xfrm>
            <a:off x="11094415" y="6446520"/>
            <a:ext cx="640080" cy="274320"/>
          </a:xfrm>
          <a:prstGeom prst="rect">
            <a:avLst/>
          </a:prstGeom>
          <a:noFill/>
          <a:ln/>
        </p:spPr>
        <p:txBody>
          <a:bodyPr wrap="square" rtlCol="0" anchor="ctr"/>
          <a:lstStyle/>
          <a:p>
            <a:pPr algn="r" indent="0" marL="0">
              <a:buNone/>
            </a:pPr>
            <a:r>
              <a:rPr lang="en-US" sz="900" b="1" dirty="0">
                <a:solidFill>
                  <a:srgbClr val="8B95A3"/>
                </a:solidFill>
                <a:latin typeface="Calibri" pitchFamily="34" charset="0"/>
                <a:ea typeface="Calibri" pitchFamily="34" charset="-122"/>
                <a:cs typeface="Calibri" pitchFamily="34" charset="-120"/>
              </a:rPr>
              <a:t>18</a:t>
            </a:r>
            <a:endParaRPr lang="en-US" sz="900" dirty="0"/>
          </a:p>
        </p:txBody>
      </p:sp>
      <p:sp>
        <p:nvSpPr>
          <p:cNvPr id="6" name="Text 4"/>
          <p:cNvSpPr/>
          <p:nvPr/>
        </p:nvSpPr>
        <p:spPr>
          <a:xfrm>
            <a:off x="548640" y="914400"/>
            <a:ext cx="11094415" cy="822960"/>
          </a:xfrm>
          <a:prstGeom prst="rect">
            <a:avLst/>
          </a:prstGeom>
          <a:noFill/>
          <a:ln/>
        </p:spPr>
        <p:txBody>
          <a:bodyPr wrap="square" rtlCol="0" anchor="ctr"/>
          <a:lstStyle/>
          <a:p>
            <a:pPr rtl="1" algn="r" indent="0" marL="0">
              <a:buNone/>
            </a:pPr>
            <a:r>
              <a:rPr lang="en-US" sz="3400" b="1" dirty="0">
                <a:solidFill>
                  <a:srgbClr val="0A1628"/>
                </a:solidFill>
                <a:latin typeface="Calibri" pitchFamily="34" charset="0"/>
                <a:ea typeface="Calibri" pitchFamily="34" charset="-122"/>
                <a:cs typeface="Calibri" pitchFamily="34" charset="-120"/>
              </a:rPr>
              <a:t>منظومة التكاملات</a:t>
            </a:r>
            <a:endParaRPr lang="en-US" sz="3400" dirty="0"/>
          </a:p>
        </p:txBody>
      </p:sp>
      <p:sp>
        <p:nvSpPr>
          <p:cNvPr id="7" name="Text 5"/>
          <p:cNvSpPr/>
          <p:nvPr/>
        </p:nvSpPr>
        <p:spPr>
          <a:xfrm>
            <a:off x="548640" y="1691640"/>
            <a:ext cx="11094415" cy="411480"/>
          </a:xfrm>
          <a:prstGeom prst="rect">
            <a:avLst/>
          </a:prstGeom>
          <a:noFill/>
          <a:ln/>
        </p:spPr>
        <p:txBody>
          <a:bodyPr wrap="square" rtlCol="0" anchor="ctr"/>
          <a:lstStyle/>
          <a:p>
            <a:pPr rtl="1" algn="r" indent="0" marL="0">
              <a:buNone/>
            </a:pPr>
            <a:r>
              <a:rPr lang="en-US" sz="1500" dirty="0">
                <a:solidFill>
                  <a:srgbClr val="55606E"/>
                </a:solidFill>
                <a:latin typeface="Calibri" pitchFamily="34" charset="0"/>
                <a:ea typeface="Calibri" pitchFamily="34" charset="-122"/>
                <a:cs typeface="Calibri" pitchFamily="34" charset="-120"/>
              </a:rPr>
              <a:t>ديلكس يتكامل مع أنظمتكم الحالية — لا يطلب استبدالها</a:t>
            </a:r>
            <a:endParaRPr lang="en-US" sz="1500" dirty="0"/>
          </a:p>
        </p:txBody>
      </p:sp>
      <p:sp>
        <p:nvSpPr>
          <p:cNvPr id="8" name="Shape 6"/>
          <p:cNvSpPr/>
          <p:nvPr/>
        </p:nvSpPr>
        <p:spPr>
          <a:xfrm>
            <a:off x="9607052" y="2377440"/>
            <a:ext cx="2036003" cy="868680"/>
          </a:xfrm>
          <a:prstGeom prst="rect">
            <a:avLst/>
          </a:prstGeom>
          <a:solidFill>
            <a:srgbClr val="FFFFFF"/>
          </a:solidFill>
          <a:ln w="12700">
            <a:solidFill>
              <a:srgbClr val="E8E3D6"/>
            </a:solidFill>
            <a:prstDash val="solid"/>
          </a:ln>
        </p:spPr>
      </p:sp>
      <p:sp>
        <p:nvSpPr>
          <p:cNvPr id="9" name="Text 7"/>
          <p:cNvSpPr/>
          <p:nvPr/>
        </p:nvSpPr>
        <p:spPr>
          <a:xfrm>
            <a:off x="9607052" y="2377440"/>
            <a:ext cx="2036003" cy="868680"/>
          </a:xfrm>
          <a:prstGeom prst="rect">
            <a:avLst/>
          </a:prstGeom>
          <a:noFill/>
          <a:ln/>
        </p:spPr>
        <p:txBody>
          <a:bodyPr wrap="square" rtlCol="0" anchor="ctr"/>
          <a:lstStyle/>
          <a:p>
            <a:pPr algn="ctr" indent="0" marL="0">
              <a:buNone/>
            </a:pPr>
            <a:r>
              <a:rPr lang="en-US" sz="1500" b="1" dirty="0">
                <a:solidFill>
                  <a:srgbClr val="0A1628"/>
                </a:solidFill>
                <a:latin typeface="Calibri" pitchFamily="34" charset="0"/>
                <a:ea typeface="Calibri" pitchFamily="34" charset="-122"/>
                <a:cs typeface="Calibri" pitchFamily="34" charset="-120"/>
              </a:rPr>
              <a:t>Twilio</a:t>
            </a:r>
            <a:endParaRPr lang="en-US" sz="1500" dirty="0"/>
          </a:p>
        </p:txBody>
      </p:sp>
      <p:sp>
        <p:nvSpPr>
          <p:cNvPr id="10" name="Shape 8"/>
          <p:cNvSpPr/>
          <p:nvPr/>
        </p:nvSpPr>
        <p:spPr>
          <a:xfrm>
            <a:off x="9744212" y="2514600"/>
            <a:ext cx="109728" cy="109728"/>
          </a:xfrm>
          <a:prstGeom prst="ellipse">
            <a:avLst/>
          </a:prstGeom>
          <a:solidFill>
            <a:srgbClr val="D4A574"/>
          </a:solidFill>
          <a:ln/>
        </p:spPr>
      </p:sp>
      <p:sp>
        <p:nvSpPr>
          <p:cNvPr id="11" name="Shape 9"/>
          <p:cNvSpPr/>
          <p:nvPr/>
        </p:nvSpPr>
        <p:spPr>
          <a:xfrm>
            <a:off x="7342449" y="2377440"/>
            <a:ext cx="2036003" cy="868680"/>
          </a:xfrm>
          <a:prstGeom prst="rect">
            <a:avLst/>
          </a:prstGeom>
          <a:solidFill>
            <a:srgbClr val="FFFFFF"/>
          </a:solidFill>
          <a:ln w="12700">
            <a:solidFill>
              <a:srgbClr val="E8E3D6"/>
            </a:solidFill>
            <a:prstDash val="solid"/>
          </a:ln>
        </p:spPr>
      </p:sp>
      <p:sp>
        <p:nvSpPr>
          <p:cNvPr id="12" name="Text 10"/>
          <p:cNvSpPr/>
          <p:nvPr/>
        </p:nvSpPr>
        <p:spPr>
          <a:xfrm>
            <a:off x="7342449" y="2377440"/>
            <a:ext cx="2036003" cy="868680"/>
          </a:xfrm>
          <a:prstGeom prst="rect">
            <a:avLst/>
          </a:prstGeom>
          <a:noFill/>
          <a:ln/>
        </p:spPr>
        <p:txBody>
          <a:bodyPr wrap="square" rtlCol="0" anchor="ctr"/>
          <a:lstStyle/>
          <a:p>
            <a:pPr algn="ctr" indent="0" marL="0">
              <a:buNone/>
            </a:pPr>
            <a:r>
              <a:rPr lang="en-US" sz="1500" b="1" dirty="0">
                <a:solidFill>
                  <a:srgbClr val="0A1628"/>
                </a:solidFill>
                <a:latin typeface="Calibri" pitchFamily="34" charset="0"/>
                <a:ea typeface="Calibri" pitchFamily="34" charset="-122"/>
                <a:cs typeface="Calibri" pitchFamily="34" charset="-120"/>
              </a:rPr>
              <a:t>Unifonic</a:t>
            </a:r>
            <a:endParaRPr lang="en-US" sz="1500" dirty="0"/>
          </a:p>
        </p:txBody>
      </p:sp>
      <p:sp>
        <p:nvSpPr>
          <p:cNvPr id="13" name="Shape 11"/>
          <p:cNvSpPr/>
          <p:nvPr/>
        </p:nvSpPr>
        <p:spPr>
          <a:xfrm>
            <a:off x="7479609" y="2514600"/>
            <a:ext cx="109728" cy="109728"/>
          </a:xfrm>
          <a:prstGeom prst="ellipse">
            <a:avLst/>
          </a:prstGeom>
          <a:solidFill>
            <a:srgbClr val="D4A574"/>
          </a:solidFill>
          <a:ln/>
        </p:spPr>
      </p:sp>
      <p:sp>
        <p:nvSpPr>
          <p:cNvPr id="14" name="Shape 12"/>
          <p:cNvSpPr/>
          <p:nvPr/>
        </p:nvSpPr>
        <p:spPr>
          <a:xfrm>
            <a:off x="5077846" y="2377440"/>
            <a:ext cx="2036003" cy="868680"/>
          </a:xfrm>
          <a:prstGeom prst="rect">
            <a:avLst/>
          </a:prstGeom>
          <a:solidFill>
            <a:srgbClr val="FFFFFF"/>
          </a:solidFill>
          <a:ln w="12700">
            <a:solidFill>
              <a:srgbClr val="E8E3D6"/>
            </a:solidFill>
            <a:prstDash val="solid"/>
          </a:ln>
        </p:spPr>
      </p:sp>
      <p:sp>
        <p:nvSpPr>
          <p:cNvPr id="15" name="Text 13"/>
          <p:cNvSpPr/>
          <p:nvPr/>
        </p:nvSpPr>
        <p:spPr>
          <a:xfrm>
            <a:off x="5077846" y="2377440"/>
            <a:ext cx="2036003" cy="868680"/>
          </a:xfrm>
          <a:prstGeom prst="rect">
            <a:avLst/>
          </a:prstGeom>
          <a:noFill/>
          <a:ln/>
        </p:spPr>
        <p:txBody>
          <a:bodyPr wrap="square" rtlCol="0" anchor="ctr"/>
          <a:lstStyle/>
          <a:p>
            <a:pPr algn="ctr" indent="0" marL="0">
              <a:buNone/>
            </a:pPr>
            <a:r>
              <a:rPr lang="en-US" sz="1500" b="1" dirty="0">
                <a:solidFill>
                  <a:srgbClr val="0A1628"/>
                </a:solidFill>
                <a:latin typeface="Calibri" pitchFamily="34" charset="0"/>
                <a:ea typeface="Calibri" pitchFamily="34" charset="-122"/>
                <a:cs typeface="Calibri" pitchFamily="34" charset="-120"/>
              </a:rPr>
              <a:t>WhatsApp</a:t>
            </a:r>
            <a:endParaRPr lang="en-US" sz="1500" dirty="0"/>
          </a:p>
        </p:txBody>
      </p:sp>
      <p:sp>
        <p:nvSpPr>
          <p:cNvPr id="16" name="Shape 14"/>
          <p:cNvSpPr/>
          <p:nvPr/>
        </p:nvSpPr>
        <p:spPr>
          <a:xfrm>
            <a:off x="5215006" y="2514600"/>
            <a:ext cx="109728" cy="109728"/>
          </a:xfrm>
          <a:prstGeom prst="ellipse">
            <a:avLst/>
          </a:prstGeom>
          <a:solidFill>
            <a:srgbClr val="D4A574"/>
          </a:solidFill>
          <a:ln/>
        </p:spPr>
      </p:sp>
      <p:sp>
        <p:nvSpPr>
          <p:cNvPr id="17" name="Shape 15"/>
          <p:cNvSpPr/>
          <p:nvPr/>
        </p:nvSpPr>
        <p:spPr>
          <a:xfrm>
            <a:off x="2813243" y="2377440"/>
            <a:ext cx="2036003" cy="868680"/>
          </a:xfrm>
          <a:prstGeom prst="rect">
            <a:avLst/>
          </a:prstGeom>
          <a:solidFill>
            <a:srgbClr val="FFFFFF"/>
          </a:solidFill>
          <a:ln w="12700">
            <a:solidFill>
              <a:srgbClr val="E8E3D6"/>
            </a:solidFill>
            <a:prstDash val="solid"/>
          </a:ln>
        </p:spPr>
      </p:sp>
      <p:sp>
        <p:nvSpPr>
          <p:cNvPr id="18" name="Text 16"/>
          <p:cNvSpPr/>
          <p:nvPr/>
        </p:nvSpPr>
        <p:spPr>
          <a:xfrm>
            <a:off x="2813243" y="2377440"/>
            <a:ext cx="2036003" cy="868680"/>
          </a:xfrm>
          <a:prstGeom prst="rect">
            <a:avLst/>
          </a:prstGeom>
          <a:noFill/>
          <a:ln/>
        </p:spPr>
        <p:txBody>
          <a:bodyPr wrap="square" rtlCol="0" anchor="ctr"/>
          <a:lstStyle/>
          <a:p>
            <a:pPr algn="ctr" indent="0" marL="0">
              <a:buNone/>
            </a:pPr>
            <a:r>
              <a:rPr lang="en-US" sz="1500" b="1" dirty="0">
                <a:solidFill>
                  <a:srgbClr val="0A1628"/>
                </a:solidFill>
                <a:latin typeface="Calibri" pitchFamily="34" charset="0"/>
                <a:ea typeface="Calibri" pitchFamily="34" charset="-122"/>
                <a:cs typeface="Calibri" pitchFamily="34" charset="-120"/>
              </a:rPr>
              <a:t>Microsoft 365</a:t>
            </a:r>
            <a:endParaRPr lang="en-US" sz="1500" dirty="0"/>
          </a:p>
        </p:txBody>
      </p:sp>
      <p:sp>
        <p:nvSpPr>
          <p:cNvPr id="19" name="Shape 17"/>
          <p:cNvSpPr/>
          <p:nvPr/>
        </p:nvSpPr>
        <p:spPr>
          <a:xfrm>
            <a:off x="2950403" y="2514600"/>
            <a:ext cx="109728" cy="109728"/>
          </a:xfrm>
          <a:prstGeom prst="ellipse">
            <a:avLst/>
          </a:prstGeom>
          <a:solidFill>
            <a:srgbClr val="D4A574"/>
          </a:solidFill>
          <a:ln/>
        </p:spPr>
      </p:sp>
      <p:sp>
        <p:nvSpPr>
          <p:cNvPr id="20" name="Shape 18"/>
          <p:cNvSpPr/>
          <p:nvPr/>
        </p:nvSpPr>
        <p:spPr>
          <a:xfrm>
            <a:off x="548640" y="2377440"/>
            <a:ext cx="2036003" cy="868680"/>
          </a:xfrm>
          <a:prstGeom prst="rect">
            <a:avLst/>
          </a:prstGeom>
          <a:solidFill>
            <a:srgbClr val="FFFFFF"/>
          </a:solidFill>
          <a:ln w="12700">
            <a:solidFill>
              <a:srgbClr val="E8E3D6"/>
            </a:solidFill>
            <a:prstDash val="solid"/>
          </a:ln>
        </p:spPr>
      </p:sp>
      <p:sp>
        <p:nvSpPr>
          <p:cNvPr id="21" name="Text 19"/>
          <p:cNvSpPr/>
          <p:nvPr/>
        </p:nvSpPr>
        <p:spPr>
          <a:xfrm>
            <a:off x="548640" y="2377440"/>
            <a:ext cx="2036003" cy="868680"/>
          </a:xfrm>
          <a:prstGeom prst="rect">
            <a:avLst/>
          </a:prstGeom>
          <a:noFill/>
          <a:ln/>
        </p:spPr>
        <p:txBody>
          <a:bodyPr wrap="square" rtlCol="0" anchor="ctr"/>
          <a:lstStyle/>
          <a:p>
            <a:pPr algn="ctr" indent="0" marL="0">
              <a:buNone/>
            </a:pPr>
            <a:r>
              <a:rPr lang="en-US" sz="1500" b="1" dirty="0">
                <a:solidFill>
                  <a:srgbClr val="0A1628"/>
                </a:solidFill>
                <a:latin typeface="Calibri" pitchFamily="34" charset="0"/>
                <a:ea typeface="Calibri" pitchFamily="34" charset="-122"/>
                <a:cs typeface="Calibri" pitchFamily="34" charset="-120"/>
              </a:rPr>
              <a:t>Google Workspace</a:t>
            </a:r>
            <a:endParaRPr lang="en-US" sz="1500" dirty="0"/>
          </a:p>
        </p:txBody>
      </p:sp>
      <p:sp>
        <p:nvSpPr>
          <p:cNvPr id="22" name="Shape 20"/>
          <p:cNvSpPr/>
          <p:nvPr/>
        </p:nvSpPr>
        <p:spPr>
          <a:xfrm>
            <a:off x="685800" y="2514600"/>
            <a:ext cx="109728" cy="109728"/>
          </a:xfrm>
          <a:prstGeom prst="ellipse">
            <a:avLst/>
          </a:prstGeom>
          <a:solidFill>
            <a:srgbClr val="D4A574"/>
          </a:solidFill>
          <a:ln/>
        </p:spPr>
      </p:sp>
      <p:sp>
        <p:nvSpPr>
          <p:cNvPr id="23" name="Shape 21"/>
          <p:cNvSpPr/>
          <p:nvPr/>
        </p:nvSpPr>
        <p:spPr>
          <a:xfrm>
            <a:off x="9607052" y="3429000"/>
            <a:ext cx="2036003" cy="868680"/>
          </a:xfrm>
          <a:prstGeom prst="rect">
            <a:avLst/>
          </a:prstGeom>
          <a:solidFill>
            <a:srgbClr val="FFFFFF"/>
          </a:solidFill>
          <a:ln w="12700">
            <a:solidFill>
              <a:srgbClr val="E8E3D6"/>
            </a:solidFill>
            <a:prstDash val="solid"/>
          </a:ln>
        </p:spPr>
      </p:sp>
      <p:sp>
        <p:nvSpPr>
          <p:cNvPr id="24" name="Text 22"/>
          <p:cNvSpPr/>
          <p:nvPr/>
        </p:nvSpPr>
        <p:spPr>
          <a:xfrm>
            <a:off x="9607052" y="3429000"/>
            <a:ext cx="2036003" cy="868680"/>
          </a:xfrm>
          <a:prstGeom prst="rect">
            <a:avLst/>
          </a:prstGeom>
          <a:noFill/>
          <a:ln/>
        </p:spPr>
        <p:txBody>
          <a:bodyPr wrap="square" rtlCol="0" anchor="ctr"/>
          <a:lstStyle/>
          <a:p>
            <a:pPr algn="ctr" indent="0" marL="0">
              <a:buNone/>
            </a:pPr>
            <a:r>
              <a:rPr lang="en-US" sz="1500" b="1" dirty="0">
                <a:solidFill>
                  <a:srgbClr val="0A1628"/>
                </a:solidFill>
                <a:latin typeface="Calibri" pitchFamily="34" charset="0"/>
                <a:ea typeface="Calibri" pitchFamily="34" charset="-122"/>
                <a:cs typeface="Calibri" pitchFamily="34" charset="-120"/>
              </a:rPr>
              <a:t>Salesforce</a:t>
            </a:r>
            <a:endParaRPr lang="en-US" sz="1500" dirty="0"/>
          </a:p>
        </p:txBody>
      </p:sp>
      <p:sp>
        <p:nvSpPr>
          <p:cNvPr id="25" name="Shape 23"/>
          <p:cNvSpPr/>
          <p:nvPr/>
        </p:nvSpPr>
        <p:spPr>
          <a:xfrm>
            <a:off x="9744212" y="3566160"/>
            <a:ext cx="109728" cy="109728"/>
          </a:xfrm>
          <a:prstGeom prst="ellipse">
            <a:avLst/>
          </a:prstGeom>
          <a:solidFill>
            <a:srgbClr val="D4A574"/>
          </a:solidFill>
          <a:ln/>
        </p:spPr>
      </p:sp>
      <p:sp>
        <p:nvSpPr>
          <p:cNvPr id="26" name="Shape 24"/>
          <p:cNvSpPr/>
          <p:nvPr/>
        </p:nvSpPr>
        <p:spPr>
          <a:xfrm>
            <a:off x="7342449" y="3429000"/>
            <a:ext cx="2036003" cy="868680"/>
          </a:xfrm>
          <a:prstGeom prst="rect">
            <a:avLst/>
          </a:prstGeom>
          <a:solidFill>
            <a:srgbClr val="FFFFFF"/>
          </a:solidFill>
          <a:ln w="12700">
            <a:solidFill>
              <a:srgbClr val="E8E3D6"/>
            </a:solidFill>
            <a:prstDash val="solid"/>
          </a:ln>
        </p:spPr>
      </p:sp>
      <p:sp>
        <p:nvSpPr>
          <p:cNvPr id="27" name="Text 25"/>
          <p:cNvSpPr/>
          <p:nvPr/>
        </p:nvSpPr>
        <p:spPr>
          <a:xfrm>
            <a:off x="7342449" y="3429000"/>
            <a:ext cx="2036003" cy="868680"/>
          </a:xfrm>
          <a:prstGeom prst="rect">
            <a:avLst/>
          </a:prstGeom>
          <a:noFill/>
          <a:ln/>
        </p:spPr>
        <p:txBody>
          <a:bodyPr wrap="square" rtlCol="0" anchor="ctr"/>
          <a:lstStyle/>
          <a:p>
            <a:pPr algn="ctr" indent="0" marL="0">
              <a:buNone/>
            </a:pPr>
            <a:r>
              <a:rPr lang="en-US" sz="1500" b="1" dirty="0">
                <a:solidFill>
                  <a:srgbClr val="0A1628"/>
                </a:solidFill>
                <a:latin typeface="Calibri" pitchFamily="34" charset="0"/>
                <a:ea typeface="Calibri" pitchFamily="34" charset="-122"/>
                <a:cs typeface="Calibri" pitchFamily="34" charset="-120"/>
              </a:rPr>
              <a:t>HubSpot</a:t>
            </a:r>
            <a:endParaRPr lang="en-US" sz="1500" dirty="0"/>
          </a:p>
        </p:txBody>
      </p:sp>
      <p:sp>
        <p:nvSpPr>
          <p:cNvPr id="28" name="Shape 26"/>
          <p:cNvSpPr/>
          <p:nvPr/>
        </p:nvSpPr>
        <p:spPr>
          <a:xfrm>
            <a:off x="7479609" y="3566160"/>
            <a:ext cx="109728" cy="109728"/>
          </a:xfrm>
          <a:prstGeom prst="ellipse">
            <a:avLst/>
          </a:prstGeom>
          <a:solidFill>
            <a:srgbClr val="D4A574"/>
          </a:solidFill>
          <a:ln/>
        </p:spPr>
      </p:sp>
      <p:sp>
        <p:nvSpPr>
          <p:cNvPr id="29" name="Shape 27"/>
          <p:cNvSpPr/>
          <p:nvPr/>
        </p:nvSpPr>
        <p:spPr>
          <a:xfrm>
            <a:off x="5077846" y="3429000"/>
            <a:ext cx="2036003" cy="868680"/>
          </a:xfrm>
          <a:prstGeom prst="rect">
            <a:avLst/>
          </a:prstGeom>
          <a:solidFill>
            <a:srgbClr val="FFFFFF"/>
          </a:solidFill>
          <a:ln w="12700">
            <a:solidFill>
              <a:srgbClr val="E8E3D6"/>
            </a:solidFill>
            <a:prstDash val="solid"/>
          </a:ln>
        </p:spPr>
      </p:sp>
      <p:sp>
        <p:nvSpPr>
          <p:cNvPr id="30" name="Text 28"/>
          <p:cNvSpPr/>
          <p:nvPr/>
        </p:nvSpPr>
        <p:spPr>
          <a:xfrm>
            <a:off x="5077846" y="3429000"/>
            <a:ext cx="2036003" cy="868680"/>
          </a:xfrm>
          <a:prstGeom prst="rect">
            <a:avLst/>
          </a:prstGeom>
          <a:noFill/>
          <a:ln/>
        </p:spPr>
        <p:txBody>
          <a:bodyPr wrap="square" rtlCol="0" anchor="ctr"/>
          <a:lstStyle/>
          <a:p>
            <a:pPr algn="ctr" indent="0" marL="0">
              <a:buNone/>
            </a:pPr>
            <a:r>
              <a:rPr lang="en-US" sz="1500" b="1" dirty="0">
                <a:solidFill>
                  <a:srgbClr val="0A1628"/>
                </a:solidFill>
                <a:latin typeface="Calibri" pitchFamily="34" charset="0"/>
                <a:ea typeface="Calibri" pitchFamily="34" charset="-122"/>
                <a:cs typeface="Calibri" pitchFamily="34" charset="-120"/>
              </a:rPr>
              <a:t>Zoho</a:t>
            </a:r>
            <a:endParaRPr lang="en-US" sz="1500" dirty="0"/>
          </a:p>
        </p:txBody>
      </p:sp>
      <p:sp>
        <p:nvSpPr>
          <p:cNvPr id="31" name="Shape 29"/>
          <p:cNvSpPr/>
          <p:nvPr/>
        </p:nvSpPr>
        <p:spPr>
          <a:xfrm>
            <a:off x="5215006" y="3566160"/>
            <a:ext cx="109728" cy="109728"/>
          </a:xfrm>
          <a:prstGeom prst="ellipse">
            <a:avLst/>
          </a:prstGeom>
          <a:solidFill>
            <a:srgbClr val="D4A574"/>
          </a:solidFill>
          <a:ln/>
        </p:spPr>
      </p:sp>
      <p:sp>
        <p:nvSpPr>
          <p:cNvPr id="32" name="Shape 30"/>
          <p:cNvSpPr/>
          <p:nvPr/>
        </p:nvSpPr>
        <p:spPr>
          <a:xfrm>
            <a:off x="2813243" y="3429000"/>
            <a:ext cx="2036003" cy="868680"/>
          </a:xfrm>
          <a:prstGeom prst="rect">
            <a:avLst/>
          </a:prstGeom>
          <a:solidFill>
            <a:srgbClr val="FFFFFF"/>
          </a:solidFill>
          <a:ln w="12700">
            <a:solidFill>
              <a:srgbClr val="E8E3D6"/>
            </a:solidFill>
            <a:prstDash val="solid"/>
          </a:ln>
        </p:spPr>
      </p:sp>
      <p:sp>
        <p:nvSpPr>
          <p:cNvPr id="33" name="Text 31"/>
          <p:cNvSpPr/>
          <p:nvPr/>
        </p:nvSpPr>
        <p:spPr>
          <a:xfrm>
            <a:off x="2813243" y="3429000"/>
            <a:ext cx="2036003" cy="868680"/>
          </a:xfrm>
          <a:prstGeom prst="rect">
            <a:avLst/>
          </a:prstGeom>
          <a:noFill/>
          <a:ln/>
        </p:spPr>
        <p:txBody>
          <a:bodyPr wrap="square" rtlCol="0" anchor="ctr"/>
          <a:lstStyle/>
          <a:p>
            <a:pPr algn="ctr" indent="0" marL="0">
              <a:buNone/>
            </a:pPr>
            <a:r>
              <a:rPr lang="en-US" sz="1500" b="1" dirty="0">
                <a:solidFill>
                  <a:srgbClr val="0A1628"/>
                </a:solidFill>
                <a:latin typeface="Calibri" pitchFamily="34" charset="0"/>
                <a:ea typeface="Calibri" pitchFamily="34" charset="-122"/>
                <a:cs typeface="Calibri" pitchFamily="34" charset="-120"/>
              </a:rPr>
              <a:t>Odoo</a:t>
            </a:r>
            <a:endParaRPr lang="en-US" sz="1500" dirty="0"/>
          </a:p>
        </p:txBody>
      </p:sp>
      <p:sp>
        <p:nvSpPr>
          <p:cNvPr id="34" name="Shape 32"/>
          <p:cNvSpPr/>
          <p:nvPr/>
        </p:nvSpPr>
        <p:spPr>
          <a:xfrm>
            <a:off x="2950403" y="3566160"/>
            <a:ext cx="109728" cy="109728"/>
          </a:xfrm>
          <a:prstGeom prst="ellipse">
            <a:avLst/>
          </a:prstGeom>
          <a:solidFill>
            <a:srgbClr val="D4A574"/>
          </a:solidFill>
          <a:ln/>
        </p:spPr>
      </p:sp>
      <p:sp>
        <p:nvSpPr>
          <p:cNvPr id="35" name="Shape 33"/>
          <p:cNvSpPr/>
          <p:nvPr/>
        </p:nvSpPr>
        <p:spPr>
          <a:xfrm>
            <a:off x="548640" y="3429000"/>
            <a:ext cx="2036003" cy="868680"/>
          </a:xfrm>
          <a:prstGeom prst="rect">
            <a:avLst/>
          </a:prstGeom>
          <a:solidFill>
            <a:srgbClr val="FFFFFF"/>
          </a:solidFill>
          <a:ln w="12700">
            <a:solidFill>
              <a:srgbClr val="E8E3D6"/>
            </a:solidFill>
            <a:prstDash val="solid"/>
          </a:ln>
        </p:spPr>
      </p:sp>
      <p:sp>
        <p:nvSpPr>
          <p:cNvPr id="36" name="Text 34"/>
          <p:cNvSpPr/>
          <p:nvPr/>
        </p:nvSpPr>
        <p:spPr>
          <a:xfrm>
            <a:off x="548640" y="3429000"/>
            <a:ext cx="2036003" cy="868680"/>
          </a:xfrm>
          <a:prstGeom prst="rect">
            <a:avLst/>
          </a:prstGeom>
          <a:noFill/>
          <a:ln/>
        </p:spPr>
        <p:txBody>
          <a:bodyPr wrap="square" rtlCol="0" anchor="ctr"/>
          <a:lstStyle/>
          <a:p>
            <a:pPr algn="ctr" indent="0" marL="0">
              <a:buNone/>
            </a:pPr>
            <a:r>
              <a:rPr lang="en-US" sz="1500" b="1" dirty="0">
                <a:solidFill>
                  <a:srgbClr val="0A1628"/>
                </a:solidFill>
                <a:latin typeface="Calibri" pitchFamily="34" charset="0"/>
                <a:ea typeface="Calibri" pitchFamily="34" charset="-122"/>
                <a:cs typeface="Calibri" pitchFamily="34" charset="-120"/>
              </a:rPr>
              <a:t>SAP</a:t>
            </a:r>
            <a:endParaRPr lang="en-US" sz="1500" dirty="0"/>
          </a:p>
        </p:txBody>
      </p:sp>
      <p:sp>
        <p:nvSpPr>
          <p:cNvPr id="37" name="Shape 35"/>
          <p:cNvSpPr/>
          <p:nvPr/>
        </p:nvSpPr>
        <p:spPr>
          <a:xfrm>
            <a:off x="685800" y="3566160"/>
            <a:ext cx="109728" cy="109728"/>
          </a:xfrm>
          <a:prstGeom prst="ellipse">
            <a:avLst/>
          </a:prstGeom>
          <a:solidFill>
            <a:srgbClr val="D4A574"/>
          </a:solidFill>
          <a:ln/>
        </p:spPr>
      </p:sp>
      <p:sp>
        <p:nvSpPr>
          <p:cNvPr id="38" name="Shape 36"/>
          <p:cNvSpPr/>
          <p:nvPr/>
        </p:nvSpPr>
        <p:spPr>
          <a:xfrm>
            <a:off x="9607052" y="4480560"/>
            <a:ext cx="2036003" cy="868680"/>
          </a:xfrm>
          <a:prstGeom prst="rect">
            <a:avLst/>
          </a:prstGeom>
          <a:solidFill>
            <a:srgbClr val="FFFFFF"/>
          </a:solidFill>
          <a:ln w="12700">
            <a:solidFill>
              <a:srgbClr val="E8E3D6"/>
            </a:solidFill>
            <a:prstDash val="solid"/>
          </a:ln>
        </p:spPr>
      </p:sp>
      <p:sp>
        <p:nvSpPr>
          <p:cNvPr id="39" name="Text 37"/>
          <p:cNvSpPr/>
          <p:nvPr/>
        </p:nvSpPr>
        <p:spPr>
          <a:xfrm>
            <a:off x="9607052" y="4480560"/>
            <a:ext cx="2036003" cy="868680"/>
          </a:xfrm>
          <a:prstGeom prst="rect">
            <a:avLst/>
          </a:prstGeom>
          <a:noFill/>
          <a:ln/>
        </p:spPr>
        <p:txBody>
          <a:bodyPr wrap="square" rtlCol="0" anchor="ctr"/>
          <a:lstStyle/>
          <a:p>
            <a:pPr algn="ctr" indent="0" marL="0">
              <a:buNone/>
            </a:pPr>
            <a:r>
              <a:rPr lang="en-US" sz="1500" b="1" dirty="0">
                <a:solidFill>
                  <a:srgbClr val="0A1628"/>
                </a:solidFill>
                <a:latin typeface="Calibri" pitchFamily="34" charset="0"/>
                <a:ea typeface="Calibri" pitchFamily="34" charset="-122"/>
                <a:cs typeface="Calibri" pitchFamily="34" charset="-120"/>
              </a:rPr>
              <a:t>Oracle TM</a:t>
            </a:r>
            <a:endParaRPr lang="en-US" sz="1500" dirty="0"/>
          </a:p>
        </p:txBody>
      </p:sp>
      <p:sp>
        <p:nvSpPr>
          <p:cNvPr id="40" name="Shape 38"/>
          <p:cNvSpPr/>
          <p:nvPr/>
        </p:nvSpPr>
        <p:spPr>
          <a:xfrm>
            <a:off x="9744212" y="4617720"/>
            <a:ext cx="109728" cy="109728"/>
          </a:xfrm>
          <a:prstGeom prst="ellipse">
            <a:avLst/>
          </a:prstGeom>
          <a:solidFill>
            <a:srgbClr val="D4A574"/>
          </a:solidFill>
          <a:ln/>
        </p:spPr>
      </p:sp>
      <p:sp>
        <p:nvSpPr>
          <p:cNvPr id="41" name="Shape 39"/>
          <p:cNvSpPr/>
          <p:nvPr/>
        </p:nvSpPr>
        <p:spPr>
          <a:xfrm>
            <a:off x="7342449" y="4480560"/>
            <a:ext cx="2036003" cy="868680"/>
          </a:xfrm>
          <a:prstGeom prst="rect">
            <a:avLst/>
          </a:prstGeom>
          <a:solidFill>
            <a:srgbClr val="FFFFFF"/>
          </a:solidFill>
          <a:ln w="12700">
            <a:solidFill>
              <a:srgbClr val="E8E3D6"/>
            </a:solidFill>
            <a:prstDash val="solid"/>
          </a:ln>
        </p:spPr>
      </p:sp>
      <p:sp>
        <p:nvSpPr>
          <p:cNvPr id="42" name="Text 40"/>
          <p:cNvSpPr/>
          <p:nvPr/>
        </p:nvSpPr>
        <p:spPr>
          <a:xfrm>
            <a:off x="7342449" y="4480560"/>
            <a:ext cx="2036003" cy="868680"/>
          </a:xfrm>
          <a:prstGeom prst="rect">
            <a:avLst/>
          </a:prstGeom>
          <a:noFill/>
          <a:ln/>
        </p:spPr>
        <p:txBody>
          <a:bodyPr wrap="square" rtlCol="0" anchor="ctr"/>
          <a:lstStyle/>
          <a:p>
            <a:pPr algn="ctr" indent="0" marL="0">
              <a:buNone/>
            </a:pPr>
            <a:r>
              <a:rPr lang="en-US" sz="1500" b="1" dirty="0">
                <a:solidFill>
                  <a:srgbClr val="0A1628"/>
                </a:solidFill>
                <a:latin typeface="Calibri" pitchFamily="34" charset="0"/>
                <a:ea typeface="Calibri" pitchFamily="34" charset="-122"/>
                <a:cs typeface="Calibri" pitchFamily="34" charset="-120"/>
              </a:rPr>
              <a:t>Salla</a:t>
            </a:r>
            <a:endParaRPr lang="en-US" sz="1500" dirty="0"/>
          </a:p>
        </p:txBody>
      </p:sp>
      <p:sp>
        <p:nvSpPr>
          <p:cNvPr id="43" name="Shape 41"/>
          <p:cNvSpPr/>
          <p:nvPr/>
        </p:nvSpPr>
        <p:spPr>
          <a:xfrm>
            <a:off x="7479609" y="4617720"/>
            <a:ext cx="109728" cy="109728"/>
          </a:xfrm>
          <a:prstGeom prst="ellipse">
            <a:avLst/>
          </a:prstGeom>
          <a:solidFill>
            <a:srgbClr val="D4A574"/>
          </a:solidFill>
          <a:ln/>
        </p:spPr>
      </p:sp>
      <p:sp>
        <p:nvSpPr>
          <p:cNvPr id="44" name="Shape 42"/>
          <p:cNvSpPr/>
          <p:nvPr/>
        </p:nvSpPr>
        <p:spPr>
          <a:xfrm>
            <a:off x="5077846" y="4480560"/>
            <a:ext cx="2036003" cy="868680"/>
          </a:xfrm>
          <a:prstGeom prst="rect">
            <a:avLst/>
          </a:prstGeom>
          <a:solidFill>
            <a:srgbClr val="FFFFFF"/>
          </a:solidFill>
          <a:ln w="12700">
            <a:solidFill>
              <a:srgbClr val="E8E3D6"/>
            </a:solidFill>
            <a:prstDash val="solid"/>
          </a:ln>
        </p:spPr>
      </p:sp>
      <p:sp>
        <p:nvSpPr>
          <p:cNvPr id="45" name="Text 43"/>
          <p:cNvSpPr/>
          <p:nvPr/>
        </p:nvSpPr>
        <p:spPr>
          <a:xfrm>
            <a:off x="5077846" y="4480560"/>
            <a:ext cx="2036003" cy="868680"/>
          </a:xfrm>
          <a:prstGeom prst="rect">
            <a:avLst/>
          </a:prstGeom>
          <a:noFill/>
          <a:ln/>
        </p:spPr>
        <p:txBody>
          <a:bodyPr wrap="square" rtlCol="0" anchor="ctr"/>
          <a:lstStyle/>
          <a:p>
            <a:pPr algn="ctr" indent="0" marL="0">
              <a:buNone/>
            </a:pPr>
            <a:r>
              <a:rPr lang="en-US" sz="1500" b="1" dirty="0">
                <a:solidFill>
                  <a:srgbClr val="0A1628"/>
                </a:solidFill>
                <a:latin typeface="Calibri" pitchFamily="34" charset="0"/>
                <a:ea typeface="Calibri" pitchFamily="34" charset="-122"/>
                <a:cs typeface="Calibri" pitchFamily="34" charset="-120"/>
              </a:rPr>
              <a:t>Zid</a:t>
            </a:r>
            <a:endParaRPr lang="en-US" sz="1500" dirty="0"/>
          </a:p>
        </p:txBody>
      </p:sp>
      <p:sp>
        <p:nvSpPr>
          <p:cNvPr id="46" name="Shape 44"/>
          <p:cNvSpPr/>
          <p:nvPr/>
        </p:nvSpPr>
        <p:spPr>
          <a:xfrm>
            <a:off x="5215006" y="4617720"/>
            <a:ext cx="109728" cy="109728"/>
          </a:xfrm>
          <a:prstGeom prst="ellipse">
            <a:avLst/>
          </a:prstGeom>
          <a:solidFill>
            <a:srgbClr val="D4A574"/>
          </a:solidFill>
          <a:ln/>
        </p:spPr>
      </p:sp>
      <p:sp>
        <p:nvSpPr>
          <p:cNvPr id="47" name="Shape 45"/>
          <p:cNvSpPr/>
          <p:nvPr/>
        </p:nvSpPr>
        <p:spPr>
          <a:xfrm>
            <a:off x="2813243" y="4480560"/>
            <a:ext cx="2036003" cy="868680"/>
          </a:xfrm>
          <a:prstGeom prst="rect">
            <a:avLst/>
          </a:prstGeom>
          <a:solidFill>
            <a:srgbClr val="FFFFFF"/>
          </a:solidFill>
          <a:ln w="12700">
            <a:solidFill>
              <a:srgbClr val="E8E3D6"/>
            </a:solidFill>
            <a:prstDash val="solid"/>
          </a:ln>
        </p:spPr>
      </p:sp>
      <p:sp>
        <p:nvSpPr>
          <p:cNvPr id="48" name="Text 46"/>
          <p:cNvSpPr/>
          <p:nvPr/>
        </p:nvSpPr>
        <p:spPr>
          <a:xfrm>
            <a:off x="2813243" y="4480560"/>
            <a:ext cx="2036003" cy="868680"/>
          </a:xfrm>
          <a:prstGeom prst="rect">
            <a:avLst/>
          </a:prstGeom>
          <a:noFill/>
          <a:ln/>
        </p:spPr>
        <p:txBody>
          <a:bodyPr wrap="square" rtlCol="0" anchor="ctr"/>
          <a:lstStyle/>
          <a:p>
            <a:pPr algn="ctr" indent="0" marL="0">
              <a:buNone/>
            </a:pPr>
            <a:r>
              <a:rPr lang="en-US" sz="1500" b="1" dirty="0">
                <a:solidFill>
                  <a:srgbClr val="0A1628"/>
                </a:solidFill>
                <a:latin typeface="Calibri" pitchFamily="34" charset="0"/>
                <a:ea typeface="Calibri" pitchFamily="34" charset="-122"/>
                <a:cs typeface="Calibri" pitchFamily="34" charset="-120"/>
              </a:rPr>
              <a:t>Foodics</a:t>
            </a:r>
            <a:endParaRPr lang="en-US" sz="1500" dirty="0"/>
          </a:p>
        </p:txBody>
      </p:sp>
      <p:sp>
        <p:nvSpPr>
          <p:cNvPr id="49" name="Shape 47"/>
          <p:cNvSpPr/>
          <p:nvPr/>
        </p:nvSpPr>
        <p:spPr>
          <a:xfrm>
            <a:off x="2950403" y="4617720"/>
            <a:ext cx="109728" cy="109728"/>
          </a:xfrm>
          <a:prstGeom prst="ellipse">
            <a:avLst/>
          </a:prstGeom>
          <a:solidFill>
            <a:srgbClr val="D4A574"/>
          </a:solidFill>
          <a:ln/>
        </p:spPr>
      </p:sp>
      <p:sp>
        <p:nvSpPr>
          <p:cNvPr id="50" name="Shape 48"/>
          <p:cNvSpPr/>
          <p:nvPr/>
        </p:nvSpPr>
        <p:spPr>
          <a:xfrm>
            <a:off x="548640" y="4480560"/>
            <a:ext cx="2036003" cy="868680"/>
          </a:xfrm>
          <a:prstGeom prst="rect">
            <a:avLst/>
          </a:prstGeom>
          <a:solidFill>
            <a:srgbClr val="FFFFFF"/>
          </a:solidFill>
          <a:ln w="12700">
            <a:solidFill>
              <a:srgbClr val="E8E3D6"/>
            </a:solidFill>
            <a:prstDash val="solid"/>
          </a:ln>
        </p:spPr>
      </p:sp>
      <p:sp>
        <p:nvSpPr>
          <p:cNvPr id="51" name="Text 49"/>
          <p:cNvSpPr/>
          <p:nvPr/>
        </p:nvSpPr>
        <p:spPr>
          <a:xfrm>
            <a:off x="548640" y="4480560"/>
            <a:ext cx="2036003" cy="868680"/>
          </a:xfrm>
          <a:prstGeom prst="rect">
            <a:avLst/>
          </a:prstGeom>
          <a:noFill/>
          <a:ln/>
        </p:spPr>
        <p:txBody>
          <a:bodyPr wrap="square" rtlCol="0" anchor="ctr"/>
          <a:lstStyle/>
          <a:p>
            <a:pPr algn="ctr" indent="0" marL="0">
              <a:buNone/>
            </a:pPr>
            <a:r>
              <a:rPr lang="en-US" sz="1500" b="1" dirty="0">
                <a:solidFill>
                  <a:srgbClr val="0A1628"/>
                </a:solidFill>
                <a:latin typeface="Calibri" pitchFamily="34" charset="0"/>
                <a:ea typeface="Calibri" pitchFamily="34" charset="-122"/>
                <a:cs typeface="Calibri" pitchFamily="34" charset="-120"/>
              </a:rPr>
              <a:t>Stripe</a:t>
            </a:r>
            <a:endParaRPr lang="en-US" sz="1500" dirty="0"/>
          </a:p>
        </p:txBody>
      </p:sp>
      <p:sp>
        <p:nvSpPr>
          <p:cNvPr id="52" name="Shape 50"/>
          <p:cNvSpPr/>
          <p:nvPr/>
        </p:nvSpPr>
        <p:spPr>
          <a:xfrm>
            <a:off x="685800" y="4617720"/>
            <a:ext cx="109728" cy="109728"/>
          </a:xfrm>
          <a:prstGeom prst="ellipse">
            <a:avLst/>
          </a:prstGeom>
          <a:solidFill>
            <a:srgbClr val="D4A574"/>
          </a:solidFill>
          <a:ln/>
        </p:spPr>
      </p:sp>
      <p:sp>
        <p:nvSpPr>
          <p:cNvPr id="53" name="Text 51"/>
          <p:cNvSpPr/>
          <p:nvPr/>
        </p:nvSpPr>
        <p:spPr>
          <a:xfrm>
            <a:off x="548640" y="5852160"/>
            <a:ext cx="11094415" cy="365760"/>
          </a:xfrm>
          <a:prstGeom prst="rect">
            <a:avLst/>
          </a:prstGeom>
          <a:noFill/>
          <a:ln/>
        </p:spPr>
        <p:txBody>
          <a:bodyPr wrap="square" rtlCol="0" anchor="ctr"/>
          <a:lstStyle/>
          <a:p>
            <a:pPr rtl="1" algn="r" indent="0" marL="0">
              <a:buNone/>
            </a:pPr>
            <a:r>
              <a:rPr lang="en-US" sz="1300" i="1" dirty="0">
                <a:solidFill>
                  <a:srgbClr val="1A1A1A"/>
                </a:solidFill>
                <a:latin typeface="Georgia" pitchFamily="34" charset="0"/>
                <a:ea typeface="Georgia" pitchFamily="34" charset="-122"/>
                <a:cs typeface="Georgia" pitchFamily="34" charset="-120"/>
              </a:rPr>
              <a:t>قنوات · أنظمة CRM و ERP · متاجر إلكترونية و دفع — أكثر من 30 تكاملاً جاهزاً</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11734495" y="320040"/>
            <a:ext cx="73152" cy="411480"/>
          </a:xfrm>
          <a:prstGeom prst="rect">
            <a:avLst/>
          </a:prstGeom>
          <a:solidFill>
            <a:srgbClr val="D4A574"/>
          </a:solidFill>
          <a:ln/>
        </p:spPr>
      </p:sp>
      <p:sp>
        <p:nvSpPr>
          <p:cNvPr id="3" name="Text 1"/>
          <p:cNvSpPr/>
          <p:nvPr/>
        </p:nvSpPr>
        <p:spPr>
          <a:xfrm>
            <a:off x="8076895" y="274320"/>
            <a:ext cx="3566160" cy="365760"/>
          </a:xfrm>
          <a:prstGeom prst="rect">
            <a:avLst/>
          </a:prstGeom>
          <a:noFill/>
          <a:ln/>
        </p:spPr>
        <p:txBody>
          <a:bodyPr wrap="square" rtlCol="0" anchor="ctr"/>
          <a:lstStyle/>
          <a:p>
            <a:pPr rtl="1" algn="r" indent="0" marL="0">
              <a:buNone/>
            </a:pPr>
            <a:r>
              <a:rPr lang="en-US" sz="1200" b="1" dirty="0">
                <a:solidFill>
                  <a:srgbClr val="D4A574"/>
                </a:solidFill>
                <a:latin typeface="Calibri" pitchFamily="34" charset="0"/>
                <a:ea typeface="Calibri" pitchFamily="34" charset="-122"/>
                <a:cs typeface="Calibri" pitchFamily="34" charset="-120"/>
              </a:rPr>
              <a:t>خاص بشركتكم</a:t>
            </a:r>
            <a:endParaRPr lang="en-US" sz="1200" dirty="0"/>
          </a:p>
        </p:txBody>
      </p:sp>
      <p:sp>
        <p:nvSpPr>
          <p:cNvPr id="4" name="Text 2"/>
          <p:cNvSpPr/>
          <p:nvPr/>
        </p:nvSpPr>
        <p:spPr>
          <a:xfrm>
            <a:off x="457200" y="6446520"/>
            <a:ext cx="2286000" cy="274320"/>
          </a:xfrm>
          <a:prstGeom prst="rect">
            <a:avLst/>
          </a:prstGeom>
          <a:noFill/>
          <a:ln/>
        </p:spPr>
        <p:txBody>
          <a:bodyPr wrap="square" rtlCol="0" anchor="ctr"/>
          <a:lstStyle/>
          <a:p>
            <a:pPr algn="l" indent="0" marL="0">
              <a:buNone/>
            </a:pPr>
            <a:r>
              <a:rPr lang="en-US" sz="900" dirty="0">
                <a:solidFill>
                  <a:srgbClr val="B9C2CD"/>
                </a:solidFill>
                <a:latin typeface="Calibri" pitchFamily="34" charset="0"/>
                <a:ea typeface="Calibri" pitchFamily="34" charset="-122"/>
                <a:cs typeface="Calibri" pitchFamily="34" charset="-120"/>
              </a:rPr>
              <a:t>Dealix · ديلكس</a:t>
            </a:r>
            <a:endParaRPr lang="en-US" sz="900" dirty="0"/>
          </a:p>
        </p:txBody>
      </p:sp>
      <p:sp>
        <p:nvSpPr>
          <p:cNvPr id="5" name="Text 3"/>
          <p:cNvSpPr/>
          <p:nvPr/>
        </p:nvSpPr>
        <p:spPr>
          <a:xfrm>
            <a:off x="11094415" y="6446520"/>
            <a:ext cx="640080" cy="274320"/>
          </a:xfrm>
          <a:prstGeom prst="rect">
            <a:avLst/>
          </a:prstGeom>
          <a:noFill/>
          <a:ln/>
        </p:spPr>
        <p:txBody>
          <a:bodyPr wrap="square" rtlCol="0" anchor="ctr"/>
          <a:lstStyle/>
          <a:p>
            <a:pPr algn="r" indent="0" marL="0">
              <a:buNone/>
            </a:pPr>
            <a:r>
              <a:rPr lang="en-US" sz="900" b="1" dirty="0">
                <a:solidFill>
                  <a:srgbClr val="B9C2CD"/>
                </a:solidFill>
                <a:latin typeface="Calibri" pitchFamily="34" charset="0"/>
                <a:ea typeface="Calibri" pitchFamily="34" charset="-122"/>
                <a:cs typeface="Calibri" pitchFamily="34" charset="-120"/>
              </a:rPr>
              <a:t>19</a:t>
            </a:r>
            <a:endParaRPr lang="en-US" sz="900" dirty="0"/>
          </a:p>
        </p:txBody>
      </p:sp>
      <p:sp>
        <p:nvSpPr>
          <p:cNvPr id="6" name="Text 4"/>
          <p:cNvSpPr/>
          <p:nvPr/>
        </p:nvSpPr>
        <p:spPr>
          <a:xfrm>
            <a:off x="548640" y="914400"/>
            <a:ext cx="11094415" cy="822960"/>
          </a:xfrm>
          <a:prstGeom prst="rect">
            <a:avLst/>
          </a:prstGeom>
          <a:noFill/>
          <a:ln/>
        </p:spPr>
        <p:txBody>
          <a:bodyPr wrap="square" rtlCol="0" anchor="ctr"/>
          <a:lstStyle/>
          <a:p>
            <a:pPr rtl="1" algn="r" indent="0" marL="0">
              <a:buNone/>
            </a:pPr>
            <a:r>
              <a:rPr lang="en-US" sz="3400" b="1" dirty="0">
                <a:solidFill>
                  <a:srgbClr val="F5F5F5"/>
                </a:solidFill>
                <a:latin typeface="Calibri" pitchFamily="34" charset="0"/>
                <a:ea typeface="Calibri" pitchFamily="34" charset="-122"/>
                <a:cs typeface="Calibri" pitchFamily="34" charset="-120"/>
              </a:rPr>
              <a:t>كيف يخدم ديلكس شركة لوجستيات بحجمكم</a:t>
            </a:r>
            <a:endParaRPr lang="en-US" sz="3400" dirty="0"/>
          </a:p>
        </p:txBody>
      </p:sp>
      <p:sp>
        <p:nvSpPr>
          <p:cNvPr id="7" name="Text 5"/>
          <p:cNvSpPr/>
          <p:nvPr/>
        </p:nvSpPr>
        <p:spPr>
          <a:xfrm>
            <a:off x="548640" y="1691640"/>
            <a:ext cx="11094415" cy="411480"/>
          </a:xfrm>
          <a:prstGeom prst="rect">
            <a:avLst/>
          </a:prstGeom>
          <a:noFill/>
          <a:ln/>
        </p:spPr>
        <p:txBody>
          <a:bodyPr wrap="square" rtlCol="0" anchor="ctr"/>
          <a:lstStyle/>
          <a:p>
            <a:pPr rtl="1" algn="r" indent="0" marL="0">
              <a:buNone/>
            </a:pPr>
            <a:r>
              <a:rPr lang="en-US" sz="1500" dirty="0">
                <a:solidFill>
                  <a:srgbClr val="B9C2CD"/>
                </a:solidFill>
                <a:latin typeface="Calibri" pitchFamily="34" charset="0"/>
                <a:ea typeface="Calibri" pitchFamily="34" charset="-122"/>
                <a:cs typeface="Calibri" pitchFamily="34" charset="-120"/>
              </a:rPr>
              <a:t>انتقال من المنتج العام إلى خصوصيتكم — خمسة سيناريوهات مصمّمة لواقعكم اليومي</a:t>
            </a:r>
            <a:endParaRPr lang="en-US" sz="1500" dirty="0"/>
          </a:p>
        </p:txBody>
      </p:sp>
      <p:sp>
        <p:nvSpPr>
          <p:cNvPr id="8" name="Shape 6"/>
          <p:cNvSpPr/>
          <p:nvPr/>
        </p:nvSpPr>
        <p:spPr>
          <a:xfrm>
            <a:off x="548640" y="2468880"/>
            <a:ext cx="11094415" cy="1554480"/>
          </a:xfrm>
          <a:prstGeom prst="rect">
            <a:avLst/>
          </a:prstGeom>
          <a:solidFill>
            <a:srgbClr val="13233F"/>
          </a:solidFill>
          <a:ln w="12700">
            <a:solidFill>
              <a:srgbClr val="D4A574"/>
            </a:solidFill>
            <a:prstDash val="solid"/>
          </a:ln>
        </p:spPr>
      </p:sp>
      <p:sp>
        <p:nvSpPr>
          <p:cNvPr id="9" name="Text 7"/>
          <p:cNvSpPr/>
          <p:nvPr/>
        </p:nvSpPr>
        <p:spPr>
          <a:xfrm>
            <a:off x="822960" y="2606040"/>
            <a:ext cx="10545775" cy="548640"/>
          </a:xfrm>
          <a:prstGeom prst="rect">
            <a:avLst/>
          </a:prstGeom>
          <a:noFill/>
          <a:ln/>
        </p:spPr>
        <p:txBody>
          <a:bodyPr wrap="square" rtlCol="0" anchor="ctr"/>
          <a:lstStyle/>
          <a:p>
            <a:pPr rtl="1" algn="r" indent="0" marL="0">
              <a:buNone/>
            </a:pPr>
            <a:r>
              <a:rPr lang="en-US" sz="2000" b="1" i="1" dirty="0">
                <a:solidFill>
                  <a:srgbClr val="D4A574"/>
                </a:solidFill>
                <a:latin typeface="Georgia" pitchFamily="34" charset="0"/>
                <a:ea typeface="Georgia" pitchFamily="34" charset="-122"/>
                <a:cs typeface="Georgia" pitchFamily="34" charset="-120"/>
              </a:rPr>
              <a:t>"ديلكس ليس منصة للشركات الناشئة — هو بنية تحتية للمؤسسات"</a:t>
            </a:r>
            <a:endParaRPr lang="en-US" sz="2000" dirty="0"/>
          </a:p>
        </p:txBody>
      </p:sp>
      <p:sp>
        <p:nvSpPr>
          <p:cNvPr id="10" name="Text 8"/>
          <p:cNvSpPr/>
          <p:nvPr/>
        </p:nvSpPr>
        <p:spPr>
          <a:xfrm>
            <a:off x="822960" y="3200400"/>
            <a:ext cx="10545775" cy="777240"/>
          </a:xfrm>
          <a:prstGeom prst="rect">
            <a:avLst/>
          </a:prstGeom>
          <a:noFill/>
          <a:ln/>
        </p:spPr>
        <p:txBody>
          <a:bodyPr wrap="square" rtlCol="0" anchor="ctr"/>
          <a:lstStyle/>
          <a:p>
            <a:pPr rtl="1" algn="r" indent="0" marL="0">
              <a:buNone/>
            </a:pPr>
            <a:r>
              <a:rPr lang="en-US" sz="1400" dirty="0">
                <a:solidFill>
                  <a:srgbClr val="F5F5F5"/>
                </a:solidFill>
                <a:latin typeface="Calibri" pitchFamily="34" charset="0"/>
                <a:ea typeface="Calibri" pitchFamily="34" charset="-122"/>
                <a:cs typeface="Calibri" pitchFamily="34" charset="-120"/>
              </a:rPr>
              <a:t>معمارية متعددة المستأجرين · عقود SLA من الدرجة الأولى · فريق نجاح مخصّص · تكامل عميق مع أنظمتكم الحالية. ديلكس يعمل بمنطق أن شركة بحجمكم تتعامل مع + 10,000 فرصة سنوياً، وأي احتكاك 1% = خسارة بالملايين.</a:t>
            </a:r>
            <a:endParaRPr lang="en-US" sz="1400" dirty="0"/>
          </a:p>
        </p:txBody>
      </p:sp>
      <p:sp>
        <p:nvSpPr>
          <p:cNvPr id="11" name="Shape 9"/>
          <p:cNvSpPr/>
          <p:nvPr/>
        </p:nvSpPr>
        <p:spPr>
          <a:xfrm>
            <a:off x="9570476" y="4480560"/>
            <a:ext cx="2072579" cy="1371600"/>
          </a:xfrm>
          <a:prstGeom prst="rect">
            <a:avLst/>
          </a:prstGeom>
          <a:solidFill>
            <a:srgbClr val="060E1A"/>
          </a:solidFill>
          <a:ln w="6350">
            <a:solidFill>
              <a:srgbClr val="D4A574"/>
            </a:solidFill>
            <a:prstDash val="solid"/>
          </a:ln>
        </p:spPr>
      </p:sp>
      <p:sp>
        <p:nvSpPr>
          <p:cNvPr id="12" name="Text 10"/>
          <p:cNvSpPr/>
          <p:nvPr/>
        </p:nvSpPr>
        <p:spPr>
          <a:xfrm>
            <a:off x="9570476" y="4663440"/>
            <a:ext cx="2072579" cy="457200"/>
          </a:xfrm>
          <a:prstGeom prst="rect">
            <a:avLst/>
          </a:prstGeom>
          <a:noFill/>
          <a:ln/>
        </p:spPr>
        <p:txBody>
          <a:bodyPr wrap="square" rtlCol="0" anchor="ctr"/>
          <a:lstStyle/>
          <a:p>
            <a:pPr algn="ctr" indent="0" marL="0">
              <a:buNone/>
            </a:pPr>
            <a:r>
              <a:rPr lang="en-US" sz="2800" b="1" dirty="0">
                <a:solidFill>
                  <a:srgbClr val="D4A574"/>
                </a:solidFill>
                <a:latin typeface="Calibri" pitchFamily="34" charset="0"/>
                <a:ea typeface="Calibri" pitchFamily="34" charset="-122"/>
                <a:cs typeface="Calibri" pitchFamily="34" charset="-120"/>
              </a:rPr>
              <a:t>1</a:t>
            </a:r>
            <a:endParaRPr lang="en-US" sz="2800" dirty="0"/>
          </a:p>
        </p:txBody>
      </p:sp>
      <p:sp>
        <p:nvSpPr>
          <p:cNvPr id="13" name="Shape 11"/>
          <p:cNvSpPr/>
          <p:nvPr/>
        </p:nvSpPr>
        <p:spPr>
          <a:xfrm>
            <a:off x="10378166" y="5212080"/>
            <a:ext cx="457200" cy="18288"/>
          </a:xfrm>
          <a:prstGeom prst="rect">
            <a:avLst/>
          </a:prstGeom>
          <a:solidFill>
            <a:srgbClr val="D4A574"/>
          </a:solidFill>
          <a:ln/>
        </p:spPr>
      </p:sp>
      <p:sp>
        <p:nvSpPr>
          <p:cNvPr id="14" name="Text 12"/>
          <p:cNvSpPr/>
          <p:nvPr/>
        </p:nvSpPr>
        <p:spPr>
          <a:xfrm>
            <a:off x="9661916" y="5303520"/>
            <a:ext cx="1889699" cy="502920"/>
          </a:xfrm>
          <a:prstGeom prst="rect">
            <a:avLst/>
          </a:prstGeom>
          <a:noFill/>
          <a:ln/>
        </p:spPr>
        <p:txBody>
          <a:bodyPr wrap="square" rtlCol="0" anchor="t"/>
          <a:lstStyle/>
          <a:p>
            <a:pPr rtl="1" algn="ctr" indent="0" marL="0">
              <a:buNone/>
            </a:pPr>
            <a:r>
              <a:rPr lang="en-US" sz="1100" dirty="0">
                <a:solidFill>
                  <a:srgbClr val="F5F5F5"/>
                </a:solidFill>
                <a:latin typeface="Calibri" pitchFamily="34" charset="0"/>
                <a:ea typeface="Calibri" pitchFamily="34" charset="-122"/>
                <a:cs typeface="Calibri" pitchFamily="34" charset="-120"/>
              </a:rPr>
              <a:t>أتمتة التندرات والـ RFP</a:t>
            </a:r>
            <a:endParaRPr lang="en-US" sz="1100" dirty="0"/>
          </a:p>
        </p:txBody>
      </p:sp>
      <p:sp>
        <p:nvSpPr>
          <p:cNvPr id="15" name="Shape 13"/>
          <p:cNvSpPr/>
          <p:nvPr/>
        </p:nvSpPr>
        <p:spPr>
          <a:xfrm>
            <a:off x="7315017" y="4480560"/>
            <a:ext cx="2072579" cy="1371600"/>
          </a:xfrm>
          <a:prstGeom prst="rect">
            <a:avLst/>
          </a:prstGeom>
          <a:solidFill>
            <a:srgbClr val="060E1A"/>
          </a:solidFill>
          <a:ln w="6350">
            <a:solidFill>
              <a:srgbClr val="D4A574"/>
            </a:solidFill>
            <a:prstDash val="solid"/>
          </a:ln>
        </p:spPr>
      </p:sp>
      <p:sp>
        <p:nvSpPr>
          <p:cNvPr id="16" name="Text 14"/>
          <p:cNvSpPr/>
          <p:nvPr/>
        </p:nvSpPr>
        <p:spPr>
          <a:xfrm>
            <a:off x="7315017" y="4663440"/>
            <a:ext cx="2072579" cy="457200"/>
          </a:xfrm>
          <a:prstGeom prst="rect">
            <a:avLst/>
          </a:prstGeom>
          <a:noFill/>
          <a:ln/>
        </p:spPr>
        <p:txBody>
          <a:bodyPr wrap="square" rtlCol="0" anchor="ctr"/>
          <a:lstStyle/>
          <a:p>
            <a:pPr algn="ctr" indent="0" marL="0">
              <a:buNone/>
            </a:pPr>
            <a:r>
              <a:rPr lang="en-US" sz="2800" b="1" dirty="0">
                <a:solidFill>
                  <a:srgbClr val="D4A574"/>
                </a:solidFill>
                <a:latin typeface="Calibri" pitchFamily="34" charset="0"/>
                <a:ea typeface="Calibri" pitchFamily="34" charset="-122"/>
                <a:cs typeface="Calibri" pitchFamily="34" charset="-120"/>
              </a:rPr>
              <a:t>2</a:t>
            </a:r>
            <a:endParaRPr lang="en-US" sz="2800" dirty="0"/>
          </a:p>
        </p:txBody>
      </p:sp>
      <p:sp>
        <p:nvSpPr>
          <p:cNvPr id="17" name="Shape 15"/>
          <p:cNvSpPr/>
          <p:nvPr/>
        </p:nvSpPr>
        <p:spPr>
          <a:xfrm>
            <a:off x="8122707" y="5212080"/>
            <a:ext cx="457200" cy="18288"/>
          </a:xfrm>
          <a:prstGeom prst="rect">
            <a:avLst/>
          </a:prstGeom>
          <a:solidFill>
            <a:srgbClr val="D4A574"/>
          </a:solidFill>
          <a:ln/>
        </p:spPr>
      </p:sp>
      <p:sp>
        <p:nvSpPr>
          <p:cNvPr id="18" name="Text 16"/>
          <p:cNvSpPr/>
          <p:nvPr/>
        </p:nvSpPr>
        <p:spPr>
          <a:xfrm>
            <a:off x="7406457" y="5303520"/>
            <a:ext cx="1889699" cy="502920"/>
          </a:xfrm>
          <a:prstGeom prst="rect">
            <a:avLst/>
          </a:prstGeom>
          <a:noFill/>
          <a:ln/>
        </p:spPr>
        <p:txBody>
          <a:bodyPr wrap="square" rtlCol="0" anchor="t"/>
          <a:lstStyle/>
          <a:p>
            <a:pPr rtl="1" algn="ctr" indent="0" marL="0">
              <a:buNone/>
            </a:pPr>
            <a:r>
              <a:rPr lang="en-US" sz="1100" dirty="0">
                <a:solidFill>
                  <a:srgbClr val="F5F5F5"/>
                </a:solidFill>
                <a:latin typeface="Calibri" pitchFamily="34" charset="0"/>
                <a:ea typeface="Calibri" pitchFamily="34" charset="-122"/>
                <a:cs typeface="Calibri" pitchFamily="34" charset="-120"/>
              </a:rPr>
              <a:t>توزيع طلبات الشحن الفورية</a:t>
            </a:r>
            <a:endParaRPr lang="en-US" sz="1100" dirty="0"/>
          </a:p>
        </p:txBody>
      </p:sp>
      <p:sp>
        <p:nvSpPr>
          <p:cNvPr id="19" name="Shape 17"/>
          <p:cNvSpPr/>
          <p:nvPr/>
        </p:nvSpPr>
        <p:spPr>
          <a:xfrm>
            <a:off x="5059558" y="4480560"/>
            <a:ext cx="2072579" cy="1371600"/>
          </a:xfrm>
          <a:prstGeom prst="rect">
            <a:avLst/>
          </a:prstGeom>
          <a:solidFill>
            <a:srgbClr val="060E1A"/>
          </a:solidFill>
          <a:ln w="6350">
            <a:solidFill>
              <a:srgbClr val="D4A574"/>
            </a:solidFill>
            <a:prstDash val="solid"/>
          </a:ln>
        </p:spPr>
      </p:sp>
      <p:sp>
        <p:nvSpPr>
          <p:cNvPr id="20" name="Text 18"/>
          <p:cNvSpPr/>
          <p:nvPr/>
        </p:nvSpPr>
        <p:spPr>
          <a:xfrm>
            <a:off x="5059558" y="4663440"/>
            <a:ext cx="2072579" cy="457200"/>
          </a:xfrm>
          <a:prstGeom prst="rect">
            <a:avLst/>
          </a:prstGeom>
          <a:noFill/>
          <a:ln/>
        </p:spPr>
        <p:txBody>
          <a:bodyPr wrap="square" rtlCol="0" anchor="ctr"/>
          <a:lstStyle/>
          <a:p>
            <a:pPr algn="ctr" indent="0" marL="0">
              <a:buNone/>
            </a:pPr>
            <a:r>
              <a:rPr lang="en-US" sz="2800" b="1" dirty="0">
                <a:solidFill>
                  <a:srgbClr val="D4A574"/>
                </a:solidFill>
                <a:latin typeface="Calibri" pitchFamily="34" charset="0"/>
                <a:ea typeface="Calibri" pitchFamily="34" charset="-122"/>
                <a:cs typeface="Calibri" pitchFamily="34" charset="-120"/>
              </a:rPr>
              <a:t>3</a:t>
            </a:r>
            <a:endParaRPr lang="en-US" sz="2800" dirty="0"/>
          </a:p>
        </p:txBody>
      </p:sp>
      <p:sp>
        <p:nvSpPr>
          <p:cNvPr id="21" name="Shape 19"/>
          <p:cNvSpPr/>
          <p:nvPr/>
        </p:nvSpPr>
        <p:spPr>
          <a:xfrm>
            <a:off x="5867248" y="5212080"/>
            <a:ext cx="457200" cy="18288"/>
          </a:xfrm>
          <a:prstGeom prst="rect">
            <a:avLst/>
          </a:prstGeom>
          <a:solidFill>
            <a:srgbClr val="D4A574"/>
          </a:solidFill>
          <a:ln/>
        </p:spPr>
      </p:sp>
      <p:sp>
        <p:nvSpPr>
          <p:cNvPr id="22" name="Text 20"/>
          <p:cNvSpPr/>
          <p:nvPr/>
        </p:nvSpPr>
        <p:spPr>
          <a:xfrm>
            <a:off x="5150998" y="5303520"/>
            <a:ext cx="1889699" cy="502920"/>
          </a:xfrm>
          <a:prstGeom prst="rect">
            <a:avLst/>
          </a:prstGeom>
          <a:noFill/>
          <a:ln/>
        </p:spPr>
        <p:txBody>
          <a:bodyPr wrap="square" rtlCol="0" anchor="t"/>
          <a:lstStyle/>
          <a:p>
            <a:pPr rtl="1" algn="ctr" indent="0" marL="0">
              <a:buNone/>
            </a:pPr>
            <a:r>
              <a:rPr lang="en-US" sz="1100" dirty="0">
                <a:solidFill>
                  <a:srgbClr val="F5F5F5"/>
                </a:solidFill>
                <a:latin typeface="Calibri" pitchFamily="34" charset="0"/>
                <a:ea typeface="Calibri" pitchFamily="34" charset="-122"/>
                <a:cs typeface="Calibri" pitchFamily="34" charset="-120"/>
              </a:rPr>
              <a:t>إدارة الحسابات الرئيسية الخليجية</a:t>
            </a:r>
            <a:endParaRPr lang="en-US" sz="1100" dirty="0"/>
          </a:p>
        </p:txBody>
      </p:sp>
      <p:sp>
        <p:nvSpPr>
          <p:cNvPr id="23" name="Shape 21"/>
          <p:cNvSpPr/>
          <p:nvPr/>
        </p:nvSpPr>
        <p:spPr>
          <a:xfrm>
            <a:off x="2804099" y="4480560"/>
            <a:ext cx="2072579" cy="1371600"/>
          </a:xfrm>
          <a:prstGeom prst="rect">
            <a:avLst/>
          </a:prstGeom>
          <a:solidFill>
            <a:srgbClr val="060E1A"/>
          </a:solidFill>
          <a:ln w="6350">
            <a:solidFill>
              <a:srgbClr val="D4A574"/>
            </a:solidFill>
            <a:prstDash val="solid"/>
          </a:ln>
        </p:spPr>
      </p:sp>
      <p:sp>
        <p:nvSpPr>
          <p:cNvPr id="24" name="Text 22"/>
          <p:cNvSpPr/>
          <p:nvPr/>
        </p:nvSpPr>
        <p:spPr>
          <a:xfrm>
            <a:off x="2804099" y="4663440"/>
            <a:ext cx="2072579" cy="457200"/>
          </a:xfrm>
          <a:prstGeom prst="rect">
            <a:avLst/>
          </a:prstGeom>
          <a:noFill/>
          <a:ln/>
        </p:spPr>
        <p:txBody>
          <a:bodyPr wrap="square" rtlCol="0" anchor="ctr"/>
          <a:lstStyle/>
          <a:p>
            <a:pPr algn="ctr" indent="0" marL="0">
              <a:buNone/>
            </a:pPr>
            <a:r>
              <a:rPr lang="en-US" sz="2800" b="1" dirty="0">
                <a:solidFill>
                  <a:srgbClr val="D4A574"/>
                </a:solidFill>
                <a:latin typeface="Calibri" pitchFamily="34" charset="0"/>
                <a:ea typeface="Calibri" pitchFamily="34" charset="-122"/>
                <a:cs typeface="Calibri" pitchFamily="34" charset="-120"/>
              </a:rPr>
              <a:t>4</a:t>
            </a:r>
            <a:endParaRPr lang="en-US" sz="2800" dirty="0"/>
          </a:p>
        </p:txBody>
      </p:sp>
      <p:sp>
        <p:nvSpPr>
          <p:cNvPr id="25" name="Shape 23"/>
          <p:cNvSpPr/>
          <p:nvPr/>
        </p:nvSpPr>
        <p:spPr>
          <a:xfrm>
            <a:off x="3611789" y="5212080"/>
            <a:ext cx="457200" cy="18288"/>
          </a:xfrm>
          <a:prstGeom prst="rect">
            <a:avLst/>
          </a:prstGeom>
          <a:solidFill>
            <a:srgbClr val="D4A574"/>
          </a:solidFill>
          <a:ln/>
        </p:spPr>
      </p:sp>
      <p:sp>
        <p:nvSpPr>
          <p:cNvPr id="26" name="Text 24"/>
          <p:cNvSpPr/>
          <p:nvPr/>
        </p:nvSpPr>
        <p:spPr>
          <a:xfrm>
            <a:off x="2895539" y="5303520"/>
            <a:ext cx="1889699" cy="502920"/>
          </a:xfrm>
          <a:prstGeom prst="rect">
            <a:avLst/>
          </a:prstGeom>
          <a:noFill/>
          <a:ln/>
        </p:spPr>
        <p:txBody>
          <a:bodyPr wrap="square" rtlCol="0" anchor="t"/>
          <a:lstStyle/>
          <a:p>
            <a:pPr rtl="1" algn="ctr" indent="0" marL="0">
              <a:buNone/>
            </a:pPr>
            <a:r>
              <a:rPr lang="en-US" sz="1100" dirty="0">
                <a:solidFill>
                  <a:srgbClr val="F5F5F5"/>
                </a:solidFill>
                <a:latin typeface="Calibri" pitchFamily="34" charset="0"/>
                <a:ea typeface="Calibri" pitchFamily="34" charset="-122"/>
                <a:cs typeface="Calibri" pitchFamily="34" charset="-120"/>
              </a:rPr>
              <a:t>خدمات السلسلة الباردة المتخصصة</a:t>
            </a:r>
            <a:endParaRPr lang="en-US" sz="1100" dirty="0"/>
          </a:p>
        </p:txBody>
      </p:sp>
      <p:sp>
        <p:nvSpPr>
          <p:cNvPr id="27" name="Shape 25"/>
          <p:cNvSpPr/>
          <p:nvPr/>
        </p:nvSpPr>
        <p:spPr>
          <a:xfrm>
            <a:off x="548640" y="4480560"/>
            <a:ext cx="2072579" cy="1371600"/>
          </a:xfrm>
          <a:prstGeom prst="rect">
            <a:avLst/>
          </a:prstGeom>
          <a:solidFill>
            <a:srgbClr val="060E1A"/>
          </a:solidFill>
          <a:ln w="6350">
            <a:solidFill>
              <a:srgbClr val="D4A574"/>
            </a:solidFill>
            <a:prstDash val="solid"/>
          </a:ln>
        </p:spPr>
      </p:sp>
      <p:sp>
        <p:nvSpPr>
          <p:cNvPr id="28" name="Text 26"/>
          <p:cNvSpPr/>
          <p:nvPr/>
        </p:nvSpPr>
        <p:spPr>
          <a:xfrm>
            <a:off x="548640" y="4663440"/>
            <a:ext cx="2072579" cy="457200"/>
          </a:xfrm>
          <a:prstGeom prst="rect">
            <a:avLst/>
          </a:prstGeom>
          <a:noFill/>
          <a:ln/>
        </p:spPr>
        <p:txBody>
          <a:bodyPr wrap="square" rtlCol="0" anchor="ctr"/>
          <a:lstStyle/>
          <a:p>
            <a:pPr algn="ctr" indent="0" marL="0">
              <a:buNone/>
            </a:pPr>
            <a:r>
              <a:rPr lang="en-US" sz="2800" b="1" dirty="0">
                <a:solidFill>
                  <a:srgbClr val="D4A574"/>
                </a:solidFill>
                <a:latin typeface="Calibri" pitchFamily="34" charset="0"/>
                <a:ea typeface="Calibri" pitchFamily="34" charset="-122"/>
                <a:cs typeface="Calibri" pitchFamily="34" charset="-120"/>
              </a:rPr>
              <a:t>5</a:t>
            </a:r>
            <a:endParaRPr lang="en-US" sz="2800" dirty="0"/>
          </a:p>
        </p:txBody>
      </p:sp>
      <p:sp>
        <p:nvSpPr>
          <p:cNvPr id="29" name="Shape 27"/>
          <p:cNvSpPr/>
          <p:nvPr/>
        </p:nvSpPr>
        <p:spPr>
          <a:xfrm>
            <a:off x="1356330" y="5212080"/>
            <a:ext cx="457200" cy="18288"/>
          </a:xfrm>
          <a:prstGeom prst="rect">
            <a:avLst/>
          </a:prstGeom>
          <a:solidFill>
            <a:srgbClr val="D4A574"/>
          </a:solidFill>
          <a:ln/>
        </p:spPr>
      </p:sp>
      <p:sp>
        <p:nvSpPr>
          <p:cNvPr id="30" name="Text 28"/>
          <p:cNvSpPr/>
          <p:nvPr/>
        </p:nvSpPr>
        <p:spPr>
          <a:xfrm>
            <a:off x="640080" y="5303520"/>
            <a:ext cx="1889699" cy="502920"/>
          </a:xfrm>
          <a:prstGeom prst="rect">
            <a:avLst/>
          </a:prstGeom>
          <a:noFill/>
          <a:ln/>
        </p:spPr>
        <p:txBody>
          <a:bodyPr wrap="square" rtlCol="0" anchor="t"/>
          <a:lstStyle/>
          <a:p>
            <a:pPr rtl="1" algn="ctr" indent="0" marL="0">
              <a:buNone/>
            </a:pPr>
            <a:r>
              <a:rPr lang="en-US" sz="1100" dirty="0">
                <a:solidFill>
                  <a:srgbClr val="F5F5F5"/>
                </a:solidFill>
                <a:latin typeface="Calibri" pitchFamily="34" charset="0"/>
                <a:ea typeface="Calibri" pitchFamily="34" charset="-122"/>
                <a:cs typeface="Calibri" pitchFamily="34" charset="-120"/>
              </a:rPr>
              <a:t>ترشيد تجار السلّة وزد</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8F3"/>
        </a:solidFill>
      </p:bgPr>
    </p:bg>
    <p:spTree>
      <p:nvGrpSpPr>
        <p:cNvPr id="1" name=""/>
        <p:cNvGrpSpPr/>
        <p:nvPr/>
      </p:nvGrpSpPr>
      <p:grpSpPr>
        <a:xfrm>
          <a:off x="0" y="0"/>
          <a:ext cx="0" cy="0"/>
          <a:chOff x="0" y="0"/>
          <a:chExt cx="0" cy="0"/>
        </a:xfrm>
      </p:grpSpPr>
      <p:sp>
        <p:nvSpPr>
          <p:cNvPr id="2" name="Shape 0"/>
          <p:cNvSpPr/>
          <p:nvPr/>
        </p:nvSpPr>
        <p:spPr>
          <a:xfrm>
            <a:off x="11734495" y="320040"/>
            <a:ext cx="73152" cy="411480"/>
          </a:xfrm>
          <a:prstGeom prst="rect">
            <a:avLst/>
          </a:prstGeom>
          <a:solidFill>
            <a:srgbClr val="D4A574"/>
          </a:solidFill>
          <a:ln/>
        </p:spPr>
      </p:sp>
      <p:sp>
        <p:nvSpPr>
          <p:cNvPr id="3" name="Text 1"/>
          <p:cNvSpPr/>
          <p:nvPr/>
        </p:nvSpPr>
        <p:spPr>
          <a:xfrm>
            <a:off x="8076895" y="274320"/>
            <a:ext cx="3566160" cy="365760"/>
          </a:xfrm>
          <a:prstGeom prst="rect">
            <a:avLst/>
          </a:prstGeom>
          <a:noFill/>
          <a:ln/>
        </p:spPr>
        <p:txBody>
          <a:bodyPr wrap="square" rtlCol="0" anchor="ctr"/>
          <a:lstStyle/>
          <a:p>
            <a:pPr rtl="1" algn="r" indent="0" marL="0">
              <a:buNone/>
            </a:pPr>
            <a:r>
              <a:rPr lang="en-US" sz="1200" b="1" dirty="0">
                <a:solidFill>
                  <a:srgbClr val="55606E"/>
                </a:solidFill>
                <a:latin typeface="Calibri" pitchFamily="34" charset="0"/>
                <a:ea typeface="Calibri" pitchFamily="34" charset="-122"/>
                <a:cs typeface="Calibri" pitchFamily="34" charset="-120"/>
              </a:rPr>
              <a:t>سيناريو 1 · التندرات</a:t>
            </a:r>
            <a:endParaRPr lang="en-US" sz="1200" dirty="0"/>
          </a:p>
        </p:txBody>
      </p:sp>
      <p:sp>
        <p:nvSpPr>
          <p:cNvPr id="4" name="Text 2"/>
          <p:cNvSpPr/>
          <p:nvPr/>
        </p:nvSpPr>
        <p:spPr>
          <a:xfrm>
            <a:off x="457200" y="6446520"/>
            <a:ext cx="2286000" cy="274320"/>
          </a:xfrm>
          <a:prstGeom prst="rect">
            <a:avLst/>
          </a:prstGeom>
          <a:noFill/>
          <a:ln/>
        </p:spPr>
        <p:txBody>
          <a:bodyPr wrap="square" rtlCol="0" anchor="ctr"/>
          <a:lstStyle/>
          <a:p>
            <a:pPr algn="l" indent="0" marL="0">
              <a:buNone/>
            </a:pPr>
            <a:r>
              <a:rPr lang="en-US" sz="900" dirty="0">
                <a:solidFill>
                  <a:srgbClr val="8B95A3"/>
                </a:solidFill>
                <a:latin typeface="Calibri" pitchFamily="34" charset="0"/>
                <a:ea typeface="Calibri" pitchFamily="34" charset="-122"/>
                <a:cs typeface="Calibri" pitchFamily="34" charset="-120"/>
              </a:rPr>
              <a:t>Dealix · ديلكس</a:t>
            </a:r>
            <a:endParaRPr lang="en-US" sz="900" dirty="0"/>
          </a:p>
        </p:txBody>
      </p:sp>
      <p:sp>
        <p:nvSpPr>
          <p:cNvPr id="5" name="Text 3"/>
          <p:cNvSpPr/>
          <p:nvPr/>
        </p:nvSpPr>
        <p:spPr>
          <a:xfrm>
            <a:off x="11094415" y="6446520"/>
            <a:ext cx="640080" cy="274320"/>
          </a:xfrm>
          <a:prstGeom prst="rect">
            <a:avLst/>
          </a:prstGeom>
          <a:noFill/>
          <a:ln/>
        </p:spPr>
        <p:txBody>
          <a:bodyPr wrap="square" rtlCol="0" anchor="ctr"/>
          <a:lstStyle/>
          <a:p>
            <a:pPr algn="r" indent="0" marL="0">
              <a:buNone/>
            </a:pPr>
            <a:r>
              <a:rPr lang="en-US" sz="900" b="1" dirty="0">
                <a:solidFill>
                  <a:srgbClr val="8B95A3"/>
                </a:solidFill>
                <a:latin typeface="Calibri" pitchFamily="34" charset="0"/>
                <a:ea typeface="Calibri" pitchFamily="34" charset="-122"/>
                <a:cs typeface="Calibri" pitchFamily="34" charset="-120"/>
              </a:rPr>
              <a:t>20</a:t>
            </a:r>
            <a:endParaRPr lang="en-US" sz="900" dirty="0"/>
          </a:p>
        </p:txBody>
      </p:sp>
      <p:sp>
        <p:nvSpPr>
          <p:cNvPr id="6" name="Text 4"/>
          <p:cNvSpPr/>
          <p:nvPr/>
        </p:nvSpPr>
        <p:spPr>
          <a:xfrm>
            <a:off x="548640" y="914400"/>
            <a:ext cx="11094415" cy="822960"/>
          </a:xfrm>
          <a:prstGeom prst="rect">
            <a:avLst/>
          </a:prstGeom>
          <a:noFill/>
          <a:ln/>
        </p:spPr>
        <p:txBody>
          <a:bodyPr wrap="square" rtlCol="0" anchor="ctr"/>
          <a:lstStyle/>
          <a:p>
            <a:pPr rtl="1" algn="r" indent="0" marL="0">
              <a:buNone/>
            </a:pPr>
            <a:r>
              <a:rPr lang="en-US" sz="3400" b="1" dirty="0">
                <a:solidFill>
                  <a:srgbClr val="0A1628"/>
                </a:solidFill>
                <a:latin typeface="Calibri" pitchFamily="34" charset="0"/>
                <a:ea typeface="Calibri" pitchFamily="34" charset="-122"/>
                <a:cs typeface="Calibri" pitchFamily="34" charset="-120"/>
              </a:rPr>
              <a:t>سيناريو 1 — أتمتة التندرات والـ RFP</a:t>
            </a:r>
            <a:endParaRPr lang="en-US" sz="3400" dirty="0"/>
          </a:p>
        </p:txBody>
      </p:sp>
      <p:sp>
        <p:nvSpPr>
          <p:cNvPr id="7" name="Text 5"/>
          <p:cNvSpPr/>
          <p:nvPr/>
        </p:nvSpPr>
        <p:spPr>
          <a:xfrm>
            <a:off x="548640" y="1691640"/>
            <a:ext cx="11094415" cy="411480"/>
          </a:xfrm>
          <a:prstGeom prst="rect">
            <a:avLst/>
          </a:prstGeom>
          <a:noFill/>
          <a:ln/>
        </p:spPr>
        <p:txBody>
          <a:bodyPr wrap="square" rtlCol="0" anchor="ctr"/>
          <a:lstStyle/>
          <a:p>
            <a:pPr rtl="1" algn="r" indent="0" marL="0">
              <a:buNone/>
            </a:pPr>
            <a:r>
              <a:rPr lang="en-US" sz="1500" dirty="0">
                <a:solidFill>
                  <a:srgbClr val="55606E"/>
                </a:solidFill>
                <a:latin typeface="Calibri" pitchFamily="34" charset="0"/>
                <a:ea typeface="Calibri" pitchFamily="34" charset="-122"/>
                <a:cs typeface="Calibri" pitchFamily="34" charset="-120"/>
              </a:rPr>
              <a:t>من وصول التندر إلى تقديم عرض فني/مالي في أقل من 4 ساعات — بدل 14 يوم</a:t>
            </a:r>
            <a:endParaRPr lang="en-US" sz="1500" dirty="0"/>
          </a:p>
        </p:txBody>
      </p:sp>
      <p:sp>
        <p:nvSpPr>
          <p:cNvPr id="8" name="Shape 6"/>
          <p:cNvSpPr/>
          <p:nvPr/>
        </p:nvSpPr>
        <p:spPr>
          <a:xfrm>
            <a:off x="6233008" y="2331720"/>
            <a:ext cx="5410048" cy="3474720"/>
          </a:xfrm>
          <a:prstGeom prst="rect">
            <a:avLst/>
          </a:prstGeom>
          <a:solidFill>
            <a:srgbClr val="0A1628"/>
          </a:solidFill>
          <a:ln/>
        </p:spPr>
      </p:sp>
      <p:sp>
        <p:nvSpPr>
          <p:cNvPr id="9" name="Shape 7"/>
          <p:cNvSpPr/>
          <p:nvPr/>
        </p:nvSpPr>
        <p:spPr>
          <a:xfrm>
            <a:off x="6233008" y="2331720"/>
            <a:ext cx="5410048" cy="457200"/>
          </a:xfrm>
          <a:prstGeom prst="rect">
            <a:avLst/>
          </a:prstGeom>
          <a:solidFill>
            <a:srgbClr val="D4A574"/>
          </a:solidFill>
          <a:ln/>
        </p:spPr>
      </p:sp>
      <p:sp>
        <p:nvSpPr>
          <p:cNvPr id="10" name="Text 8"/>
          <p:cNvSpPr/>
          <p:nvPr/>
        </p:nvSpPr>
        <p:spPr>
          <a:xfrm>
            <a:off x="6233008" y="2331720"/>
            <a:ext cx="5410048" cy="457200"/>
          </a:xfrm>
          <a:prstGeom prst="rect">
            <a:avLst/>
          </a:prstGeom>
          <a:noFill/>
          <a:ln/>
        </p:spPr>
        <p:txBody>
          <a:bodyPr wrap="square" rtlCol="0" anchor="ctr"/>
          <a:lstStyle/>
          <a:p>
            <a:pPr rtl="1" algn="ctr" indent="0" marL="0">
              <a:buNone/>
            </a:pPr>
            <a:r>
              <a:rPr lang="en-US" sz="1500" b="1" dirty="0">
                <a:solidFill>
                  <a:srgbClr val="0A1628"/>
                </a:solidFill>
                <a:latin typeface="Calibri" pitchFamily="34" charset="0"/>
                <a:ea typeface="Calibri" pitchFamily="34" charset="-122"/>
                <a:cs typeface="Calibri" pitchFamily="34" charset="-120"/>
              </a:rPr>
              <a:t>مع ديلكس · بعد</a:t>
            </a:r>
            <a:endParaRPr lang="en-US" sz="1500" dirty="0"/>
          </a:p>
        </p:txBody>
      </p:sp>
      <p:sp>
        <p:nvSpPr>
          <p:cNvPr id="11" name="Shape 9"/>
          <p:cNvSpPr/>
          <p:nvPr/>
        </p:nvSpPr>
        <p:spPr>
          <a:xfrm>
            <a:off x="11323015" y="3063240"/>
            <a:ext cx="182880" cy="182880"/>
          </a:xfrm>
          <a:prstGeom prst="ellipse">
            <a:avLst/>
          </a:prstGeom>
          <a:solidFill>
            <a:srgbClr val="D4A574"/>
          </a:solidFill>
          <a:ln/>
        </p:spPr>
      </p:sp>
      <p:sp>
        <p:nvSpPr>
          <p:cNvPr id="12" name="Text 10"/>
          <p:cNvSpPr/>
          <p:nvPr/>
        </p:nvSpPr>
        <p:spPr>
          <a:xfrm>
            <a:off x="6415888" y="2971800"/>
            <a:ext cx="4907128" cy="411480"/>
          </a:xfrm>
          <a:prstGeom prst="rect">
            <a:avLst/>
          </a:prstGeom>
          <a:noFill/>
          <a:ln/>
        </p:spPr>
        <p:txBody>
          <a:bodyPr wrap="square" rtlCol="0" anchor="ctr"/>
          <a:lstStyle/>
          <a:p>
            <a:pPr rtl="1" algn="r" indent="0" marL="0">
              <a:buNone/>
            </a:pPr>
            <a:r>
              <a:rPr lang="en-US" sz="1100" dirty="0">
                <a:solidFill>
                  <a:srgbClr val="F5F5F5"/>
                </a:solidFill>
                <a:latin typeface="Calibri" pitchFamily="34" charset="0"/>
                <a:ea typeface="Calibri" pitchFamily="34" charset="-122"/>
                <a:cs typeface="Calibri" pitchFamily="34" charset="-120"/>
              </a:rPr>
              <a:t>T+0: التندر يصل من اتاق — استخراج تلقائي لكل المتطلبات</a:t>
            </a:r>
            <a:endParaRPr lang="en-US" sz="1100" dirty="0"/>
          </a:p>
        </p:txBody>
      </p:sp>
      <p:sp>
        <p:nvSpPr>
          <p:cNvPr id="13" name="Shape 11"/>
          <p:cNvSpPr/>
          <p:nvPr/>
        </p:nvSpPr>
        <p:spPr>
          <a:xfrm>
            <a:off x="11323015" y="3520440"/>
            <a:ext cx="182880" cy="182880"/>
          </a:xfrm>
          <a:prstGeom prst="ellipse">
            <a:avLst/>
          </a:prstGeom>
          <a:solidFill>
            <a:srgbClr val="D4A574"/>
          </a:solidFill>
          <a:ln/>
        </p:spPr>
      </p:sp>
      <p:sp>
        <p:nvSpPr>
          <p:cNvPr id="14" name="Text 12"/>
          <p:cNvSpPr/>
          <p:nvPr/>
        </p:nvSpPr>
        <p:spPr>
          <a:xfrm>
            <a:off x="6415888" y="3429000"/>
            <a:ext cx="4907128" cy="411480"/>
          </a:xfrm>
          <a:prstGeom prst="rect">
            <a:avLst/>
          </a:prstGeom>
          <a:noFill/>
          <a:ln/>
        </p:spPr>
        <p:txBody>
          <a:bodyPr wrap="square" rtlCol="0" anchor="ctr"/>
          <a:lstStyle/>
          <a:p>
            <a:pPr rtl="1" algn="r" indent="0" marL="0">
              <a:buNone/>
            </a:pPr>
            <a:r>
              <a:rPr lang="en-US" sz="1100" dirty="0">
                <a:solidFill>
                  <a:srgbClr val="F5F5F5"/>
                </a:solidFill>
                <a:latin typeface="Calibri" pitchFamily="34" charset="0"/>
                <a:ea typeface="Calibri" pitchFamily="34" charset="-122"/>
                <a:cs typeface="Calibri" pitchFamily="34" charset="-120"/>
              </a:rPr>
              <a:t>T+15د: تصنيف آلي للفرصة (حجم · منطقة · تخصص) + توزيع على الفريق</a:t>
            </a:r>
            <a:endParaRPr lang="en-US" sz="1100" dirty="0"/>
          </a:p>
        </p:txBody>
      </p:sp>
      <p:sp>
        <p:nvSpPr>
          <p:cNvPr id="15" name="Shape 13"/>
          <p:cNvSpPr/>
          <p:nvPr/>
        </p:nvSpPr>
        <p:spPr>
          <a:xfrm>
            <a:off x="11323015" y="3977640"/>
            <a:ext cx="182880" cy="182880"/>
          </a:xfrm>
          <a:prstGeom prst="ellipse">
            <a:avLst/>
          </a:prstGeom>
          <a:solidFill>
            <a:srgbClr val="D4A574"/>
          </a:solidFill>
          <a:ln/>
        </p:spPr>
      </p:sp>
      <p:sp>
        <p:nvSpPr>
          <p:cNvPr id="16" name="Text 14"/>
          <p:cNvSpPr/>
          <p:nvPr/>
        </p:nvSpPr>
        <p:spPr>
          <a:xfrm>
            <a:off x="6415888" y="3886200"/>
            <a:ext cx="4907128" cy="411480"/>
          </a:xfrm>
          <a:prstGeom prst="rect">
            <a:avLst/>
          </a:prstGeom>
          <a:noFill/>
          <a:ln/>
        </p:spPr>
        <p:txBody>
          <a:bodyPr wrap="square" rtlCol="0" anchor="ctr"/>
          <a:lstStyle/>
          <a:p>
            <a:pPr rtl="1" algn="r" indent="0" marL="0">
              <a:buNone/>
            </a:pPr>
            <a:r>
              <a:rPr lang="en-US" sz="1100" dirty="0">
                <a:solidFill>
                  <a:srgbClr val="F5F5F5"/>
                </a:solidFill>
                <a:latin typeface="Calibri" pitchFamily="34" charset="0"/>
                <a:ea typeface="Calibri" pitchFamily="34" charset="-122"/>
                <a:cs typeface="Calibri" pitchFamily="34" charset="-120"/>
              </a:rPr>
              <a:t>T+1س: AI يُعدّ مسودة عرض فني مع سوابق عقود مشابهة</a:t>
            </a:r>
            <a:endParaRPr lang="en-US" sz="1100" dirty="0"/>
          </a:p>
        </p:txBody>
      </p:sp>
      <p:sp>
        <p:nvSpPr>
          <p:cNvPr id="17" name="Shape 15"/>
          <p:cNvSpPr/>
          <p:nvPr/>
        </p:nvSpPr>
        <p:spPr>
          <a:xfrm>
            <a:off x="11323015" y="4434840"/>
            <a:ext cx="182880" cy="182880"/>
          </a:xfrm>
          <a:prstGeom prst="ellipse">
            <a:avLst/>
          </a:prstGeom>
          <a:solidFill>
            <a:srgbClr val="D4A574"/>
          </a:solidFill>
          <a:ln/>
        </p:spPr>
      </p:sp>
      <p:sp>
        <p:nvSpPr>
          <p:cNvPr id="18" name="Text 16"/>
          <p:cNvSpPr/>
          <p:nvPr/>
        </p:nvSpPr>
        <p:spPr>
          <a:xfrm>
            <a:off x="6415888" y="4343400"/>
            <a:ext cx="4907128" cy="411480"/>
          </a:xfrm>
          <a:prstGeom prst="rect">
            <a:avLst/>
          </a:prstGeom>
          <a:noFill/>
          <a:ln/>
        </p:spPr>
        <p:txBody>
          <a:bodyPr wrap="square" rtlCol="0" anchor="ctr"/>
          <a:lstStyle/>
          <a:p>
            <a:pPr rtl="1" algn="r" indent="0" marL="0">
              <a:buNone/>
            </a:pPr>
            <a:r>
              <a:rPr lang="en-US" sz="1100" dirty="0">
                <a:solidFill>
                  <a:srgbClr val="F5F5F5"/>
                </a:solidFill>
                <a:latin typeface="Calibri" pitchFamily="34" charset="0"/>
                <a:ea typeface="Calibri" pitchFamily="34" charset="-122"/>
                <a:cs typeface="Calibri" pitchFamily="34" charset="-120"/>
              </a:rPr>
              <a:t>T+2س: مدير التندرات يُراجع ويُعدّل — 20 دقيقة بدل يومين</a:t>
            </a:r>
            <a:endParaRPr lang="en-US" sz="1100" dirty="0"/>
          </a:p>
        </p:txBody>
      </p:sp>
      <p:sp>
        <p:nvSpPr>
          <p:cNvPr id="19" name="Shape 17"/>
          <p:cNvSpPr/>
          <p:nvPr/>
        </p:nvSpPr>
        <p:spPr>
          <a:xfrm>
            <a:off x="11323015" y="4892040"/>
            <a:ext cx="182880" cy="182880"/>
          </a:xfrm>
          <a:prstGeom prst="ellipse">
            <a:avLst/>
          </a:prstGeom>
          <a:solidFill>
            <a:srgbClr val="D4A574"/>
          </a:solidFill>
          <a:ln/>
        </p:spPr>
      </p:sp>
      <p:sp>
        <p:nvSpPr>
          <p:cNvPr id="20" name="Text 18"/>
          <p:cNvSpPr/>
          <p:nvPr/>
        </p:nvSpPr>
        <p:spPr>
          <a:xfrm>
            <a:off x="6415888" y="4800600"/>
            <a:ext cx="4907128" cy="411480"/>
          </a:xfrm>
          <a:prstGeom prst="rect">
            <a:avLst/>
          </a:prstGeom>
          <a:noFill/>
          <a:ln/>
        </p:spPr>
        <p:txBody>
          <a:bodyPr wrap="square" rtlCol="0" anchor="ctr"/>
          <a:lstStyle/>
          <a:p>
            <a:pPr rtl="1" algn="r" indent="0" marL="0">
              <a:buNone/>
            </a:pPr>
            <a:r>
              <a:rPr lang="en-US" sz="1100" dirty="0">
                <a:solidFill>
                  <a:srgbClr val="F5F5F5"/>
                </a:solidFill>
                <a:latin typeface="Calibri" pitchFamily="34" charset="0"/>
                <a:ea typeface="Calibri" pitchFamily="34" charset="-122"/>
                <a:cs typeface="Calibri" pitchFamily="34" charset="-120"/>
              </a:rPr>
              <a:t>T+3س: عرض مالي من نموذج معتمد + تحليل هوامش تلقائي</a:t>
            </a:r>
            <a:endParaRPr lang="en-US" sz="1100" dirty="0"/>
          </a:p>
        </p:txBody>
      </p:sp>
      <p:sp>
        <p:nvSpPr>
          <p:cNvPr id="21" name="Shape 19"/>
          <p:cNvSpPr/>
          <p:nvPr/>
        </p:nvSpPr>
        <p:spPr>
          <a:xfrm>
            <a:off x="11323015" y="5349240"/>
            <a:ext cx="182880" cy="182880"/>
          </a:xfrm>
          <a:prstGeom prst="ellipse">
            <a:avLst/>
          </a:prstGeom>
          <a:solidFill>
            <a:srgbClr val="D4A574"/>
          </a:solidFill>
          <a:ln/>
        </p:spPr>
      </p:sp>
      <p:sp>
        <p:nvSpPr>
          <p:cNvPr id="22" name="Text 20"/>
          <p:cNvSpPr/>
          <p:nvPr/>
        </p:nvSpPr>
        <p:spPr>
          <a:xfrm>
            <a:off x="6415888" y="5257800"/>
            <a:ext cx="4907128" cy="411480"/>
          </a:xfrm>
          <a:prstGeom prst="rect">
            <a:avLst/>
          </a:prstGeom>
          <a:noFill/>
          <a:ln/>
        </p:spPr>
        <p:txBody>
          <a:bodyPr wrap="square" rtlCol="0" anchor="ctr"/>
          <a:lstStyle/>
          <a:p>
            <a:pPr rtl="1" algn="r" indent="0" marL="0">
              <a:buNone/>
            </a:pPr>
            <a:r>
              <a:rPr lang="en-US" sz="1100" dirty="0">
                <a:solidFill>
                  <a:srgbClr val="F5F5F5"/>
                </a:solidFill>
                <a:latin typeface="Calibri" pitchFamily="34" charset="0"/>
                <a:ea typeface="Calibri" pitchFamily="34" charset="-122"/>
                <a:cs typeface="Calibri" pitchFamily="34" charset="-120"/>
              </a:rPr>
              <a:t>T+4س: الإرسال النهائي — مع ختم إلكتروني وتوقيع رقمي</a:t>
            </a:r>
            <a:endParaRPr lang="en-US" sz="1100" dirty="0"/>
          </a:p>
        </p:txBody>
      </p:sp>
      <p:sp>
        <p:nvSpPr>
          <p:cNvPr id="23" name="Shape 21"/>
          <p:cNvSpPr/>
          <p:nvPr/>
        </p:nvSpPr>
        <p:spPr>
          <a:xfrm>
            <a:off x="548640" y="2331720"/>
            <a:ext cx="5410048" cy="3474720"/>
          </a:xfrm>
          <a:prstGeom prst="rect">
            <a:avLst/>
          </a:prstGeom>
          <a:solidFill>
            <a:srgbClr val="FFFFFF"/>
          </a:solidFill>
          <a:ln w="12700">
            <a:solidFill>
              <a:srgbClr val="E8E3D6"/>
            </a:solidFill>
            <a:prstDash val="solid"/>
          </a:ln>
        </p:spPr>
      </p:sp>
      <p:sp>
        <p:nvSpPr>
          <p:cNvPr id="24" name="Shape 22"/>
          <p:cNvSpPr/>
          <p:nvPr/>
        </p:nvSpPr>
        <p:spPr>
          <a:xfrm>
            <a:off x="548640" y="2331720"/>
            <a:ext cx="5410048" cy="457200"/>
          </a:xfrm>
          <a:prstGeom prst="rect">
            <a:avLst/>
          </a:prstGeom>
          <a:solidFill>
            <a:srgbClr val="F2EEE4"/>
          </a:solidFill>
          <a:ln/>
        </p:spPr>
      </p:sp>
      <p:sp>
        <p:nvSpPr>
          <p:cNvPr id="25" name="Text 23"/>
          <p:cNvSpPr/>
          <p:nvPr/>
        </p:nvSpPr>
        <p:spPr>
          <a:xfrm>
            <a:off x="548640" y="2331720"/>
            <a:ext cx="5410048" cy="457200"/>
          </a:xfrm>
          <a:prstGeom prst="rect">
            <a:avLst/>
          </a:prstGeom>
          <a:noFill/>
          <a:ln/>
        </p:spPr>
        <p:txBody>
          <a:bodyPr wrap="square" rtlCol="0" anchor="ctr"/>
          <a:lstStyle/>
          <a:p>
            <a:pPr rtl="1" algn="ctr" indent="0" marL="0">
              <a:buNone/>
            </a:pPr>
            <a:r>
              <a:rPr lang="en-US" sz="1500" b="1" dirty="0">
                <a:solidFill>
                  <a:srgbClr val="55606E"/>
                </a:solidFill>
                <a:latin typeface="Calibri" pitchFamily="34" charset="0"/>
                <a:ea typeface="Calibri" pitchFamily="34" charset="-122"/>
                <a:cs typeface="Calibri" pitchFamily="34" charset="-120"/>
              </a:rPr>
              <a:t>قبل · اليوم</a:t>
            </a:r>
            <a:endParaRPr lang="en-US" sz="1500" dirty="0"/>
          </a:p>
        </p:txBody>
      </p:sp>
      <p:sp>
        <p:nvSpPr>
          <p:cNvPr id="26" name="Shape 24"/>
          <p:cNvSpPr/>
          <p:nvPr/>
        </p:nvSpPr>
        <p:spPr>
          <a:xfrm>
            <a:off x="5638648" y="3063240"/>
            <a:ext cx="182880" cy="182880"/>
          </a:xfrm>
          <a:prstGeom prst="ellipse">
            <a:avLst/>
          </a:prstGeom>
          <a:solidFill>
            <a:srgbClr val="8B95A3"/>
          </a:solidFill>
          <a:ln/>
        </p:spPr>
      </p:sp>
      <p:sp>
        <p:nvSpPr>
          <p:cNvPr id="27" name="Text 25"/>
          <p:cNvSpPr/>
          <p:nvPr/>
        </p:nvSpPr>
        <p:spPr>
          <a:xfrm>
            <a:off x="731520" y="2971800"/>
            <a:ext cx="4907128" cy="411480"/>
          </a:xfrm>
          <a:prstGeom prst="rect">
            <a:avLst/>
          </a:prstGeom>
          <a:noFill/>
          <a:ln/>
        </p:spPr>
        <p:txBody>
          <a:bodyPr wrap="square" rtlCol="0" anchor="ctr"/>
          <a:lstStyle/>
          <a:p>
            <a:pPr rtl="1" algn="r" indent="0" marL="0">
              <a:buNone/>
            </a:pPr>
            <a:r>
              <a:rPr lang="en-US" sz="1100" dirty="0">
                <a:solidFill>
                  <a:srgbClr val="1A1A1A"/>
                </a:solidFill>
                <a:latin typeface="Calibri" pitchFamily="34" charset="0"/>
                <a:ea typeface="Calibri" pitchFamily="34" charset="-122"/>
                <a:cs typeface="Calibri" pitchFamily="34" charset="-120"/>
              </a:rPr>
              <a:t>اليوم 1: التندر يصل لبريد عام — أحياناً لا يُرى</a:t>
            </a:r>
            <a:endParaRPr lang="en-US" sz="1100" dirty="0"/>
          </a:p>
        </p:txBody>
      </p:sp>
      <p:sp>
        <p:nvSpPr>
          <p:cNvPr id="28" name="Shape 26"/>
          <p:cNvSpPr/>
          <p:nvPr/>
        </p:nvSpPr>
        <p:spPr>
          <a:xfrm>
            <a:off x="5638648" y="3520440"/>
            <a:ext cx="182880" cy="182880"/>
          </a:xfrm>
          <a:prstGeom prst="ellipse">
            <a:avLst/>
          </a:prstGeom>
          <a:solidFill>
            <a:srgbClr val="8B95A3"/>
          </a:solidFill>
          <a:ln/>
        </p:spPr>
      </p:sp>
      <p:sp>
        <p:nvSpPr>
          <p:cNvPr id="29" name="Text 27"/>
          <p:cNvSpPr/>
          <p:nvPr/>
        </p:nvSpPr>
        <p:spPr>
          <a:xfrm>
            <a:off x="731520" y="3429000"/>
            <a:ext cx="4907128" cy="411480"/>
          </a:xfrm>
          <a:prstGeom prst="rect">
            <a:avLst/>
          </a:prstGeom>
          <a:noFill/>
          <a:ln/>
        </p:spPr>
        <p:txBody>
          <a:bodyPr wrap="square" rtlCol="0" anchor="ctr"/>
          <a:lstStyle/>
          <a:p>
            <a:pPr rtl="1" algn="r" indent="0" marL="0">
              <a:buNone/>
            </a:pPr>
            <a:r>
              <a:rPr lang="en-US" sz="1100" dirty="0">
                <a:solidFill>
                  <a:srgbClr val="1A1A1A"/>
                </a:solidFill>
                <a:latin typeface="Calibri" pitchFamily="34" charset="0"/>
                <a:ea typeface="Calibri" pitchFamily="34" charset="-122"/>
                <a:cs typeface="Calibri" pitchFamily="34" charset="-120"/>
              </a:rPr>
              <a:t>اليوم 3: توزيع يدوي بعد اجتماع صباحي</a:t>
            </a:r>
            <a:endParaRPr lang="en-US" sz="1100" dirty="0"/>
          </a:p>
        </p:txBody>
      </p:sp>
      <p:sp>
        <p:nvSpPr>
          <p:cNvPr id="30" name="Shape 28"/>
          <p:cNvSpPr/>
          <p:nvPr/>
        </p:nvSpPr>
        <p:spPr>
          <a:xfrm>
            <a:off x="5638648" y="3977640"/>
            <a:ext cx="182880" cy="182880"/>
          </a:xfrm>
          <a:prstGeom prst="ellipse">
            <a:avLst/>
          </a:prstGeom>
          <a:solidFill>
            <a:srgbClr val="8B95A3"/>
          </a:solidFill>
          <a:ln/>
        </p:spPr>
      </p:sp>
      <p:sp>
        <p:nvSpPr>
          <p:cNvPr id="31" name="Text 29"/>
          <p:cNvSpPr/>
          <p:nvPr/>
        </p:nvSpPr>
        <p:spPr>
          <a:xfrm>
            <a:off x="731520" y="3886200"/>
            <a:ext cx="4907128" cy="411480"/>
          </a:xfrm>
          <a:prstGeom prst="rect">
            <a:avLst/>
          </a:prstGeom>
          <a:noFill/>
          <a:ln/>
        </p:spPr>
        <p:txBody>
          <a:bodyPr wrap="square" rtlCol="0" anchor="ctr"/>
          <a:lstStyle/>
          <a:p>
            <a:pPr rtl="1" algn="r" indent="0" marL="0">
              <a:buNone/>
            </a:pPr>
            <a:r>
              <a:rPr lang="en-US" sz="1100" dirty="0">
                <a:solidFill>
                  <a:srgbClr val="1A1A1A"/>
                </a:solidFill>
                <a:latin typeface="Calibri" pitchFamily="34" charset="0"/>
                <a:ea typeface="Calibri" pitchFamily="34" charset="-122"/>
                <a:cs typeface="Calibri" pitchFamily="34" charset="-120"/>
              </a:rPr>
              <a:t>اليوم 5: الفريق يبحث عن عقود مشابهة يدوياً</a:t>
            </a:r>
            <a:endParaRPr lang="en-US" sz="1100" dirty="0"/>
          </a:p>
        </p:txBody>
      </p:sp>
      <p:sp>
        <p:nvSpPr>
          <p:cNvPr id="32" name="Shape 30"/>
          <p:cNvSpPr/>
          <p:nvPr/>
        </p:nvSpPr>
        <p:spPr>
          <a:xfrm>
            <a:off x="5638648" y="4434840"/>
            <a:ext cx="182880" cy="182880"/>
          </a:xfrm>
          <a:prstGeom prst="ellipse">
            <a:avLst/>
          </a:prstGeom>
          <a:solidFill>
            <a:srgbClr val="8B95A3"/>
          </a:solidFill>
          <a:ln/>
        </p:spPr>
      </p:sp>
      <p:sp>
        <p:nvSpPr>
          <p:cNvPr id="33" name="Text 31"/>
          <p:cNvSpPr/>
          <p:nvPr/>
        </p:nvSpPr>
        <p:spPr>
          <a:xfrm>
            <a:off x="731520" y="4343400"/>
            <a:ext cx="4907128" cy="411480"/>
          </a:xfrm>
          <a:prstGeom prst="rect">
            <a:avLst/>
          </a:prstGeom>
          <a:noFill/>
          <a:ln/>
        </p:spPr>
        <p:txBody>
          <a:bodyPr wrap="square" rtlCol="0" anchor="ctr"/>
          <a:lstStyle/>
          <a:p>
            <a:pPr rtl="1" algn="r" indent="0" marL="0">
              <a:buNone/>
            </a:pPr>
            <a:r>
              <a:rPr lang="en-US" sz="1100" dirty="0">
                <a:solidFill>
                  <a:srgbClr val="1A1A1A"/>
                </a:solidFill>
                <a:latin typeface="Calibri" pitchFamily="34" charset="0"/>
                <a:ea typeface="Calibri" pitchFamily="34" charset="-122"/>
                <a:cs typeface="Calibri" pitchFamily="34" charset="-120"/>
              </a:rPr>
              <a:t>اليوم 8: مسودة عرض فني أولى — غالباً بدون سوابق</a:t>
            </a:r>
            <a:endParaRPr lang="en-US" sz="1100" dirty="0"/>
          </a:p>
        </p:txBody>
      </p:sp>
      <p:sp>
        <p:nvSpPr>
          <p:cNvPr id="34" name="Shape 32"/>
          <p:cNvSpPr/>
          <p:nvPr/>
        </p:nvSpPr>
        <p:spPr>
          <a:xfrm>
            <a:off x="5638648" y="4892040"/>
            <a:ext cx="182880" cy="182880"/>
          </a:xfrm>
          <a:prstGeom prst="ellipse">
            <a:avLst/>
          </a:prstGeom>
          <a:solidFill>
            <a:srgbClr val="8B95A3"/>
          </a:solidFill>
          <a:ln/>
        </p:spPr>
      </p:sp>
      <p:sp>
        <p:nvSpPr>
          <p:cNvPr id="35" name="Text 33"/>
          <p:cNvSpPr/>
          <p:nvPr/>
        </p:nvSpPr>
        <p:spPr>
          <a:xfrm>
            <a:off x="731520" y="4800600"/>
            <a:ext cx="4907128" cy="411480"/>
          </a:xfrm>
          <a:prstGeom prst="rect">
            <a:avLst/>
          </a:prstGeom>
          <a:noFill/>
          <a:ln/>
        </p:spPr>
        <p:txBody>
          <a:bodyPr wrap="square" rtlCol="0" anchor="ctr"/>
          <a:lstStyle/>
          <a:p>
            <a:pPr rtl="1" algn="r" indent="0" marL="0">
              <a:buNone/>
            </a:pPr>
            <a:r>
              <a:rPr lang="en-US" sz="1100" dirty="0">
                <a:solidFill>
                  <a:srgbClr val="1A1A1A"/>
                </a:solidFill>
                <a:latin typeface="Calibri" pitchFamily="34" charset="0"/>
                <a:ea typeface="Calibri" pitchFamily="34" charset="-122"/>
                <a:cs typeface="Calibri" pitchFamily="34" charset="-120"/>
              </a:rPr>
              <a:t>اليوم 11: مراجعة مالية متكررة</a:t>
            </a:r>
            <a:endParaRPr lang="en-US" sz="1100" dirty="0"/>
          </a:p>
        </p:txBody>
      </p:sp>
      <p:sp>
        <p:nvSpPr>
          <p:cNvPr id="36" name="Shape 34"/>
          <p:cNvSpPr/>
          <p:nvPr/>
        </p:nvSpPr>
        <p:spPr>
          <a:xfrm>
            <a:off x="5638648" y="5349240"/>
            <a:ext cx="182880" cy="182880"/>
          </a:xfrm>
          <a:prstGeom prst="ellipse">
            <a:avLst/>
          </a:prstGeom>
          <a:solidFill>
            <a:srgbClr val="8B95A3"/>
          </a:solidFill>
          <a:ln/>
        </p:spPr>
      </p:sp>
      <p:sp>
        <p:nvSpPr>
          <p:cNvPr id="37" name="Text 35"/>
          <p:cNvSpPr/>
          <p:nvPr/>
        </p:nvSpPr>
        <p:spPr>
          <a:xfrm>
            <a:off x="731520" y="5257800"/>
            <a:ext cx="4907128" cy="411480"/>
          </a:xfrm>
          <a:prstGeom prst="rect">
            <a:avLst/>
          </a:prstGeom>
          <a:noFill/>
          <a:ln/>
        </p:spPr>
        <p:txBody>
          <a:bodyPr wrap="square" rtlCol="0" anchor="ctr"/>
          <a:lstStyle/>
          <a:p>
            <a:pPr rtl="1" algn="r" indent="0" marL="0">
              <a:buNone/>
            </a:pPr>
            <a:r>
              <a:rPr lang="en-US" sz="1100" dirty="0">
                <a:solidFill>
                  <a:srgbClr val="1A1A1A"/>
                </a:solidFill>
                <a:latin typeface="Calibri" pitchFamily="34" charset="0"/>
                <a:ea typeface="Calibri" pitchFamily="34" charset="-122"/>
                <a:cs typeface="Calibri" pitchFamily="34" charset="-120"/>
              </a:rPr>
              <a:t>اليوم 14: إرسال متأخر — أحياناً بعد انتهاء المهلة</a:t>
            </a:r>
            <a:endParaRPr lang="en-US" sz="1100" dirty="0"/>
          </a:p>
        </p:txBody>
      </p:sp>
      <p:sp>
        <p:nvSpPr>
          <p:cNvPr id="38" name="Shape 36"/>
          <p:cNvSpPr/>
          <p:nvPr/>
        </p:nvSpPr>
        <p:spPr>
          <a:xfrm>
            <a:off x="548640" y="5852160"/>
            <a:ext cx="11094415" cy="502920"/>
          </a:xfrm>
          <a:prstGeom prst="rect">
            <a:avLst/>
          </a:prstGeom>
          <a:solidFill>
            <a:srgbClr val="060E1A"/>
          </a:solidFill>
          <a:ln/>
        </p:spPr>
      </p:sp>
      <p:sp>
        <p:nvSpPr>
          <p:cNvPr id="39" name="Text 37"/>
          <p:cNvSpPr/>
          <p:nvPr/>
        </p:nvSpPr>
        <p:spPr>
          <a:xfrm>
            <a:off x="548640" y="5852160"/>
            <a:ext cx="11094415" cy="502920"/>
          </a:xfrm>
          <a:prstGeom prst="rect">
            <a:avLst/>
          </a:prstGeom>
          <a:noFill/>
          <a:ln/>
        </p:spPr>
        <p:txBody>
          <a:bodyPr wrap="square" rtlCol="0" anchor="ctr"/>
          <a:lstStyle/>
          <a:p>
            <a:pPr rtl="1" algn="r" indent="0" marL="0">
              <a:buNone/>
            </a:pPr>
            <a:r>
              <a:rPr lang="en-US" sz="1400" b="1" dirty="0">
                <a:solidFill>
                  <a:srgbClr val="D4A574"/>
                </a:solidFill>
                <a:latin typeface="Calibri" pitchFamily="34" charset="0"/>
                <a:ea typeface="Calibri" pitchFamily="34" charset="-122"/>
                <a:cs typeface="Calibri" pitchFamily="34" charset="-120"/>
              </a:rPr>
              <a:t>النتيجة: تسريع 84% في دورة التندر — رفع معدّل الفوز من 15% إلى 25%</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8F3"/>
        </a:solidFill>
      </p:bgPr>
    </p:bg>
    <p:spTree>
      <p:nvGrpSpPr>
        <p:cNvPr id="1" name=""/>
        <p:cNvGrpSpPr/>
        <p:nvPr/>
      </p:nvGrpSpPr>
      <p:grpSpPr>
        <a:xfrm>
          <a:off x="0" y="0"/>
          <a:ext cx="0" cy="0"/>
          <a:chOff x="0" y="0"/>
          <a:chExt cx="0" cy="0"/>
        </a:xfrm>
      </p:grpSpPr>
      <p:sp>
        <p:nvSpPr>
          <p:cNvPr id="2" name="Shape 0"/>
          <p:cNvSpPr/>
          <p:nvPr/>
        </p:nvSpPr>
        <p:spPr>
          <a:xfrm>
            <a:off x="11734495" y="320040"/>
            <a:ext cx="73152" cy="411480"/>
          </a:xfrm>
          <a:prstGeom prst="rect">
            <a:avLst/>
          </a:prstGeom>
          <a:solidFill>
            <a:srgbClr val="D4A574"/>
          </a:solidFill>
          <a:ln/>
        </p:spPr>
      </p:sp>
      <p:sp>
        <p:nvSpPr>
          <p:cNvPr id="3" name="Text 1"/>
          <p:cNvSpPr/>
          <p:nvPr/>
        </p:nvSpPr>
        <p:spPr>
          <a:xfrm>
            <a:off x="8076895" y="274320"/>
            <a:ext cx="3566160" cy="365760"/>
          </a:xfrm>
          <a:prstGeom prst="rect">
            <a:avLst/>
          </a:prstGeom>
          <a:noFill/>
          <a:ln/>
        </p:spPr>
        <p:txBody>
          <a:bodyPr wrap="square" rtlCol="0" anchor="ctr"/>
          <a:lstStyle/>
          <a:p>
            <a:pPr rtl="1" algn="r" indent="0" marL="0">
              <a:buNone/>
            </a:pPr>
            <a:r>
              <a:rPr lang="en-US" sz="1200" b="1" dirty="0">
                <a:solidFill>
                  <a:srgbClr val="55606E"/>
                </a:solidFill>
                <a:latin typeface="Calibri" pitchFamily="34" charset="0"/>
                <a:ea typeface="Calibri" pitchFamily="34" charset="-122"/>
                <a:cs typeface="Calibri" pitchFamily="34" charset="-120"/>
              </a:rPr>
              <a:t>سيناريو 2 · التوصيل السريع</a:t>
            </a:r>
            <a:endParaRPr lang="en-US" sz="1200" dirty="0"/>
          </a:p>
        </p:txBody>
      </p:sp>
      <p:sp>
        <p:nvSpPr>
          <p:cNvPr id="4" name="Text 2"/>
          <p:cNvSpPr/>
          <p:nvPr/>
        </p:nvSpPr>
        <p:spPr>
          <a:xfrm>
            <a:off x="457200" y="6446520"/>
            <a:ext cx="2286000" cy="274320"/>
          </a:xfrm>
          <a:prstGeom prst="rect">
            <a:avLst/>
          </a:prstGeom>
          <a:noFill/>
          <a:ln/>
        </p:spPr>
        <p:txBody>
          <a:bodyPr wrap="square" rtlCol="0" anchor="ctr"/>
          <a:lstStyle/>
          <a:p>
            <a:pPr algn="l" indent="0" marL="0">
              <a:buNone/>
            </a:pPr>
            <a:r>
              <a:rPr lang="en-US" sz="900" dirty="0">
                <a:solidFill>
                  <a:srgbClr val="8B95A3"/>
                </a:solidFill>
                <a:latin typeface="Calibri" pitchFamily="34" charset="0"/>
                <a:ea typeface="Calibri" pitchFamily="34" charset="-122"/>
                <a:cs typeface="Calibri" pitchFamily="34" charset="-120"/>
              </a:rPr>
              <a:t>Dealix · ديلكس</a:t>
            </a:r>
            <a:endParaRPr lang="en-US" sz="900" dirty="0"/>
          </a:p>
        </p:txBody>
      </p:sp>
      <p:sp>
        <p:nvSpPr>
          <p:cNvPr id="5" name="Text 3"/>
          <p:cNvSpPr/>
          <p:nvPr/>
        </p:nvSpPr>
        <p:spPr>
          <a:xfrm>
            <a:off x="11094415" y="6446520"/>
            <a:ext cx="640080" cy="274320"/>
          </a:xfrm>
          <a:prstGeom prst="rect">
            <a:avLst/>
          </a:prstGeom>
          <a:noFill/>
          <a:ln/>
        </p:spPr>
        <p:txBody>
          <a:bodyPr wrap="square" rtlCol="0" anchor="ctr"/>
          <a:lstStyle/>
          <a:p>
            <a:pPr algn="r" indent="0" marL="0">
              <a:buNone/>
            </a:pPr>
            <a:r>
              <a:rPr lang="en-US" sz="900" b="1" dirty="0">
                <a:solidFill>
                  <a:srgbClr val="8B95A3"/>
                </a:solidFill>
                <a:latin typeface="Calibri" pitchFamily="34" charset="0"/>
                <a:ea typeface="Calibri" pitchFamily="34" charset="-122"/>
                <a:cs typeface="Calibri" pitchFamily="34" charset="-120"/>
              </a:rPr>
              <a:t>21</a:t>
            </a:r>
            <a:endParaRPr lang="en-US" sz="900" dirty="0"/>
          </a:p>
        </p:txBody>
      </p:sp>
      <p:sp>
        <p:nvSpPr>
          <p:cNvPr id="6" name="Text 4"/>
          <p:cNvSpPr/>
          <p:nvPr/>
        </p:nvSpPr>
        <p:spPr>
          <a:xfrm>
            <a:off x="548640" y="914400"/>
            <a:ext cx="11094415" cy="822960"/>
          </a:xfrm>
          <a:prstGeom prst="rect">
            <a:avLst/>
          </a:prstGeom>
          <a:noFill/>
          <a:ln/>
        </p:spPr>
        <p:txBody>
          <a:bodyPr wrap="square" rtlCol="0" anchor="ctr"/>
          <a:lstStyle/>
          <a:p>
            <a:pPr rtl="1" algn="r" indent="0" marL="0">
              <a:buNone/>
            </a:pPr>
            <a:r>
              <a:rPr lang="en-US" sz="3400" b="1" dirty="0">
                <a:solidFill>
                  <a:srgbClr val="0A1628"/>
                </a:solidFill>
                <a:latin typeface="Calibri" pitchFamily="34" charset="0"/>
                <a:ea typeface="Calibri" pitchFamily="34" charset="-122"/>
                <a:cs typeface="Calibri" pitchFamily="34" charset="-120"/>
              </a:rPr>
              <a:t>سيناريو 2 — توزيع طلبات الشحن الفورية</a:t>
            </a:r>
            <a:endParaRPr lang="en-US" sz="3400" dirty="0"/>
          </a:p>
        </p:txBody>
      </p:sp>
      <p:sp>
        <p:nvSpPr>
          <p:cNvPr id="7" name="Text 5"/>
          <p:cNvSpPr/>
          <p:nvPr/>
        </p:nvSpPr>
        <p:spPr>
          <a:xfrm>
            <a:off x="548640" y="1691640"/>
            <a:ext cx="11094415" cy="411480"/>
          </a:xfrm>
          <a:prstGeom prst="rect">
            <a:avLst/>
          </a:prstGeom>
          <a:noFill/>
          <a:ln/>
        </p:spPr>
        <p:txBody>
          <a:bodyPr wrap="square" rtlCol="0" anchor="ctr"/>
          <a:lstStyle/>
          <a:p>
            <a:pPr rtl="1" algn="r" indent="0" marL="0">
              <a:buNone/>
            </a:pPr>
            <a:r>
              <a:rPr lang="en-US" sz="1500" dirty="0">
                <a:solidFill>
                  <a:srgbClr val="55606E"/>
                </a:solidFill>
                <a:latin typeface="Calibri" pitchFamily="34" charset="0"/>
                <a:ea typeface="Calibri" pitchFamily="34" charset="-122"/>
                <a:cs typeface="Calibri" pitchFamily="34" charset="-120"/>
              </a:rPr>
              <a:t>Last-Mile Dispatch — طلب شحن يصل على WhatsApp → عرض سعر آلي → توزيع جغرافي في أقل من 90 ثانية</a:t>
            </a:r>
            <a:endParaRPr lang="en-US" sz="1500" dirty="0"/>
          </a:p>
        </p:txBody>
      </p:sp>
      <p:sp>
        <p:nvSpPr>
          <p:cNvPr id="8" name="Shape 6"/>
          <p:cNvSpPr/>
          <p:nvPr/>
        </p:nvSpPr>
        <p:spPr>
          <a:xfrm>
            <a:off x="502920" y="2286000"/>
            <a:ext cx="5394960" cy="3749040"/>
          </a:xfrm>
          <a:prstGeom prst="rect">
            <a:avLst/>
          </a:prstGeom>
          <a:solidFill>
            <a:srgbClr val="0A1628"/>
          </a:solidFill>
          <a:ln/>
        </p:spPr>
      </p:sp>
      <p:pic>
        <p:nvPicPr>
          <p:cNvPr id="9" name="Image 0" descr="/home/user/workspace/dealix-clean/dashboard/assets/screenshot-inbox-open.png">    </p:cNvPr>
          <p:cNvPicPr>
            <a:picLocks noChangeAspect="1"/>
          </p:cNvPicPr>
          <p:nvPr/>
        </p:nvPicPr>
        <p:blipFill>
          <a:blip r:embed="rId1"/>
          <a:srcRect l="0" r="0" t="0" b="0"/>
          <a:stretch/>
        </p:blipFill>
        <p:spPr>
          <a:xfrm>
            <a:off x="548640" y="2331720"/>
            <a:ext cx="5303520" cy="3657600"/>
          </a:xfrm>
          <a:prstGeom prst="rect">
            <a:avLst/>
          </a:prstGeom>
        </p:spPr>
      </p:pic>
      <p:sp>
        <p:nvSpPr>
          <p:cNvPr id="10" name="Text 7"/>
          <p:cNvSpPr/>
          <p:nvPr/>
        </p:nvSpPr>
        <p:spPr>
          <a:xfrm>
            <a:off x="548640" y="6062472"/>
            <a:ext cx="5303520" cy="274320"/>
          </a:xfrm>
          <a:prstGeom prst="rect">
            <a:avLst/>
          </a:prstGeom>
          <a:noFill/>
          <a:ln/>
        </p:spPr>
        <p:txBody>
          <a:bodyPr wrap="square" rtlCol="0" anchor="ctr"/>
          <a:lstStyle/>
          <a:p>
            <a:pPr algn="l" indent="0" marL="0">
              <a:buNone/>
            </a:pPr>
            <a:r>
              <a:rPr lang="en-US" sz="1000" i="1" dirty="0">
                <a:solidFill>
                  <a:srgbClr val="8B95A3"/>
                </a:solidFill>
                <a:latin typeface="Calibri" pitchFamily="34" charset="0"/>
                <a:ea typeface="Calibri" pitchFamily="34" charset="-122"/>
                <a:cs typeface="Calibri" pitchFamily="34" charset="-120"/>
              </a:rPr>
              <a:t>Dealix Inbox — Live WhatsApp Dispatch</a:t>
            </a:r>
            <a:endParaRPr lang="en-US" sz="1000" dirty="0"/>
          </a:p>
        </p:txBody>
      </p:sp>
      <p:sp>
        <p:nvSpPr>
          <p:cNvPr id="11" name="Text 8"/>
          <p:cNvSpPr/>
          <p:nvPr/>
        </p:nvSpPr>
        <p:spPr>
          <a:xfrm>
            <a:off x="6126480" y="2331720"/>
            <a:ext cx="5516575" cy="320040"/>
          </a:xfrm>
          <a:prstGeom prst="rect">
            <a:avLst/>
          </a:prstGeom>
          <a:noFill/>
          <a:ln/>
        </p:spPr>
        <p:txBody>
          <a:bodyPr wrap="square" rtlCol="0" anchor="ctr"/>
          <a:lstStyle/>
          <a:p>
            <a:pPr rtl="1" algn="r" indent="0" marL="0">
              <a:buNone/>
            </a:pPr>
            <a:r>
              <a:rPr lang="en-US" sz="1100" b="1" dirty="0">
                <a:solidFill>
                  <a:srgbClr val="D4A574"/>
                </a:solidFill>
                <a:latin typeface="Calibri" pitchFamily="34" charset="0"/>
                <a:ea typeface="Calibri" pitchFamily="34" charset="-122"/>
                <a:cs typeface="Calibri" pitchFamily="34" charset="-120"/>
              </a:rPr>
              <a:t>DISPATCH FLOW · سير التوزيع</a:t>
            </a:r>
            <a:endParaRPr lang="en-US" sz="1100" dirty="0"/>
          </a:p>
        </p:txBody>
      </p:sp>
      <p:sp>
        <p:nvSpPr>
          <p:cNvPr id="12" name="Text 9"/>
          <p:cNvSpPr/>
          <p:nvPr/>
        </p:nvSpPr>
        <p:spPr>
          <a:xfrm>
            <a:off x="6126480" y="2651760"/>
            <a:ext cx="5516575" cy="640080"/>
          </a:xfrm>
          <a:prstGeom prst="rect">
            <a:avLst/>
          </a:prstGeom>
          <a:noFill/>
          <a:ln/>
        </p:spPr>
        <p:txBody>
          <a:bodyPr wrap="square" rtlCol="0" anchor="ctr"/>
          <a:lstStyle/>
          <a:p>
            <a:pPr rtl="1" algn="r" indent="0" marL="0">
              <a:buNone/>
            </a:pPr>
            <a:r>
              <a:rPr lang="en-US" sz="2000" b="1" dirty="0">
                <a:solidFill>
                  <a:srgbClr val="0A1628"/>
                </a:solidFill>
                <a:latin typeface="Calibri" pitchFamily="34" charset="0"/>
                <a:ea typeface="Calibri" pitchFamily="34" charset="-122"/>
                <a:cs typeface="Calibri" pitchFamily="34" charset="-120"/>
              </a:rPr>
              <a:t>من رسالة WhatsApp إلى سائق في طريقه</a:t>
            </a:r>
            <a:endParaRPr lang="en-US" sz="2000" dirty="0"/>
          </a:p>
        </p:txBody>
      </p:sp>
      <p:sp>
        <p:nvSpPr>
          <p:cNvPr id="13" name="Shape 10"/>
          <p:cNvSpPr/>
          <p:nvPr/>
        </p:nvSpPr>
        <p:spPr>
          <a:xfrm>
            <a:off x="10728655" y="3520440"/>
            <a:ext cx="822960" cy="365760"/>
          </a:xfrm>
          <a:prstGeom prst="rect">
            <a:avLst/>
          </a:prstGeom>
          <a:solidFill>
            <a:srgbClr val="0A1628"/>
          </a:solidFill>
          <a:ln/>
        </p:spPr>
      </p:sp>
      <p:sp>
        <p:nvSpPr>
          <p:cNvPr id="14" name="Text 11"/>
          <p:cNvSpPr/>
          <p:nvPr/>
        </p:nvSpPr>
        <p:spPr>
          <a:xfrm>
            <a:off x="10728655" y="3520440"/>
            <a:ext cx="822960" cy="365760"/>
          </a:xfrm>
          <a:prstGeom prst="rect">
            <a:avLst/>
          </a:prstGeom>
          <a:noFill/>
          <a:ln/>
        </p:spPr>
        <p:txBody>
          <a:bodyPr wrap="square" rtlCol="0" anchor="ctr"/>
          <a:lstStyle/>
          <a:p>
            <a:pPr algn="ctr" indent="0" marL="0">
              <a:buNone/>
            </a:pPr>
            <a:r>
              <a:rPr lang="en-US" sz="1000" b="1" dirty="0">
                <a:solidFill>
                  <a:srgbClr val="D4A574"/>
                </a:solidFill>
                <a:latin typeface="Calibri" pitchFamily="34" charset="0"/>
                <a:ea typeface="Calibri" pitchFamily="34" charset="-122"/>
                <a:cs typeface="Calibri" pitchFamily="34" charset="-120"/>
              </a:rPr>
              <a:t>0 ثانية</a:t>
            </a:r>
            <a:endParaRPr lang="en-US" sz="1000" dirty="0"/>
          </a:p>
        </p:txBody>
      </p:sp>
      <p:sp>
        <p:nvSpPr>
          <p:cNvPr id="15" name="Text 12"/>
          <p:cNvSpPr/>
          <p:nvPr/>
        </p:nvSpPr>
        <p:spPr>
          <a:xfrm>
            <a:off x="6126480" y="3502152"/>
            <a:ext cx="4510735" cy="411480"/>
          </a:xfrm>
          <a:prstGeom prst="rect">
            <a:avLst/>
          </a:prstGeom>
          <a:noFill/>
          <a:ln/>
        </p:spPr>
        <p:txBody>
          <a:bodyPr wrap="square" rtlCol="0" anchor="ctr"/>
          <a:lstStyle/>
          <a:p>
            <a:pPr rtl="1" algn="r" indent="0" marL="0">
              <a:buNone/>
            </a:pPr>
            <a:r>
              <a:rPr lang="en-US" sz="1100" dirty="0">
                <a:solidFill>
                  <a:srgbClr val="1A1A1A"/>
                </a:solidFill>
                <a:latin typeface="Calibri" pitchFamily="34" charset="0"/>
                <a:ea typeface="Calibri" pitchFamily="34" charset="-122"/>
                <a:cs typeface="Calibri" pitchFamily="34" charset="-120"/>
              </a:rPr>
              <a:t>رسالة WhatsApp: "أبي شحنة من الرياض لجدة، كرتون 120 كجم"</a:t>
            </a:r>
            <a:endParaRPr lang="en-US" sz="1100" dirty="0"/>
          </a:p>
        </p:txBody>
      </p:sp>
      <p:sp>
        <p:nvSpPr>
          <p:cNvPr id="16" name="Shape 13"/>
          <p:cNvSpPr/>
          <p:nvPr/>
        </p:nvSpPr>
        <p:spPr>
          <a:xfrm>
            <a:off x="10728655" y="3977640"/>
            <a:ext cx="822960" cy="365760"/>
          </a:xfrm>
          <a:prstGeom prst="rect">
            <a:avLst/>
          </a:prstGeom>
          <a:solidFill>
            <a:srgbClr val="0A1628"/>
          </a:solidFill>
          <a:ln/>
        </p:spPr>
      </p:sp>
      <p:sp>
        <p:nvSpPr>
          <p:cNvPr id="17" name="Text 14"/>
          <p:cNvSpPr/>
          <p:nvPr/>
        </p:nvSpPr>
        <p:spPr>
          <a:xfrm>
            <a:off x="10728655" y="3977640"/>
            <a:ext cx="822960" cy="365760"/>
          </a:xfrm>
          <a:prstGeom prst="rect">
            <a:avLst/>
          </a:prstGeom>
          <a:noFill/>
          <a:ln/>
        </p:spPr>
        <p:txBody>
          <a:bodyPr wrap="square" rtlCol="0" anchor="ctr"/>
          <a:lstStyle/>
          <a:p>
            <a:pPr algn="ctr" indent="0" marL="0">
              <a:buNone/>
            </a:pPr>
            <a:r>
              <a:rPr lang="en-US" sz="1000" b="1" dirty="0">
                <a:solidFill>
                  <a:srgbClr val="D4A574"/>
                </a:solidFill>
                <a:latin typeface="Calibri" pitchFamily="34" charset="0"/>
                <a:ea typeface="Calibri" pitchFamily="34" charset="-122"/>
                <a:cs typeface="Calibri" pitchFamily="34" charset="-120"/>
              </a:rPr>
              <a:t>15 ثانية</a:t>
            </a:r>
            <a:endParaRPr lang="en-US" sz="1000" dirty="0"/>
          </a:p>
        </p:txBody>
      </p:sp>
      <p:sp>
        <p:nvSpPr>
          <p:cNvPr id="18" name="Text 15"/>
          <p:cNvSpPr/>
          <p:nvPr/>
        </p:nvSpPr>
        <p:spPr>
          <a:xfrm>
            <a:off x="6126480" y="3959352"/>
            <a:ext cx="4510735" cy="411480"/>
          </a:xfrm>
          <a:prstGeom prst="rect">
            <a:avLst/>
          </a:prstGeom>
          <a:noFill/>
          <a:ln/>
        </p:spPr>
        <p:txBody>
          <a:bodyPr wrap="square" rtlCol="0" anchor="ctr"/>
          <a:lstStyle/>
          <a:p>
            <a:pPr rtl="1" algn="r" indent="0" marL="0">
              <a:buNone/>
            </a:pPr>
            <a:r>
              <a:rPr lang="en-US" sz="1100" dirty="0">
                <a:solidFill>
                  <a:srgbClr val="1A1A1A"/>
                </a:solidFill>
                <a:latin typeface="Calibri" pitchFamily="34" charset="0"/>
                <a:ea typeface="Calibri" pitchFamily="34" charset="-122"/>
                <a:cs typeface="Calibri" pitchFamily="34" charset="-120"/>
              </a:rPr>
              <a:t>AI يستخرج: مصدر · وجهة · وزن · نوع بضاعة · استعجال</a:t>
            </a:r>
            <a:endParaRPr lang="en-US" sz="1100" dirty="0"/>
          </a:p>
        </p:txBody>
      </p:sp>
      <p:sp>
        <p:nvSpPr>
          <p:cNvPr id="19" name="Shape 16"/>
          <p:cNvSpPr/>
          <p:nvPr/>
        </p:nvSpPr>
        <p:spPr>
          <a:xfrm>
            <a:off x="10728655" y="4434840"/>
            <a:ext cx="822960" cy="365760"/>
          </a:xfrm>
          <a:prstGeom prst="rect">
            <a:avLst/>
          </a:prstGeom>
          <a:solidFill>
            <a:srgbClr val="0A1628"/>
          </a:solidFill>
          <a:ln/>
        </p:spPr>
      </p:sp>
      <p:sp>
        <p:nvSpPr>
          <p:cNvPr id="20" name="Text 17"/>
          <p:cNvSpPr/>
          <p:nvPr/>
        </p:nvSpPr>
        <p:spPr>
          <a:xfrm>
            <a:off x="10728655" y="4434840"/>
            <a:ext cx="822960" cy="365760"/>
          </a:xfrm>
          <a:prstGeom prst="rect">
            <a:avLst/>
          </a:prstGeom>
          <a:noFill/>
          <a:ln/>
        </p:spPr>
        <p:txBody>
          <a:bodyPr wrap="square" rtlCol="0" anchor="ctr"/>
          <a:lstStyle/>
          <a:p>
            <a:pPr algn="ctr" indent="0" marL="0">
              <a:buNone/>
            </a:pPr>
            <a:r>
              <a:rPr lang="en-US" sz="1000" b="1" dirty="0">
                <a:solidFill>
                  <a:srgbClr val="D4A574"/>
                </a:solidFill>
                <a:latin typeface="Calibri" pitchFamily="34" charset="0"/>
                <a:ea typeface="Calibri" pitchFamily="34" charset="-122"/>
                <a:cs typeface="Calibri" pitchFamily="34" charset="-120"/>
              </a:rPr>
              <a:t>30 ثانية</a:t>
            </a:r>
            <a:endParaRPr lang="en-US" sz="1000" dirty="0"/>
          </a:p>
        </p:txBody>
      </p:sp>
      <p:sp>
        <p:nvSpPr>
          <p:cNvPr id="21" name="Text 18"/>
          <p:cNvSpPr/>
          <p:nvPr/>
        </p:nvSpPr>
        <p:spPr>
          <a:xfrm>
            <a:off x="6126480" y="4416552"/>
            <a:ext cx="4510735" cy="411480"/>
          </a:xfrm>
          <a:prstGeom prst="rect">
            <a:avLst/>
          </a:prstGeom>
          <a:noFill/>
          <a:ln/>
        </p:spPr>
        <p:txBody>
          <a:bodyPr wrap="square" rtlCol="0" anchor="ctr"/>
          <a:lstStyle/>
          <a:p>
            <a:pPr rtl="1" algn="r" indent="0" marL="0">
              <a:buNone/>
            </a:pPr>
            <a:r>
              <a:rPr lang="en-US" sz="1100" dirty="0">
                <a:solidFill>
                  <a:srgbClr val="1A1A1A"/>
                </a:solidFill>
                <a:latin typeface="Calibri" pitchFamily="34" charset="0"/>
                <a:ea typeface="Calibri" pitchFamily="34" charset="-122"/>
                <a:cs typeface="Calibri" pitchFamily="34" charset="-120"/>
              </a:rPr>
              <a:t>تحقّق تلقائي: هل العميل في CRM؟ ما تاريخه؟ حدّه الائتماني؟</a:t>
            </a:r>
            <a:endParaRPr lang="en-US" sz="1100" dirty="0"/>
          </a:p>
        </p:txBody>
      </p:sp>
      <p:sp>
        <p:nvSpPr>
          <p:cNvPr id="22" name="Shape 19"/>
          <p:cNvSpPr/>
          <p:nvPr/>
        </p:nvSpPr>
        <p:spPr>
          <a:xfrm>
            <a:off x="10728655" y="4892040"/>
            <a:ext cx="822960" cy="365760"/>
          </a:xfrm>
          <a:prstGeom prst="rect">
            <a:avLst/>
          </a:prstGeom>
          <a:solidFill>
            <a:srgbClr val="0A1628"/>
          </a:solidFill>
          <a:ln/>
        </p:spPr>
      </p:sp>
      <p:sp>
        <p:nvSpPr>
          <p:cNvPr id="23" name="Text 20"/>
          <p:cNvSpPr/>
          <p:nvPr/>
        </p:nvSpPr>
        <p:spPr>
          <a:xfrm>
            <a:off x="10728655" y="4892040"/>
            <a:ext cx="822960" cy="365760"/>
          </a:xfrm>
          <a:prstGeom prst="rect">
            <a:avLst/>
          </a:prstGeom>
          <a:noFill/>
          <a:ln/>
        </p:spPr>
        <p:txBody>
          <a:bodyPr wrap="square" rtlCol="0" anchor="ctr"/>
          <a:lstStyle/>
          <a:p>
            <a:pPr algn="ctr" indent="0" marL="0">
              <a:buNone/>
            </a:pPr>
            <a:r>
              <a:rPr lang="en-US" sz="1000" b="1" dirty="0">
                <a:solidFill>
                  <a:srgbClr val="D4A574"/>
                </a:solidFill>
                <a:latin typeface="Calibri" pitchFamily="34" charset="0"/>
                <a:ea typeface="Calibri" pitchFamily="34" charset="-122"/>
                <a:cs typeface="Calibri" pitchFamily="34" charset="-120"/>
              </a:rPr>
              <a:t>45 ثانية</a:t>
            </a:r>
            <a:endParaRPr lang="en-US" sz="1000" dirty="0"/>
          </a:p>
        </p:txBody>
      </p:sp>
      <p:sp>
        <p:nvSpPr>
          <p:cNvPr id="24" name="Text 21"/>
          <p:cNvSpPr/>
          <p:nvPr/>
        </p:nvSpPr>
        <p:spPr>
          <a:xfrm>
            <a:off x="6126480" y="4873752"/>
            <a:ext cx="4510735" cy="411480"/>
          </a:xfrm>
          <a:prstGeom prst="rect">
            <a:avLst/>
          </a:prstGeom>
          <a:noFill/>
          <a:ln/>
        </p:spPr>
        <p:txBody>
          <a:bodyPr wrap="square" rtlCol="0" anchor="ctr"/>
          <a:lstStyle/>
          <a:p>
            <a:pPr rtl="1" algn="r" indent="0" marL="0">
              <a:buNone/>
            </a:pPr>
            <a:r>
              <a:rPr lang="en-US" sz="1100" dirty="0">
                <a:solidFill>
                  <a:srgbClr val="1A1A1A"/>
                </a:solidFill>
                <a:latin typeface="Calibri" pitchFamily="34" charset="0"/>
                <a:ea typeface="Calibri" pitchFamily="34" charset="-122"/>
                <a:cs typeface="Calibri" pitchFamily="34" charset="-120"/>
              </a:rPr>
              <a:t>حساب سعر فوري من جدول التعرفة + تأكيد هامش الربح</a:t>
            </a:r>
            <a:endParaRPr lang="en-US" sz="1100" dirty="0"/>
          </a:p>
        </p:txBody>
      </p:sp>
      <p:sp>
        <p:nvSpPr>
          <p:cNvPr id="25" name="Shape 22"/>
          <p:cNvSpPr/>
          <p:nvPr/>
        </p:nvSpPr>
        <p:spPr>
          <a:xfrm>
            <a:off x="10728655" y="5349240"/>
            <a:ext cx="822960" cy="365760"/>
          </a:xfrm>
          <a:prstGeom prst="rect">
            <a:avLst/>
          </a:prstGeom>
          <a:solidFill>
            <a:srgbClr val="0A1628"/>
          </a:solidFill>
          <a:ln/>
        </p:spPr>
      </p:sp>
      <p:sp>
        <p:nvSpPr>
          <p:cNvPr id="26" name="Text 23"/>
          <p:cNvSpPr/>
          <p:nvPr/>
        </p:nvSpPr>
        <p:spPr>
          <a:xfrm>
            <a:off x="10728655" y="5349240"/>
            <a:ext cx="822960" cy="365760"/>
          </a:xfrm>
          <a:prstGeom prst="rect">
            <a:avLst/>
          </a:prstGeom>
          <a:noFill/>
          <a:ln/>
        </p:spPr>
        <p:txBody>
          <a:bodyPr wrap="square" rtlCol="0" anchor="ctr"/>
          <a:lstStyle/>
          <a:p>
            <a:pPr algn="ctr" indent="0" marL="0">
              <a:buNone/>
            </a:pPr>
            <a:r>
              <a:rPr lang="en-US" sz="1000" b="1" dirty="0">
                <a:solidFill>
                  <a:srgbClr val="D4A574"/>
                </a:solidFill>
                <a:latin typeface="Calibri" pitchFamily="34" charset="0"/>
                <a:ea typeface="Calibri" pitchFamily="34" charset="-122"/>
                <a:cs typeface="Calibri" pitchFamily="34" charset="-120"/>
              </a:rPr>
              <a:t>60 ثانية</a:t>
            </a:r>
            <a:endParaRPr lang="en-US" sz="1000" dirty="0"/>
          </a:p>
        </p:txBody>
      </p:sp>
      <p:sp>
        <p:nvSpPr>
          <p:cNvPr id="27" name="Text 24"/>
          <p:cNvSpPr/>
          <p:nvPr/>
        </p:nvSpPr>
        <p:spPr>
          <a:xfrm>
            <a:off x="6126480" y="5330952"/>
            <a:ext cx="4510735" cy="411480"/>
          </a:xfrm>
          <a:prstGeom prst="rect">
            <a:avLst/>
          </a:prstGeom>
          <a:noFill/>
          <a:ln/>
        </p:spPr>
        <p:txBody>
          <a:bodyPr wrap="square" rtlCol="0" anchor="ctr"/>
          <a:lstStyle/>
          <a:p>
            <a:pPr rtl="1" algn="r" indent="0" marL="0">
              <a:buNone/>
            </a:pPr>
            <a:r>
              <a:rPr lang="en-US" sz="1100" dirty="0">
                <a:solidFill>
                  <a:srgbClr val="1A1A1A"/>
                </a:solidFill>
                <a:latin typeface="Calibri" pitchFamily="34" charset="0"/>
                <a:ea typeface="Calibri" pitchFamily="34" charset="-122"/>
                <a:cs typeface="Calibri" pitchFamily="34" charset="-120"/>
              </a:rPr>
              <a:t>إرسال العرض بالعربية مع صورة فاتورة احترافية</a:t>
            </a:r>
            <a:endParaRPr lang="en-US" sz="1100" dirty="0"/>
          </a:p>
        </p:txBody>
      </p:sp>
      <p:sp>
        <p:nvSpPr>
          <p:cNvPr id="28" name="Shape 25"/>
          <p:cNvSpPr/>
          <p:nvPr/>
        </p:nvSpPr>
        <p:spPr>
          <a:xfrm>
            <a:off x="10728655" y="5806440"/>
            <a:ext cx="822960" cy="365760"/>
          </a:xfrm>
          <a:prstGeom prst="rect">
            <a:avLst/>
          </a:prstGeom>
          <a:solidFill>
            <a:srgbClr val="0A1628"/>
          </a:solidFill>
          <a:ln/>
        </p:spPr>
      </p:sp>
      <p:sp>
        <p:nvSpPr>
          <p:cNvPr id="29" name="Text 26"/>
          <p:cNvSpPr/>
          <p:nvPr/>
        </p:nvSpPr>
        <p:spPr>
          <a:xfrm>
            <a:off x="10728655" y="5806440"/>
            <a:ext cx="822960" cy="365760"/>
          </a:xfrm>
          <a:prstGeom prst="rect">
            <a:avLst/>
          </a:prstGeom>
          <a:noFill/>
          <a:ln/>
        </p:spPr>
        <p:txBody>
          <a:bodyPr wrap="square" rtlCol="0" anchor="ctr"/>
          <a:lstStyle/>
          <a:p>
            <a:pPr algn="ctr" indent="0" marL="0">
              <a:buNone/>
            </a:pPr>
            <a:r>
              <a:rPr lang="en-US" sz="1000" b="1" dirty="0">
                <a:solidFill>
                  <a:srgbClr val="D4A574"/>
                </a:solidFill>
                <a:latin typeface="Calibri" pitchFamily="34" charset="0"/>
                <a:ea typeface="Calibri" pitchFamily="34" charset="-122"/>
                <a:cs typeface="Calibri" pitchFamily="34" charset="-120"/>
              </a:rPr>
              <a:t>90 ثانية</a:t>
            </a:r>
            <a:endParaRPr lang="en-US" sz="1000" dirty="0"/>
          </a:p>
        </p:txBody>
      </p:sp>
      <p:sp>
        <p:nvSpPr>
          <p:cNvPr id="30" name="Text 27"/>
          <p:cNvSpPr/>
          <p:nvPr/>
        </p:nvSpPr>
        <p:spPr>
          <a:xfrm>
            <a:off x="6126480" y="5788152"/>
            <a:ext cx="4510735" cy="411480"/>
          </a:xfrm>
          <a:prstGeom prst="rect">
            <a:avLst/>
          </a:prstGeom>
          <a:noFill/>
          <a:ln/>
        </p:spPr>
        <p:txBody>
          <a:bodyPr wrap="square" rtlCol="0" anchor="ctr"/>
          <a:lstStyle/>
          <a:p>
            <a:pPr rtl="1" algn="r" indent="0" marL="0">
              <a:buNone/>
            </a:pPr>
            <a:r>
              <a:rPr lang="en-US" sz="1100" dirty="0">
                <a:solidFill>
                  <a:srgbClr val="1A1A1A"/>
                </a:solidFill>
                <a:latin typeface="Calibri" pitchFamily="34" charset="0"/>
                <a:ea typeface="Calibri" pitchFamily="34" charset="-122"/>
                <a:cs typeface="Calibri" pitchFamily="34" charset="-120"/>
              </a:rPr>
              <a:t>عند القبول: حجز مركبة + إشعار السائق + تتبّع مباشر</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8F3"/>
        </a:solidFill>
      </p:bgPr>
    </p:bg>
    <p:spTree>
      <p:nvGrpSpPr>
        <p:cNvPr id="1" name=""/>
        <p:cNvGrpSpPr/>
        <p:nvPr/>
      </p:nvGrpSpPr>
      <p:grpSpPr>
        <a:xfrm>
          <a:off x="0" y="0"/>
          <a:ext cx="0" cy="0"/>
          <a:chOff x="0" y="0"/>
          <a:chExt cx="0" cy="0"/>
        </a:xfrm>
      </p:grpSpPr>
      <p:sp>
        <p:nvSpPr>
          <p:cNvPr id="2" name="Shape 0"/>
          <p:cNvSpPr/>
          <p:nvPr/>
        </p:nvSpPr>
        <p:spPr>
          <a:xfrm>
            <a:off x="11734495" y="320040"/>
            <a:ext cx="73152" cy="411480"/>
          </a:xfrm>
          <a:prstGeom prst="rect">
            <a:avLst/>
          </a:prstGeom>
          <a:solidFill>
            <a:srgbClr val="D4A574"/>
          </a:solidFill>
          <a:ln/>
        </p:spPr>
      </p:sp>
      <p:sp>
        <p:nvSpPr>
          <p:cNvPr id="3" name="Text 1"/>
          <p:cNvSpPr/>
          <p:nvPr/>
        </p:nvSpPr>
        <p:spPr>
          <a:xfrm>
            <a:off x="8076895" y="274320"/>
            <a:ext cx="3566160" cy="365760"/>
          </a:xfrm>
          <a:prstGeom prst="rect">
            <a:avLst/>
          </a:prstGeom>
          <a:noFill/>
          <a:ln/>
        </p:spPr>
        <p:txBody>
          <a:bodyPr wrap="square" rtlCol="0" anchor="ctr"/>
          <a:lstStyle/>
          <a:p>
            <a:pPr rtl="1" algn="r" indent="0" marL="0">
              <a:buNone/>
            </a:pPr>
            <a:r>
              <a:rPr lang="en-US" sz="1200" b="1" dirty="0">
                <a:solidFill>
                  <a:srgbClr val="55606E"/>
                </a:solidFill>
                <a:latin typeface="Calibri" pitchFamily="34" charset="0"/>
                <a:ea typeface="Calibri" pitchFamily="34" charset="-122"/>
                <a:cs typeface="Calibri" pitchFamily="34" charset="-120"/>
              </a:rPr>
              <a:t>سيناريو 3 · حسابات خليجية</a:t>
            </a:r>
            <a:endParaRPr lang="en-US" sz="1200" dirty="0"/>
          </a:p>
        </p:txBody>
      </p:sp>
      <p:sp>
        <p:nvSpPr>
          <p:cNvPr id="4" name="Text 2"/>
          <p:cNvSpPr/>
          <p:nvPr/>
        </p:nvSpPr>
        <p:spPr>
          <a:xfrm>
            <a:off x="457200" y="6446520"/>
            <a:ext cx="2286000" cy="274320"/>
          </a:xfrm>
          <a:prstGeom prst="rect">
            <a:avLst/>
          </a:prstGeom>
          <a:noFill/>
          <a:ln/>
        </p:spPr>
        <p:txBody>
          <a:bodyPr wrap="square" rtlCol="0" anchor="ctr"/>
          <a:lstStyle/>
          <a:p>
            <a:pPr algn="l" indent="0" marL="0">
              <a:buNone/>
            </a:pPr>
            <a:r>
              <a:rPr lang="en-US" sz="900" dirty="0">
                <a:solidFill>
                  <a:srgbClr val="8B95A3"/>
                </a:solidFill>
                <a:latin typeface="Calibri" pitchFamily="34" charset="0"/>
                <a:ea typeface="Calibri" pitchFamily="34" charset="-122"/>
                <a:cs typeface="Calibri" pitchFamily="34" charset="-120"/>
              </a:rPr>
              <a:t>Dealix · ديلكس</a:t>
            </a:r>
            <a:endParaRPr lang="en-US" sz="900" dirty="0"/>
          </a:p>
        </p:txBody>
      </p:sp>
      <p:sp>
        <p:nvSpPr>
          <p:cNvPr id="5" name="Text 3"/>
          <p:cNvSpPr/>
          <p:nvPr/>
        </p:nvSpPr>
        <p:spPr>
          <a:xfrm>
            <a:off x="11094415" y="6446520"/>
            <a:ext cx="640080" cy="274320"/>
          </a:xfrm>
          <a:prstGeom prst="rect">
            <a:avLst/>
          </a:prstGeom>
          <a:noFill/>
          <a:ln/>
        </p:spPr>
        <p:txBody>
          <a:bodyPr wrap="square" rtlCol="0" anchor="ctr"/>
          <a:lstStyle/>
          <a:p>
            <a:pPr algn="r" indent="0" marL="0">
              <a:buNone/>
            </a:pPr>
            <a:r>
              <a:rPr lang="en-US" sz="900" b="1" dirty="0">
                <a:solidFill>
                  <a:srgbClr val="8B95A3"/>
                </a:solidFill>
                <a:latin typeface="Calibri" pitchFamily="34" charset="0"/>
                <a:ea typeface="Calibri" pitchFamily="34" charset="-122"/>
                <a:cs typeface="Calibri" pitchFamily="34" charset="-120"/>
              </a:rPr>
              <a:t>22</a:t>
            </a:r>
            <a:endParaRPr lang="en-US" sz="900" dirty="0"/>
          </a:p>
        </p:txBody>
      </p:sp>
      <p:sp>
        <p:nvSpPr>
          <p:cNvPr id="6" name="Text 4"/>
          <p:cNvSpPr/>
          <p:nvPr/>
        </p:nvSpPr>
        <p:spPr>
          <a:xfrm>
            <a:off x="548640" y="914400"/>
            <a:ext cx="11094415" cy="822960"/>
          </a:xfrm>
          <a:prstGeom prst="rect">
            <a:avLst/>
          </a:prstGeom>
          <a:noFill/>
          <a:ln/>
        </p:spPr>
        <p:txBody>
          <a:bodyPr wrap="square" rtlCol="0" anchor="ctr"/>
          <a:lstStyle/>
          <a:p>
            <a:pPr rtl="1" algn="r" indent="0" marL="0">
              <a:buNone/>
            </a:pPr>
            <a:r>
              <a:rPr lang="en-US" sz="3400" b="1" dirty="0">
                <a:solidFill>
                  <a:srgbClr val="0A1628"/>
                </a:solidFill>
                <a:latin typeface="Calibri" pitchFamily="34" charset="0"/>
                <a:ea typeface="Calibri" pitchFamily="34" charset="-122"/>
                <a:cs typeface="Calibri" pitchFamily="34" charset="-120"/>
              </a:rPr>
              <a:t>سيناريو 3 — إدارة الحسابات الرئيسية الخليجية</a:t>
            </a:r>
            <a:endParaRPr lang="en-US" sz="3400" dirty="0"/>
          </a:p>
        </p:txBody>
      </p:sp>
      <p:sp>
        <p:nvSpPr>
          <p:cNvPr id="7" name="Text 5"/>
          <p:cNvSpPr/>
          <p:nvPr/>
        </p:nvSpPr>
        <p:spPr>
          <a:xfrm>
            <a:off x="548640" y="1691640"/>
            <a:ext cx="11094415" cy="411480"/>
          </a:xfrm>
          <a:prstGeom prst="rect">
            <a:avLst/>
          </a:prstGeom>
          <a:noFill/>
          <a:ln/>
        </p:spPr>
        <p:txBody>
          <a:bodyPr wrap="square" rtlCol="0" anchor="ctr"/>
          <a:lstStyle/>
          <a:p>
            <a:pPr rtl="1" algn="r" indent="0" marL="0">
              <a:buNone/>
            </a:pPr>
            <a:r>
              <a:rPr lang="en-US" sz="1500" dirty="0">
                <a:solidFill>
                  <a:srgbClr val="55606E"/>
                </a:solidFill>
                <a:latin typeface="Calibri" pitchFamily="34" charset="0"/>
                <a:ea typeface="Calibri" pitchFamily="34" charset="-122"/>
                <a:cs typeface="Calibri" pitchFamily="34" charset="-120"/>
              </a:rPr>
              <a:t>Cross-Gulf Key Account Management — رؤية موحّدة لعميل واحد عبر فروعكم الخمسة</a:t>
            </a:r>
            <a:endParaRPr lang="en-US" sz="1500" dirty="0"/>
          </a:p>
        </p:txBody>
      </p:sp>
      <p:sp>
        <p:nvSpPr>
          <p:cNvPr id="8" name="Shape 6"/>
          <p:cNvSpPr/>
          <p:nvPr/>
        </p:nvSpPr>
        <p:spPr>
          <a:xfrm>
            <a:off x="502920" y="2286000"/>
            <a:ext cx="6492240" cy="3931920"/>
          </a:xfrm>
          <a:prstGeom prst="rect">
            <a:avLst/>
          </a:prstGeom>
          <a:solidFill>
            <a:srgbClr val="0A1628"/>
          </a:solidFill>
          <a:ln/>
        </p:spPr>
      </p:sp>
      <p:pic>
        <p:nvPicPr>
          <p:cNvPr id="9" name="Image 0" descr="/home/user/workspace/dealix-clean/dashboard/assets/screenshot-analytics2.png">    </p:cNvPr>
          <p:cNvPicPr>
            <a:picLocks noChangeAspect="1"/>
          </p:cNvPicPr>
          <p:nvPr/>
        </p:nvPicPr>
        <p:blipFill>
          <a:blip r:embed="rId1"/>
          <a:srcRect l="0" r="0" t="0" b="0"/>
          <a:stretch/>
        </p:blipFill>
        <p:spPr>
          <a:xfrm>
            <a:off x="548640" y="2331720"/>
            <a:ext cx="6400800" cy="3840480"/>
          </a:xfrm>
          <a:prstGeom prst="rect">
            <a:avLst/>
          </a:prstGeom>
        </p:spPr>
      </p:pic>
      <p:sp>
        <p:nvSpPr>
          <p:cNvPr id="10" name="Text 7"/>
          <p:cNvSpPr/>
          <p:nvPr/>
        </p:nvSpPr>
        <p:spPr>
          <a:xfrm>
            <a:off x="548640" y="6245352"/>
            <a:ext cx="6400800" cy="274320"/>
          </a:xfrm>
          <a:prstGeom prst="rect">
            <a:avLst/>
          </a:prstGeom>
          <a:noFill/>
          <a:ln/>
        </p:spPr>
        <p:txBody>
          <a:bodyPr wrap="square" rtlCol="0" anchor="ctr"/>
          <a:lstStyle/>
          <a:p>
            <a:pPr algn="l" indent="0" marL="0">
              <a:buNone/>
            </a:pPr>
            <a:r>
              <a:rPr lang="en-US" sz="1000" i="1" dirty="0">
                <a:solidFill>
                  <a:srgbClr val="8B95A3"/>
                </a:solidFill>
                <a:latin typeface="Calibri" pitchFamily="34" charset="0"/>
                <a:ea typeface="Calibri" pitchFamily="34" charset="-122"/>
                <a:cs typeface="Calibri" pitchFamily="34" charset="-120"/>
              </a:rPr>
              <a:t>Dealix Analytics — Multi-Branch Account View</a:t>
            </a:r>
            <a:endParaRPr lang="en-US" sz="1000" dirty="0"/>
          </a:p>
        </p:txBody>
      </p:sp>
      <p:sp>
        <p:nvSpPr>
          <p:cNvPr id="11" name="Text 8"/>
          <p:cNvSpPr/>
          <p:nvPr/>
        </p:nvSpPr>
        <p:spPr>
          <a:xfrm>
            <a:off x="7223760" y="2331720"/>
            <a:ext cx="4419295" cy="320040"/>
          </a:xfrm>
          <a:prstGeom prst="rect">
            <a:avLst/>
          </a:prstGeom>
          <a:noFill/>
          <a:ln/>
        </p:spPr>
        <p:txBody>
          <a:bodyPr wrap="square" rtlCol="0" anchor="ctr"/>
          <a:lstStyle/>
          <a:p>
            <a:pPr rtl="1" algn="r" indent="0" marL="0">
              <a:buNone/>
            </a:pPr>
            <a:r>
              <a:rPr lang="en-US" sz="1100" b="1" dirty="0">
                <a:solidFill>
                  <a:srgbClr val="D4A574"/>
                </a:solidFill>
                <a:latin typeface="Calibri" pitchFamily="34" charset="0"/>
                <a:ea typeface="Calibri" pitchFamily="34" charset="-122"/>
                <a:cs typeface="Calibri" pitchFamily="34" charset="-120"/>
              </a:rPr>
              <a:t>KEY ACCOUNT · الحساب الرئيسي</a:t>
            </a:r>
            <a:endParaRPr lang="en-US" sz="1100" dirty="0"/>
          </a:p>
        </p:txBody>
      </p:sp>
      <p:sp>
        <p:nvSpPr>
          <p:cNvPr id="12" name="Text 9"/>
          <p:cNvSpPr/>
          <p:nvPr/>
        </p:nvSpPr>
        <p:spPr>
          <a:xfrm>
            <a:off x="7223760" y="2651760"/>
            <a:ext cx="4419295" cy="548640"/>
          </a:xfrm>
          <a:prstGeom prst="rect">
            <a:avLst/>
          </a:prstGeom>
          <a:noFill/>
          <a:ln/>
        </p:spPr>
        <p:txBody>
          <a:bodyPr wrap="square" rtlCol="0" anchor="ctr"/>
          <a:lstStyle/>
          <a:p>
            <a:pPr rtl="1" algn="r" indent="0" marL="0">
              <a:buNone/>
            </a:pPr>
            <a:r>
              <a:rPr lang="en-US" sz="2200" b="1" dirty="0">
                <a:solidFill>
                  <a:srgbClr val="0A1628"/>
                </a:solidFill>
                <a:latin typeface="Calibri" pitchFamily="34" charset="0"/>
                <a:ea typeface="Calibri" pitchFamily="34" charset="-122"/>
                <a:cs typeface="Calibri" pitchFamily="34" charset="-120"/>
              </a:rPr>
              <a:t>مشكلة حقيقية — حل موحّد</a:t>
            </a:r>
            <a:endParaRPr lang="en-US" sz="2200" dirty="0"/>
          </a:p>
        </p:txBody>
      </p:sp>
      <p:sp>
        <p:nvSpPr>
          <p:cNvPr id="13" name="Text 10"/>
          <p:cNvSpPr/>
          <p:nvPr/>
        </p:nvSpPr>
        <p:spPr>
          <a:xfrm>
            <a:off x="11368735" y="3291840"/>
            <a:ext cx="228600" cy="411480"/>
          </a:xfrm>
          <a:prstGeom prst="rect">
            <a:avLst/>
          </a:prstGeom>
          <a:noFill/>
          <a:ln/>
        </p:spPr>
        <p:txBody>
          <a:bodyPr wrap="square" rtlCol="0" anchor="t"/>
          <a:lstStyle/>
          <a:p>
            <a:pPr algn="r" indent="0" marL="0">
              <a:buNone/>
            </a:pPr>
            <a:r>
              <a:rPr lang="en-US" sz="1200" dirty="0">
                <a:solidFill>
                  <a:srgbClr val="D4A574"/>
                </a:solidFill>
                <a:latin typeface="Calibri" pitchFamily="34" charset="0"/>
                <a:ea typeface="Calibri" pitchFamily="34" charset="-122"/>
                <a:cs typeface="Calibri" pitchFamily="34" charset="-120"/>
              </a:rPr>
              <a:t>—</a:t>
            </a:r>
            <a:endParaRPr lang="en-US" sz="1200" dirty="0"/>
          </a:p>
        </p:txBody>
      </p:sp>
      <p:sp>
        <p:nvSpPr>
          <p:cNvPr id="14" name="Text 11"/>
          <p:cNvSpPr/>
          <p:nvPr/>
        </p:nvSpPr>
        <p:spPr>
          <a:xfrm>
            <a:off x="7223760" y="3291840"/>
            <a:ext cx="4053535" cy="457200"/>
          </a:xfrm>
          <a:prstGeom prst="rect">
            <a:avLst/>
          </a:prstGeom>
          <a:noFill/>
          <a:ln/>
        </p:spPr>
        <p:txBody>
          <a:bodyPr wrap="square" rtlCol="0" anchor="t"/>
          <a:lstStyle/>
          <a:p>
            <a:pPr rtl="1" algn="r" indent="0" marL="0">
              <a:buNone/>
            </a:pPr>
            <a:r>
              <a:rPr lang="en-US" sz="1150" dirty="0">
                <a:solidFill>
                  <a:srgbClr val="1A1A1A"/>
                </a:solidFill>
                <a:latin typeface="Calibri" pitchFamily="34" charset="0"/>
                <a:ea typeface="Calibri" pitchFamily="34" charset="-122"/>
                <a:cs typeface="Calibri" pitchFamily="34" charset="-120"/>
              </a:rPr>
              <a:t>سيناريو: أرامكو تطلب شحن من الدمام → دبي → الكويت</a:t>
            </a:r>
            <a:endParaRPr lang="en-US" sz="1150" dirty="0"/>
          </a:p>
        </p:txBody>
      </p:sp>
      <p:sp>
        <p:nvSpPr>
          <p:cNvPr id="15" name="Text 12"/>
          <p:cNvSpPr/>
          <p:nvPr/>
        </p:nvSpPr>
        <p:spPr>
          <a:xfrm>
            <a:off x="11368735" y="3730752"/>
            <a:ext cx="228600" cy="411480"/>
          </a:xfrm>
          <a:prstGeom prst="rect">
            <a:avLst/>
          </a:prstGeom>
          <a:noFill/>
          <a:ln/>
        </p:spPr>
        <p:txBody>
          <a:bodyPr wrap="square" rtlCol="0" anchor="t"/>
          <a:lstStyle/>
          <a:p>
            <a:pPr algn="r" indent="0" marL="0">
              <a:buNone/>
            </a:pPr>
            <a:r>
              <a:rPr lang="en-US" sz="1200" dirty="0">
                <a:solidFill>
                  <a:srgbClr val="D4A574"/>
                </a:solidFill>
                <a:latin typeface="Calibri" pitchFamily="34" charset="0"/>
                <a:ea typeface="Calibri" pitchFamily="34" charset="-122"/>
                <a:cs typeface="Calibri" pitchFamily="34" charset="-120"/>
              </a:rPr>
              <a:t>—</a:t>
            </a:r>
            <a:endParaRPr lang="en-US" sz="1200" dirty="0"/>
          </a:p>
        </p:txBody>
      </p:sp>
      <p:sp>
        <p:nvSpPr>
          <p:cNvPr id="16" name="Text 13"/>
          <p:cNvSpPr/>
          <p:nvPr/>
        </p:nvSpPr>
        <p:spPr>
          <a:xfrm>
            <a:off x="7223760" y="3730752"/>
            <a:ext cx="4053535" cy="457200"/>
          </a:xfrm>
          <a:prstGeom prst="rect">
            <a:avLst/>
          </a:prstGeom>
          <a:noFill/>
          <a:ln/>
        </p:spPr>
        <p:txBody>
          <a:bodyPr wrap="square" rtlCol="0" anchor="t"/>
          <a:lstStyle/>
          <a:p>
            <a:pPr rtl="1" algn="r" indent="0" marL="0">
              <a:buNone/>
            </a:pPr>
            <a:r>
              <a:rPr lang="en-US" sz="1150" dirty="0">
                <a:solidFill>
                  <a:srgbClr val="1A1A1A"/>
                </a:solidFill>
                <a:latin typeface="Calibri" pitchFamily="34" charset="0"/>
                <a:ea typeface="Calibri" pitchFamily="34" charset="-122"/>
                <a:cs typeface="Calibri" pitchFamily="34" charset="-120"/>
              </a:rPr>
              <a:t>اليوم: 3 فروع · 3 أنظمة · 3 عروض مختلفة — فوضى أسعار</a:t>
            </a:r>
            <a:endParaRPr lang="en-US" sz="1150" dirty="0"/>
          </a:p>
        </p:txBody>
      </p:sp>
      <p:sp>
        <p:nvSpPr>
          <p:cNvPr id="17" name="Text 14"/>
          <p:cNvSpPr/>
          <p:nvPr/>
        </p:nvSpPr>
        <p:spPr>
          <a:xfrm>
            <a:off x="11368735" y="4169664"/>
            <a:ext cx="228600" cy="411480"/>
          </a:xfrm>
          <a:prstGeom prst="rect">
            <a:avLst/>
          </a:prstGeom>
          <a:noFill/>
          <a:ln/>
        </p:spPr>
        <p:txBody>
          <a:bodyPr wrap="square" rtlCol="0" anchor="t"/>
          <a:lstStyle/>
          <a:p>
            <a:pPr algn="r" indent="0" marL="0">
              <a:buNone/>
            </a:pPr>
            <a:r>
              <a:rPr lang="en-US" sz="1200" dirty="0">
                <a:solidFill>
                  <a:srgbClr val="D4A574"/>
                </a:solidFill>
                <a:latin typeface="Calibri" pitchFamily="34" charset="0"/>
                <a:ea typeface="Calibri" pitchFamily="34" charset="-122"/>
                <a:cs typeface="Calibri" pitchFamily="34" charset="-120"/>
              </a:rPr>
              <a:t>—</a:t>
            </a:r>
            <a:endParaRPr lang="en-US" sz="1200" dirty="0"/>
          </a:p>
        </p:txBody>
      </p:sp>
      <p:sp>
        <p:nvSpPr>
          <p:cNvPr id="18" name="Text 15"/>
          <p:cNvSpPr/>
          <p:nvPr/>
        </p:nvSpPr>
        <p:spPr>
          <a:xfrm>
            <a:off x="7223760" y="4169664"/>
            <a:ext cx="4053535" cy="457200"/>
          </a:xfrm>
          <a:prstGeom prst="rect">
            <a:avLst/>
          </a:prstGeom>
          <a:noFill/>
          <a:ln/>
        </p:spPr>
        <p:txBody>
          <a:bodyPr wrap="square" rtlCol="0" anchor="t"/>
          <a:lstStyle/>
          <a:p>
            <a:pPr rtl="1" algn="r" indent="0" marL="0">
              <a:buNone/>
            </a:pPr>
            <a:r>
              <a:rPr lang="en-US" sz="1150" dirty="0">
                <a:solidFill>
                  <a:srgbClr val="1A1A1A"/>
                </a:solidFill>
                <a:latin typeface="Calibri" pitchFamily="34" charset="0"/>
                <a:ea typeface="Calibri" pitchFamily="34" charset="-122"/>
                <a:cs typeface="Calibri" pitchFamily="34" charset="-120"/>
              </a:rPr>
              <a:t>مع ديلكس: حساب واحد · بيانات موحّدة · عرض متكامل</a:t>
            </a:r>
            <a:endParaRPr lang="en-US" sz="1150" dirty="0"/>
          </a:p>
        </p:txBody>
      </p:sp>
      <p:sp>
        <p:nvSpPr>
          <p:cNvPr id="19" name="Text 16"/>
          <p:cNvSpPr/>
          <p:nvPr/>
        </p:nvSpPr>
        <p:spPr>
          <a:xfrm>
            <a:off x="11368735" y="4608576"/>
            <a:ext cx="228600" cy="411480"/>
          </a:xfrm>
          <a:prstGeom prst="rect">
            <a:avLst/>
          </a:prstGeom>
          <a:noFill/>
          <a:ln/>
        </p:spPr>
        <p:txBody>
          <a:bodyPr wrap="square" rtlCol="0" anchor="t"/>
          <a:lstStyle/>
          <a:p>
            <a:pPr algn="r" indent="0" marL="0">
              <a:buNone/>
            </a:pPr>
            <a:r>
              <a:rPr lang="en-US" sz="1200" dirty="0">
                <a:solidFill>
                  <a:srgbClr val="D4A574"/>
                </a:solidFill>
                <a:latin typeface="Calibri" pitchFamily="34" charset="0"/>
                <a:ea typeface="Calibri" pitchFamily="34" charset="-122"/>
                <a:cs typeface="Calibri" pitchFamily="34" charset="-120"/>
              </a:rPr>
              <a:t>—</a:t>
            </a:r>
            <a:endParaRPr lang="en-US" sz="1200" dirty="0"/>
          </a:p>
        </p:txBody>
      </p:sp>
      <p:sp>
        <p:nvSpPr>
          <p:cNvPr id="20" name="Text 17"/>
          <p:cNvSpPr/>
          <p:nvPr/>
        </p:nvSpPr>
        <p:spPr>
          <a:xfrm>
            <a:off x="7223760" y="4608576"/>
            <a:ext cx="4053535" cy="457200"/>
          </a:xfrm>
          <a:prstGeom prst="rect">
            <a:avLst/>
          </a:prstGeom>
          <a:noFill/>
          <a:ln/>
        </p:spPr>
        <p:txBody>
          <a:bodyPr wrap="square" rtlCol="0" anchor="t"/>
          <a:lstStyle/>
          <a:p>
            <a:pPr rtl="1" algn="r" indent="0" marL="0">
              <a:buNone/>
            </a:pPr>
            <a:r>
              <a:rPr lang="en-US" sz="1150" dirty="0">
                <a:solidFill>
                  <a:srgbClr val="1A1A1A"/>
                </a:solidFill>
                <a:latin typeface="Calibri" pitchFamily="34" charset="0"/>
                <a:ea typeface="Calibri" pitchFamily="34" charset="-122"/>
                <a:cs typeface="Calibri" pitchFamily="34" charset="-120"/>
              </a:rPr>
              <a:t>المدير الإقليمي يرى صورة كاملة: إيراد · هامش · مواعيد</a:t>
            </a:r>
            <a:endParaRPr lang="en-US" sz="1150" dirty="0"/>
          </a:p>
        </p:txBody>
      </p:sp>
      <p:sp>
        <p:nvSpPr>
          <p:cNvPr id="21" name="Text 18"/>
          <p:cNvSpPr/>
          <p:nvPr/>
        </p:nvSpPr>
        <p:spPr>
          <a:xfrm>
            <a:off x="11368735" y="5047488"/>
            <a:ext cx="228600" cy="411480"/>
          </a:xfrm>
          <a:prstGeom prst="rect">
            <a:avLst/>
          </a:prstGeom>
          <a:noFill/>
          <a:ln/>
        </p:spPr>
        <p:txBody>
          <a:bodyPr wrap="square" rtlCol="0" anchor="t"/>
          <a:lstStyle/>
          <a:p>
            <a:pPr algn="r" indent="0" marL="0">
              <a:buNone/>
            </a:pPr>
            <a:r>
              <a:rPr lang="en-US" sz="1200" dirty="0">
                <a:solidFill>
                  <a:srgbClr val="D4A574"/>
                </a:solidFill>
                <a:latin typeface="Calibri" pitchFamily="34" charset="0"/>
                <a:ea typeface="Calibri" pitchFamily="34" charset="-122"/>
                <a:cs typeface="Calibri" pitchFamily="34" charset="-120"/>
              </a:rPr>
              <a:t>—</a:t>
            </a:r>
            <a:endParaRPr lang="en-US" sz="1200" dirty="0"/>
          </a:p>
        </p:txBody>
      </p:sp>
      <p:sp>
        <p:nvSpPr>
          <p:cNvPr id="22" name="Text 19"/>
          <p:cNvSpPr/>
          <p:nvPr/>
        </p:nvSpPr>
        <p:spPr>
          <a:xfrm>
            <a:off x="7223760" y="5047488"/>
            <a:ext cx="4053535" cy="457200"/>
          </a:xfrm>
          <a:prstGeom prst="rect">
            <a:avLst/>
          </a:prstGeom>
          <a:noFill/>
          <a:ln/>
        </p:spPr>
        <p:txBody>
          <a:bodyPr wrap="square" rtlCol="0" anchor="t"/>
          <a:lstStyle/>
          <a:p>
            <a:pPr rtl="1" algn="r" indent="0" marL="0">
              <a:buNone/>
            </a:pPr>
            <a:r>
              <a:rPr lang="en-US" sz="1150" dirty="0">
                <a:solidFill>
                  <a:srgbClr val="1A1A1A"/>
                </a:solidFill>
                <a:latin typeface="Calibri" pitchFamily="34" charset="0"/>
                <a:ea typeface="Calibri" pitchFamily="34" charset="-122"/>
                <a:cs typeface="Calibri" pitchFamily="34" charset="-120"/>
              </a:rPr>
              <a:t>تنبيهات تلقائية عند تداخل فرص بين الفروع</a:t>
            </a:r>
            <a:endParaRPr lang="en-US" sz="1150" dirty="0"/>
          </a:p>
        </p:txBody>
      </p:sp>
      <p:sp>
        <p:nvSpPr>
          <p:cNvPr id="23" name="Text 20"/>
          <p:cNvSpPr/>
          <p:nvPr/>
        </p:nvSpPr>
        <p:spPr>
          <a:xfrm>
            <a:off x="11368735" y="5486400"/>
            <a:ext cx="228600" cy="411480"/>
          </a:xfrm>
          <a:prstGeom prst="rect">
            <a:avLst/>
          </a:prstGeom>
          <a:noFill/>
          <a:ln/>
        </p:spPr>
        <p:txBody>
          <a:bodyPr wrap="square" rtlCol="0" anchor="t"/>
          <a:lstStyle/>
          <a:p>
            <a:pPr algn="r" indent="0" marL="0">
              <a:buNone/>
            </a:pPr>
            <a:r>
              <a:rPr lang="en-US" sz="1200" dirty="0">
                <a:solidFill>
                  <a:srgbClr val="D4A574"/>
                </a:solidFill>
                <a:latin typeface="Calibri" pitchFamily="34" charset="0"/>
                <a:ea typeface="Calibri" pitchFamily="34" charset="-122"/>
                <a:cs typeface="Calibri" pitchFamily="34" charset="-120"/>
              </a:rPr>
              <a:t>—</a:t>
            </a:r>
            <a:endParaRPr lang="en-US" sz="1200" dirty="0"/>
          </a:p>
        </p:txBody>
      </p:sp>
      <p:sp>
        <p:nvSpPr>
          <p:cNvPr id="24" name="Text 21"/>
          <p:cNvSpPr/>
          <p:nvPr/>
        </p:nvSpPr>
        <p:spPr>
          <a:xfrm>
            <a:off x="7223760" y="5486400"/>
            <a:ext cx="4053535" cy="457200"/>
          </a:xfrm>
          <a:prstGeom prst="rect">
            <a:avLst/>
          </a:prstGeom>
          <a:noFill/>
          <a:ln/>
        </p:spPr>
        <p:txBody>
          <a:bodyPr wrap="square" rtlCol="0" anchor="t"/>
          <a:lstStyle/>
          <a:p>
            <a:pPr rtl="1" algn="r" indent="0" marL="0">
              <a:buNone/>
            </a:pPr>
            <a:r>
              <a:rPr lang="en-US" sz="1150" dirty="0">
                <a:solidFill>
                  <a:srgbClr val="1A1A1A"/>
                </a:solidFill>
                <a:latin typeface="Calibri" pitchFamily="34" charset="0"/>
                <a:ea typeface="Calibri" pitchFamily="34" charset="-122"/>
                <a:cs typeface="Calibri" pitchFamily="34" charset="-120"/>
              </a:rPr>
              <a:t>توزيع عمولات عادل عبر منطق معتمد مسبقاً</a:t>
            </a:r>
            <a:endParaRPr lang="en-US" sz="1150" dirty="0"/>
          </a:p>
        </p:txBody>
      </p:sp>
      <p:sp>
        <p:nvSpPr>
          <p:cNvPr id="25" name="Text 22"/>
          <p:cNvSpPr/>
          <p:nvPr/>
        </p:nvSpPr>
        <p:spPr>
          <a:xfrm>
            <a:off x="11368735" y="5925312"/>
            <a:ext cx="228600" cy="411480"/>
          </a:xfrm>
          <a:prstGeom prst="rect">
            <a:avLst/>
          </a:prstGeom>
          <a:noFill/>
          <a:ln/>
        </p:spPr>
        <p:txBody>
          <a:bodyPr wrap="square" rtlCol="0" anchor="t"/>
          <a:lstStyle/>
          <a:p>
            <a:pPr algn="r" indent="0" marL="0">
              <a:buNone/>
            </a:pPr>
            <a:r>
              <a:rPr lang="en-US" sz="1200" dirty="0">
                <a:solidFill>
                  <a:srgbClr val="D4A574"/>
                </a:solidFill>
                <a:latin typeface="Calibri" pitchFamily="34" charset="0"/>
                <a:ea typeface="Calibri" pitchFamily="34" charset="-122"/>
                <a:cs typeface="Calibri" pitchFamily="34" charset="-120"/>
              </a:rPr>
              <a:t>—</a:t>
            </a:r>
            <a:endParaRPr lang="en-US" sz="1200" dirty="0"/>
          </a:p>
        </p:txBody>
      </p:sp>
      <p:sp>
        <p:nvSpPr>
          <p:cNvPr id="26" name="Text 23"/>
          <p:cNvSpPr/>
          <p:nvPr/>
        </p:nvSpPr>
        <p:spPr>
          <a:xfrm>
            <a:off x="7223760" y="5925312"/>
            <a:ext cx="4053535" cy="457200"/>
          </a:xfrm>
          <a:prstGeom prst="rect">
            <a:avLst/>
          </a:prstGeom>
          <a:noFill/>
          <a:ln/>
        </p:spPr>
        <p:txBody>
          <a:bodyPr wrap="square" rtlCol="0" anchor="t"/>
          <a:lstStyle/>
          <a:p>
            <a:pPr rtl="1" algn="r" indent="0" marL="0">
              <a:buNone/>
            </a:pPr>
            <a:r>
              <a:rPr lang="en-US" sz="1150" dirty="0">
                <a:solidFill>
                  <a:srgbClr val="1A1A1A"/>
                </a:solidFill>
                <a:latin typeface="Calibri" pitchFamily="34" charset="0"/>
                <a:ea typeface="Calibri" pitchFamily="34" charset="-122"/>
                <a:cs typeface="Calibri" pitchFamily="34" charset="-120"/>
              </a:rPr>
              <a:t>تقرير ربع سنوي لحسابات الـ Top 20 — جاهز لمجلس الإدارة</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8F3"/>
        </a:solidFill>
      </p:bgPr>
    </p:bg>
    <p:spTree>
      <p:nvGrpSpPr>
        <p:cNvPr id="1" name=""/>
        <p:cNvGrpSpPr/>
        <p:nvPr/>
      </p:nvGrpSpPr>
      <p:grpSpPr>
        <a:xfrm>
          <a:off x="0" y="0"/>
          <a:ext cx="0" cy="0"/>
          <a:chOff x="0" y="0"/>
          <a:chExt cx="0" cy="0"/>
        </a:xfrm>
      </p:grpSpPr>
      <p:sp>
        <p:nvSpPr>
          <p:cNvPr id="2" name="Shape 0"/>
          <p:cNvSpPr/>
          <p:nvPr/>
        </p:nvSpPr>
        <p:spPr>
          <a:xfrm>
            <a:off x="11734495" y="320040"/>
            <a:ext cx="73152" cy="411480"/>
          </a:xfrm>
          <a:prstGeom prst="rect">
            <a:avLst/>
          </a:prstGeom>
          <a:solidFill>
            <a:srgbClr val="D4A574"/>
          </a:solidFill>
          <a:ln/>
        </p:spPr>
      </p:sp>
      <p:sp>
        <p:nvSpPr>
          <p:cNvPr id="3" name="Text 1"/>
          <p:cNvSpPr/>
          <p:nvPr/>
        </p:nvSpPr>
        <p:spPr>
          <a:xfrm>
            <a:off x="8076895" y="274320"/>
            <a:ext cx="3566160" cy="365760"/>
          </a:xfrm>
          <a:prstGeom prst="rect">
            <a:avLst/>
          </a:prstGeom>
          <a:noFill/>
          <a:ln/>
        </p:spPr>
        <p:txBody>
          <a:bodyPr wrap="square" rtlCol="0" anchor="ctr"/>
          <a:lstStyle/>
          <a:p>
            <a:pPr rtl="1" algn="r" indent="0" marL="0">
              <a:buNone/>
            </a:pPr>
            <a:r>
              <a:rPr lang="en-US" sz="1200" b="1" dirty="0">
                <a:solidFill>
                  <a:srgbClr val="55606E"/>
                </a:solidFill>
                <a:latin typeface="Calibri" pitchFamily="34" charset="0"/>
                <a:ea typeface="Calibri" pitchFamily="34" charset="-122"/>
                <a:cs typeface="Calibri" pitchFamily="34" charset="-120"/>
              </a:rPr>
              <a:t>سيناريو 4 · السلسلة الباردة</a:t>
            </a:r>
            <a:endParaRPr lang="en-US" sz="1200" dirty="0"/>
          </a:p>
        </p:txBody>
      </p:sp>
      <p:sp>
        <p:nvSpPr>
          <p:cNvPr id="4" name="Text 2"/>
          <p:cNvSpPr/>
          <p:nvPr/>
        </p:nvSpPr>
        <p:spPr>
          <a:xfrm>
            <a:off x="457200" y="6446520"/>
            <a:ext cx="2286000" cy="274320"/>
          </a:xfrm>
          <a:prstGeom prst="rect">
            <a:avLst/>
          </a:prstGeom>
          <a:noFill/>
          <a:ln/>
        </p:spPr>
        <p:txBody>
          <a:bodyPr wrap="square" rtlCol="0" anchor="ctr"/>
          <a:lstStyle/>
          <a:p>
            <a:pPr algn="l" indent="0" marL="0">
              <a:buNone/>
            </a:pPr>
            <a:r>
              <a:rPr lang="en-US" sz="900" dirty="0">
                <a:solidFill>
                  <a:srgbClr val="8B95A3"/>
                </a:solidFill>
                <a:latin typeface="Calibri" pitchFamily="34" charset="0"/>
                <a:ea typeface="Calibri" pitchFamily="34" charset="-122"/>
                <a:cs typeface="Calibri" pitchFamily="34" charset="-120"/>
              </a:rPr>
              <a:t>Dealix · ديلكس</a:t>
            </a:r>
            <a:endParaRPr lang="en-US" sz="900" dirty="0"/>
          </a:p>
        </p:txBody>
      </p:sp>
      <p:sp>
        <p:nvSpPr>
          <p:cNvPr id="5" name="Text 3"/>
          <p:cNvSpPr/>
          <p:nvPr/>
        </p:nvSpPr>
        <p:spPr>
          <a:xfrm>
            <a:off x="11094415" y="6446520"/>
            <a:ext cx="640080" cy="274320"/>
          </a:xfrm>
          <a:prstGeom prst="rect">
            <a:avLst/>
          </a:prstGeom>
          <a:noFill/>
          <a:ln/>
        </p:spPr>
        <p:txBody>
          <a:bodyPr wrap="square" rtlCol="0" anchor="ctr"/>
          <a:lstStyle/>
          <a:p>
            <a:pPr algn="r" indent="0" marL="0">
              <a:buNone/>
            </a:pPr>
            <a:r>
              <a:rPr lang="en-US" sz="900" b="1" dirty="0">
                <a:solidFill>
                  <a:srgbClr val="8B95A3"/>
                </a:solidFill>
                <a:latin typeface="Calibri" pitchFamily="34" charset="0"/>
                <a:ea typeface="Calibri" pitchFamily="34" charset="-122"/>
                <a:cs typeface="Calibri" pitchFamily="34" charset="-120"/>
              </a:rPr>
              <a:t>23</a:t>
            </a:r>
            <a:endParaRPr lang="en-US" sz="900" dirty="0"/>
          </a:p>
        </p:txBody>
      </p:sp>
      <p:sp>
        <p:nvSpPr>
          <p:cNvPr id="6" name="Text 4"/>
          <p:cNvSpPr/>
          <p:nvPr/>
        </p:nvSpPr>
        <p:spPr>
          <a:xfrm>
            <a:off x="548640" y="914400"/>
            <a:ext cx="11094415" cy="822960"/>
          </a:xfrm>
          <a:prstGeom prst="rect">
            <a:avLst/>
          </a:prstGeom>
          <a:noFill/>
          <a:ln/>
        </p:spPr>
        <p:txBody>
          <a:bodyPr wrap="square" rtlCol="0" anchor="ctr"/>
          <a:lstStyle/>
          <a:p>
            <a:pPr rtl="1" algn="r" indent="0" marL="0">
              <a:buNone/>
            </a:pPr>
            <a:r>
              <a:rPr lang="en-US" sz="3400" b="1" dirty="0">
                <a:solidFill>
                  <a:srgbClr val="0A1628"/>
                </a:solidFill>
                <a:latin typeface="Calibri" pitchFamily="34" charset="0"/>
                <a:ea typeface="Calibri" pitchFamily="34" charset="-122"/>
                <a:cs typeface="Calibri" pitchFamily="34" charset="-120"/>
              </a:rPr>
              <a:t>سيناريو 4 — خدمات السلسلة الباردة المتخصصة</a:t>
            </a:r>
            <a:endParaRPr lang="en-US" sz="3400" dirty="0"/>
          </a:p>
        </p:txBody>
      </p:sp>
      <p:sp>
        <p:nvSpPr>
          <p:cNvPr id="7" name="Text 5"/>
          <p:cNvSpPr/>
          <p:nvPr/>
        </p:nvSpPr>
        <p:spPr>
          <a:xfrm>
            <a:off x="548640" y="1691640"/>
            <a:ext cx="11094415" cy="411480"/>
          </a:xfrm>
          <a:prstGeom prst="rect">
            <a:avLst/>
          </a:prstGeom>
          <a:noFill/>
          <a:ln/>
        </p:spPr>
        <p:txBody>
          <a:bodyPr wrap="square" rtlCol="0" anchor="ctr"/>
          <a:lstStyle/>
          <a:p>
            <a:pPr rtl="1" algn="r" indent="0" marL="0">
              <a:buNone/>
            </a:pPr>
            <a:r>
              <a:rPr lang="en-US" sz="1500" dirty="0">
                <a:solidFill>
                  <a:srgbClr val="55606E"/>
                </a:solidFill>
                <a:latin typeface="Calibri" pitchFamily="34" charset="0"/>
                <a:ea typeface="Calibri" pitchFamily="34" charset="-122"/>
                <a:cs typeface="Calibri" pitchFamily="34" charset="-120"/>
              </a:rPr>
              <a:t>Premium Vertical — عملاء الأدوية وأرامكو وسابك يستحقّون مساراً مخصّصاً بيد بيضاء</a:t>
            </a:r>
            <a:endParaRPr lang="en-US" sz="1500" dirty="0"/>
          </a:p>
        </p:txBody>
      </p:sp>
      <p:sp>
        <p:nvSpPr>
          <p:cNvPr id="8" name="Shape 6"/>
          <p:cNvSpPr/>
          <p:nvPr/>
        </p:nvSpPr>
        <p:spPr>
          <a:xfrm>
            <a:off x="8127797" y="2331720"/>
            <a:ext cx="3515258" cy="3657600"/>
          </a:xfrm>
          <a:prstGeom prst="rect">
            <a:avLst/>
          </a:prstGeom>
          <a:solidFill>
            <a:srgbClr val="FFFFFF"/>
          </a:solidFill>
          <a:ln w="12700">
            <a:solidFill>
              <a:srgbClr val="E8E3D6"/>
            </a:solidFill>
            <a:prstDash val="solid"/>
          </a:ln>
        </p:spPr>
      </p:sp>
      <p:sp>
        <p:nvSpPr>
          <p:cNvPr id="9" name="Shape 7"/>
          <p:cNvSpPr/>
          <p:nvPr/>
        </p:nvSpPr>
        <p:spPr>
          <a:xfrm>
            <a:off x="8127797" y="2331720"/>
            <a:ext cx="3515258" cy="502920"/>
          </a:xfrm>
          <a:prstGeom prst="rect">
            <a:avLst/>
          </a:prstGeom>
          <a:solidFill>
            <a:srgbClr val="0A1628"/>
          </a:solidFill>
          <a:ln/>
        </p:spPr>
      </p:sp>
      <p:sp>
        <p:nvSpPr>
          <p:cNvPr id="10" name="Text 8"/>
          <p:cNvSpPr/>
          <p:nvPr/>
        </p:nvSpPr>
        <p:spPr>
          <a:xfrm>
            <a:off x="8127797" y="2377440"/>
            <a:ext cx="3515258" cy="228600"/>
          </a:xfrm>
          <a:prstGeom prst="rect">
            <a:avLst/>
          </a:prstGeom>
          <a:noFill/>
          <a:ln/>
        </p:spPr>
        <p:txBody>
          <a:bodyPr wrap="square" rtlCol="0" anchor="ctr"/>
          <a:lstStyle/>
          <a:p>
            <a:pPr rtl="1" algn="ctr" indent="0" marL="0">
              <a:buNone/>
            </a:pPr>
            <a:r>
              <a:rPr lang="en-US" sz="1000" b="1" dirty="0">
                <a:solidFill>
                  <a:srgbClr val="D4A574"/>
                </a:solidFill>
                <a:latin typeface="Calibri" pitchFamily="34" charset="0"/>
                <a:ea typeface="Calibri" pitchFamily="34" charset="-122"/>
                <a:cs typeface="Calibri" pitchFamily="34" charset="-120"/>
              </a:rPr>
              <a:t>التصنيف الفوري</a:t>
            </a:r>
            <a:endParaRPr lang="en-US" sz="1000" dirty="0"/>
          </a:p>
        </p:txBody>
      </p:sp>
      <p:sp>
        <p:nvSpPr>
          <p:cNvPr id="11" name="Text 9"/>
          <p:cNvSpPr/>
          <p:nvPr/>
        </p:nvSpPr>
        <p:spPr>
          <a:xfrm>
            <a:off x="8127797" y="2587752"/>
            <a:ext cx="3515258" cy="256032"/>
          </a:xfrm>
          <a:prstGeom prst="rect">
            <a:avLst/>
          </a:prstGeom>
          <a:noFill/>
          <a:ln/>
        </p:spPr>
        <p:txBody>
          <a:bodyPr wrap="square" rtlCol="0" anchor="ctr"/>
          <a:lstStyle/>
          <a:p>
            <a:pPr algn="ctr" indent="0" marL="0">
              <a:buNone/>
            </a:pPr>
            <a:r>
              <a:rPr lang="en-US" sz="1300" b="1" dirty="0">
                <a:solidFill>
                  <a:srgbClr val="F5F5F5"/>
                </a:solidFill>
                <a:latin typeface="Calibri" pitchFamily="34" charset="0"/>
                <a:ea typeface="Calibri" pitchFamily="34" charset="-122"/>
                <a:cs typeface="Calibri" pitchFamily="34" charset="-120"/>
              </a:rPr>
              <a:t>Premium Lane</a:t>
            </a:r>
            <a:endParaRPr lang="en-US" sz="1300" dirty="0"/>
          </a:p>
        </p:txBody>
      </p:sp>
      <p:sp>
        <p:nvSpPr>
          <p:cNvPr id="12" name="Shape 10"/>
          <p:cNvSpPr/>
          <p:nvPr/>
        </p:nvSpPr>
        <p:spPr>
          <a:xfrm>
            <a:off x="11368735" y="3108960"/>
            <a:ext cx="109728" cy="109728"/>
          </a:xfrm>
          <a:prstGeom prst="ellipse">
            <a:avLst/>
          </a:prstGeom>
          <a:solidFill>
            <a:srgbClr val="D4A574"/>
          </a:solidFill>
          <a:ln/>
        </p:spPr>
      </p:sp>
      <p:sp>
        <p:nvSpPr>
          <p:cNvPr id="13" name="Text 11"/>
          <p:cNvSpPr/>
          <p:nvPr/>
        </p:nvSpPr>
        <p:spPr>
          <a:xfrm>
            <a:off x="8264957" y="3017520"/>
            <a:ext cx="3058058" cy="640080"/>
          </a:xfrm>
          <a:prstGeom prst="rect">
            <a:avLst/>
          </a:prstGeom>
          <a:noFill/>
          <a:ln/>
        </p:spPr>
        <p:txBody>
          <a:bodyPr wrap="square" rtlCol="0" anchor="t"/>
          <a:lstStyle/>
          <a:p>
            <a:pPr rtl="1" algn="r" indent="0" marL="0">
              <a:buNone/>
            </a:pPr>
            <a:r>
              <a:rPr lang="en-US" sz="1050" dirty="0">
                <a:solidFill>
                  <a:srgbClr val="1A1A1A"/>
                </a:solidFill>
                <a:latin typeface="Calibri" pitchFamily="34" charset="0"/>
                <a:ea typeface="Calibri" pitchFamily="34" charset="-122"/>
                <a:cs typeface="Calibri" pitchFamily="34" charset="-120"/>
              </a:rPr>
              <a:t>اكتشاف الكلمات المفتاحية: "مبرّد" · "مجمّد" · "-20°" · "GDP compliance"</a:t>
            </a:r>
            <a:endParaRPr lang="en-US" sz="1050" dirty="0"/>
          </a:p>
        </p:txBody>
      </p:sp>
      <p:sp>
        <p:nvSpPr>
          <p:cNvPr id="14" name="Shape 12"/>
          <p:cNvSpPr/>
          <p:nvPr/>
        </p:nvSpPr>
        <p:spPr>
          <a:xfrm>
            <a:off x="11368735" y="3794760"/>
            <a:ext cx="109728" cy="109728"/>
          </a:xfrm>
          <a:prstGeom prst="ellipse">
            <a:avLst/>
          </a:prstGeom>
          <a:solidFill>
            <a:srgbClr val="D4A574"/>
          </a:solidFill>
          <a:ln/>
        </p:spPr>
      </p:sp>
      <p:sp>
        <p:nvSpPr>
          <p:cNvPr id="15" name="Text 13"/>
          <p:cNvSpPr/>
          <p:nvPr/>
        </p:nvSpPr>
        <p:spPr>
          <a:xfrm>
            <a:off x="8264957" y="3703320"/>
            <a:ext cx="3058058" cy="640080"/>
          </a:xfrm>
          <a:prstGeom prst="rect">
            <a:avLst/>
          </a:prstGeom>
          <a:noFill/>
          <a:ln/>
        </p:spPr>
        <p:txBody>
          <a:bodyPr wrap="square" rtlCol="0" anchor="t"/>
          <a:lstStyle/>
          <a:p>
            <a:pPr rtl="1" algn="r" indent="0" marL="0">
              <a:buNone/>
            </a:pPr>
            <a:r>
              <a:rPr lang="en-US" sz="1050" dirty="0">
                <a:solidFill>
                  <a:srgbClr val="1A1A1A"/>
                </a:solidFill>
                <a:latin typeface="Calibri" pitchFamily="34" charset="0"/>
                <a:ea typeface="Calibri" pitchFamily="34" charset="-122"/>
                <a:cs typeface="Calibri" pitchFamily="34" charset="-120"/>
              </a:rPr>
              <a:t>تصنيف تلقائي كـ High-Value Lead</a:t>
            </a:r>
            <a:endParaRPr lang="en-US" sz="1050" dirty="0"/>
          </a:p>
        </p:txBody>
      </p:sp>
      <p:sp>
        <p:nvSpPr>
          <p:cNvPr id="16" name="Shape 14"/>
          <p:cNvSpPr/>
          <p:nvPr/>
        </p:nvSpPr>
        <p:spPr>
          <a:xfrm>
            <a:off x="11368735" y="4480560"/>
            <a:ext cx="109728" cy="109728"/>
          </a:xfrm>
          <a:prstGeom prst="ellipse">
            <a:avLst/>
          </a:prstGeom>
          <a:solidFill>
            <a:srgbClr val="D4A574"/>
          </a:solidFill>
          <a:ln/>
        </p:spPr>
      </p:sp>
      <p:sp>
        <p:nvSpPr>
          <p:cNvPr id="17" name="Text 15"/>
          <p:cNvSpPr/>
          <p:nvPr/>
        </p:nvSpPr>
        <p:spPr>
          <a:xfrm>
            <a:off x="8264957" y="4389120"/>
            <a:ext cx="3058058" cy="640080"/>
          </a:xfrm>
          <a:prstGeom prst="rect">
            <a:avLst/>
          </a:prstGeom>
          <a:noFill/>
          <a:ln/>
        </p:spPr>
        <p:txBody>
          <a:bodyPr wrap="square" rtlCol="0" anchor="t"/>
          <a:lstStyle/>
          <a:p>
            <a:pPr rtl="1" algn="r" indent="0" marL="0">
              <a:buNone/>
            </a:pPr>
            <a:r>
              <a:rPr lang="en-US" sz="1050" dirty="0">
                <a:solidFill>
                  <a:srgbClr val="1A1A1A"/>
                </a:solidFill>
                <a:latin typeface="Calibri" pitchFamily="34" charset="0"/>
                <a:ea typeface="Calibri" pitchFamily="34" charset="-122"/>
                <a:cs typeface="Calibri" pitchFamily="34" charset="-120"/>
              </a:rPr>
              <a:t>توجيه فوري لمدير حسابات متخصص — وليس المندوب العام</a:t>
            </a:r>
            <a:endParaRPr lang="en-US" sz="1050" dirty="0"/>
          </a:p>
        </p:txBody>
      </p:sp>
      <p:sp>
        <p:nvSpPr>
          <p:cNvPr id="18" name="Shape 16"/>
          <p:cNvSpPr/>
          <p:nvPr/>
        </p:nvSpPr>
        <p:spPr>
          <a:xfrm>
            <a:off x="11368735" y="5166360"/>
            <a:ext cx="109728" cy="109728"/>
          </a:xfrm>
          <a:prstGeom prst="ellipse">
            <a:avLst/>
          </a:prstGeom>
          <a:solidFill>
            <a:srgbClr val="D4A574"/>
          </a:solidFill>
          <a:ln/>
        </p:spPr>
      </p:sp>
      <p:sp>
        <p:nvSpPr>
          <p:cNvPr id="19" name="Text 17"/>
          <p:cNvSpPr/>
          <p:nvPr/>
        </p:nvSpPr>
        <p:spPr>
          <a:xfrm>
            <a:off x="8264957" y="5074920"/>
            <a:ext cx="3058058" cy="640080"/>
          </a:xfrm>
          <a:prstGeom prst="rect">
            <a:avLst/>
          </a:prstGeom>
          <a:noFill/>
          <a:ln/>
        </p:spPr>
        <p:txBody>
          <a:bodyPr wrap="square" rtlCol="0" anchor="t"/>
          <a:lstStyle/>
          <a:p>
            <a:pPr rtl="1" algn="r" indent="0" marL="0">
              <a:buNone/>
            </a:pPr>
            <a:r>
              <a:rPr lang="en-US" sz="1050" dirty="0">
                <a:solidFill>
                  <a:srgbClr val="1A1A1A"/>
                </a:solidFill>
                <a:latin typeface="Calibri" pitchFamily="34" charset="0"/>
                <a:ea typeface="Calibri" pitchFamily="34" charset="-122"/>
                <a:cs typeface="Calibri" pitchFamily="34" charset="-120"/>
              </a:rPr>
              <a:t>تنبيه للـ CCO عند فرصة عالية القيمة</a:t>
            </a:r>
            <a:endParaRPr lang="en-US" sz="1050" dirty="0"/>
          </a:p>
        </p:txBody>
      </p:sp>
      <p:sp>
        <p:nvSpPr>
          <p:cNvPr id="20" name="Shape 18"/>
          <p:cNvSpPr/>
          <p:nvPr/>
        </p:nvSpPr>
        <p:spPr>
          <a:xfrm>
            <a:off x="4338218" y="2331720"/>
            <a:ext cx="3515258" cy="3657600"/>
          </a:xfrm>
          <a:prstGeom prst="rect">
            <a:avLst/>
          </a:prstGeom>
          <a:solidFill>
            <a:srgbClr val="FFFFFF"/>
          </a:solidFill>
          <a:ln w="12700">
            <a:solidFill>
              <a:srgbClr val="E8E3D6"/>
            </a:solidFill>
            <a:prstDash val="solid"/>
          </a:ln>
        </p:spPr>
      </p:sp>
      <p:sp>
        <p:nvSpPr>
          <p:cNvPr id="21" name="Shape 19"/>
          <p:cNvSpPr/>
          <p:nvPr/>
        </p:nvSpPr>
        <p:spPr>
          <a:xfrm>
            <a:off x="4338218" y="2331720"/>
            <a:ext cx="3515258" cy="502920"/>
          </a:xfrm>
          <a:prstGeom prst="rect">
            <a:avLst/>
          </a:prstGeom>
          <a:solidFill>
            <a:srgbClr val="0A1628"/>
          </a:solidFill>
          <a:ln/>
        </p:spPr>
      </p:sp>
      <p:sp>
        <p:nvSpPr>
          <p:cNvPr id="22" name="Text 20"/>
          <p:cNvSpPr/>
          <p:nvPr/>
        </p:nvSpPr>
        <p:spPr>
          <a:xfrm>
            <a:off x="4338218" y="2377440"/>
            <a:ext cx="3515258" cy="228600"/>
          </a:xfrm>
          <a:prstGeom prst="rect">
            <a:avLst/>
          </a:prstGeom>
          <a:noFill/>
          <a:ln/>
        </p:spPr>
        <p:txBody>
          <a:bodyPr wrap="square" rtlCol="0" anchor="ctr"/>
          <a:lstStyle/>
          <a:p>
            <a:pPr rtl="1" algn="ctr" indent="0" marL="0">
              <a:buNone/>
            </a:pPr>
            <a:r>
              <a:rPr lang="en-US" sz="1000" b="1" dirty="0">
                <a:solidFill>
                  <a:srgbClr val="D4A574"/>
                </a:solidFill>
                <a:latin typeface="Calibri" pitchFamily="34" charset="0"/>
                <a:ea typeface="Calibri" pitchFamily="34" charset="-122"/>
                <a:cs typeface="Calibri" pitchFamily="34" charset="-120"/>
              </a:rPr>
              <a:t>العرض المخصّص</a:t>
            </a:r>
            <a:endParaRPr lang="en-US" sz="1000" dirty="0"/>
          </a:p>
        </p:txBody>
      </p:sp>
      <p:sp>
        <p:nvSpPr>
          <p:cNvPr id="23" name="Text 21"/>
          <p:cNvSpPr/>
          <p:nvPr/>
        </p:nvSpPr>
        <p:spPr>
          <a:xfrm>
            <a:off x="4338218" y="2587752"/>
            <a:ext cx="3515258" cy="256032"/>
          </a:xfrm>
          <a:prstGeom prst="rect">
            <a:avLst/>
          </a:prstGeom>
          <a:noFill/>
          <a:ln/>
        </p:spPr>
        <p:txBody>
          <a:bodyPr wrap="square" rtlCol="0" anchor="ctr"/>
          <a:lstStyle/>
          <a:p>
            <a:pPr algn="ctr" indent="0" marL="0">
              <a:buNone/>
            </a:pPr>
            <a:r>
              <a:rPr lang="en-US" sz="1300" b="1" dirty="0">
                <a:solidFill>
                  <a:srgbClr val="F5F5F5"/>
                </a:solidFill>
                <a:latin typeface="Calibri" pitchFamily="34" charset="0"/>
                <a:ea typeface="Calibri" pitchFamily="34" charset="-122"/>
                <a:cs typeface="Calibri" pitchFamily="34" charset="-120"/>
              </a:rPr>
              <a:t>White-Glove Proposal</a:t>
            </a:r>
            <a:endParaRPr lang="en-US" sz="1300" dirty="0"/>
          </a:p>
        </p:txBody>
      </p:sp>
      <p:sp>
        <p:nvSpPr>
          <p:cNvPr id="24" name="Shape 22"/>
          <p:cNvSpPr/>
          <p:nvPr/>
        </p:nvSpPr>
        <p:spPr>
          <a:xfrm>
            <a:off x="7579157" y="3108960"/>
            <a:ext cx="109728" cy="109728"/>
          </a:xfrm>
          <a:prstGeom prst="ellipse">
            <a:avLst/>
          </a:prstGeom>
          <a:solidFill>
            <a:srgbClr val="D4A574"/>
          </a:solidFill>
          <a:ln/>
        </p:spPr>
      </p:sp>
      <p:sp>
        <p:nvSpPr>
          <p:cNvPr id="25" name="Text 23"/>
          <p:cNvSpPr/>
          <p:nvPr/>
        </p:nvSpPr>
        <p:spPr>
          <a:xfrm>
            <a:off x="4475378" y="3017520"/>
            <a:ext cx="3058058" cy="640080"/>
          </a:xfrm>
          <a:prstGeom prst="rect">
            <a:avLst/>
          </a:prstGeom>
          <a:noFill/>
          <a:ln/>
        </p:spPr>
        <p:txBody>
          <a:bodyPr wrap="square" rtlCol="0" anchor="t"/>
          <a:lstStyle/>
          <a:p>
            <a:pPr rtl="1" algn="r" indent="0" marL="0">
              <a:buNone/>
            </a:pPr>
            <a:r>
              <a:rPr lang="en-US" sz="1050" dirty="0">
                <a:solidFill>
                  <a:srgbClr val="1A1A1A"/>
                </a:solidFill>
                <a:latin typeface="Calibri" pitchFamily="34" charset="0"/>
                <a:ea typeface="Calibri" pitchFamily="34" charset="-122"/>
                <a:cs typeface="Calibri" pitchFamily="34" charset="-120"/>
              </a:rPr>
              <a:t>قالب عرض متقدم مع شهادات GDP و HACCP</a:t>
            </a:r>
            <a:endParaRPr lang="en-US" sz="1050" dirty="0"/>
          </a:p>
        </p:txBody>
      </p:sp>
      <p:sp>
        <p:nvSpPr>
          <p:cNvPr id="26" name="Shape 24"/>
          <p:cNvSpPr/>
          <p:nvPr/>
        </p:nvSpPr>
        <p:spPr>
          <a:xfrm>
            <a:off x="7579157" y="3794760"/>
            <a:ext cx="109728" cy="109728"/>
          </a:xfrm>
          <a:prstGeom prst="ellipse">
            <a:avLst/>
          </a:prstGeom>
          <a:solidFill>
            <a:srgbClr val="D4A574"/>
          </a:solidFill>
          <a:ln/>
        </p:spPr>
      </p:sp>
      <p:sp>
        <p:nvSpPr>
          <p:cNvPr id="27" name="Text 25"/>
          <p:cNvSpPr/>
          <p:nvPr/>
        </p:nvSpPr>
        <p:spPr>
          <a:xfrm>
            <a:off x="4475378" y="3703320"/>
            <a:ext cx="3058058" cy="640080"/>
          </a:xfrm>
          <a:prstGeom prst="rect">
            <a:avLst/>
          </a:prstGeom>
          <a:noFill/>
          <a:ln/>
        </p:spPr>
        <p:txBody>
          <a:bodyPr wrap="square" rtlCol="0" anchor="t"/>
          <a:lstStyle/>
          <a:p>
            <a:pPr rtl="1" algn="r" indent="0" marL="0">
              <a:buNone/>
            </a:pPr>
            <a:r>
              <a:rPr lang="en-US" sz="1050" dirty="0">
                <a:solidFill>
                  <a:srgbClr val="1A1A1A"/>
                </a:solidFill>
                <a:latin typeface="Calibri" pitchFamily="34" charset="0"/>
                <a:ea typeface="Calibri" pitchFamily="34" charset="-122"/>
                <a:cs typeface="Calibri" pitchFamily="34" charset="-120"/>
              </a:rPr>
              <a:t>سوابق العقود المشابهة (أدوية · أغذية · بتروكيماوي)</a:t>
            </a:r>
            <a:endParaRPr lang="en-US" sz="1050" dirty="0"/>
          </a:p>
        </p:txBody>
      </p:sp>
      <p:sp>
        <p:nvSpPr>
          <p:cNvPr id="28" name="Shape 26"/>
          <p:cNvSpPr/>
          <p:nvPr/>
        </p:nvSpPr>
        <p:spPr>
          <a:xfrm>
            <a:off x="7579157" y="4480560"/>
            <a:ext cx="109728" cy="109728"/>
          </a:xfrm>
          <a:prstGeom prst="ellipse">
            <a:avLst/>
          </a:prstGeom>
          <a:solidFill>
            <a:srgbClr val="D4A574"/>
          </a:solidFill>
          <a:ln/>
        </p:spPr>
      </p:sp>
      <p:sp>
        <p:nvSpPr>
          <p:cNvPr id="29" name="Text 27"/>
          <p:cNvSpPr/>
          <p:nvPr/>
        </p:nvSpPr>
        <p:spPr>
          <a:xfrm>
            <a:off x="4475378" y="4389120"/>
            <a:ext cx="3058058" cy="640080"/>
          </a:xfrm>
          <a:prstGeom prst="rect">
            <a:avLst/>
          </a:prstGeom>
          <a:noFill/>
          <a:ln/>
        </p:spPr>
        <p:txBody>
          <a:bodyPr wrap="square" rtlCol="0" anchor="t"/>
          <a:lstStyle/>
          <a:p>
            <a:pPr rtl="1" algn="r" indent="0" marL="0">
              <a:buNone/>
            </a:pPr>
            <a:r>
              <a:rPr lang="en-US" sz="1050" dirty="0">
                <a:solidFill>
                  <a:srgbClr val="1A1A1A"/>
                </a:solidFill>
                <a:latin typeface="Calibri" pitchFamily="34" charset="0"/>
                <a:ea typeface="Calibri" pitchFamily="34" charset="-122"/>
                <a:cs typeface="Calibri" pitchFamily="34" charset="-120"/>
              </a:rPr>
              <a:t>تقرير قدرات الأسطول المبرّد: عدد المركبات · درجات الحرارة المدعومة</a:t>
            </a:r>
            <a:endParaRPr lang="en-US" sz="1050" dirty="0"/>
          </a:p>
        </p:txBody>
      </p:sp>
      <p:sp>
        <p:nvSpPr>
          <p:cNvPr id="30" name="Shape 28"/>
          <p:cNvSpPr/>
          <p:nvPr/>
        </p:nvSpPr>
        <p:spPr>
          <a:xfrm>
            <a:off x="7579157" y="5166360"/>
            <a:ext cx="109728" cy="109728"/>
          </a:xfrm>
          <a:prstGeom prst="ellipse">
            <a:avLst/>
          </a:prstGeom>
          <a:solidFill>
            <a:srgbClr val="D4A574"/>
          </a:solidFill>
          <a:ln/>
        </p:spPr>
      </p:sp>
      <p:sp>
        <p:nvSpPr>
          <p:cNvPr id="31" name="Text 29"/>
          <p:cNvSpPr/>
          <p:nvPr/>
        </p:nvSpPr>
        <p:spPr>
          <a:xfrm>
            <a:off x="4475378" y="5074920"/>
            <a:ext cx="3058058" cy="640080"/>
          </a:xfrm>
          <a:prstGeom prst="rect">
            <a:avLst/>
          </a:prstGeom>
          <a:noFill/>
          <a:ln/>
        </p:spPr>
        <p:txBody>
          <a:bodyPr wrap="square" rtlCol="0" anchor="t"/>
          <a:lstStyle/>
          <a:p>
            <a:pPr rtl="1" algn="r" indent="0" marL="0">
              <a:buNone/>
            </a:pPr>
            <a:r>
              <a:rPr lang="en-US" sz="1050" dirty="0">
                <a:solidFill>
                  <a:srgbClr val="1A1A1A"/>
                </a:solidFill>
                <a:latin typeface="Calibri" pitchFamily="34" charset="0"/>
                <a:ea typeface="Calibri" pitchFamily="34" charset="-122"/>
                <a:cs typeface="Calibri" pitchFamily="34" charset="-120"/>
              </a:rPr>
              <a:t>ضمانات SLA موثّقة — تعويضات محدّدة</a:t>
            </a:r>
            <a:endParaRPr lang="en-US" sz="1050" dirty="0"/>
          </a:p>
        </p:txBody>
      </p:sp>
      <p:sp>
        <p:nvSpPr>
          <p:cNvPr id="32" name="Shape 30"/>
          <p:cNvSpPr/>
          <p:nvPr/>
        </p:nvSpPr>
        <p:spPr>
          <a:xfrm>
            <a:off x="548640" y="2331720"/>
            <a:ext cx="3515258" cy="3657600"/>
          </a:xfrm>
          <a:prstGeom prst="rect">
            <a:avLst/>
          </a:prstGeom>
          <a:solidFill>
            <a:srgbClr val="FFFFFF"/>
          </a:solidFill>
          <a:ln w="12700">
            <a:solidFill>
              <a:srgbClr val="E8E3D6"/>
            </a:solidFill>
            <a:prstDash val="solid"/>
          </a:ln>
        </p:spPr>
      </p:sp>
      <p:sp>
        <p:nvSpPr>
          <p:cNvPr id="33" name="Shape 31"/>
          <p:cNvSpPr/>
          <p:nvPr/>
        </p:nvSpPr>
        <p:spPr>
          <a:xfrm>
            <a:off x="548640" y="2331720"/>
            <a:ext cx="3515258" cy="502920"/>
          </a:xfrm>
          <a:prstGeom prst="rect">
            <a:avLst/>
          </a:prstGeom>
          <a:solidFill>
            <a:srgbClr val="0A1628"/>
          </a:solidFill>
          <a:ln/>
        </p:spPr>
      </p:sp>
      <p:sp>
        <p:nvSpPr>
          <p:cNvPr id="34" name="Text 32"/>
          <p:cNvSpPr/>
          <p:nvPr/>
        </p:nvSpPr>
        <p:spPr>
          <a:xfrm>
            <a:off x="548640" y="2377440"/>
            <a:ext cx="3515258" cy="228600"/>
          </a:xfrm>
          <a:prstGeom prst="rect">
            <a:avLst/>
          </a:prstGeom>
          <a:noFill/>
          <a:ln/>
        </p:spPr>
        <p:txBody>
          <a:bodyPr wrap="square" rtlCol="0" anchor="ctr"/>
          <a:lstStyle/>
          <a:p>
            <a:pPr rtl="1" algn="ctr" indent="0" marL="0">
              <a:buNone/>
            </a:pPr>
            <a:r>
              <a:rPr lang="en-US" sz="1000" b="1" dirty="0">
                <a:solidFill>
                  <a:srgbClr val="D4A574"/>
                </a:solidFill>
                <a:latin typeface="Calibri" pitchFamily="34" charset="0"/>
                <a:ea typeface="Calibri" pitchFamily="34" charset="-122"/>
                <a:cs typeface="Calibri" pitchFamily="34" charset="-120"/>
              </a:rPr>
              <a:t>المتابعة التنفيذية</a:t>
            </a:r>
            <a:endParaRPr lang="en-US" sz="1000" dirty="0"/>
          </a:p>
        </p:txBody>
      </p:sp>
      <p:sp>
        <p:nvSpPr>
          <p:cNvPr id="35" name="Text 33"/>
          <p:cNvSpPr/>
          <p:nvPr/>
        </p:nvSpPr>
        <p:spPr>
          <a:xfrm>
            <a:off x="548640" y="2587752"/>
            <a:ext cx="3515258" cy="256032"/>
          </a:xfrm>
          <a:prstGeom prst="rect">
            <a:avLst/>
          </a:prstGeom>
          <a:noFill/>
          <a:ln/>
        </p:spPr>
        <p:txBody>
          <a:bodyPr wrap="square" rtlCol="0" anchor="ctr"/>
          <a:lstStyle/>
          <a:p>
            <a:pPr algn="ctr" indent="0" marL="0">
              <a:buNone/>
            </a:pPr>
            <a:r>
              <a:rPr lang="en-US" sz="1300" b="1" dirty="0">
                <a:solidFill>
                  <a:srgbClr val="F5F5F5"/>
                </a:solidFill>
                <a:latin typeface="Calibri" pitchFamily="34" charset="0"/>
                <a:ea typeface="Calibri" pitchFamily="34" charset="-122"/>
                <a:cs typeface="Calibri" pitchFamily="34" charset="-120"/>
              </a:rPr>
              <a:t>Executive Follow-up</a:t>
            </a:r>
            <a:endParaRPr lang="en-US" sz="1300" dirty="0"/>
          </a:p>
        </p:txBody>
      </p:sp>
      <p:sp>
        <p:nvSpPr>
          <p:cNvPr id="36" name="Shape 34"/>
          <p:cNvSpPr/>
          <p:nvPr/>
        </p:nvSpPr>
        <p:spPr>
          <a:xfrm>
            <a:off x="3789578" y="3108960"/>
            <a:ext cx="109728" cy="109728"/>
          </a:xfrm>
          <a:prstGeom prst="ellipse">
            <a:avLst/>
          </a:prstGeom>
          <a:solidFill>
            <a:srgbClr val="D4A574"/>
          </a:solidFill>
          <a:ln/>
        </p:spPr>
      </p:sp>
      <p:sp>
        <p:nvSpPr>
          <p:cNvPr id="37" name="Text 35"/>
          <p:cNvSpPr/>
          <p:nvPr/>
        </p:nvSpPr>
        <p:spPr>
          <a:xfrm>
            <a:off x="685800" y="3017520"/>
            <a:ext cx="3058058" cy="640080"/>
          </a:xfrm>
          <a:prstGeom prst="rect">
            <a:avLst/>
          </a:prstGeom>
          <a:noFill/>
          <a:ln/>
        </p:spPr>
        <p:txBody>
          <a:bodyPr wrap="square" rtlCol="0" anchor="t"/>
          <a:lstStyle/>
          <a:p>
            <a:pPr rtl="1" algn="r" indent="0" marL="0">
              <a:buNone/>
            </a:pPr>
            <a:r>
              <a:rPr lang="en-US" sz="1050" dirty="0">
                <a:solidFill>
                  <a:srgbClr val="1A1A1A"/>
                </a:solidFill>
                <a:latin typeface="Calibri" pitchFamily="34" charset="0"/>
                <a:ea typeface="Calibri" pitchFamily="34" charset="-122"/>
                <a:cs typeface="Calibri" pitchFamily="34" charset="-120"/>
              </a:rPr>
              <a:t>اجتماع مع الـ CCO أو VP Sales خلال 48 ساعة</a:t>
            </a:r>
            <a:endParaRPr lang="en-US" sz="1050" dirty="0"/>
          </a:p>
        </p:txBody>
      </p:sp>
      <p:sp>
        <p:nvSpPr>
          <p:cNvPr id="38" name="Shape 36"/>
          <p:cNvSpPr/>
          <p:nvPr/>
        </p:nvSpPr>
        <p:spPr>
          <a:xfrm>
            <a:off x="3789578" y="3794760"/>
            <a:ext cx="109728" cy="109728"/>
          </a:xfrm>
          <a:prstGeom prst="ellipse">
            <a:avLst/>
          </a:prstGeom>
          <a:solidFill>
            <a:srgbClr val="D4A574"/>
          </a:solidFill>
          <a:ln/>
        </p:spPr>
      </p:sp>
      <p:sp>
        <p:nvSpPr>
          <p:cNvPr id="39" name="Text 37"/>
          <p:cNvSpPr/>
          <p:nvPr/>
        </p:nvSpPr>
        <p:spPr>
          <a:xfrm>
            <a:off x="685800" y="3703320"/>
            <a:ext cx="3058058" cy="640080"/>
          </a:xfrm>
          <a:prstGeom prst="rect">
            <a:avLst/>
          </a:prstGeom>
          <a:noFill/>
          <a:ln/>
        </p:spPr>
        <p:txBody>
          <a:bodyPr wrap="square" rtlCol="0" anchor="t"/>
          <a:lstStyle/>
          <a:p>
            <a:pPr rtl="1" algn="r" indent="0" marL="0">
              <a:buNone/>
            </a:pPr>
            <a:r>
              <a:rPr lang="en-US" sz="1050" dirty="0">
                <a:solidFill>
                  <a:srgbClr val="1A1A1A"/>
                </a:solidFill>
                <a:latin typeface="Calibri" pitchFamily="34" charset="0"/>
                <a:ea typeface="Calibri" pitchFamily="34" charset="-122"/>
                <a:cs typeface="Calibri" pitchFamily="34" charset="-120"/>
              </a:rPr>
              <a:t>زيارة ميدانية للمستودع المبرّد — بحجز تلقائي</a:t>
            </a:r>
            <a:endParaRPr lang="en-US" sz="1050" dirty="0"/>
          </a:p>
        </p:txBody>
      </p:sp>
      <p:sp>
        <p:nvSpPr>
          <p:cNvPr id="40" name="Shape 38"/>
          <p:cNvSpPr/>
          <p:nvPr/>
        </p:nvSpPr>
        <p:spPr>
          <a:xfrm>
            <a:off x="3789578" y="4480560"/>
            <a:ext cx="109728" cy="109728"/>
          </a:xfrm>
          <a:prstGeom prst="ellipse">
            <a:avLst/>
          </a:prstGeom>
          <a:solidFill>
            <a:srgbClr val="D4A574"/>
          </a:solidFill>
          <a:ln/>
        </p:spPr>
      </p:sp>
      <p:sp>
        <p:nvSpPr>
          <p:cNvPr id="41" name="Text 39"/>
          <p:cNvSpPr/>
          <p:nvPr/>
        </p:nvSpPr>
        <p:spPr>
          <a:xfrm>
            <a:off x="685800" y="4389120"/>
            <a:ext cx="3058058" cy="640080"/>
          </a:xfrm>
          <a:prstGeom prst="rect">
            <a:avLst/>
          </a:prstGeom>
          <a:noFill/>
          <a:ln/>
        </p:spPr>
        <p:txBody>
          <a:bodyPr wrap="square" rtlCol="0" anchor="t"/>
          <a:lstStyle/>
          <a:p>
            <a:pPr rtl="1" algn="r" indent="0" marL="0">
              <a:buNone/>
            </a:pPr>
            <a:r>
              <a:rPr lang="en-US" sz="1050" dirty="0">
                <a:solidFill>
                  <a:srgbClr val="1A1A1A"/>
                </a:solidFill>
                <a:latin typeface="Calibri" pitchFamily="34" charset="0"/>
                <a:ea typeface="Calibri" pitchFamily="34" charset="-122"/>
                <a:cs typeface="Calibri" pitchFamily="34" charset="-120"/>
              </a:rPr>
              <a:t>مراجعة فنية مع مهندس الجودة</a:t>
            </a:r>
            <a:endParaRPr lang="en-US" sz="1050" dirty="0"/>
          </a:p>
        </p:txBody>
      </p:sp>
      <p:sp>
        <p:nvSpPr>
          <p:cNvPr id="42" name="Shape 40"/>
          <p:cNvSpPr/>
          <p:nvPr/>
        </p:nvSpPr>
        <p:spPr>
          <a:xfrm>
            <a:off x="3789578" y="5166360"/>
            <a:ext cx="109728" cy="109728"/>
          </a:xfrm>
          <a:prstGeom prst="ellipse">
            <a:avLst/>
          </a:prstGeom>
          <a:solidFill>
            <a:srgbClr val="D4A574"/>
          </a:solidFill>
          <a:ln/>
        </p:spPr>
      </p:sp>
      <p:sp>
        <p:nvSpPr>
          <p:cNvPr id="43" name="Text 41"/>
          <p:cNvSpPr/>
          <p:nvPr/>
        </p:nvSpPr>
        <p:spPr>
          <a:xfrm>
            <a:off x="685800" y="5074920"/>
            <a:ext cx="3058058" cy="640080"/>
          </a:xfrm>
          <a:prstGeom prst="rect">
            <a:avLst/>
          </a:prstGeom>
          <a:noFill/>
          <a:ln/>
        </p:spPr>
        <p:txBody>
          <a:bodyPr wrap="square" rtlCol="0" anchor="t"/>
          <a:lstStyle/>
          <a:p>
            <a:pPr rtl="1" algn="r" indent="0" marL="0">
              <a:buNone/>
            </a:pPr>
            <a:r>
              <a:rPr lang="en-US" sz="1050" dirty="0">
                <a:solidFill>
                  <a:srgbClr val="1A1A1A"/>
                </a:solidFill>
                <a:latin typeface="Calibri" pitchFamily="34" charset="0"/>
                <a:ea typeface="Calibri" pitchFamily="34" charset="-122"/>
                <a:cs typeface="Calibri" pitchFamily="34" charset="-120"/>
              </a:rPr>
              <a:t>توقيع SLA وبدء pilot مدفوع خلال 21 يوم</a:t>
            </a:r>
            <a:endParaRPr lang="en-US" sz="1050" dirty="0"/>
          </a:p>
        </p:txBody>
      </p:sp>
      <p:sp>
        <p:nvSpPr>
          <p:cNvPr id="44" name="Shape 42"/>
          <p:cNvSpPr/>
          <p:nvPr/>
        </p:nvSpPr>
        <p:spPr>
          <a:xfrm>
            <a:off x="548640" y="5897880"/>
            <a:ext cx="11094415" cy="411480"/>
          </a:xfrm>
          <a:prstGeom prst="rect">
            <a:avLst/>
          </a:prstGeom>
          <a:solidFill>
            <a:srgbClr val="0A1628"/>
          </a:solidFill>
          <a:ln/>
        </p:spPr>
      </p:sp>
      <p:sp>
        <p:nvSpPr>
          <p:cNvPr id="45" name="Text 43"/>
          <p:cNvSpPr/>
          <p:nvPr/>
        </p:nvSpPr>
        <p:spPr>
          <a:xfrm>
            <a:off x="548640" y="5897880"/>
            <a:ext cx="11094415" cy="411480"/>
          </a:xfrm>
          <a:prstGeom prst="rect">
            <a:avLst/>
          </a:prstGeom>
          <a:noFill/>
          <a:ln/>
        </p:spPr>
        <p:txBody>
          <a:bodyPr wrap="square" rtlCol="0" anchor="ctr"/>
          <a:lstStyle/>
          <a:p>
            <a:pPr rtl="1" algn="r" indent="0" marL="0">
              <a:buNone/>
            </a:pPr>
            <a:r>
              <a:rPr lang="en-US" sz="1200" b="1" dirty="0">
                <a:solidFill>
                  <a:srgbClr val="D4A574"/>
                </a:solidFill>
                <a:latin typeface="Calibri" pitchFamily="34" charset="0"/>
                <a:ea typeface="Calibri" pitchFamily="34" charset="-122"/>
                <a:cs typeface="Calibri" pitchFamily="34" charset="-120"/>
              </a:rPr>
              <a:t>هامش السلسلة الباردة 22-28% مقابل 7-12% للشحن العادي — ديلكس يضمن عدم ضياع فرصة واحدة منها</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8F3"/>
        </a:solidFill>
      </p:bgPr>
    </p:bg>
    <p:spTree>
      <p:nvGrpSpPr>
        <p:cNvPr id="1" name=""/>
        <p:cNvGrpSpPr/>
        <p:nvPr/>
      </p:nvGrpSpPr>
      <p:grpSpPr>
        <a:xfrm>
          <a:off x="0" y="0"/>
          <a:ext cx="0" cy="0"/>
          <a:chOff x="0" y="0"/>
          <a:chExt cx="0" cy="0"/>
        </a:xfrm>
      </p:grpSpPr>
      <p:sp>
        <p:nvSpPr>
          <p:cNvPr id="2" name="Shape 0"/>
          <p:cNvSpPr/>
          <p:nvPr/>
        </p:nvSpPr>
        <p:spPr>
          <a:xfrm>
            <a:off x="11734495" y="320040"/>
            <a:ext cx="73152" cy="411480"/>
          </a:xfrm>
          <a:prstGeom prst="rect">
            <a:avLst/>
          </a:prstGeom>
          <a:solidFill>
            <a:srgbClr val="D4A574"/>
          </a:solidFill>
          <a:ln/>
        </p:spPr>
      </p:sp>
      <p:sp>
        <p:nvSpPr>
          <p:cNvPr id="3" name="Text 1"/>
          <p:cNvSpPr/>
          <p:nvPr/>
        </p:nvSpPr>
        <p:spPr>
          <a:xfrm>
            <a:off x="8076895" y="274320"/>
            <a:ext cx="3566160" cy="365760"/>
          </a:xfrm>
          <a:prstGeom prst="rect">
            <a:avLst/>
          </a:prstGeom>
          <a:noFill/>
          <a:ln/>
        </p:spPr>
        <p:txBody>
          <a:bodyPr wrap="square" rtlCol="0" anchor="ctr"/>
          <a:lstStyle/>
          <a:p>
            <a:pPr rtl="1" algn="r" indent="0" marL="0">
              <a:buNone/>
            </a:pPr>
            <a:r>
              <a:rPr lang="en-US" sz="1200" b="1" dirty="0">
                <a:solidFill>
                  <a:srgbClr val="55606E"/>
                </a:solidFill>
                <a:latin typeface="Calibri" pitchFamily="34" charset="0"/>
                <a:ea typeface="Calibri" pitchFamily="34" charset="-122"/>
                <a:cs typeface="Calibri" pitchFamily="34" charset="-120"/>
              </a:rPr>
              <a:t>سيناريو 5 · تجار التجزئة</a:t>
            </a:r>
            <a:endParaRPr lang="en-US" sz="1200" dirty="0"/>
          </a:p>
        </p:txBody>
      </p:sp>
      <p:sp>
        <p:nvSpPr>
          <p:cNvPr id="4" name="Text 2"/>
          <p:cNvSpPr/>
          <p:nvPr/>
        </p:nvSpPr>
        <p:spPr>
          <a:xfrm>
            <a:off x="457200" y="6446520"/>
            <a:ext cx="2286000" cy="274320"/>
          </a:xfrm>
          <a:prstGeom prst="rect">
            <a:avLst/>
          </a:prstGeom>
          <a:noFill/>
          <a:ln/>
        </p:spPr>
        <p:txBody>
          <a:bodyPr wrap="square" rtlCol="0" anchor="ctr"/>
          <a:lstStyle/>
          <a:p>
            <a:pPr algn="l" indent="0" marL="0">
              <a:buNone/>
            </a:pPr>
            <a:r>
              <a:rPr lang="en-US" sz="900" dirty="0">
                <a:solidFill>
                  <a:srgbClr val="8B95A3"/>
                </a:solidFill>
                <a:latin typeface="Calibri" pitchFamily="34" charset="0"/>
                <a:ea typeface="Calibri" pitchFamily="34" charset="-122"/>
                <a:cs typeface="Calibri" pitchFamily="34" charset="-120"/>
              </a:rPr>
              <a:t>Dealix · ديلكس</a:t>
            </a:r>
            <a:endParaRPr lang="en-US" sz="900" dirty="0"/>
          </a:p>
        </p:txBody>
      </p:sp>
      <p:sp>
        <p:nvSpPr>
          <p:cNvPr id="5" name="Text 3"/>
          <p:cNvSpPr/>
          <p:nvPr/>
        </p:nvSpPr>
        <p:spPr>
          <a:xfrm>
            <a:off x="11094415" y="6446520"/>
            <a:ext cx="640080" cy="274320"/>
          </a:xfrm>
          <a:prstGeom prst="rect">
            <a:avLst/>
          </a:prstGeom>
          <a:noFill/>
          <a:ln/>
        </p:spPr>
        <p:txBody>
          <a:bodyPr wrap="square" rtlCol="0" anchor="ctr"/>
          <a:lstStyle/>
          <a:p>
            <a:pPr algn="r" indent="0" marL="0">
              <a:buNone/>
            </a:pPr>
            <a:r>
              <a:rPr lang="en-US" sz="900" b="1" dirty="0">
                <a:solidFill>
                  <a:srgbClr val="8B95A3"/>
                </a:solidFill>
                <a:latin typeface="Calibri" pitchFamily="34" charset="0"/>
                <a:ea typeface="Calibri" pitchFamily="34" charset="-122"/>
                <a:cs typeface="Calibri" pitchFamily="34" charset="-120"/>
              </a:rPr>
              <a:t>24</a:t>
            </a:r>
            <a:endParaRPr lang="en-US" sz="900" dirty="0"/>
          </a:p>
        </p:txBody>
      </p:sp>
      <p:sp>
        <p:nvSpPr>
          <p:cNvPr id="6" name="Text 4"/>
          <p:cNvSpPr/>
          <p:nvPr/>
        </p:nvSpPr>
        <p:spPr>
          <a:xfrm>
            <a:off x="548640" y="914400"/>
            <a:ext cx="11094415" cy="822960"/>
          </a:xfrm>
          <a:prstGeom prst="rect">
            <a:avLst/>
          </a:prstGeom>
          <a:noFill/>
          <a:ln/>
        </p:spPr>
        <p:txBody>
          <a:bodyPr wrap="square" rtlCol="0" anchor="ctr"/>
          <a:lstStyle/>
          <a:p>
            <a:pPr rtl="1" algn="r" indent="0" marL="0">
              <a:buNone/>
            </a:pPr>
            <a:r>
              <a:rPr lang="en-US" sz="3400" b="1" dirty="0">
                <a:solidFill>
                  <a:srgbClr val="0A1628"/>
                </a:solidFill>
                <a:latin typeface="Calibri" pitchFamily="34" charset="0"/>
                <a:ea typeface="Calibri" pitchFamily="34" charset="-122"/>
                <a:cs typeface="Calibri" pitchFamily="34" charset="-120"/>
              </a:rPr>
              <a:t>سيناريو 5 — ترشيد تجار السلة وزد وشوبيفاي</a:t>
            </a:r>
            <a:endParaRPr lang="en-US" sz="3400" dirty="0"/>
          </a:p>
        </p:txBody>
      </p:sp>
      <p:sp>
        <p:nvSpPr>
          <p:cNvPr id="7" name="Text 5"/>
          <p:cNvSpPr/>
          <p:nvPr/>
        </p:nvSpPr>
        <p:spPr>
          <a:xfrm>
            <a:off x="548640" y="1691640"/>
            <a:ext cx="11094415" cy="411480"/>
          </a:xfrm>
          <a:prstGeom prst="rect">
            <a:avLst/>
          </a:prstGeom>
          <a:noFill/>
          <a:ln/>
        </p:spPr>
        <p:txBody>
          <a:bodyPr wrap="square" rtlCol="0" anchor="ctr"/>
          <a:lstStyle/>
          <a:p>
            <a:pPr rtl="1" algn="r" indent="0" marL="0">
              <a:buNone/>
            </a:pPr>
            <a:r>
              <a:rPr lang="en-US" sz="1500" dirty="0">
                <a:solidFill>
                  <a:srgbClr val="55606E"/>
                </a:solidFill>
                <a:latin typeface="Calibri" pitchFamily="34" charset="0"/>
                <a:ea typeface="Calibri" pitchFamily="34" charset="-122"/>
                <a:cs typeface="Calibri" pitchFamily="34" charset="-120"/>
              </a:rPr>
              <a:t>E-Commerce Merchant Onboarding — تحويل آلاف التجار الإلكترونيين إلى عقود شحن متجدّدة</a:t>
            </a:r>
            <a:endParaRPr lang="en-US" sz="1500" dirty="0"/>
          </a:p>
        </p:txBody>
      </p:sp>
      <p:sp>
        <p:nvSpPr>
          <p:cNvPr id="8" name="Shape 6"/>
          <p:cNvSpPr/>
          <p:nvPr/>
        </p:nvSpPr>
        <p:spPr>
          <a:xfrm>
            <a:off x="502920" y="2286000"/>
            <a:ext cx="6035040" cy="3749040"/>
          </a:xfrm>
          <a:prstGeom prst="rect">
            <a:avLst/>
          </a:prstGeom>
          <a:solidFill>
            <a:srgbClr val="0A1628"/>
          </a:solidFill>
          <a:ln/>
        </p:spPr>
      </p:sp>
      <p:pic>
        <p:nvPicPr>
          <p:cNvPr id="9" name="Image 0" descr="/home/user/workspace/dealix-clean/dashboard/assets/screenshot-sources.png">    </p:cNvPr>
          <p:cNvPicPr>
            <a:picLocks noChangeAspect="1"/>
          </p:cNvPicPr>
          <p:nvPr/>
        </p:nvPicPr>
        <p:blipFill>
          <a:blip r:embed="rId1"/>
          <a:srcRect l="0" r="0" t="0" b="0"/>
          <a:stretch/>
        </p:blipFill>
        <p:spPr>
          <a:xfrm>
            <a:off x="548640" y="2331720"/>
            <a:ext cx="5943600" cy="3657600"/>
          </a:xfrm>
          <a:prstGeom prst="rect">
            <a:avLst/>
          </a:prstGeom>
        </p:spPr>
      </p:pic>
      <p:sp>
        <p:nvSpPr>
          <p:cNvPr id="10" name="Text 7"/>
          <p:cNvSpPr/>
          <p:nvPr/>
        </p:nvSpPr>
        <p:spPr>
          <a:xfrm>
            <a:off x="548640" y="6062472"/>
            <a:ext cx="5943600" cy="274320"/>
          </a:xfrm>
          <a:prstGeom prst="rect">
            <a:avLst/>
          </a:prstGeom>
          <a:noFill/>
          <a:ln/>
        </p:spPr>
        <p:txBody>
          <a:bodyPr wrap="square" rtlCol="0" anchor="ctr"/>
          <a:lstStyle/>
          <a:p>
            <a:pPr algn="l" indent="0" marL="0">
              <a:buNone/>
            </a:pPr>
            <a:r>
              <a:rPr lang="en-US" sz="1000" i="1" dirty="0">
                <a:solidFill>
                  <a:srgbClr val="8B95A3"/>
                </a:solidFill>
                <a:latin typeface="Calibri" pitchFamily="34" charset="0"/>
                <a:ea typeface="Calibri" pitchFamily="34" charset="-122"/>
                <a:cs typeface="Calibri" pitchFamily="34" charset="-120"/>
              </a:rPr>
              <a:t>Dealix Sources — E-Commerce Merchant Pipeline</a:t>
            </a:r>
            <a:endParaRPr lang="en-US" sz="1000" dirty="0"/>
          </a:p>
        </p:txBody>
      </p:sp>
      <p:sp>
        <p:nvSpPr>
          <p:cNvPr id="11" name="Text 8"/>
          <p:cNvSpPr/>
          <p:nvPr/>
        </p:nvSpPr>
        <p:spPr>
          <a:xfrm>
            <a:off x="6766560" y="2331720"/>
            <a:ext cx="4876495" cy="320040"/>
          </a:xfrm>
          <a:prstGeom prst="rect">
            <a:avLst/>
          </a:prstGeom>
          <a:noFill/>
          <a:ln/>
        </p:spPr>
        <p:txBody>
          <a:bodyPr wrap="square" rtlCol="0" anchor="ctr"/>
          <a:lstStyle/>
          <a:p>
            <a:pPr rtl="1" algn="r" indent="0" marL="0">
              <a:buNone/>
            </a:pPr>
            <a:r>
              <a:rPr lang="en-US" sz="1100" b="1" dirty="0">
                <a:solidFill>
                  <a:srgbClr val="D4A574"/>
                </a:solidFill>
                <a:latin typeface="Calibri" pitchFamily="34" charset="0"/>
                <a:ea typeface="Calibri" pitchFamily="34" charset="-122"/>
                <a:cs typeface="Calibri" pitchFamily="34" charset="-120"/>
              </a:rPr>
              <a:t>MERCHANTS · التجار</a:t>
            </a:r>
            <a:endParaRPr lang="en-US" sz="1100" dirty="0"/>
          </a:p>
        </p:txBody>
      </p:sp>
      <p:sp>
        <p:nvSpPr>
          <p:cNvPr id="12" name="Text 9"/>
          <p:cNvSpPr/>
          <p:nvPr/>
        </p:nvSpPr>
        <p:spPr>
          <a:xfrm>
            <a:off x="6766560" y="2651760"/>
            <a:ext cx="4876495" cy="640080"/>
          </a:xfrm>
          <a:prstGeom prst="rect">
            <a:avLst/>
          </a:prstGeom>
          <a:noFill/>
          <a:ln/>
        </p:spPr>
        <p:txBody>
          <a:bodyPr wrap="square" rtlCol="0" anchor="ctr"/>
          <a:lstStyle/>
          <a:p>
            <a:pPr rtl="1" algn="r" indent="0" marL="0">
              <a:buNone/>
            </a:pPr>
            <a:r>
              <a:rPr lang="en-US" sz="1800" b="1" dirty="0">
                <a:solidFill>
                  <a:srgbClr val="0A1628"/>
                </a:solidFill>
                <a:latin typeface="Calibri" pitchFamily="34" charset="0"/>
                <a:ea typeface="Calibri" pitchFamily="34" charset="-122"/>
                <a:cs typeface="Calibri" pitchFamily="34" charset="-120"/>
              </a:rPr>
              <a:t>من تاجر بـ 50 طلب شهرياً إلى عميل بعقد سنوي</a:t>
            </a:r>
            <a:endParaRPr lang="en-US" sz="1800" dirty="0"/>
          </a:p>
        </p:txBody>
      </p:sp>
      <p:sp>
        <p:nvSpPr>
          <p:cNvPr id="13" name="Text 10"/>
          <p:cNvSpPr/>
          <p:nvPr/>
        </p:nvSpPr>
        <p:spPr>
          <a:xfrm>
            <a:off x="11094415" y="3520440"/>
            <a:ext cx="457200" cy="320040"/>
          </a:xfrm>
          <a:prstGeom prst="rect">
            <a:avLst/>
          </a:prstGeom>
          <a:noFill/>
          <a:ln/>
        </p:spPr>
        <p:txBody>
          <a:bodyPr wrap="square" rtlCol="0" anchor="ctr"/>
          <a:lstStyle/>
          <a:p>
            <a:pPr algn="r" indent="0" marL="0">
              <a:buNone/>
            </a:pPr>
            <a:r>
              <a:rPr lang="en-US" sz="1400" b="1" dirty="0">
                <a:solidFill>
                  <a:srgbClr val="D4A574"/>
                </a:solidFill>
                <a:latin typeface="Calibri" pitchFamily="34" charset="0"/>
                <a:ea typeface="Calibri" pitchFamily="34" charset="-122"/>
                <a:cs typeface="Calibri" pitchFamily="34" charset="-120"/>
              </a:rPr>
              <a:t>01</a:t>
            </a:r>
            <a:endParaRPr lang="en-US" sz="1400" dirty="0"/>
          </a:p>
        </p:txBody>
      </p:sp>
      <p:sp>
        <p:nvSpPr>
          <p:cNvPr id="14" name="Text 11"/>
          <p:cNvSpPr/>
          <p:nvPr/>
        </p:nvSpPr>
        <p:spPr>
          <a:xfrm>
            <a:off x="6766560" y="3493008"/>
            <a:ext cx="4236415" cy="365760"/>
          </a:xfrm>
          <a:prstGeom prst="rect">
            <a:avLst/>
          </a:prstGeom>
          <a:noFill/>
          <a:ln/>
        </p:spPr>
        <p:txBody>
          <a:bodyPr wrap="square" rtlCol="0" anchor="ctr"/>
          <a:lstStyle/>
          <a:p>
            <a:pPr rtl="1" algn="r" indent="0" marL="0">
              <a:buNone/>
            </a:pPr>
            <a:r>
              <a:rPr lang="en-US" sz="1100" dirty="0">
                <a:solidFill>
                  <a:srgbClr val="1A1A1A"/>
                </a:solidFill>
                <a:latin typeface="Calibri" pitchFamily="34" charset="0"/>
                <a:ea typeface="Calibri" pitchFamily="34" charset="-122"/>
                <a:cs typeface="Calibri" pitchFamily="34" charset="-120"/>
              </a:rPr>
              <a:t>التقاط تلقائي من Salla · Zid · Shopify · Manual</a:t>
            </a:r>
            <a:endParaRPr lang="en-US" sz="1100" dirty="0"/>
          </a:p>
        </p:txBody>
      </p:sp>
      <p:sp>
        <p:nvSpPr>
          <p:cNvPr id="15" name="Text 12"/>
          <p:cNvSpPr/>
          <p:nvPr/>
        </p:nvSpPr>
        <p:spPr>
          <a:xfrm>
            <a:off x="11094415" y="3931920"/>
            <a:ext cx="457200" cy="320040"/>
          </a:xfrm>
          <a:prstGeom prst="rect">
            <a:avLst/>
          </a:prstGeom>
          <a:noFill/>
          <a:ln/>
        </p:spPr>
        <p:txBody>
          <a:bodyPr wrap="square" rtlCol="0" anchor="ctr"/>
          <a:lstStyle/>
          <a:p>
            <a:pPr algn="r" indent="0" marL="0">
              <a:buNone/>
            </a:pPr>
            <a:r>
              <a:rPr lang="en-US" sz="1400" b="1" dirty="0">
                <a:solidFill>
                  <a:srgbClr val="D4A574"/>
                </a:solidFill>
                <a:latin typeface="Calibri" pitchFamily="34" charset="0"/>
                <a:ea typeface="Calibri" pitchFamily="34" charset="-122"/>
                <a:cs typeface="Calibri" pitchFamily="34" charset="-120"/>
              </a:rPr>
              <a:t>02</a:t>
            </a:r>
            <a:endParaRPr lang="en-US" sz="1400" dirty="0"/>
          </a:p>
        </p:txBody>
      </p:sp>
      <p:sp>
        <p:nvSpPr>
          <p:cNvPr id="16" name="Text 13"/>
          <p:cNvSpPr/>
          <p:nvPr/>
        </p:nvSpPr>
        <p:spPr>
          <a:xfrm>
            <a:off x="6766560" y="3904488"/>
            <a:ext cx="4236415" cy="365760"/>
          </a:xfrm>
          <a:prstGeom prst="rect">
            <a:avLst/>
          </a:prstGeom>
          <a:noFill/>
          <a:ln/>
        </p:spPr>
        <p:txBody>
          <a:bodyPr wrap="square" rtlCol="0" anchor="ctr"/>
          <a:lstStyle/>
          <a:p>
            <a:pPr rtl="1" algn="r" indent="0" marL="0">
              <a:buNone/>
            </a:pPr>
            <a:r>
              <a:rPr lang="en-US" sz="1100" dirty="0">
                <a:solidFill>
                  <a:srgbClr val="1A1A1A"/>
                </a:solidFill>
                <a:latin typeface="Calibri" pitchFamily="34" charset="0"/>
                <a:ea typeface="Calibri" pitchFamily="34" charset="-122"/>
                <a:cs typeface="Calibri" pitchFamily="34" charset="-120"/>
              </a:rPr>
              <a:t>تأهيل بناءً على الحجم: عدد الطلبات · قيمة متوسطة</a:t>
            </a:r>
            <a:endParaRPr lang="en-US" sz="1100" dirty="0"/>
          </a:p>
        </p:txBody>
      </p:sp>
      <p:sp>
        <p:nvSpPr>
          <p:cNvPr id="17" name="Text 14"/>
          <p:cNvSpPr/>
          <p:nvPr/>
        </p:nvSpPr>
        <p:spPr>
          <a:xfrm>
            <a:off x="11094415" y="4343400"/>
            <a:ext cx="457200" cy="320040"/>
          </a:xfrm>
          <a:prstGeom prst="rect">
            <a:avLst/>
          </a:prstGeom>
          <a:noFill/>
          <a:ln/>
        </p:spPr>
        <p:txBody>
          <a:bodyPr wrap="square" rtlCol="0" anchor="ctr"/>
          <a:lstStyle/>
          <a:p>
            <a:pPr algn="r" indent="0" marL="0">
              <a:buNone/>
            </a:pPr>
            <a:r>
              <a:rPr lang="en-US" sz="1400" b="1" dirty="0">
                <a:solidFill>
                  <a:srgbClr val="D4A574"/>
                </a:solidFill>
                <a:latin typeface="Calibri" pitchFamily="34" charset="0"/>
                <a:ea typeface="Calibri" pitchFamily="34" charset="-122"/>
                <a:cs typeface="Calibri" pitchFamily="34" charset="-120"/>
              </a:rPr>
              <a:t>03</a:t>
            </a:r>
            <a:endParaRPr lang="en-US" sz="1400" dirty="0"/>
          </a:p>
        </p:txBody>
      </p:sp>
      <p:sp>
        <p:nvSpPr>
          <p:cNvPr id="18" name="Text 15"/>
          <p:cNvSpPr/>
          <p:nvPr/>
        </p:nvSpPr>
        <p:spPr>
          <a:xfrm>
            <a:off x="6766560" y="4315968"/>
            <a:ext cx="4236415" cy="365760"/>
          </a:xfrm>
          <a:prstGeom prst="rect">
            <a:avLst/>
          </a:prstGeom>
          <a:noFill/>
          <a:ln/>
        </p:spPr>
        <p:txBody>
          <a:bodyPr wrap="square" rtlCol="0" anchor="ctr"/>
          <a:lstStyle/>
          <a:p>
            <a:pPr rtl="1" algn="r" indent="0" marL="0">
              <a:buNone/>
            </a:pPr>
            <a:r>
              <a:rPr lang="en-US" sz="1100" dirty="0">
                <a:solidFill>
                  <a:srgbClr val="1A1A1A"/>
                </a:solidFill>
                <a:latin typeface="Calibri" pitchFamily="34" charset="0"/>
                <a:ea typeface="Calibri" pitchFamily="34" charset="-122"/>
                <a:cs typeface="Calibri" pitchFamily="34" charset="-120"/>
              </a:rPr>
              <a:t>عرض مخصّص: أسعار متدرّجة حسب الحجم</a:t>
            </a:r>
            <a:endParaRPr lang="en-US" sz="1100" dirty="0"/>
          </a:p>
        </p:txBody>
      </p:sp>
      <p:sp>
        <p:nvSpPr>
          <p:cNvPr id="19" name="Text 16"/>
          <p:cNvSpPr/>
          <p:nvPr/>
        </p:nvSpPr>
        <p:spPr>
          <a:xfrm>
            <a:off x="11094415" y="4754880"/>
            <a:ext cx="457200" cy="320040"/>
          </a:xfrm>
          <a:prstGeom prst="rect">
            <a:avLst/>
          </a:prstGeom>
          <a:noFill/>
          <a:ln/>
        </p:spPr>
        <p:txBody>
          <a:bodyPr wrap="square" rtlCol="0" anchor="ctr"/>
          <a:lstStyle/>
          <a:p>
            <a:pPr algn="r" indent="0" marL="0">
              <a:buNone/>
            </a:pPr>
            <a:r>
              <a:rPr lang="en-US" sz="1400" b="1" dirty="0">
                <a:solidFill>
                  <a:srgbClr val="D4A574"/>
                </a:solidFill>
                <a:latin typeface="Calibri" pitchFamily="34" charset="0"/>
                <a:ea typeface="Calibri" pitchFamily="34" charset="-122"/>
                <a:cs typeface="Calibri" pitchFamily="34" charset="-120"/>
              </a:rPr>
              <a:t>04</a:t>
            </a:r>
            <a:endParaRPr lang="en-US" sz="1400" dirty="0"/>
          </a:p>
        </p:txBody>
      </p:sp>
      <p:sp>
        <p:nvSpPr>
          <p:cNvPr id="20" name="Text 17"/>
          <p:cNvSpPr/>
          <p:nvPr/>
        </p:nvSpPr>
        <p:spPr>
          <a:xfrm>
            <a:off x="6766560" y="4727448"/>
            <a:ext cx="4236415" cy="365760"/>
          </a:xfrm>
          <a:prstGeom prst="rect">
            <a:avLst/>
          </a:prstGeom>
          <a:noFill/>
          <a:ln/>
        </p:spPr>
        <p:txBody>
          <a:bodyPr wrap="square" rtlCol="0" anchor="ctr"/>
          <a:lstStyle/>
          <a:p>
            <a:pPr rtl="1" algn="r" indent="0" marL="0">
              <a:buNone/>
            </a:pPr>
            <a:r>
              <a:rPr lang="en-US" sz="1100" dirty="0">
                <a:solidFill>
                  <a:srgbClr val="1A1A1A"/>
                </a:solidFill>
                <a:latin typeface="Calibri" pitchFamily="34" charset="0"/>
                <a:ea typeface="Calibri" pitchFamily="34" charset="-122"/>
                <a:cs typeface="Calibri" pitchFamily="34" charset="-120"/>
              </a:rPr>
              <a:t>Self-service Onboarding — التاجر يوقّع بـ OTP</a:t>
            </a:r>
            <a:endParaRPr lang="en-US" sz="1100" dirty="0"/>
          </a:p>
        </p:txBody>
      </p:sp>
      <p:sp>
        <p:nvSpPr>
          <p:cNvPr id="21" name="Text 18"/>
          <p:cNvSpPr/>
          <p:nvPr/>
        </p:nvSpPr>
        <p:spPr>
          <a:xfrm>
            <a:off x="11094415" y="5166360"/>
            <a:ext cx="457200" cy="320040"/>
          </a:xfrm>
          <a:prstGeom prst="rect">
            <a:avLst/>
          </a:prstGeom>
          <a:noFill/>
          <a:ln/>
        </p:spPr>
        <p:txBody>
          <a:bodyPr wrap="square" rtlCol="0" anchor="ctr"/>
          <a:lstStyle/>
          <a:p>
            <a:pPr algn="r" indent="0" marL="0">
              <a:buNone/>
            </a:pPr>
            <a:r>
              <a:rPr lang="en-US" sz="1400" b="1" dirty="0">
                <a:solidFill>
                  <a:srgbClr val="D4A574"/>
                </a:solidFill>
                <a:latin typeface="Calibri" pitchFamily="34" charset="0"/>
                <a:ea typeface="Calibri" pitchFamily="34" charset="-122"/>
                <a:cs typeface="Calibri" pitchFamily="34" charset="-120"/>
              </a:rPr>
              <a:t>05</a:t>
            </a:r>
            <a:endParaRPr lang="en-US" sz="1400" dirty="0"/>
          </a:p>
        </p:txBody>
      </p:sp>
      <p:sp>
        <p:nvSpPr>
          <p:cNvPr id="22" name="Text 19"/>
          <p:cNvSpPr/>
          <p:nvPr/>
        </p:nvSpPr>
        <p:spPr>
          <a:xfrm>
            <a:off x="6766560" y="5138928"/>
            <a:ext cx="4236415" cy="365760"/>
          </a:xfrm>
          <a:prstGeom prst="rect">
            <a:avLst/>
          </a:prstGeom>
          <a:noFill/>
          <a:ln/>
        </p:spPr>
        <p:txBody>
          <a:bodyPr wrap="square" rtlCol="0" anchor="ctr"/>
          <a:lstStyle/>
          <a:p>
            <a:pPr rtl="1" algn="r" indent="0" marL="0">
              <a:buNone/>
            </a:pPr>
            <a:r>
              <a:rPr lang="en-US" sz="1100" dirty="0">
                <a:solidFill>
                  <a:srgbClr val="1A1A1A"/>
                </a:solidFill>
                <a:latin typeface="Calibri" pitchFamily="34" charset="0"/>
                <a:ea typeface="Calibri" pitchFamily="34" charset="-122"/>
                <a:cs typeface="Calibri" pitchFamily="34" charset="-120"/>
              </a:rPr>
              <a:t>تكامل API مع متجره — شحن مباشر بضغطة</a:t>
            </a:r>
            <a:endParaRPr lang="en-US" sz="1100" dirty="0"/>
          </a:p>
        </p:txBody>
      </p:sp>
      <p:sp>
        <p:nvSpPr>
          <p:cNvPr id="23" name="Text 20"/>
          <p:cNvSpPr/>
          <p:nvPr/>
        </p:nvSpPr>
        <p:spPr>
          <a:xfrm>
            <a:off x="11094415" y="5577840"/>
            <a:ext cx="457200" cy="320040"/>
          </a:xfrm>
          <a:prstGeom prst="rect">
            <a:avLst/>
          </a:prstGeom>
          <a:noFill/>
          <a:ln/>
        </p:spPr>
        <p:txBody>
          <a:bodyPr wrap="square" rtlCol="0" anchor="ctr"/>
          <a:lstStyle/>
          <a:p>
            <a:pPr algn="r" indent="0" marL="0">
              <a:buNone/>
            </a:pPr>
            <a:r>
              <a:rPr lang="en-US" sz="1400" b="1" dirty="0">
                <a:solidFill>
                  <a:srgbClr val="D4A574"/>
                </a:solidFill>
                <a:latin typeface="Calibri" pitchFamily="34" charset="0"/>
                <a:ea typeface="Calibri" pitchFamily="34" charset="-122"/>
                <a:cs typeface="Calibri" pitchFamily="34" charset="-120"/>
              </a:rPr>
              <a:t>06</a:t>
            </a:r>
            <a:endParaRPr lang="en-US" sz="1400" dirty="0"/>
          </a:p>
        </p:txBody>
      </p:sp>
      <p:sp>
        <p:nvSpPr>
          <p:cNvPr id="24" name="Text 21"/>
          <p:cNvSpPr/>
          <p:nvPr/>
        </p:nvSpPr>
        <p:spPr>
          <a:xfrm>
            <a:off x="6766560" y="5550408"/>
            <a:ext cx="4236415" cy="365760"/>
          </a:xfrm>
          <a:prstGeom prst="rect">
            <a:avLst/>
          </a:prstGeom>
          <a:noFill/>
          <a:ln/>
        </p:spPr>
        <p:txBody>
          <a:bodyPr wrap="square" rtlCol="0" anchor="ctr"/>
          <a:lstStyle/>
          <a:p>
            <a:pPr rtl="1" algn="r" indent="0" marL="0">
              <a:buNone/>
            </a:pPr>
            <a:r>
              <a:rPr lang="en-US" sz="1100" dirty="0">
                <a:solidFill>
                  <a:srgbClr val="1A1A1A"/>
                </a:solidFill>
                <a:latin typeface="Calibri" pitchFamily="34" charset="0"/>
                <a:ea typeface="Calibri" pitchFamily="34" charset="-122"/>
                <a:cs typeface="Calibri" pitchFamily="34" charset="-120"/>
              </a:rPr>
              <a:t>إعادة تقييم آلية كل 90 يوم — ترقية التاجر النامي</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8F3"/>
        </a:solidFill>
      </p:bgPr>
    </p:bg>
    <p:spTree>
      <p:nvGrpSpPr>
        <p:cNvPr id="1" name=""/>
        <p:cNvGrpSpPr/>
        <p:nvPr/>
      </p:nvGrpSpPr>
      <p:grpSpPr>
        <a:xfrm>
          <a:off x="0" y="0"/>
          <a:ext cx="0" cy="0"/>
          <a:chOff x="0" y="0"/>
          <a:chExt cx="0" cy="0"/>
        </a:xfrm>
      </p:grpSpPr>
      <p:sp>
        <p:nvSpPr>
          <p:cNvPr id="2" name="Shape 0"/>
          <p:cNvSpPr/>
          <p:nvPr/>
        </p:nvSpPr>
        <p:spPr>
          <a:xfrm>
            <a:off x="11734495" y="320040"/>
            <a:ext cx="73152" cy="411480"/>
          </a:xfrm>
          <a:prstGeom prst="rect">
            <a:avLst/>
          </a:prstGeom>
          <a:solidFill>
            <a:srgbClr val="D4A574"/>
          </a:solidFill>
          <a:ln/>
        </p:spPr>
      </p:sp>
      <p:sp>
        <p:nvSpPr>
          <p:cNvPr id="3" name="Text 1"/>
          <p:cNvSpPr/>
          <p:nvPr/>
        </p:nvSpPr>
        <p:spPr>
          <a:xfrm>
            <a:off x="8076895" y="274320"/>
            <a:ext cx="3566160" cy="365760"/>
          </a:xfrm>
          <a:prstGeom prst="rect">
            <a:avLst/>
          </a:prstGeom>
          <a:noFill/>
          <a:ln/>
        </p:spPr>
        <p:txBody>
          <a:bodyPr wrap="square" rtlCol="0" anchor="ctr"/>
          <a:lstStyle/>
          <a:p>
            <a:pPr rtl="1" algn="r" indent="0" marL="0">
              <a:buNone/>
            </a:pPr>
            <a:r>
              <a:rPr lang="en-US" sz="1200" b="1" dirty="0">
                <a:solidFill>
                  <a:srgbClr val="55606E"/>
                </a:solidFill>
                <a:latin typeface="Calibri" pitchFamily="34" charset="0"/>
                <a:ea typeface="Calibri" pitchFamily="34" charset="-122"/>
                <a:cs typeface="Calibri" pitchFamily="34" charset="-120"/>
              </a:rPr>
              <a:t>التكامل مع أنظمتكم</a:t>
            </a:r>
            <a:endParaRPr lang="en-US" sz="1200" dirty="0"/>
          </a:p>
        </p:txBody>
      </p:sp>
      <p:sp>
        <p:nvSpPr>
          <p:cNvPr id="4" name="Text 2"/>
          <p:cNvSpPr/>
          <p:nvPr/>
        </p:nvSpPr>
        <p:spPr>
          <a:xfrm>
            <a:off x="457200" y="6446520"/>
            <a:ext cx="2286000" cy="274320"/>
          </a:xfrm>
          <a:prstGeom prst="rect">
            <a:avLst/>
          </a:prstGeom>
          <a:noFill/>
          <a:ln/>
        </p:spPr>
        <p:txBody>
          <a:bodyPr wrap="square" rtlCol="0" anchor="ctr"/>
          <a:lstStyle/>
          <a:p>
            <a:pPr algn="l" indent="0" marL="0">
              <a:buNone/>
            </a:pPr>
            <a:r>
              <a:rPr lang="en-US" sz="900" dirty="0">
                <a:solidFill>
                  <a:srgbClr val="8B95A3"/>
                </a:solidFill>
                <a:latin typeface="Calibri" pitchFamily="34" charset="0"/>
                <a:ea typeface="Calibri" pitchFamily="34" charset="-122"/>
                <a:cs typeface="Calibri" pitchFamily="34" charset="-120"/>
              </a:rPr>
              <a:t>Dealix · ديلكس</a:t>
            </a:r>
            <a:endParaRPr lang="en-US" sz="900" dirty="0"/>
          </a:p>
        </p:txBody>
      </p:sp>
      <p:sp>
        <p:nvSpPr>
          <p:cNvPr id="5" name="Text 3"/>
          <p:cNvSpPr/>
          <p:nvPr/>
        </p:nvSpPr>
        <p:spPr>
          <a:xfrm>
            <a:off x="11094415" y="6446520"/>
            <a:ext cx="640080" cy="274320"/>
          </a:xfrm>
          <a:prstGeom prst="rect">
            <a:avLst/>
          </a:prstGeom>
          <a:noFill/>
          <a:ln/>
        </p:spPr>
        <p:txBody>
          <a:bodyPr wrap="square" rtlCol="0" anchor="ctr"/>
          <a:lstStyle/>
          <a:p>
            <a:pPr algn="r" indent="0" marL="0">
              <a:buNone/>
            </a:pPr>
            <a:r>
              <a:rPr lang="en-US" sz="900" b="1" dirty="0">
                <a:solidFill>
                  <a:srgbClr val="8B95A3"/>
                </a:solidFill>
                <a:latin typeface="Calibri" pitchFamily="34" charset="0"/>
                <a:ea typeface="Calibri" pitchFamily="34" charset="-122"/>
                <a:cs typeface="Calibri" pitchFamily="34" charset="-120"/>
              </a:rPr>
              <a:t>25</a:t>
            </a:r>
            <a:endParaRPr lang="en-US" sz="900" dirty="0"/>
          </a:p>
        </p:txBody>
      </p:sp>
      <p:sp>
        <p:nvSpPr>
          <p:cNvPr id="6" name="Text 4"/>
          <p:cNvSpPr/>
          <p:nvPr/>
        </p:nvSpPr>
        <p:spPr>
          <a:xfrm>
            <a:off x="548640" y="914400"/>
            <a:ext cx="11094415" cy="822960"/>
          </a:xfrm>
          <a:prstGeom prst="rect">
            <a:avLst/>
          </a:prstGeom>
          <a:noFill/>
          <a:ln/>
        </p:spPr>
        <p:txBody>
          <a:bodyPr wrap="square" rtlCol="0" anchor="ctr"/>
          <a:lstStyle/>
          <a:p>
            <a:pPr rtl="1" algn="r" indent="0" marL="0">
              <a:buNone/>
            </a:pPr>
            <a:r>
              <a:rPr lang="en-US" sz="3400" b="1" dirty="0">
                <a:solidFill>
                  <a:srgbClr val="0A1628"/>
                </a:solidFill>
                <a:latin typeface="Calibri" pitchFamily="34" charset="0"/>
                <a:ea typeface="Calibri" pitchFamily="34" charset="-122"/>
                <a:cs typeface="Calibri" pitchFamily="34" charset="-120"/>
              </a:rPr>
              <a:t>التكامل مع أنظمتكم الحالية</a:t>
            </a:r>
            <a:endParaRPr lang="en-US" sz="3400" dirty="0"/>
          </a:p>
        </p:txBody>
      </p:sp>
      <p:sp>
        <p:nvSpPr>
          <p:cNvPr id="7" name="Text 5"/>
          <p:cNvSpPr/>
          <p:nvPr/>
        </p:nvSpPr>
        <p:spPr>
          <a:xfrm>
            <a:off x="548640" y="1691640"/>
            <a:ext cx="11094415" cy="411480"/>
          </a:xfrm>
          <a:prstGeom prst="rect">
            <a:avLst/>
          </a:prstGeom>
          <a:noFill/>
          <a:ln/>
        </p:spPr>
        <p:txBody>
          <a:bodyPr wrap="square" rtlCol="0" anchor="ctr"/>
          <a:lstStyle/>
          <a:p>
            <a:pPr rtl="1" algn="r" indent="0" marL="0">
              <a:buNone/>
            </a:pPr>
            <a:r>
              <a:rPr lang="en-US" sz="1500" dirty="0">
                <a:solidFill>
                  <a:srgbClr val="55606E"/>
                </a:solidFill>
                <a:latin typeface="Calibri" pitchFamily="34" charset="0"/>
                <a:ea typeface="Calibri" pitchFamily="34" charset="-122"/>
                <a:cs typeface="Calibri" pitchFamily="34" charset="-120"/>
              </a:rPr>
              <a:t>ديلكس طبقة البيع فوق بنيتكم التقنية — لا استبدال، بل تعزيز</a:t>
            </a:r>
            <a:endParaRPr lang="en-US" sz="1500" dirty="0"/>
          </a:p>
        </p:txBody>
      </p:sp>
      <p:sp>
        <p:nvSpPr>
          <p:cNvPr id="8" name="Shape 6"/>
          <p:cNvSpPr/>
          <p:nvPr/>
        </p:nvSpPr>
        <p:spPr>
          <a:xfrm>
            <a:off x="548640" y="2331720"/>
            <a:ext cx="11094415" cy="822960"/>
          </a:xfrm>
          <a:prstGeom prst="rect">
            <a:avLst/>
          </a:prstGeom>
          <a:solidFill>
            <a:srgbClr val="0A1628"/>
          </a:solidFill>
          <a:ln/>
        </p:spPr>
      </p:sp>
      <p:sp>
        <p:nvSpPr>
          <p:cNvPr id="9" name="Text 7"/>
          <p:cNvSpPr/>
          <p:nvPr/>
        </p:nvSpPr>
        <p:spPr>
          <a:xfrm>
            <a:off x="822960" y="2441448"/>
            <a:ext cx="10545775" cy="365760"/>
          </a:xfrm>
          <a:prstGeom prst="rect">
            <a:avLst/>
          </a:prstGeom>
          <a:noFill/>
          <a:ln/>
        </p:spPr>
        <p:txBody>
          <a:bodyPr wrap="square" rtlCol="0" anchor="ctr"/>
          <a:lstStyle/>
          <a:p>
            <a:pPr rtl="1" algn="r" indent="0" marL="0">
              <a:buNone/>
            </a:pPr>
            <a:r>
              <a:rPr lang="en-US" sz="1600" b="1" dirty="0">
                <a:solidFill>
                  <a:srgbClr val="D4A574"/>
                </a:solidFill>
                <a:latin typeface="Calibri" pitchFamily="34" charset="0"/>
                <a:ea typeface="Calibri" pitchFamily="34" charset="-122"/>
                <a:cs typeface="Calibri" pitchFamily="34" charset="-120"/>
              </a:rPr>
              <a:t>ديلكس · طبقة البيع والإيراد</a:t>
            </a:r>
            <a:endParaRPr lang="en-US" sz="1600" dirty="0"/>
          </a:p>
        </p:txBody>
      </p:sp>
      <p:sp>
        <p:nvSpPr>
          <p:cNvPr id="10" name="Text 8"/>
          <p:cNvSpPr/>
          <p:nvPr/>
        </p:nvSpPr>
        <p:spPr>
          <a:xfrm>
            <a:off x="822960" y="2788920"/>
            <a:ext cx="10545775" cy="320040"/>
          </a:xfrm>
          <a:prstGeom prst="rect">
            <a:avLst/>
          </a:prstGeom>
          <a:noFill/>
          <a:ln/>
        </p:spPr>
        <p:txBody>
          <a:bodyPr wrap="square" rtlCol="0" anchor="ctr"/>
          <a:lstStyle/>
          <a:p>
            <a:pPr rtl="1" algn="r" indent="0" marL="0">
              <a:buNone/>
            </a:pPr>
            <a:r>
              <a:rPr lang="en-US" sz="1100" dirty="0">
                <a:solidFill>
                  <a:srgbClr val="B9C2CD"/>
                </a:solidFill>
                <a:latin typeface="Calibri" pitchFamily="34" charset="0"/>
                <a:ea typeface="Calibri" pitchFamily="34" charset="-122"/>
                <a:cs typeface="Calibri" pitchFamily="34" charset="-120"/>
              </a:rPr>
              <a:t>Lead Intelligence · Omnichannel · AI Agents · Pipeline · Analytics</a:t>
            </a:r>
            <a:endParaRPr lang="en-US" sz="1100" dirty="0"/>
          </a:p>
        </p:txBody>
      </p:sp>
      <p:sp>
        <p:nvSpPr>
          <p:cNvPr id="11" name="Shape 9"/>
          <p:cNvSpPr/>
          <p:nvPr/>
        </p:nvSpPr>
        <p:spPr>
          <a:xfrm>
            <a:off x="548640" y="3246120"/>
            <a:ext cx="11094415" cy="822960"/>
          </a:xfrm>
          <a:prstGeom prst="rect">
            <a:avLst/>
          </a:prstGeom>
          <a:solidFill>
            <a:srgbClr val="D4A574"/>
          </a:solidFill>
          <a:ln/>
        </p:spPr>
      </p:sp>
      <p:sp>
        <p:nvSpPr>
          <p:cNvPr id="12" name="Text 10"/>
          <p:cNvSpPr/>
          <p:nvPr/>
        </p:nvSpPr>
        <p:spPr>
          <a:xfrm>
            <a:off x="822960" y="3355848"/>
            <a:ext cx="10545775" cy="365760"/>
          </a:xfrm>
          <a:prstGeom prst="rect">
            <a:avLst/>
          </a:prstGeom>
          <a:noFill/>
          <a:ln/>
        </p:spPr>
        <p:txBody>
          <a:bodyPr wrap="square" rtlCol="0" anchor="ctr"/>
          <a:lstStyle/>
          <a:p>
            <a:pPr rtl="1" algn="r" indent="0" marL="0">
              <a:buNone/>
            </a:pPr>
            <a:r>
              <a:rPr lang="en-US" sz="1600" b="1" dirty="0">
                <a:solidFill>
                  <a:srgbClr val="0A1628"/>
                </a:solidFill>
                <a:latin typeface="Calibri" pitchFamily="34" charset="0"/>
                <a:ea typeface="Calibri" pitchFamily="34" charset="-122"/>
                <a:cs typeface="Calibri" pitchFamily="34" charset="-120"/>
              </a:rPr>
              <a:t>طبقة التكامل · Integration Layer</a:t>
            </a:r>
            <a:endParaRPr lang="en-US" sz="1600" dirty="0"/>
          </a:p>
        </p:txBody>
      </p:sp>
      <p:sp>
        <p:nvSpPr>
          <p:cNvPr id="13" name="Text 11"/>
          <p:cNvSpPr/>
          <p:nvPr/>
        </p:nvSpPr>
        <p:spPr>
          <a:xfrm>
            <a:off x="822960" y="3703320"/>
            <a:ext cx="10545775" cy="320040"/>
          </a:xfrm>
          <a:prstGeom prst="rect">
            <a:avLst/>
          </a:prstGeom>
          <a:noFill/>
          <a:ln/>
        </p:spPr>
        <p:txBody>
          <a:bodyPr wrap="square" rtlCol="0" anchor="ctr"/>
          <a:lstStyle/>
          <a:p>
            <a:pPr rtl="1" algn="r" indent="0" marL="0">
              <a:buNone/>
            </a:pPr>
            <a:r>
              <a:rPr lang="en-US" sz="1100" dirty="0">
                <a:solidFill>
                  <a:srgbClr val="0A1628"/>
                </a:solidFill>
                <a:latin typeface="Calibri" pitchFamily="34" charset="0"/>
                <a:ea typeface="Calibri" pitchFamily="34" charset="-122"/>
                <a:cs typeface="Calibri" pitchFamily="34" charset="-120"/>
              </a:rPr>
              <a:t>REST APIs · Webhooks · SSO (SAML/OIDC) · Event Bus</a:t>
            </a:r>
            <a:endParaRPr lang="en-US" sz="1100" dirty="0"/>
          </a:p>
        </p:txBody>
      </p:sp>
      <p:sp>
        <p:nvSpPr>
          <p:cNvPr id="14" name="Shape 12"/>
          <p:cNvSpPr/>
          <p:nvPr/>
        </p:nvSpPr>
        <p:spPr>
          <a:xfrm>
            <a:off x="548640" y="4160520"/>
            <a:ext cx="11094415" cy="822960"/>
          </a:xfrm>
          <a:prstGeom prst="rect">
            <a:avLst/>
          </a:prstGeom>
          <a:solidFill>
            <a:srgbClr val="13233F"/>
          </a:solidFill>
          <a:ln/>
        </p:spPr>
      </p:sp>
      <p:sp>
        <p:nvSpPr>
          <p:cNvPr id="15" name="Text 13"/>
          <p:cNvSpPr/>
          <p:nvPr/>
        </p:nvSpPr>
        <p:spPr>
          <a:xfrm>
            <a:off x="822960" y="4270248"/>
            <a:ext cx="10545775" cy="365760"/>
          </a:xfrm>
          <a:prstGeom prst="rect">
            <a:avLst/>
          </a:prstGeom>
          <a:noFill/>
          <a:ln/>
        </p:spPr>
        <p:txBody>
          <a:bodyPr wrap="square" rtlCol="0" anchor="ctr"/>
          <a:lstStyle/>
          <a:p>
            <a:pPr rtl="1" algn="r" indent="0" marL="0">
              <a:buNone/>
            </a:pPr>
            <a:r>
              <a:rPr lang="en-US" sz="1600" b="1" dirty="0">
                <a:solidFill>
                  <a:srgbClr val="D4A574"/>
                </a:solidFill>
                <a:latin typeface="Calibri" pitchFamily="34" charset="0"/>
                <a:ea typeface="Calibri" pitchFamily="34" charset="-122"/>
                <a:cs typeface="Calibri" pitchFamily="34" charset="-120"/>
              </a:rPr>
              <a:t>أنظمتكم التشغيلية</a:t>
            </a:r>
            <a:endParaRPr lang="en-US" sz="1600" dirty="0"/>
          </a:p>
        </p:txBody>
      </p:sp>
      <p:sp>
        <p:nvSpPr>
          <p:cNvPr id="16" name="Text 14"/>
          <p:cNvSpPr/>
          <p:nvPr/>
        </p:nvSpPr>
        <p:spPr>
          <a:xfrm>
            <a:off x="822960" y="4617720"/>
            <a:ext cx="10545775" cy="320040"/>
          </a:xfrm>
          <a:prstGeom prst="rect">
            <a:avLst/>
          </a:prstGeom>
          <a:noFill/>
          <a:ln/>
        </p:spPr>
        <p:txBody>
          <a:bodyPr wrap="square" rtlCol="0" anchor="ctr"/>
          <a:lstStyle/>
          <a:p>
            <a:pPr rtl="1" algn="r" indent="0" marL="0">
              <a:buNone/>
            </a:pPr>
            <a:r>
              <a:rPr lang="en-US" sz="1100" dirty="0">
                <a:solidFill>
                  <a:srgbClr val="B9C2CD"/>
                </a:solidFill>
                <a:latin typeface="Calibri" pitchFamily="34" charset="0"/>
                <a:ea typeface="Calibri" pitchFamily="34" charset="-122"/>
                <a:cs typeface="Calibri" pitchFamily="34" charset="-120"/>
              </a:rPr>
              <a:t>Oracle TM · SAP TM · WMS · Fleet Telematics · ERP · Accounting</a:t>
            </a:r>
            <a:endParaRPr lang="en-US" sz="1100" dirty="0"/>
          </a:p>
        </p:txBody>
      </p:sp>
      <p:sp>
        <p:nvSpPr>
          <p:cNvPr id="17" name="Shape 15"/>
          <p:cNvSpPr/>
          <p:nvPr/>
        </p:nvSpPr>
        <p:spPr>
          <a:xfrm>
            <a:off x="548640" y="5074920"/>
            <a:ext cx="11094415" cy="822960"/>
          </a:xfrm>
          <a:prstGeom prst="rect">
            <a:avLst/>
          </a:prstGeom>
          <a:solidFill>
            <a:srgbClr val="060E1A"/>
          </a:solidFill>
          <a:ln/>
        </p:spPr>
      </p:sp>
      <p:sp>
        <p:nvSpPr>
          <p:cNvPr id="18" name="Text 16"/>
          <p:cNvSpPr/>
          <p:nvPr/>
        </p:nvSpPr>
        <p:spPr>
          <a:xfrm>
            <a:off x="822960" y="5184648"/>
            <a:ext cx="10545775" cy="365760"/>
          </a:xfrm>
          <a:prstGeom prst="rect">
            <a:avLst/>
          </a:prstGeom>
          <a:noFill/>
          <a:ln/>
        </p:spPr>
        <p:txBody>
          <a:bodyPr wrap="square" rtlCol="0" anchor="ctr"/>
          <a:lstStyle/>
          <a:p>
            <a:pPr rtl="1" algn="r" indent="0" marL="0">
              <a:buNone/>
            </a:pPr>
            <a:r>
              <a:rPr lang="en-US" sz="1600" b="1" dirty="0">
                <a:solidFill>
                  <a:srgbClr val="D4A574"/>
                </a:solidFill>
                <a:latin typeface="Calibri" pitchFamily="34" charset="0"/>
                <a:ea typeface="Calibri" pitchFamily="34" charset="-122"/>
                <a:cs typeface="Calibri" pitchFamily="34" charset="-120"/>
              </a:rPr>
              <a:t>البيانات والتخزين</a:t>
            </a:r>
            <a:endParaRPr lang="en-US" sz="1600" dirty="0"/>
          </a:p>
        </p:txBody>
      </p:sp>
      <p:sp>
        <p:nvSpPr>
          <p:cNvPr id="19" name="Text 17"/>
          <p:cNvSpPr/>
          <p:nvPr/>
        </p:nvSpPr>
        <p:spPr>
          <a:xfrm>
            <a:off x="822960" y="5532120"/>
            <a:ext cx="10545775" cy="320040"/>
          </a:xfrm>
          <a:prstGeom prst="rect">
            <a:avLst/>
          </a:prstGeom>
          <a:noFill/>
          <a:ln/>
        </p:spPr>
        <p:txBody>
          <a:bodyPr wrap="square" rtlCol="0" anchor="ctr"/>
          <a:lstStyle/>
          <a:p>
            <a:pPr rtl="1" algn="r" indent="0" marL="0">
              <a:buNone/>
            </a:pPr>
            <a:r>
              <a:rPr lang="en-US" sz="1100" dirty="0">
                <a:solidFill>
                  <a:srgbClr val="B9C2CD"/>
                </a:solidFill>
                <a:latin typeface="Calibri" pitchFamily="34" charset="0"/>
                <a:ea typeface="Calibri" pitchFamily="34" charset="-122"/>
                <a:cs typeface="Calibri" pitchFamily="34" charset="-120"/>
              </a:rPr>
              <a:t>Data Warehouse · Power BI / Tableau · Sovereign Cloud (Optional)</a:t>
            </a:r>
            <a:endParaRPr lang="en-US" sz="1100" dirty="0"/>
          </a:p>
        </p:txBody>
      </p:sp>
      <p:sp>
        <p:nvSpPr>
          <p:cNvPr id="20" name="Text 18"/>
          <p:cNvSpPr/>
          <p:nvPr/>
        </p:nvSpPr>
        <p:spPr>
          <a:xfrm>
            <a:off x="548640" y="5989320"/>
            <a:ext cx="11094415" cy="320040"/>
          </a:xfrm>
          <a:prstGeom prst="rect">
            <a:avLst/>
          </a:prstGeom>
          <a:noFill/>
          <a:ln/>
        </p:spPr>
        <p:txBody>
          <a:bodyPr wrap="square" rtlCol="0" anchor="ctr"/>
          <a:lstStyle/>
          <a:p>
            <a:pPr rtl="1" algn="r" indent="0" marL="0">
              <a:buNone/>
            </a:pPr>
            <a:r>
              <a:rPr lang="en-US" sz="1300" i="1" dirty="0">
                <a:solidFill>
                  <a:srgbClr val="1A1A1A"/>
                </a:solidFill>
                <a:latin typeface="Georgia" pitchFamily="34" charset="0"/>
                <a:ea typeface="Georgia" pitchFamily="34" charset="-122"/>
                <a:cs typeface="Georgia" pitchFamily="34" charset="-120"/>
              </a:rPr>
              <a:t>زمن التكامل القياسي: 4-8 أسابيع مع فريق تقنية مخصّص من ديلكس</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8F3"/>
        </a:solidFill>
      </p:bgPr>
    </p:bg>
    <p:spTree>
      <p:nvGrpSpPr>
        <p:cNvPr id="1" name=""/>
        <p:cNvGrpSpPr/>
        <p:nvPr/>
      </p:nvGrpSpPr>
      <p:grpSpPr>
        <a:xfrm>
          <a:off x="0" y="0"/>
          <a:ext cx="0" cy="0"/>
          <a:chOff x="0" y="0"/>
          <a:chExt cx="0" cy="0"/>
        </a:xfrm>
      </p:grpSpPr>
      <p:sp>
        <p:nvSpPr>
          <p:cNvPr id="2" name="Shape 0"/>
          <p:cNvSpPr/>
          <p:nvPr/>
        </p:nvSpPr>
        <p:spPr>
          <a:xfrm>
            <a:off x="11734495" y="320040"/>
            <a:ext cx="73152" cy="411480"/>
          </a:xfrm>
          <a:prstGeom prst="rect">
            <a:avLst/>
          </a:prstGeom>
          <a:solidFill>
            <a:srgbClr val="D4A574"/>
          </a:solidFill>
          <a:ln/>
        </p:spPr>
      </p:sp>
      <p:sp>
        <p:nvSpPr>
          <p:cNvPr id="3" name="Text 1"/>
          <p:cNvSpPr/>
          <p:nvPr/>
        </p:nvSpPr>
        <p:spPr>
          <a:xfrm>
            <a:off x="8076895" y="274320"/>
            <a:ext cx="3566160" cy="365760"/>
          </a:xfrm>
          <a:prstGeom prst="rect">
            <a:avLst/>
          </a:prstGeom>
          <a:noFill/>
          <a:ln/>
        </p:spPr>
        <p:txBody>
          <a:bodyPr wrap="square" rtlCol="0" anchor="ctr"/>
          <a:lstStyle/>
          <a:p>
            <a:pPr rtl="1" algn="r" indent="0" marL="0">
              <a:buNone/>
            </a:pPr>
            <a:r>
              <a:rPr lang="en-US" sz="1200" b="1" dirty="0">
                <a:solidFill>
                  <a:srgbClr val="55606E"/>
                </a:solidFill>
                <a:latin typeface="Calibri" pitchFamily="34" charset="0"/>
                <a:ea typeface="Calibri" pitchFamily="34" charset="-122"/>
                <a:cs typeface="Calibri" pitchFamily="34" charset="-120"/>
              </a:rPr>
              <a:t>حوكمة البيانات</a:t>
            </a:r>
            <a:endParaRPr lang="en-US" sz="1200" dirty="0"/>
          </a:p>
        </p:txBody>
      </p:sp>
      <p:sp>
        <p:nvSpPr>
          <p:cNvPr id="4" name="Text 2"/>
          <p:cNvSpPr/>
          <p:nvPr/>
        </p:nvSpPr>
        <p:spPr>
          <a:xfrm>
            <a:off x="457200" y="6446520"/>
            <a:ext cx="2286000" cy="274320"/>
          </a:xfrm>
          <a:prstGeom prst="rect">
            <a:avLst/>
          </a:prstGeom>
          <a:noFill/>
          <a:ln/>
        </p:spPr>
        <p:txBody>
          <a:bodyPr wrap="square" rtlCol="0" anchor="ctr"/>
          <a:lstStyle/>
          <a:p>
            <a:pPr algn="l" indent="0" marL="0">
              <a:buNone/>
            </a:pPr>
            <a:r>
              <a:rPr lang="en-US" sz="900" dirty="0">
                <a:solidFill>
                  <a:srgbClr val="8B95A3"/>
                </a:solidFill>
                <a:latin typeface="Calibri" pitchFamily="34" charset="0"/>
                <a:ea typeface="Calibri" pitchFamily="34" charset="-122"/>
                <a:cs typeface="Calibri" pitchFamily="34" charset="-120"/>
              </a:rPr>
              <a:t>Dealix · ديلكس</a:t>
            </a:r>
            <a:endParaRPr lang="en-US" sz="900" dirty="0"/>
          </a:p>
        </p:txBody>
      </p:sp>
      <p:sp>
        <p:nvSpPr>
          <p:cNvPr id="5" name="Text 3"/>
          <p:cNvSpPr/>
          <p:nvPr/>
        </p:nvSpPr>
        <p:spPr>
          <a:xfrm>
            <a:off x="11094415" y="6446520"/>
            <a:ext cx="640080" cy="274320"/>
          </a:xfrm>
          <a:prstGeom prst="rect">
            <a:avLst/>
          </a:prstGeom>
          <a:noFill/>
          <a:ln/>
        </p:spPr>
        <p:txBody>
          <a:bodyPr wrap="square" rtlCol="0" anchor="ctr"/>
          <a:lstStyle/>
          <a:p>
            <a:pPr algn="r" indent="0" marL="0">
              <a:buNone/>
            </a:pPr>
            <a:r>
              <a:rPr lang="en-US" sz="900" b="1" dirty="0">
                <a:solidFill>
                  <a:srgbClr val="8B95A3"/>
                </a:solidFill>
                <a:latin typeface="Calibri" pitchFamily="34" charset="0"/>
                <a:ea typeface="Calibri" pitchFamily="34" charset="-122"/>
                <a:cs typeface="Calibri" pitchFamily="34" charset="-120"/>
              </a:rPr>
              <a:t>26</a:t>
            </a:r>
            <a:endParaRPr lang="en-US" sz="900" dirty="0"/>
          </a:p>
        </p:txBody>
      </p:sp>
      <p:sp>
        <p:nvSpPr>
          <p:cNvPr id="6" name="Text 4"/>
          <p:cNvSpPr/>
          <p:nvPr/>
        </p:nvSpPr>
        <p:spPr>
          <a:xfrm>
            <a:off x="548640" y="914400"/>
            <a:ext cx="11094415" cy="822960"/>
          </a:xfrm>
          <a:prstGeom prst="rect">
            <a:avLst/>
          </a:prstGeom>
          <a:noFill/>
          <a:ln/>
        </p:spPr>
        <p:txBody>
          <a:bodyPr wrap="square" rtlCol="0" anchor="ctr"/>
          <a:lstStyle/>
          <a:p>
            <a:pPr rtl="1" algn="r" indent="0" marL="0">
              <a:buNone/>
            </a:pPr>
            <a:r>
              <a:rPr lang="en-US" sz="3400" b="1" dirty="0">
                <a:solidFill>
                  <a:srgbClr val="0A1628"/>
                </a:solidFill>
                <a:latin typeface="Calibri" pitchFamily="34" charset="0"/>
                <a:ea typeface="Calibri" pitchFamily="34" charset="-122"/>
                <a:cs typeface="Calibri" pitchFamily="34" charset="-120"/>
              </a:rPr>
              <a:t>سيادة البيانات وخيارات الاستضافة</a:t>
            </a:r>
            <a:endParaRPr lang="en-US" sz="3400" dirty="0"/>
          </a:p>
        </p:txBody>
      </p:sp>
      <p:sp>
        <p:nvSpPr>
          <p:cNvPr id="7" name="Text 5"/>
          <p:cNvSpPr/>
          <p:nvPr/>
        </p:nvSpPr>
        <p:spPr>
          <a:xfrm>
            <a:off x="548640" y="1691640"/>
            <a:ext cx="11094415" cy="411480"/>
          </a:xfrm>
          <a:prstGeom prst="rect">
            <a:avLst/>
          </a:prstGeom>
          <a:noFill/>
          <a:ln/>
        </p:spPr>
        <p:txBody>
          <a:bodyPr wrap="square" rtlCol="0" anchor="ctr"/>
          <a:lstStyle/>
          <a:p>
            <a:pPr rtl="1" algn="r" indent="0" marL="0">
              <a:buNone/>
            </a:pPr>
            <a:r>
              <a:rPr lang="en-US" sz="1500" dirty="0">
                <a:solidFill>
                  <a:srgbClr val="55606E"/>
                </a:solidFill>
                <a:latin typeface="Calibri" pitchFamily="34" charset="0"/>
                <a:ea typeface="Calibri" pitchFamily="34" charset="-122"/>
                <a:cs typeface="Calibri" pitchFamily="34" charset="-120"/>
              </a:rPr>
              <a:t>Data Sovereignty — بياناتكم داخل المملكة، تحت قوانينها، بصلاحياتكم</a:t>
            </a:r>
            <a:endParaRPr lang="en-US" sz="1500" dirty="0"/>
          </a:p>
        </p:txBody>
      </p:sp>
      <p:sp>
        <p:nvSpPr>
          <p:cNvPr id="8" name="Shape 6"/>
          <p:cNvSpPr/>
          <p:nvPr/>
        </p:nvSpPr>
        <p:spPr>
          <a:xfrm>
            <a:off x="8127797" y="2331720"/>
            <a:ext cx="3515258" cy="3657600"/>
          </a:xfrm>
          <a:prstGeom prst="rect">
            <a:avLst/>
          </a:prstGeom>
          <a:solidFill>
            <a:srgbClr val="FFFFFF"/>
          </a:solidFill>
          <a:ln w="12700">
            <a:solidFill>
              <a:srgbClr val="E8E3D6"/>
            </a:solidFill>
            <a:prstDash val="solid"/>
          </a:ln>
        </p:spPr>
      </p:sp>
      <p:sp>
        <p:nvSpPr>
          <p:cNvPr id="9" name="Shape 7"/>
          <p:cNvSpPr/>
          <p:nvPr/>
        </p:nvSpPr>
        <p:spPr>
          <a:xfrm>
            <a:off x="8127797" y="2331720"/>
            <a:ext cx="3515258" cy="73152"/>
          </a:xfrm>
          <a:prstGeom prst="rect">
            <a:avLst/>
          </a:prstGeom>
          <a:solidFill>
            <a:srgbClr val="D4A574"/>
          </a:solidFill>
          <a:ln/>
        </p:spPr>
      </p:sp>
      <p:sp>
        <p:nvSpPr>
          <p:cNvPr id="10" name="Text 8"/>
          <p:cNvSpPr/>
          <p:nvPr/>
        </p:nvSpPr>
        <p:spPr>
          <a:xfrm>
            <a:off x="8127797" y="2514600"/>
            <a:ext cx="3515258" cy="274320"/>
          </a:xfrm>
          <a:prstGeom prst="rect">
            <a:avLst/>
          </a:prstGeom>
          <a:noFill/>
          <a:ln/>
        </p:spPr>
        <p:txBody>
          <a:bodyPr wrap="square" rtlCol="0" anchor="ctr"/>
          <a:lstStyle/>
          <a:p>
            <a:pPr rtl="1" algn="ctr" indent="0" marL="0">
              <a:buNone/>
            </a:pPr>
            <a:r>
              <a:rPr lang="en-US" sz="1000" b="1" dirty="0">
                <a:solidFill>
                  <a:srgbClr val="55606E"/>
                </a:solidFill>
                <a:latin typeface="Calibri" pitchFamily="34" charset="0"/>
                <a:ea typeface="Calibri" pitchFamily="34" charset="-122"/>
                <a:cs typeface="Calibri" pitchFamily="34" charset="-120"/>
              </a:rPr>
              <a:t>السحابة العامة</a:t>
            </a:r>
            <a:endParaRPr lang="en-US" sz="1000" dirty="0"/>
          </a:p>
        </p:txBody>
      </p:sp>
      <p:sp>
        <p:nvSpPr>
          <p:cNvPr id="11" name="Text 9"/>
          <p:cNvSpPr/>
          <p:nvPr/>
        </p:nvSpPr>
        <p:spPr>
          <a:xfrm>
            <a:off x="8127797" y="2788920"/>
            <a:ext cx="3515258" cy="457200"/>
          </a:xfrm>
          <a:prstGeom prst="rect">
            <a:avLst/>
          </a:prstGeom>
          <a:noFill/>
          <a:ln/>
        </p:spPr>
        <p:txBody>
          <a:bodyPr wrap="square" rtlCol="0" anchor="ctr"/>
          <a:lstStyle/>
          <a:p>
            <a:pPr algn="ctr" indent="0" marL="0">
              <a:buNone/>
            </a:pPr>
            <a:r>
              <a:rPr lang="en-US" sz="2000" b="1" dirty="0">
                <a:solidFill>
                  <a:srgbClr val="0A1628"/>
                </a:solidFill>
                <a:latin typeface="Calibri" pitchFamily="34" charset="0"/>
                <a:ea typeface="Calibri" pitchFamily="34" charset="-122"/>
                <a:cs typeface="Calibri" pitchFamily="34" charset="-120"/>
              </a:rPr>
              <a:t>Dealix Cloud</a:t>
            </a:r>
            <a:endParaRPr lang="en-US" sz="2000" dirty="0"/>
          </a:p>
        </p:txBody>
      </p:sp>
      <p:sp>
        <p:nvSpPr>
          <p:cNvPr id="12" name="Text 10"/>
          <p:cNvSpPr/>
          <p:nvPr/>
        </p:nvSpPr>
        <p:spPr>
          <a:xfrm>
            <a:off x="8127797" y="3246120"/>
            <a:ext cx="3515258" cy="365760"/>
          </a:xfrm>
          <a:prstGeom prst="rect">
            <a:avLst/>
          </a:prstGeom>
          <a:noFill/>
          <a:ln/>
        </p:spPr>
        <p:txBody>
          <a:bodyPr wrap="square" rtlCol="0" anchor="ctr"/>
          <a:lstStyle/>
          <a:p>
            <a:pPr algn="ctr" indent="0" marL="0">
              <a:buNone/>
            </a:pPr>
            <a:r>
              <a:rPr lang="en-US" sz="1600" dirty="0">
                <a:solidFill>
                  <a:srgbClr val="D4A574"/>
                </a:solidFill>
                <a:latin typeface="Calibri" pitchFamily="34" charset="0"/>
                <a:ea typeface="Calibri" pitchFamily="34" charset="-122"/>
                <a:cs typeface="Calibri" pitchFamily="34" charset="-120"/>
              </a:rPr>
              <a:t>★★★</a:t>
            </a:r>
            <a:endParaRPr lang="en-US" sz="1600" dirty="0"/>
          </a:p>
        </p:txBody>
      </p:sp>
      <p:sp>
        <p:nvSpPr>
          <p:cNvPr id="13" name="Shape 11"/>
          <p:cNvSpPr/>
          <p:nvPr/>
        </p:nvSpPr>
        <p:spPr>
          <a:xfrm>
            <a:off x="11368735" y="3858768"/>
            <a:ext cx="109728" cy="109728"/>
          </a:xfrm>
          <a:prstGeom prst="ellipse">
            <a:avLst/>
          </a:prstGeom>
          <a:solidFill>
            <a:srgbClr val="D4A574"/>
          </a:solidFill>
          <a:ln/>
        </p:spPr>
      </p:sp>
      <p:sp>
        <p:nvSpPr>
          <p:cNvPr id="14" name="Text 12"/>
          <p:cNvSpPr/>
          <p:nvPr/>
        </p:nvSpPr>
        <p:spPr>
          <a:xfrm>
            <a:off x="8264957" y="3749040"/>
            <a:ext cx="3058058" cy="411480"/>
          </a:xfrm>
          <a:prstGeom prst="rect">
            <a:avLst/>
          </a:prstGeom>
          <a:noFill/>
          <a:ln/>
        </p:spPr>
        <p:txBody>
          <a:bodyPr wrap="square" rtlCol="0" anchor="ctr"/>
          <a:lstStyle/>
          <a:p>
            <a:pPr rtl="1" algn="r" indent="0" marL="0">
              <a:buNone/>
            </a:pPr>
            <a:r>
              <a:rPr lang="en-US" sz="1100" dirty="0">
                <a:solidFill>
                  <a:srgbClr val="1A1A1A"/>
                </a:solidFill>
                <a:latin typeface="Calibri" pitchFamily="34" charset="0"/>
                <a:ea typeface="Calibri" pitchFamily="34" charset="-122"/>
                <a:cs typeface="Calibri" pitchFamily="34" charset="-120"/>
              </a:rPr>
              <a:t>أسرع بدء تشغيل</a:t>
            </a:r>
            <a:endParaRPr lang="en-US" sz="1100" dirty="0"/>
          </a:p>
        </p:txBody>
      </p:sp>
      <p:sp>
        <p:nvSpPr>
          <p:cNvPr id="15" name="Shape 13"/>
          <p:cNvSpPr/>
          <p:nvPr/>
        </p:nvSpPr>
        <p:spPr>
          <a:xfrm>
            <a:off x="11368735" y="4315968"/>
            <a:ext cx="109728" cy="109728"/>
          </a:xfrm>
          <a:prstGeom prst="ellipse">
            <a:avLst/>
          </a:prstGeom>
          <a:solidFill>
            <a:srgbClr val="D4A574"/>
          </a:solidFill>
          <a:ln/>
        </p:spPr>
      </p:sp>
      <p:sp>
        <p:nvSpPr>
          <p:cNvPr id="16" name="Text 14"/>
          <p:cNvSpPr/>
          <p:nvPr/>
        </p:nvSpPr>
        <p:spPr>
          <a:xfrm>
            <a:off x="8264957" y="4206240"/>
            <a:ext cx="3058058" cy="411480"/>
          </a:xfrm>
          <a:prstGeom prst="rect">
            <a:avLst/>
          </a:prstGeom>
          <a:noFill/>
          <a:ln/>
        </p:spPr>
        <p:txBody>
          <a:bodyPr wrap="square" rtlCol="0" anchor="ctr"/>
          <a:lstStyle/>
          <a:p>
            <a:pPr rtl="1" algn="r" indent="0" marL="0">
              <a:buNone/>
            </a:pPr>
            <a:r>
              <a:rPr lang="en-US" sz="1100" dirty="0">
                <a:solidFill>
                  <a:srgbClr val="1A1A1A"/>
                </a:solidFill>
                <a:latin typeface="Calibri" pitchFamily="34" charset="0"/>
                <a:ea typeface="Calibri" pitchFamily="34" charset="-122"/>
                <a:cs typeface="Calibri" pitchFamily="34" charset="-120"/>
              </a:rPr>
              <a:t>أحدث المميزات فوراً</a:t>
            </a:r>
            <a:endParaRPr lang="en-US" sz="1100" dirty="0"/>
          </a:p>
        </p:txBody>
      </p:sp>
      <p:sp>
        <p:nvSpPr>
          <p:cNvPr id="17" name="Shape 15"/>
          <p:cNvSpPr/>
          <p:nvPr/>
        </p:nvSpPr>
        <p:spPr>
          <a:xfrm>
            <a:off x="11368735" y="4773168"/>
            <a:ext cx="109728" cy="109728"/>
          </a:xfrm>
          <a:prstGeom prst="ellipse">
            <a:avLst/>
          </a:prstGeom>
          <a:solidFill>
            <a:srgbClr val="D4A574"/>
          </a:solidFill>
          <a:ln/>
        </p:spPr>
      </p:sp>
      <p:sp>
        <p:nvSpPr>
          <p:cNvPr id="18" name="Text 16"/>
          <p:cNvSpPr/>
          <p:nvPr/>
        </p:nvSpPr>
        <p:spPr>
          <a:xfrm>
            <a:off x="8264957" y="4663440"/>
            <a:ext cx="3058058" cy="411480"/>
          </a:xfrm>
          <a:prstGeom prst="rect">
            <a:avLst/>
          </a:prstGeom>
          <a:noFill/>
          <a:ln/>
        </p:spPr>
        <p:txBody>
          <a:bodyPr wrap="square" rtlCol="0" anchor="ctr"/>
          <a:lstStyle/>
          <a:p>
            <a:pPr rtl="1" algn="r" indent="0" marL="0">
              <a:buNone/>
            </a:pPr>
            <a:r>
              <a:rPr lang="en-US" sz="1100" dirty="0">
                <a:solidFill>
                  <a:srgbClr val="1A1A1A"/>
                </a:solidFill>
                <a:latin typeface="Calibri" pitchFamily="34" charset="0"/>
                <a:ea typeface="Calibri" pitchFamily="34" charset="-122"/>
                <a:cs typeface="Calibri" pitchFamily="34" charset="-120"/>
              </a:rPr>
              <a:t>تكلفة أقل</a:t>
            </a:r>
            <a:endParaRPr lang="en-US" sz="1100" dirty="0"/>
          </a:p>
        </p:txBody>
      </p:sp>
      <p:sp>
        <p:nvSpPr>
          <p:cNvPr id="19" name="Shape 17"/>
          <p:cNvSpPr/>
          <p:nvPr/>
        </p:nvSpPr>
        <p:spPr>
          <a:xfrm>
            <a:off x="11368735" y="5230368"/>
            <a:ext cx="109728" cy="109728"/>
          </a:xfrm>
          <a:prstGeom prst="ellipse">
            <a:avLst/>
          </a:prstGeom>
          <a:solidFill>
            <a:srgbClr val="D4A574"/>
          </a:solidFill>
          <a:ln/>
        </p:spPr>
      </p:sp>
      <p:sp>
        <p:nvSpPr>
          <p:cNvPr id="20" name="Text 18"/>
          <p:cNvSpPr/>
          <p:nvPr/>
        </p:nvSpPr>
        <p:spPr>
          <a:xfrm>
            <a:off x="8264957" y="5120640"/>
            <a:ext cx="3058058" cy="411480"/>
          </a:xfrm>
          <a:prstGeom prst="rect">
            <a:avLst/>
          </a:prstGeom>
          <a:noFill/>
          <a:ln/>
        </p:spPr>
        <p:txBody>
          <a:bodyPr wrap="square" rtlCol="0" anchor="ctr"/>
          <a:lstStyle/>
          <a:p>
            <a:pPr rtl="1" algn="r" indent="0" marL="0">
              <a:buNone/>
            </a:pPr>
            <a:r>
              <a:rPr lang="en-US" sz="1100" dirty="0">
                <a:solidFill>
                  <a:srgbClr val="1A1A1A"/>
                </a:solidFill>
                <a:latin typeface="Calibri" pitchFamily="34" charset="0"/>
                <a:ea typeface="Calibri" pitchFamily="34" charset="-122"/>
                <a:cs typeface="Calibri" pitchFamily="34" charset="-120"/>
              </a:rPr>
              <a:t>استضافة AWS الرياض</a:t>
            </a:r>
            <a:endParaRPr lang="en-US" sz="1100" dirty="0"/>
          </a:p>
        </p:txBody>
      </p:sp>
      <p:sp>
        <p:nvSpPr>
          <p:cNvPr id="21" name="Shape 19"/>
          <p:cNvSpPr/>
          <p:nvPr/>
        </p:nvSpPr>
        <p:spPr>
          <a:xfrm>
            <a:off x="4338218" y="2331720"/>
            <a:ext cx="3515258" cy="3657600"/>
          </a:xfrm>
          <a:prstGeom prst="rect">
            <a:avLst/>
          </a:prstGeom>
          <a:solidFill>
            <a:srgbClr val="0A1628"/>
          </a:solidFill>
          <a:ln w="25400">
            <a:solidFill>
              <a:srgbClr val="D4A574"/>
            </a:solidFill>
            <a:prstDash val="solid"/>
          </a:ln>
        </p:spPr>
      </p:sp>
      <p:sp>
        <p:nvSpPr>
          <p:cNvPr id="22" name="Shape 20"/>
          <p:cNvSpPr/>
          <p:nvPr/>
        </p:nvSpPr>
        <p:spPr>
          <a:xfrm>
            <a:off x="4338218" y="2331720"/>
            <a:ext cx="3515258" cy="73152"/>
          </a:xfrm>
          <a:prstGeom prst="rect">
            <a:avLst/>
          </a:prstGeom>
          <a:solidFill>
            <a:srgbClr val="D4A574"/>
          </a:solidFill>
          <a:ln/>
        </p:spPr>
      </p:sp>
      <p:sp>
        <p:nvSpPr>
          <p:cNvPr id="23" name="Text 21"/>
          <p:cNvSpPr/>
          <p:nvPr/>
        </p:nvSpPr>
        <p:spPr>
          <a:xfrm>
            <a:off x="4338218" y="2514600"/>
            <a:ext cx="3515258" cy="274320"/>
          </a:xfrm>
          <a:prstGeom prst="rect">
            <a:avLst/>
          </a:prstGeom>
          <a:noFill/>
          <a:ln/>
        </p:spPr>
        <p:txBody>
          <a:bodyPr wrap="square" rtlCol="0" anchor="ctr"/>
          <a:lstStyle/>
          <a:p>
            <a:pPr rtl="1" algn="ctr" indent="0" marL="0">
              <a:buNone/>
            </a:pPr>
            <a:r>
              <a:rPr lang="en-US" sz="1000" b="1" dirty="0">
                <a:solidFill>
                  <a:srgbClr val="D4A574"/>
                </a:solidFill>
                <a:latin typeface="Calibri" pitchFamily="34" charset="0"/>
                <a:ea typeface="Calibri" pitchFamily="34" charset="-122"/>
                <a:cs typeface="Calibri" pitchFamily="34" charset="-120"/>
              </a:rPr>
              <a:t>السحابة السيادية</a:t>
            </a:r>
            <a:endParaRPr lang="en-US" sz="1000" dirty="0"/>
          </a:p>
        </p:txBody>
      </p:sp>
      <p:sp>
        <p:nvSpPr>
          <p:cNvPr id="24" name="Text 22"/>
          <p:cNvSpPr/>
          <p:nvPr/>
        </p:nvSpPr>
        <p:spPr>
          <a:xfrm>
            <a:off x="4338218" y="2788920"/>
            <a:ext cx="3515258" cy="457200"/>
          </a:xfrm>
          <a:prstGeom prst="rect">
            <a:avLst/>
          </a:prstGeom>
          <a:noFill/>
          <a:ln/>
        </p:spPr>
        <p:txBody>
          <a:bodyPr wrap="square" rtlCol="0" anchor="ctr"/>
          <a:lstStyle/>
          <a:p>
            <a:pPr algn="ctr" indent="0" marL="0">
              <a:buNone/>
            </a:pPr>
            <a:r>
              <a:rPr lang="en-US" sz="2000" b="1" dirty="0">
                <a:solidFill>
                  <a:srgbClr val="F5F5F5"/>
                </a:solidFill>
                <a:latin typeface="Calibri" pitchFamily="34" charset="0"/>
                <a:ea typeface="Calibri" pitchFamily="34" charset="-122"/>
                <a:cs typeface="Calibri" pitchFamily="34" charset="-120"/>
              </a:rPr>
              <a:t>Sovereign Cloud</a:t>
            </a:r>
            <a:endParaRPr lang="en-US" sz="2000" dirty="0"/>
          </a:p>
        </p:txBody>
      </p:sp>
      <p:sp>
        <p:nvSpPr>
          <p:cNvPr id="25" name="Text 23"/>
          <p:cNvSpPr/>
          <p:nvPr/>
        </p:nvSpPr>
        <p:spPr>
          <a:xfrm>
            <a:off x="4338218" y="3246120"/>
            <a:ext cx="3515258" cy="365760"/>
          </a:xfrm>
          <a:prstGeom prst="rect">
            <a:avLst/>
          </a:prstGeom>
          <a:noFill/>
          <a:ln/>
        </p:spPr>
        <p:txBody>
          <a:bodyPr wrap="square" rtlCol="0" anchor="ctr"/>
          <a:lstStyle/>
          <a:p>
            <a:pPr algn="ctr" indent="0" marL="0">
              <a:buNone/>
            </a:pPr>
            <a:r>
              <a:rPr lang="en-US" sz="1600" dirty="0">
                <a:solidFill>
                  <a:srgbClr val="D4A574"/>
                </a:solidFill>
                <a:latin typeface="Calibri" pitchFamily="34" charset="0"/>
                <a:ea typeface="Calibri" pitchFamily="34" charset="-122"/>
                <a:cs typeface="Calibri" pitchFamily="34" charset="-120"/>
              </a:rPr>
              <a:t>★★★★</a:t>
            </a:r>
            <a:endParaRPr lang="en-US" sz="1600" dirty="0"/>
          </a:p>
        </p:txBody>
      </p:sp>
      <p:sp>
        <p:nvSpPr>
          <p:cNvPr id="26" name="Shape 24"/>
          <p:cNvSpPr/>
          <p:nvPr/>
        </p:nvSpPr>
        <p:spPr>
          <a:xfrm>
            <a:off x="7579157" y="3858768"/>
            <a:ext cx="109728" cy="109728"/>
          </a:xfrm>
          <a:prstGeom prst="ellipse">
            <a:avLst/>
          </a:prstGeom>
          <a:solidFill>
            <a:srgbClr val="D4A574"/>
          </a:solidFill>
          <a:ln/>
        </p:spPr>
      </p:sp>
      <p:sp>
        <p:nvSpPr>
          <p:cNvPr id="27" name="Text 25"/>
          <p:cNvSpPr/>
          <p:nvPr/>
        </p:nvSpPr>
        <p:spPr>
          <a:xfrm>
            <a:off x="4475378" y="3749040"/>
            <a:ext cx="3058058" cy="411480"/>
          </a:xfrm>
          <a:prstGeom prst="rect">
            <a:avLst/>
          </a:prstGeom>
          <a:noFill/>
          <a:ln/>
        </p:spPr>
        <p:txBody>
          <a:bodyPr wrap="square" rtlCol="0" anchor="ctr"/>
          <a:lstStyle/>
          <a:p>
            <a:pPr rtl="1" algn="r" indent="0" marL="0">
              <a:buNone/>
            </a:pPr>
            <a:r>
              <a:rPr lang="en-US" sz="1100" dirty="0">
                <a:solidFill>
                  <a:srgbClr val="F5F5F5"/>
                </a:solidFill>
                <a:latin typeface="Calibri" pitchFamily="34" charset="0"/>
                <a:ea typeface="Calibri" pitchFamily="34" charset="-122"/>
                <a:cs typeface="Calibri" pitchFamily="34" charset="-120"/>
              </a:rPr>
              <a:t>استضافة STC Cloud / NCA</a:t>
            </a:r>
            <a:endParaRPr lang="en-US" sz="1100" dirty="0"/>
          </a:p>
        </p:txBody>
      </p:sp>
      <p:sp>
        <p:nvSpPr>
          <p:cNvPr id="28" name="Shape 26"/>
          <p:cNvSpPr/>
          <p:nvPr/>
        </p:nvSpPr>
        <p:spPr>
          <a:xfrm>
            <a:off x="7579157" y="4315968"/>
            <a:ext cx="109728" cy="109728"/>
          </a:xfrm>
          <a:prstGeom prst="ellipse">
            <a:avLst/>
          </a:prstGeom>
          <a:solidFill>
            <a:srgbClr val="D4A574"/>
          </a:solidFill>
          <a:ln/>
        </p:spPr>
      </p:sp>
      <p:sp>
        <p:nvSpPr>
          <p:cNvPr id="29" name="Text 27"/>
          <p:cNvSpPr/>
          <p:nvPr/>
        </p:nvSpPr>
        <p:spPr>
          <a:xfrm>
            <a:off x="4475378" y="4206240"/>
            <a:ext cx="3058058" cy="411480"/>
          </a:xfrm>
          <a:prstGeom prst="rect">
            <a:avLst/>
          </a:prstGeom>
          <a:noFill/>
          <a:ln/>
        </p:spPr>
        <p:txBody>
          <a:bodyPr wrap="square" rtlCol="0" anchor="ctr"/>
          <a:lstStyle/>
          <a:p>
            <a:pPr rtl="1" algn="r" indent="0" marL="0">
              <a:buNone/>
            </a:pPr>
            <a:r>
              <a:rPr lang="en-US" sz="1100" dirty="0">
                <a:solidFill>
                  <a:srgbClr val="F5F5F5"/>
                </a:solidFill>
                <a:latin typeface="Calibri" pitchFamily="34" charset="0"/>
                <a:ea typeface="Calibri" pitchFamily="34" charset="-122"/>
                <a:cs typeface="Calibri" pitchFamily="34" charset="-120"/>
              </a:rPr>
              <a:t>عزل كامل للبيانات</a:t>
            </a:r>
            <a:endParaRPr lang="en-US" sz="1100" dirty="0"/>
          </a:p>
        </p:txBody>
      </p:sp>
      <p:sp>
        <p:nvSpPr>
          <p:cNvPr id="30" name="Shape 28"/>
          <p:cNvSpPr/>
          <p:nvPr/>
        </p:nvSpPr>
        <p:spPr>
          <a:xfrm>
            <a:off x="7579157" y="4773168"/>
            <a:ext cx="109728" cy="109728"/>
          </a:xfrm>
          <a:prstGeom prst="ellipse">
            <a:avLst/>
          </a:prstGeom>
          <a:solidFill>
            <a:srgbClr val="D4A574"/>
          </a:solidFill>
          <a:ln/>
        </p:spPr>
      </p:sp>
      <p:sp>
        <p:nvSpPr>
          <p:cNvPr id="31" name="Text 29"/>
          <p:cNvSpPr/>
          <p:nvPr/>
        </p:nvSpPr>
        <p:spPr>
          <a:xfrm>
            <a:off x="4475378" y="4663440"/>
            <a:ext cx="3058058" cy="411480"/>
          </a:xfrm>
          <a:prstGeom prst="rect">
            <a:avLst/>
          </a:prstGeom>
          <a:noFill/>
          <a:ln/>
        </p:spPr>
        <p:txBody>
          <a:bodyPr wrap="square" rtlCol="0" anchor="ctr"/>
          <a:lstStyle/>
          <a:p>
            <a:pPr rtl="1" algn="r" indent="0" marL="0">
              <a:buNone/>
            </a:pPr>
            <a:r>
              <a:rPr lang="en-US" sz="1100" dirty="0">
                <a:solidFill>
                  <a:srgbClr val="F5F5F5"/>
                </a:solidFill>
                <a:latin typeface="Calibri" pitchFamily="34" charset="0"/>
                <a:ea typeface="Calibri" pitchFamily="34" charset="-122"/>
                <a:cs typeface="Calibri" pitchFamily="34" charset="-120"/>
              </a:rPr>
              <a:t>تدقيق أمني ثلاثي</a:t>
            </a:r>
            <a:endParaRPr lang="en-US" sz="1100" dirty="0"/>
          </a:p>
        </p:txBody>
      </p:sp>
      <p:sp>
        <p:nvSpPr>
          <p:cNvPr id="32" name="Shape 30"/>
          <p:cNvSpPr/>
          <p:nvPr/>
        </p:nvSpPr>
        <p:spPr>
          <a:xfrm>
            <a:off x="7579157" y="5230368"/>
            <a:ext cx="109728" cy="109728"/>
          </a:xfrm>
          <a:prstGeom prst="ellipse">
            <a:avLst/>
          </a:prstGeom>
          <a:solidFill>
            <a:srgbClr val="D4A574"/>
          </a:solidFill>
          <a:ln/>
        </p:spPr>
      </p:sp>
      <p:sp>
        <p:nvSpPr>
          <p:cNvPr id="33" name="Text 31"/>
          <p:cNvSpPr/>
          <p:nvPr/>
        </p:nvSpPr>
        <p:spPr>
          <a:xfrm>
            <a:off x="4475378" y="5120640"/>
            <a:ext cx="3058058" cy="411480"/>
          </a:xfrm>
          <a:prstGeom prst="rect">
            <a:avLst/>
          </a:prstGeom>
          <a:noFill/>
          <a:ln/>
        </p:spPr>
        <p:txBody>
          <a:bodyPr wrap="square" rtlCol="0" anchor="ctr"/>
          <a:lstStyle/>
          <a:p>
            <a:pPr rtl="1" algn="r" indent="0" marL="0">
              <a:buNone/>
            </a:pPr>
            <a:r>
              <a:rPr lang="en-US" sz="1100" dirty="0">
                <a:solidFill>
                  <a:srgbClr val="F5F5F5"/>
                </a:solidFill>
                <a:latin typeface="Calibri" pitchFamily="34" charset="0"/>
                <a:ea typeface="Calibri" pitchFamily="34" charset="-122"/>
                <a:cs typeface="Calibri" pitchFamily="34" charset="-120"/>
              </a:rPr>
              <a:t>مفضّل للقطاع الحكومي</a:t>
            </a:r>
            <a:endParaRPr lang="en-US" sz="1100" dirty="0"/>
          </a:p>
        </p:txBody>
      </p:sp>
      <p:sp>
        <p:nvSpPr>
          <p:cNvPr id="34" name="Shape 32"/>
          <p:cNvSpPr/>
          <p:nvPr/>
        </p:nvSpPr>
        <p:spPr>
          <a:xfrm>
            <a:off x="548640" y="2331720"/>
            <a:ext cx="3515258" cy="3657600"/>
          </a:xfrm>
          <a:prstGeom prst="rect">
            <a:avLst/>
          </a:prstGeom>
          <a:solidFill>
            <a:srgbClr val="FFFFFF"/>
          </a:solidFill>
          <a:ln w="12700">
            <a:solidFill>
              <a:srgbClr val="E8E3D6"/>
            </a:solidFill>
            <a:prstDash val="solid"/>
          </a:ln>
        </p:spPr>
      </p:sp>
      <p:sp>
        <p:nvSpPr>
          <p:cNvPr id="35" name="Shape 33"/>
          <p:cNvSpPr/>
          <p:nvPr/>
        </p:nvSpPr>
        <p:spPr>
          <a:xfrm>
            <a:off x="548640" y="2331720"/>
            <a:ext cx="3515258" cy="73152"/>
          </a:xfrm>
          <a:prstGeom prst="rect">
            <a:avLst/>
          </a:prstGeom>
          <a:solidFill>
            <a:srgbClr val="D4A574"/>
          </a:solidFill>
          <a:ln/>
        </p:spPr>
      </p:sp>
      <p:sp>
        <p:nvSpPr>
          <p:cNvPr id="36" name="Text 34"/>
          <p:cNvSpPr/>
          <p:nvPr/>
        </p:nvSpPr>
        <p:spPr>
          <a:xfrm>
            <a:off x="548640" y="2514600"/>
            <a:ext cx="3515258" cy="274320"/>
          </a:xfrm>
          <a:prstGeom prst="rect">
            <a:avLst/>
          </a:prstGeom>
          <a:noFill/>
          <a:ln/>
        </p:spPr>
        <p:txBody>
          <a:bodyPr wrap="square" rtlCol="0" anchor="ctr"/>
          <a:lstStyle/>
          <a:p>
            <a:pPr rtl="1" algn="ctr" indent="0" marL="0">
              <a:buNone/>
            </a:pPr>
            <a:r>
              <a:rPr lang="en-US" sz="1000" b="1" dirty="0">
                <a:solidFill>
                  <a:srgbClr val="55606E"/>
                </a:solidFill>
                <a:latin typeface="Calibri" pitchFamily="34" charset="0"/>
                <a:ea typeface="Calibri" pitchFamily="34" charset="-122"/>
                <a:cs typeface="Calibri" pitchFamily="34" charset="-120"/>
              </a:rPr>
              <a:t>نشر خاص</a:t>
            </a:r>
            <a:endParaRPr lang="en-US" sz="1000" dirty="0"/>
          </a:p>
        </p:txBody>
      </p:sp>
      <p:sp>
        <p:nvSpPr>
          <p:cNvPr id="37" name="Text 35"/>
          <p:cNvSpPr/>
          <p:nvPr/>
        </p:nvSpPr>
        <p:spPr>
          <a:xfrm>
            <a:off x="548640" y="2788920"/>
            <a:ext cx="3515258" cy="457200"/>
          </a:xfrm>
          <a:prstGeom prst="rect">
            <a:avLst/>
          </a:prstGeom>
          <a:noFill/>
          <a:ln/>
        </p:spPr>
        <p:txBody>
          <a:bodyPr wrap="square" rtlCol="0" anchor="ctr"/>
          <a:lstStyle/>
          <a:p>
            <a:pPr algn="ctr" indent="0" marL="0">
              <a:buNone/>
            </a:pPr>
            <a:r>
              <a:rPr lang="en-US" sz="2000" b="1" dirty="0">
                <a:solidFill>
                  <a:srgbClr val="0A1628"/>
                </a:solidFill>
                <a:latin typeface="Calibri" pitchFamily="34" charset="0"/>
                <a:ea typeface="Calibri" pitchFamily="34" charset="-122"/>
                <a:cs typeface="Calibri" pitchFamily="34" charset="-120"/>
              </a:rPr>
              <a:t>Private Deployment</a:t>
            </a:r>
            <a:endParaRPr lang="en-US" sz="2000" dirty="0"/>
          </a:p>
        </p:txBody>
      </p:sp>
      <p:sp>
        <p:nvSpPr>
          <p:cNvPr id="38" name="Text 36"/>
          <p:cNvSpPr/>
          <p:nvPr/>
        </p:nvSpPr>
        <p:spPr>
          <a:xfrm>
            <a:off x="548640" y="3246120"/>
            <a:ext cx="3515258" cy="365760"/>
          </a:xfrm>
          <a:prstGeom prst="rect">
            <a:avLst/>
          </a:prstGeom>
          <a:noFill/>
          <a:ln/>
        </p:spPr>
        <p:txBody>
          <a:bodyPr wrap="square" rtlCol="0" anchor="ctr"/>
          <a:lstStyle/>
          <a:p>
            <a:pPr algn="ctr" indent="0" marL="0">
              <a:buNone/>
            </a:pPr>
            <a:r>
              <a:rPr lang="en-US" sz="1600" dirty="0">
                <a:solidFill>
                  <a:srgbClr val="D4A574"/>
                </a:solidFill>
                <a:latin typeface="Calibri" pitchFamily="34" charset="0"/>
                <a:ea typeface="Calibri" pitchFamily="34" charset="-122"/>
                <a:cs typeface="Calibri" pitchFamily="34" charset="-120"/>
              </a:rPr>
              <a:t>★★★★★</a:t>
            </a:r>
            <a:endParaRPr lang="en-US" sz="1600" dirty="0"/>
          </a:p>
        </p:txBody>
      </p:sp>
      <p:sp>
        <p:nvSpPr>
          <p:cNvPr id="39" name="Shape 37"/>
          <p:cNvSpPr/>
          <p:nvPr/>
        </p:nvSpPr>
        <p:spPr>
          <a:xfrm>
            <a:off x="3789578" y="3858768"/>
            <a:ext cx="109728" cy="109728"/>
          </a:xfrm>
          <a:prstGeom prst="ellipse">
            <a:avLst/>
          </a:prstGeom>
          <a:solidFill>
            <a:srgbClr val="D4A574"/>
          </a:solidFill>
          <a:ln/>
        </p:spPr>
      </p:sp>
      <p:sp>
        <p:nvSpPr>
          <p:cNvPr id="40" name="Text 38"/>
          <p:cNvSpPr/>
          <p:nvPr/>
        </p:nvSpPr>
        <p:spPr>
          <a:xfrm>
            <a:off x="685800" y="3749040"/>
            <a:ext cx="3058058" cy="411480"/>
          </a:xfrm>
          <a:prstGeom prst="rect">
            <a:avLst/>
          </a:prstGeom>
          <a:noFill/>
          <a:ln/>
        </p:spPr>
        <p:txBody>
          <a:bodyPr wrap="square" rtlCol="0" anchor="ctr"/>
          <a:lstStyle/>
          <a:p>
            <a:pPr rtl="1" algn="r" indent="0" marL="0">
              <a:buNone/>
            </a:pPr>
            <a:r>
              <a:rPr lang="en-US" sz="1100" dirty="0">
                <a:solidFill>
                  <a:srgbClr val="1A1A1A"/>
                </a:solidFill>
                <a:latin typeface="Calibri" pitchFamily="34" charset="0"/>
                <a:ea typeface="Calibri" pitchFamily="34" charset="-122"/>
                <a:cs typeface="Calibri" pitchFamily="34" charset="-120"/>
              </a:rPr>
              <a:t>على خوادمكم الداخلية</a:t>
            </a:r>
            <a:endParaRPr lang="en-US" sz="1100" dirty="0"/>
          </a:p>
        </p:txBody>
      </p:sp>
      <p:sp>
        <p:nvSpPr>
          <p:cNvPr id="41" name="Shape 39"/>
          <p:cNvSpPr/>
          <p:nvPr/>
        </p:nvSpPr>
        <p:spPr>
          <a:xfrm>
            <a:off x="3789578" y="4315968"/>
            <a:ext cx="109728" cy="109728"/>
          </a:xfrm>
          <a:prstGeom prst="ellipse">
            <a:avLst/>
          </a:prstGeom>
          <a:solidFill>
            <a:srgbClr val="D4A574"/>
          </a:solidFill>
          <a:ln/>
        </p:spPr>
      </p:sp>
      <p:sp>
        <p:nvSpPr>
          <p:cNvPr id="42" name="Text 40"/>
          <p:cNvSpPr/>
          <p:nvPr/>
        </p:nvSpPr>
        <p:spPr>
          <a:xfrm>
            <a:off x="685800" y="4206240"/>
            <a:ext cx="3058058" cy="411480"/>
          </a:xfrm>
          <a:prstGeom prst="rect">
            <a:avLst/>
          </a:prstGeom>
          <a:noFill/>
          <a:ln/>
        </p:spPr>
        <p:txBody>
          <a:bodyPr wrap="square" rtlCol="0" anchor="ctr"/>
          <a:lstStyle/>
          <a:p>
            <a:pPr rtl="1" algn="r" indent="0" marL="0">
              <a:buNone/>
            </a:pPr>
            <a:r>
              <a:rPr lang="en-US" sz="1100" dirty="0">
                <a:solidFill>
                  <a:srgbClr val="1A1A1A"/>
                </a:solidFill>
                <a:latin typeface="Calibri" pitchFamily="34" charset="0"/>
                <a:ea typeface="Calibri" pitchFamily="34" charset="-122"/>
                <a:cs typeface="Calibri" pitchFamily="34" charset="-120"/>
              </a:rPr>
              <a:t>تحكم كامل بالبيانات</a:t>
            </a:r>
            <a:endParaRPr lang="en-US" sz="1100" dirty="0"/>
          </a:p>
        </p:txBody>
      </p:sp>
      <p:sp>
        <p:nvSpPr>
          <p:cNvPr id="43" name="Shape 41"/>
          <p:cNvSpPr/>
          <p:nvPr/>
        </p:nvSpPr>
        <p:spPr>
          <a:xfrm>
            <a:off x="3789578" y="4773168"/>
            <a:ext cx="109728" cy="109728"/>
          </a:xfrm>
          <a:prstGeom prst="ellipse">
            <a:avLst/>
          </a:prstGeom>
          <a:solidFill>
            <a:srgbClr val="D4A574"/>
          </a:solidFill>
          <a:ln/>
        </p:spPr>
      </p:sp>
      <p:sp>
        <p:nvSpPr>
          <p:cNvPr id="44" name="Text 42"/>
          <p:cNvSpPr/>
          <p:nvPr/>
        </p:nvSpPr>
        <p:spPr>
          <a:xfrm>
            <a:off x="685800" y="4663440"/>
            <a:ext cx="3058058" cy="411480"/>
          </a:xfrm>
          <a:prstGeom prst="rect">
            <a:avLst/>
          </a:prstGeom>
          <a:noFill/>
          <a:ln/>
        </p:spPr>
        <p:txBody>
          <a:bodyPr wrap="square" rtlCol="0" anchor="ctr"/>
          <a:lstStyle/>
          <a:p>
            <a:pPr rtl="1" algn="r" indent="0" marL="0">
              <a:buNone/>
            </a:pPr>
            <a:r>
              <a:rPr lang="en-US" sz="1100" dirty="0">
                <a:solidFill>
                  <a:srgbClr val="1A1A1A"/>
                </a:solidFill>
                <a:latin typeface="Calibri" pitchFamily="34" charset="0"/>
                <a:ea typeface="Calibri" pitchFamily="34" charset="-122"/>
                <a:cs typeface="Calibri" pitchFamily="34" charset="-120"/>
              </a:rPr>
              <a:t>تخصيص عميق</a:t>
            </a:r>
            <a:endParaRPr lang="en-US" sz="1100" dirty="0"/>
          </a:p>
        </p:txBody>
      </p:sp>
      <p:sp>
        <p:nvSpPr>
          <p:cNvPr id="45" name="Shape 43"/>
          <p:cNvSpPr/>
          <p:nvPr/>
        </p:nvSpPr>
        <p:spPr>
          <a:xfrm>
            <a:off x="3789578" y="5230368"/>
            <a:ext cx="109728" cy="109728"/>
          </a:xfrm>
          <a:prstGeom prst="ellipse">
            <a:avLst/>
          </a:prstGeom>
          <a:solidFill>
            <a:srgbClr val="D4A574"/>
          </a:solidFill>
          <a:ln/>
        </p:spPr>
      </p:sp>
      <p:sp>
        <p:nvSpPr>
          <p:cNvPr id="46" name="Text 44"/>
          <p:cNvSpPr/>
          <p:nvPr/>
        </p:nvSpPr>
        <p:spPr>
          <a:xfrm>
            <a:off x="685800" y="5120640"/>
            <a:ext cx="3058058" cy="411480"/>
          </a:xfrm>
          <a:prstGeom prst="rect">
            <a:avLst/>
          </a:prstGeom>
          <a:noFill/>
          <a:ln/>
        </p:spPr>
        <p:txBody>
          <a:bodyPr wrap="square" rtlCol="0" anchor="ctr"/>
          <a:lstStyle/>
          <a:p>
            <a:pPr rtl="1" algn="r" indent="0" marL="0">
              <a:buNone/>
            </a:pPr>
            <a:r>
              <a:rPr lang="en-US" sz="1100" dirty="0">
                <a:solidFill>
                  <a:srgbClr val="1A1A1A"/>
                </a:solidFill>
                <a:latin typeface="Calibri" pitchFamily="34" charset="0"/>
                <a:ea typeface="Calibri" pitchFamily="34" charset="-122"/>
                <a:cs typeface="Calibri" pitchFamily="34" charset="-120"/>
              </a:rPr>
              <a:t>للحسابات فوق 100 مليون</a:t>
            </a:r>
            <a:endParaRPr lang="en-US" sz="1100" dirty="0"/>
          </a:p>
        </p:txBody>
      </p:sp>
      <p:sp>
        <p:nvSpPr>
          <p:cNvPr id="47" name="Text 45"/>
          <p:cNvSpPr/>
          <p:nvPr/>
        </p:nvSpPr>
        <p:spPr>
          <a:xfrm>
            <a:off x="457200" y="6172200"/>
            <a:ext cx="10362895" cy="256032"/>
          </a:xfrm>
          <a:prstGeom prst="rect">
            <a:avLst/>
          </a:prstGeom>
          <a:noFill/>
          <a:ln/>
        </p:spPr>
        <p:txBody>
          <a:bodyPr wrap="square" rtlCol="0" anchor="ctr"/>
          <a:lstStyle/>
          <a:p>
            <a:pPr rtl="1" algn="r" indent="0" marL="0">
              <a:buNone/>
            </a:pPr>
            <a:r>
              <a:rPr lang="en-US" sz="900" dirty="0">
                <a:solidFill>
                  <a:srgbClr val="8B95A3"/>
                </a:solidFill>
                <a:latin typeface="Calibri" pitchFamily="34" charset="0"/>
                <a:ea typeface="Calibri" pitchFamily="34" charset="-122"/>
                <a:cs typeface="Calibri" pitchFamily="34" charset="-120"/>
              </a:rPr>
              <a:t>المصدر: </a:t>
            </a:r>
            <a:pPr rtl="1" algn="r" indent="0" marL="0">
              <a:buNone/>
            </a:pPr>
            <a:r>
              <a:rPr lang="en-US" sz="900" u="sng" dirty="0">
                <a:solidFill>
                  <a:srgbClr val="B8874C"/>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NCA Cloud Cybersecurity</a:t>
            </a:r>
            <a:pPr algn="r" indent="0" marL="0">
              <a:buNone/>
            </a:pPr>
            <a:r>
              <a:rPr lang="en-US" sz="900" dirty="0">
                <a:solidFill>
                  <a:srgbClr val="8B95A3"/>
                </a:solidFill>
                <a:latin typeface="Calibri" pitchFamily="34" charset="0"/>
                <a:ea typeface="Calibri" pitchFamily="34" charset="-122"/>
                <a:cs typeface="Calibri" pitchFamily="34" charset="-120"/>
              </a:rPr>
              <a:t> · </a:t>
            </a:r>
            <a:pPr rtl="1" algn="r" indent="0" marL="0">
              <a:buNone/>
            </a:pPr>
            <a:r>
              <a:rPr lang="en-US" sz="900" u="sng" dirty="0">
                <a:solidFill>
                  <a:srgbClr val="B8874C"/>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PDPL — SDAIA</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8F3"/>
        </a:solidFill>
      </p:bgPr>
    </p:bg>
    <p:spTree>
      <p:nvGrpSpPr>
        <p:cNvPr id="1" name=""/>
        <p:cNvGrpSpPr/>
        <p:nvPr/>
      </p:nvGrpSpPr>
      <p:grpSpPr>
        <a:xfrm>
          <a:off x="0" y="0"/>
          <a:ext cx="0" cy="0"/>
          <a:chOff x="0" y="0"/>
          <a:chExt cx="0" cy="0"/>
        </a:xfrm>
      </p:grpSpPr>
      <p:sp>
        <p:nvSpPr>
          <p:cNvPr id="2" name="Shape 0"/>
          <p:cNvSpPr/>
          <p:nvPr/>
        </p:nvSpPr>
        <p:spPr>
          <a:xfrm>
            <a:off x="11734495" y="320040"/>
            <a:ext cx="73152" cy="411480"/>
          </a:xfrm>
          <a:prstGeom prst="rect">
            <a:avLst/>
          </a:prstGeom>
          <a:solidFill>
            <a:srgbClr val="D4A574"/>
          </a:solidFill>
          <a:ln/>
        </p:spPr>
      </p:sp>
      <p:sp>
        <p:nvSpPr>
          <p:cNvPr id="3" name="Text 1"/>
          <p:cNvSpPr/>
          <p:nvPr/>
        </p:nvSpPr>
        <p:spPr>
          <a:xfrm>
            <a:off x="8076895" y="274320"/>
            <a:ext cx="3566160" cy="365760"/>
          </a:xfrm>
          <a:prstGeom prst="rect">
            <a:avLst/>
          </a:prstGeom>
          <a:noFill/>
          <a:ln/>
        </p:spPr>
        <p:txBody>
          <a:bodyPr wrap="square" rtlCol="0" anchor="ctr"/>
          <a:lstStyle/>
          <a:p>
            <a:pPr rtl="1" algn="r" indent="0" marL="0">
              <a:buNone/>
            </a:pPr>
            <a:r>
              <a:rPr lang="en-US" sz="1200" b="1" dirty="0">
                <a:solidFill>
                  <a:srgbClr val="55606E"/>
                </a:solidFill>
                <a:latin typeface="Calibri" pitchFamily="34" charset="0"/>
                <a:ea typeface="Calibri" pitchFamily="34" charset="-122"/>
                <a:cs typeface="Calibri" pitchFamily="34" charset="-120"/>
              </a:rPr>
              <a:t>الأثر المالي</a:t>
            </a:r>
            <a:endParaRPr lang="en-US" sz="1200" dirty="0"/>
          </a:p>
        </p:txBody>
      </p:sp>
      <p:sp>
        <p:nvSpPr>
          <p:cNvPr id="4" name="Text 2"/>
          <p:cNvSpPr/>
          <p:nvPr/>
        </p:nvSpPr>
        <p:spPr>
          <a:xfrm>
            <a:off x="457200" y="6446520"/>
            <a:ext cx="2286000" cy="274320"/>
          </a:xfrm>
          <a:prstGeom prst="rect">
            <a:avLst/>
          </a:prstGeom>
          <a:noFill/>
          <a:ln/>
        </p:spPr>
        <p:txBody>
          <a:bodyPr wrap="square" rtlCol="0" anchor="ctr"/>
          <a:lstStyle/>
          <a:p>
            <a:pPr algn="l" indent="0" marL="0">
              <a:buNone/>
            </a:pPr>
            <a:r>
              <a:rPr lang="en-US" sz="900" dirty="0">
                <a:solidFill>
                  <a:srgbClr val="8B95A3"/>
                </a:solidFill>
                <a:latin typeface="Calibri" pitchFamily="34" charset="0"/>
                <a:ea typeface="Calibri" pitchFamily="34" charset="-122"/>
                <a:cs typeface="Calibri" pitchFamily="34" charset="-120"/>
              </a:rPr>
              <a:t>Dealix · ديلكس</a:t>
            </a:r>
            <a:endParaRPr lang="en-US" sz="900" dirty="0"/>
          </a:p>
        </p:txBody>
      </p:sp>
      <p:sp>
        <p:nvSpPr>
          <p:cNvPr id="5" name="Text 3"/>
          <p:cNvSpPr/>
          <p:nvPr/>
        </p:nvSpPr>
        <p:spPr>
          <a:xfrm>
            <a:off x="11094415" y="6446520"/>
            <a:ext cx="640080" cy="274320"/>
          </a:xfrm>
          <a:prstGeom prst="rect">
            <a:avLst/>
          </a:prstGeom>
          <a:noFill/>
          <a:ln/>
        </p:spPr>
        <p:txBody>
          <a:bodyPr wrap="square" rtlCol="0" anchor="ctr"/>
          <a:lstStyle/>
          <a:p>
            <a:pPr algn="r" indent="0" marL="0">
              <a:buNone/>
            </a:pPr>
            <a:r>
              <a:rPr lang="en-US" sz="900" b="1" dirty="0">
                <a:solidFill>
                  <a:srgbClr val="8B95A3"/>
                </a:solidFill>
                <a:latin typeface="Calibri" pitchFamily="34" charset="0"/>
                <a:ea typeface="Calibri" pitchFamily="34" charset="-122"/>
                <a:cs typeface="Calibri" pitchFamily="34" charset="-120"/>
              </a:rPr>
              <a:t>27</a:t>
            </a:r>
            <a:endParaRPr lang="en-US" sz="900" dirty="0"/>
          </a:p>
        </p:txBody>
      </p:sp>
      <p:sp>
        <p:nvSpPr>
          <p:cNvPr id="6" name="Text 4"/>
          <p:cNvSpPr/>
          <p:nvPr/>
        </p:nvSpPr>
        <p:spPr>
          <a:xfrm>
            <a:off x="548640" y="914400"/>
            <a:ext cx="11094415" cy="822960"/>
          </a:xfrm>
          <a:prstGeom prst="rect">
            <a:avLst/>
          </a:prstGeom>
          <a:noFill/>
          <a:ln/>
        </p:spPr>
        <p:txBody>
          <a:bodyPr wrap="square" rtlCol="0" anchor="ctr"/>
          <a:lstStyle/>
          <a:p>
            <a:pPr rtl="1" algn="r" indent="0" marL="0">
              <a:buNone/>
            </a:pPr>
            <a:r>
              <a:rPr lang="en-US" sz="3400" b="1" dirty="0">
                <a:solidFill>
                  <a:srgbClr val="0A1628"/>
                </a:solidFill>
                <a:latin typeface="Calibri" pitchFamily="34" charset="0"/>
                <a:ea typeface="Calibri" pitchFamily="34" charset="-122"/>
                <a:cs typeface="Calibri" pitchFamily="34" charset="-120"/>
              </a:rPr>
              <a:t>الأثر على الإيراد — توقّع مباشر</a:t>
            </a:r>
            <a:endParaRPr lang="en-US" sz="3400" dirty="0"/>
          </a:p>
        </p:txBody>
      </p:sp>
      <p:sp>
        <p:nvSpPr>
          <p:cNvPr id="7" name="Text 5"/>
          <p:cNvSpPr/>
          <p:nvPr/>
        </p:nvSpPr>
        <p:spPr>
          <a:xfrm>
            <a:off x="548640" y="1691640"/>
            <a:ext cx="11094415" cy="411480"/>
          </a:xfrm>
          <a:prstGeom prst="rect">
            <a:avLst/>
          </a:prstGeom>
          <a:noFill/>
          <a:ln/>
        </p:spPr>
        <p:txBody>
          <a:bodyPr wrap="square" rtlCol="0" anchor="ctr"/>
          <a:lstStyle/>
          <a:p>
            <a:pPr rtl="1" algn="r" indent="0" marL="0">
              <a:buNone/>
            </a:pPr>
            <a:r>
              <a:rPr lang="en-US" sz="1500" dirty="0">
                <a:solidFill>
                  <a:srgbClr val="55606E"/>
                </a:solidFill>
                <a:latin typeface="Calibri" pitchFamily="34" charset="0"/>
                <a:ea typeface="Calibri" pitchFamily="34" charset="-122"/>
                <a:cs typeface="Calibri" pitchFamily="34" charset="-120"/>
              </a:rPr>
              <a:t>من 10,000 RFP سنوياً بمعدّل فوز 15% إلى 22-25% — ترجمة رقمية مفصّلة</a:t>
            </a:r>
            <a:endParaRPr lang="en-US" sz="1500" dirty="0"/>
          </a:p>
        </p:txBody>
      </p:sp>
      <p:sp>
        <p:nvSpPr>
          <p:cNvPr id="8" name="Shape 6"/>
          <p:cNvSpPr/>
          <p:nvPr/>
        </p:nvSpPr>
        <p:spPr>
          <a:xfrm>
            <a:off x="548640" y="2331720"/>
            <a:ext cx="11094415" cy="438912"/>
          </a:xfrm>
          <a:prstGeom prst="rect">
            <a:avLst/>
          </a:prstGeom>
          <a:solidFill>
            <a:srgbClr val="0A1628"/>
          </a:solidFill>
          <a:ln/>
        </p:spPr>
      </p:sp>
      <p:sp>
        <p:nvSpPr>
          <p:cNvPr id="9" name="Text 7"/>
          <p:cNvSpPr/>
          <p:nvPr/>
        </p:nvSpPr>
        <p:spPr>
          <a:xfrm>
            <a:off x="7866583" y="2331720"/>
            <a:ext cx="3776472" cy="438912"/>
          </a:xfrm>
          <a:prstGeom prst="rect">
            <a:avLst/>
          </a:prstGeom>
          <a:noFill/>
          <a:ln/>
        </p:spPr>
        <p:txBody>
          <a:bodyPr wrap="square" rtlCol="0" anchor="ctr"/>
          <a:lstStyle/>
          <a:p>
            <a:pPr rtl="1" algn="r" indent="0" marL="0">
              <a:buNone/>
            </a:pPr>
            <a:r>
              <a:rPr lang="en-US" sz="1200" b="1" dirty="0">
                <a:solidFill>
                  <a:srgbClr val="FFFFFF"/>
                </a:solidFill>
                <a:latin typeface="Calibri" pitchFamily="34" charset="0"/>
                <a:ea typeface="Calibri" pitchFamily="34" charset="-122"/>
                <a:cs typeface="Calibri" pitchFamily="34" charset="-120"/>
              </a:rPr>
              <a:t>المعطى</a:t>
            </a:r>
            <a:endParaRPr lang="en-US" sz="1200" dirty="0"/>
          </a:p>
        </p:txBody>
      </p:sp>
      <p:sp>
        <p:nvSpPr>
          <p:cNvPr id="10" name="Text 8"/>
          <p:cNvSpPr/>
          <p:nvPr/>
        </p:nvSpPr>
        <p:spPr>
          <a:xfrm>
            <a:off x="5763463" y="2331720"/>
            <a:ext cx="2103120" cy="43891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الوضع الحالي</a:t>
            </a:r>
            <a:endParaRPr lang="en-US" sz="1200" dirty="0"/>
          </a:p>
        </p:txBody>
      </p:sp>
      <p:sp>
        <p:nvSpPr>
          <p:cNvPr id="11" name="Text 9"/>
          <p:cNvSpPr/>
          <p:nvPr/>
        </p:nvSpPr>
        <p:spPr>
          <a:xfrm>
            <a:off x="3294583" y="2331720"/>
            <a:ext cx="2468880" cy="438912"/>
          </a:xfrm>
          <a:prstGeom prst="rect">
            <a:avLst/>
          </a:prstGeom>
          <a:noFill/>
          <a:ln/>
        </p:spPr>
        <p:txBody>
          <a:bodyPr wrap="square" rtlCol="0" anchor="ctr"/>
          <a:lstStyle/>
          <a:p>
            <a:pPr algn="ctr" indent="0" marL="0">
              <a:buNone/>
            </a:pPr>
            <a:r>
              <a:rPr lang="en-US" sz="1200" b="1" dirty="0">
                <a:solidFill>
                  <a:srgbClr val="D4A574"/>
                </a:solidFill>
                <a:latin typeface="Calibri" pitchFamily="34" charset="0"/>
                <a:ea typeface="Calibri" pitchFamily="34" charset="-122"/>
                <a:cs typeface="Calibri" pitchFamily="34" charset="-120"/>
              </a:rPr>
              <a:t>مع ديلكس (محافظ)</a:t>
            </a:r>
            <a:endParaRPr lang="en-US" sz="1200" dirty="0"/>
          </a:p>
        </p:txBody>
      </p:sp>
      <p:sp>
        <p:nvSpPr>
          <p:cNvPr id="12" name="Text 10"/>
          <p:cNvSpPr/>
          <p:nvPr/>
        </p:nvSpPr>
        <p:spPr>
          <a:xfrm>
            <a:off x="551383" y="2331720"/>
            <a:ext cx="2743200" cy="438912"/>
          </a:xfrm>
          <a:prstGeom prst="rect">
            <a:avLst/>
          </a:prstGeom>
          <a:noFill/>
          <a:ln/>
        </p:spPr>
        <p:txBody>
          <a:bodyPr wrap="square" rtlCol="0" anchor="ctr"/>
          <a:lstStyle/>
          <a:p>
            <a:pPr algn="ctr" indent="0" marL="0">
              <a:buNone/>
            </a:pPr>
            <a:r>
              <a:rPr lang="en-US" sz="1200" b="1" dirty="0">
                <a:solidFill>
                  <a:srgbClr val="D4A574"/>
                </a:solidFill>
                <a:latin typeface="Calibri" pitchFamily="34" charset="0"/>
                <a:ea typeface="Calibri" pitchFamily="34" charset="-122"/>
                <a:cs typeface="Calibri" pitchFamily="34" charset="-120"/>
              </a:rPr>
              <a:t>مع ديلكس (طموح)</a:t>
            </a:r>
            <a:endParaRPr lang="en-US" sz="1200" dirty="0"/>
          </a:p>
        </p:txBody>
      </p:sp>
      <p:sp>
        <p:nvSpPr>
          <p:cNvPr id="13" name="Shape 11"/>
          <p:cNvSpPr/>
          <p:nvPr/>
        </p:nvSpPr>
        <p:spPr>
          <a:xfrm>
            <a:off x="548640" y="2770632"/>
            <a:ext cx="11094415" cy="384048"/>
          </a:xfrm>
          <a:prstGeom prst="rect">
            <a:avLst/>
          </a:prstGeom>
          <a:solidFill>
            <a:srgbClr val="FFFFFF"/>
          </a:solidFill>
          <a:ln w="6350">
            <a:solidFill>
              <a:srgbClr val="E8E3D6"/>
            </a:solidFill>
            <a:prstDash val="solid"/>
          </a:ln>
        </p:spPr>
      </p:sp>
      <p:sp>
        <p:nvSpPr>
          <p:cNvPr id="14" name="Text 12"/>
          <p:cNvSpPr/>
          <p:nvPr/>
        </p:nvSpPr>
        <p:spPr>
          <a:xfrm>
            <a:off x="7958023" y="2770632"/>
            <a:ext cx="3593592" cy="384048"/>
          </a:xfrm>
          <a:prstGeom prst="rect">
            <a:avLst/>
          </a:prstGeom>
          <a:noFill/>
          <a:ln/>
        </p:spPr>
        <p:txBody>
          <a:bodyPr wrap="square" rtlCol="0" anchor="ctr"/>
          <a:lstStyle/>
          <a:p>
            <a:pPr rtl="1" algn="r" indent="0" marL="0">
              <a:buNone/>
            </a:pPr>
            <a:r>
              <a:rPr lang="en-US" sz="1200" b="1" dirty="0">
                <a:solidFill>
                  <a:srgbClr val="1A1A1A"/>
                </a:solidFill>
                <a:latin typeface="Calibri" pitchFamily="34" charset="0"/>
                <a:ea typeface="Calibri" pitchFamily="34" charset="-122"/>
                <a:cs typeface="Calibri" pitchFamily="34" charset="-120"/>
              </a:rPr>
              <a:t>عدد RFPs سنوياً</a:t>
            </a:r>
            <a:endParaRPr lang="en-US" sz="1200" dirty="0"/>
          </a:p>
        </p:txBody>
      </p:sp>
      <p:sp>
        <p:nvSpPr>
          <p:cNvPr id="15" name="Text 13"/>
          <p:cNvSpPr/>
          <p:nvPr/>
        </p:nvSpPr>
        <p:spPr>
          <a:xfrm>
            <a:off x="5854903" y="2770632"/>
            <a:ext cx="1920240" cy="384048"/>
          </a:xfrm>
          <a:prstGeom prst="rect">
            <a:avLst/>
          </a:prstGeom>
          <a:noFill/>
          <a:ln/>
        </p:spPr>
        <p:txBody>
          <a:bodyPr wrap="square" rtlCol="0" anchor="ctr"/>
          <a:lstStyle/>
          <a:p>
            <a:pPr algn="ctr" indent="0" marL="0">
              <a:buNone/>
            </a:pPr>
            <a:r>
              <a:rPr lang="en-US" sz="1200" dirty="0">
                <a:solidFill>
                  <a:srgbClr val="1A1A1A"/>
                </a:solidFill>
                <a:latin typeface="Calibri" pitchFamily="34" charset="0"/>
                <a:ea typeface="Calibri" pitchFamily="34" charset="-122"/>
                <a:cs typeface="Calibri" pitchFamily="34" charset="-120"/>
              </a:rPr>
              <a:t>10,000</a:t>
            </a:r>
            <a:endParaRPr lang="en-US" sz="1200" dirty="0"/>
          </a:p>
        </p:txBody>
      </p:sp>
      <p:sp>
        <p:nvSpPr>
          <p:cNvPr id="16" name="Text 14"/>
          <p:cNvSpPr/>
          <p:nvPr/>
        </p:nvSpPr>
        <p:spPr>
          <a:xfrm>
            <a:off x="3386023" y="2770632"/>
            <a:ext cx="2286000" cy="384048"/>
          </a:xfrm>
          <a:prstGeom prst="rect">
            <a:avLst/>
          </a:prstGeom>
          <a:noFill/>
          <a:ln/>
        </p:spPr>
        <p:txBody>
          <a:bodyPr wrap="square" rtlCol="0" anchor="ctr"/>
          <a:lstStyle/>
          <a:p>
            <a:pPr algn="ctr" indent="0" marL="0">
              <a:buNone/>
            </a:pPr>
            <a:r>
              <a:rPr lang="en-US" sz="1200" b="1" dirty="0">
                <a:solidFill>
                  <a:srgbClr val="0A1628"/>
                </a:solidFill>
                <a:latin typeface="Calibri" pitchFamily="34" charset="0"/>
                <a:ea typeface="Calibri" pitchFamily="34" charset="-122"/>
                <a:cs typeface="Calibri" pitchFamily="34" charset="-120"/>
              </a:rPr>
              <a:t>10,000</a:t>
            </a:r>
            <a:endParaRPr lang="en-US" sz="1200" dirty="0"/>
          </a:p>
        </p:txBody>
      </p:sp>
      <p:sp>
        <p:nvSpPr>
          <p:cNvPr id="17" name="Text 15"/>
          <p:cNvSpPr/>
          <p:nvPr/>
        </p:nvSpPr>
        <p:spPr>
          <a:xfrm>
            <a:off x="642823" y="2770632"/>
            <a:ext cx="2560320" cy="384048"/>
          </a:xfrm>
          <a:prstGeom prst="rect">
            <a:avLst/>
          </a:prstGeom>
          <a:noFill/>
          <a:ln/>
        </p:spPr>
        <p:txBody>
          <a:bodyPr wrap="square" rtlCol="0" anchor="ctr"/>
          <a:lstStyle/>
          <a:p>
            <a:pPr algn="ctr" indent="0" marL="0">
              <a:buNone/>
            </a:pPr>
            <a:r>
              <a:rPr lang="en-US" sz="1200" b="1" dirty="0">
                <a:solidFill>
                  <a:srgbClr val="0A1628"/>
                </a:solidFill>
                <a:latin typeface="Calibri" pitchFamily="34" charset="0"/>
                <a:ea typeface="Calibri" pitchFamily="34" charset="-122"/>
                <a:cs typeface="Calibri" pitchFamily="34" charset="-120"/>
              </a:rPr>
              <a:t>10,000</a:t>
            </a:r>
            <a:endParaRPr lang="en-US" sz="1200" dirty="0"/>
          </a:p>
        </p:txBody>
      </p:sp>
      <p:sp>
        <p:nvSpPr>
          <p:cNvPr id="18" name="Shape 16"/>
          <p:cNvSpPr/>
          <p:nvPr/>
        </p:nvSpPr>
        <p:spPr>
          <a:xfrm>
            <a:off x="548640" y="3154680"/>
            <a:ext cx="11094415" cy="384048"/>
          </a:xfrm>
          <a:prstGeom prst="rect">
            <a:avLst/>
          </a:prstGeom>
          <a:solidFill>
            <a:srgbClr val="F2EEE4"/>
          </a:solidFill>
          <a:ln w="6350">
            <a:solidFill>
              <a:srgbClr val="E8E3D6"/>
            </a:solidFill>
            <a:prstDash val="solid"/>
          </a:ln>
        </p:spPr>
      </p:sp>
      <p:sp>
        <p:nvSpPr>
          <p:cNvPr id="19" name="Text 17"/>
          <p:cNvSpPr/>
          <p:nvPr/>
        </p:nvSpPr>
        <p:spPr>
          <a:xfrm>
            <a:off x="7958023" y="3154680"/>
            <a:ext cx="3593592" cy="384048"/>
          </a:xfrm>
          <a:prstGeom prst="rect">
            <a:avLst/>
          </a:prstGeom>
          <a:noFill/>
          <a:ln/>
        </p:spPr>
        <p:txBody>
          <a:bodyPr wrap="square" rtlCol="0" anchor="ctr"/>
          <a:lstStyle/>
          <a:p>
            <a:pPr rtl="1" algn="r" indent="0" marL="0">
              <a:buNone/>
            </a:pPr>
            <a:r>
              <a:rPr lang="en-US" sz="1200" b="1" dirty="0">
                <a:solidFill>
                  <a:srgbClr val="1A1A1A"/>
                </a:solidFill>
                <a:latin typeface="Calibri" pitchFamily="34" charset="0"/>
                <a:ea typeface="Calibri" pitchFamily="34" charset="-122"/>
                <a:cs typeface="Calibri" pitchFamily="34" charset="-120"/>
              </a:rPr>
              <a:t>نسبة الردود في الوقت المحدد</a:t>
            </a:r>
            <a:endParaRPr lang="en-US" sz="1200" dirty="0"/>
          </a:p>
        </p:txBody>
      </p:sp>
      <p:sp>
        <p:nvSpPr>
          <p:cNvPr id="20" name="Text 18"/>
          <p:cNvSpPr/>
          <p:nvPr/>
        </p:nvSpPr>
        <p:spPr>
          <a:xfrm>
            <a:off x="5854903" y="3154680"/>
            <a:ext cx="1920240" cy="384048"/>
          </a:xfrm>
          <a:prstGeom prst="rect">
            <a:avLst/>
          </a:prstGeom>
          <a:noFill/>
          <a:ln/>
        </p:spPr>
        <p:txBody>
          <a:bodyPr wrap="square" rtlCol="0" anchor="ctr"/>
          <a:lstStyle/>
          <a:p>
            <a:pPr algn="ctr" indent="0" marL="0">
              <a:buNone/>
            </a:pPr>
            <a:r>
              <a:rPr lang="en-US" sz="1200" dirty="0">
                <a:solidFill>
                  <a:srgbClr val="1A1A1A"/>
                </a:solidFill>
                <a:latin typeface="Calibri" pitchFamily="34" charset="0"/>
                <a:ea typeface="Calibri" pitchFamily="34" charset="-122"/>
                <a:cs typeface="Calibri" pitchFamily="34" charset="-120"/>
              </a:rPr>
              <a:t>68%</a:t>
            </a:r>
            <a:endParaRPr lang="en-US" sz="1200" dirty="0"/>
          </a:p>
        </p:txBody>
      </p:sp>
      <p:sp>
        <p:nvSpPr>
          <p:cNvPr id="21" name="Text 19"/>
          <p:cNvSpPr/>
          <p:nvPr/>
        </p:nvSpPr>
        <p:spPr>
          <a:xfrm>
            <a:off x="3386023" y="3154680"/>
            <a:ext cx="2286000" cy="384048"/>
          </a:xfrm>
          <a:prstGeom prst="rect">
            <a:avLst/>
          </a:prstGeom>
          <a:noFill/>
          <a:ln/>
        </p:spPr>
        <p:txBody>
          <a:bodyPr wrap="square" rtlCol="0" anchor="ctr"/>
          <a:lstStyle/>
          <a:p>
            <a:pPr algn="ctr" indent="0" marL="0">
              <a:buNone/>
            </a:pPr>
            <a:r>
              <a:rPr lang="en-US" sz="1200" b="1" dirty="0">
                <a:solidFill>
                  <a:srgbClr val="0A1628"/>
                </a:solidFill>
                <a:latin typeface="Calibri" pitchFamily="34" charset="0"/>
                <a:ea typeface="Calibri" pitchFamily="34" charset="-122"/>
                <a:cs typeface="Calibri" pitchFamily="34" charset="-120"/>
              </a:rPr>
              <a:t>96%</a:t>
            </a:r>
            <a:endParaRPr lang="en-US" sz="1200" dirty="0"/>
          </a:p>
        </p:txBody>
      </p:sp>
      <p:sp>
        <p:nvSpPr>
          <p:cNvPr id="22" name="Text 20"/>
          <p:cNvSpPr/>
          <p:nvPr/>
        </p:nvSpPr>
        <p:spPr>
          <a:xfrm>
            <a:off x="642823" y="3154680"/>
            <a:ext cx="2560320" cy="384048"/>
          </a:xfrm>
          <a:prstGeom prst="rect">
            <a:avLst/>
          </a:prstGeom>
          <a:noFill/>
          <a:ln/>
        </p:spPr>
        <p:txBody>
          <a:bodyPr wrap="square" rtlCol="0" anchor="ctr"/>
          <a:lstStyle/>
          <a:p>
            <a:pPr algn="ctr" indent="0" marL="0">
              <a:buNone/>
            </a:pPr>
            <a:r>
              <a:rPr lang="en-US" sz="1200" b="1" dirty="0">
                <a:solidFill>
                  <a:srgbClr val="0A1628"/>
                </a:solidFill>
                <a:latin typeface="Calibri" pitchFamily="34" charset="0"/>
                <a:ea typeface="Calibri" pitchFamily="34" charset="-122"/>
                <a:cs typeface="Calibri" pitchFamily="34" charset="-120"/>
              </a:rPr>
              <a:t>99%</a:t>
            </a:r>
            <a:endParaRPr lang="en-US" sz="1200" dirty="0"/>
          </a:p>
        </p:txBody>
      </p:sp>
      <p:sp>
        <p:nvSpPr>
          <p:cNvPr id="23" name="Shape 21"/>
          <p:cNvSpPr/>
          <p:nvPr/>
        </p:nvSpPr>
        <p:spPr>
          <a:xfrm>
            <a:off x="548640" y="3538728"/>
            <a:ext cx="11094415" cy="384048"/>
          </a:xfrm>
          <a:prstGeom prst="rect">
            <a:avLst/>
          </a:prstGeom>
          <a:solidFill>
            <a:srgbClr val="FFFFFF"/>
          </a:solidFill>
          <a:ln w="6350">
            <a:solidFill>
              <a:srgbClr val="E8E3D6"/>
            </a:solidFill>
            <a:prstDash val="solid"/>
          </a:ln>
        </p:spPr>
      </p:sp>
      <p:sp>
        <p:nvSpPr>
          <p:cNvPr id="24" name="Text 22"/>
          <p:cNvSpPr/>
          <p:nvPr/>
        </p:nvSpPr>
        <p:spPr>
          <a:xfrm>
            <a:off x="7958023" y="3538728"/>
            <a:ext cx="3593592" cy="384048"/>
          </a:xfrm>
          <a:prstGeom prst="rect">
            <a:avLst/>
          </a:prstGeom>
          <a:noFill/>
          <a:ln/>
        </p:spPr>
        <p:txBody>
          <a:bodyPr wrap="square" rtlCol="0" anchor="ctr"/>
          <a:lstStyle/>
          <a:p>
            <a:pPr rtl="1" algn="r" indent="0" marL="0">
              <a:buNone/>
            </a:pPr>
            <a:r>
              <a:rPr lang="en-US" sz="1200" b="1" dirty="0">
                <a:solidFill>
                  <a:srgbClr val="1A1A1A"/>
                </a:solidFill>
                <a:latin typeface="Calibri" pitchFamily="34" charset="0"/>
                <a:ea typeface="Calibri" pitchFamily="34" charset="-122"/>
                <a:cs typeface="Calibri" pitchFamily="34" charset="-120"/>
              </a:rPr>
              <a:t>معدّل التأهيل</a:t>
            </a:r>
            <a:endParaRPr lang="en-US" sz="1200" dirty="0"/>
          </a:p>
        </p:txBody>
      </p:sp>
      <p:sp>
        <p:nvSpPr>
          <p:cNvPr id="25" name="Text 23"/>
          <p:cNvSpPr/>
          <p:nvPr/>
        </p:nvSpPr>
        <p:spPr>
          <a:xfrm>
            <a:off x="5854903" y="3538728"/>
            <a:ext cx="1920240" cy="384048"/>
          </a:xfrm>
          <a:prstGeom prst="rect">
            <a:avLst/>
          </a:prstGeom>
          <a:noFill/>
          <a:ln/>
        </p:spPr>
        <p:txBody>
          <a:bodyPr wrap="square" rtlCol="0" anchor="ctr"/>
          <a:lstStyle/>
          <a:p>
            <a:pPr algn="ctr" indent="0" marL="0">
              <a:buNone/>
            </a:pPr>
            <a:r>
              <a:rPr lang="en-US" sz="1200" dirty="0">
                <a:solidFill>
                  <a:srgbClr val="1A1A1A"/>
                </a:solidFill>
                <a:latin typeface="Calibri" pitchFamily="34" charset="0"/>
                <a:ea typeface="Calibri" pitchFamily="34" charset="-122"/>
                <a:cs typeface="Calibri" pitchFamily="34" charset="-120"/>
              </a:rPr>
              <a:t>52%</a:t>
            </a:r>
            <a:endParaRPr lang="en-US" sz="1200" dirty="0"/>
          </a:p>
        </p:txBody>
      </p:sp>
      <p:sp>
        <p:nvSpPr>
          <p:cNvPr id="26" name="Text 24"/>
          <p:cNvSpPr/>
          <p:nvPr/>
        </p:nvSpPr>
        <p:spPr>
          <a:xfrm>
            <a:off x="3386023" y="3538728"/>
            <a:ext cx="2286000" cy="384048"/>
          </a:xfrm>
          <a:prstGeom prst="rect">
            <a:avLst/>
          </a:prstGeom>
          <a:noFill/>
          <a:ln/>
        </p:spPr>
        <p:txBody>
          <a:bodyPr wrap="square" rtlCol="0" anchor="ctr"/>
          <a:lstStyle/>
          <a:p>
            <a:pPr algn="ctr" indent="0" marL="0">
              <a:buNone/>
            </a:pPr>
            <a:r>
              <a:rPr lang="en-US" sz="1200" b="1" dirty="0">
                <a:solidFill>
                  <a:srgbClr val="0A1628"/>
                </a:solidFill>
                <a:latin typeface="Calibri" pitchFamily="34" charset="0"/>
                <a:ea typeface="Calibri" pitchFamily="34" charset="-122"/>
                <a:cs typeface="Calibri" pitchFamily="34" charset="-120"/>
              </a:rPr>
              <a:t>78%</a:t>
            </a:r>
            <a:endParaRPr lang="en-US" sz="1200" dirty="0"/>
          </a:p>
        </p:txBody>
      </p:sp>
      <p:sp>
        <p:nvSpPr>
          <p:cNvPr id="27" name="Text 25"/>
          <p:cNvSpPr/>
          <p:nvPr/>
        </p:nvSpPr>
        <p:spPr>
          <a:xfrm>
            <a:off x="642823" y="3538728"/>
            <a:ext cx="2560320" cy="384048"/>
          </a:xfrm>
          <a:prstGeom prst="rect">
            <a:avLst/>
          </a:prstGeom>
          <a:noFill/>
          <a:ln/>
        </p:spPr>
        <p:txBody>
          <a:bodyPr wrap="square" rtlCol="0" anchor="ctr"/>
          <a:lstStyle/>
          <a:p>
            <a:pPr algn="ctr" indent="0" marL="0">
              <a:buNone/>
            </a:pPr>
            <a:r>
              <a:rPr lang="en-US" sz="1200" b="1" dirty="0">
                <a:solidFill>
                  <a:srgbClr val="0A1628"/>
                </a:solidFill>
                <a:latin typeface="Calibri" pitchFamily="34" charset="0"/>
                <a:ea typeface="Calibri" pitchFamily="34" charset="-122"/>
                <a:cs typeface="Calibri" pitchFamily="34" charset="-120"/>
              </a:rPr>
              <a:t>85%</a:t>
            </a:r>
            <a:endParaRPr lang="en-US" sz="1200" dirty="0"/>
          </a:p>
        </p:txBody>
      </p:sp>
      <p:sp>
        <p:nvSpPr>
          <p:cNvPr id="28" name="Shape 26"/>
          <p:cNvSpPr/>
          <p:nvPr/>
        </p:nvSpPr>
        <p:spPr>
          <a:xfrm>
            <a:off x="548640" y="3922776"/>
            <a:ext cx="11094415" cy="384048"/>
          </a:xfrm>
          <a:prstGeom prst="rect">
            <a:avLst/>
          </a:prstGeom>
          <a:solidFill>
            <a:srgbClr val="F2EEE4"/>
          </a:solidFill>
          <a:ln w="6350">
            <a:solidFill>
              <a:srgbClr val="E8E3D6"/>
            </a:solidFill>
            <a:prstDash val="solid"/>
          </a:ln>
        </p:spPr>
      </p:sp>
      <p:sp>
        <p:nvSpPr>
          <p:cNvPr id="29" name="Text 27"/>
          <p:cNvSpPr/>
          <p:nvPr/>
        </p:nvSpPr>
        <p:spPr>
          <a:xfrm>
            <a:off x="7958023" y="3922776"/>
            <a:ext cx="3593592" cy="384048"/>
          </a:xfrm>
          <a:prstGeom prst="rect">
            <a:avLst/>
          </a:prstGeom>
          <a:noFill/>
          <a:ln/>
        </p:spPr>
        <p:txBody>
          <a:bodyPr wrap="square" rtlCol="0" anchor="ctr"/>
          <a:lstStyle/>
          <a:p>
            <a:pPr rtl="1" algn="r" indent="0" marL="0">
              <a:buNone/>
            </a:pPr>
            <a:r>
              <a:rPr lang="en-US" sz="1200" b="1" dirty="0">
                <a:solidFill>
                  <a:srgbClr val="1A1A1A"/>
                </a:solidFill>
                <a:latin typeface="Calibri" pitchFamily="34" charset="0"/>
                <a:ea typeface="Calibri" pitchFamily="34" charset="-122"/>
                <a:cs typeface="Calibri" pitchFamily="34" charset="-120"/>
              </a:rPr>
              <a:t>معدّل الفوز الإجمالي</a:t>
            </a:r>
            <a:endParaRPr lang="en-US" sz="1200" dirty="0"/>
          </a:p>
        </p:txBody>
      </p:sp>
      <p:sp>
        <p:nvSpPr>
          <p:cNvPr id="30" name="Text 28"/>
          <p:cNvSpPr/>
          <p:nvPr/>
        </p:nvSpPr>
        <p:spPr>
          <a:xfrm>
            <a:off x="5854903" y="3922776"/>
            <a:ext cx="1920240" cy="384048"/>
          </a:xfrm>
          <a:prstGeom prst="rect">
            <a:avLst/>
          </a:prstGeom>
          <a:noFill/>
          <a:ln/>
        </p:spPr>
        <p:txBody>
          <a:bodyPr wrap="square" rtlCol="0" anchor="ctr"/>
          <a:lstStyle/>
          <a:p>
            <a:pPr algn="ctr" indent="0" marL="0">
              <a:buNone/>
            </a:pPr>
            <a:r>
              <a:rPr lang="en-US" sz="1200" dirty="0">
                <a:solidFill>
                  <a:srgbClr val="1A1A1A"/>
                </a:solidFill>
                <a:latin typeface="Calibri" pitchFamily="34" charset="0"/>
                <a:ea typeface="Calibri" pitchFamily="34" charset="-122"/>
                <a:cs typeface="Calibri" pitchFamily="34" charset="-120"/>
              </a:rPr>
              <a:t>15%</a:t>
            </a:r>
            <a:endParaRPr lang="en-US" sz="1200" dirty="0"/>
          </a:p>
        </p:txBody>
      </p:sp>
      <p:sp>
        <p:nvSpPr>
          <p:cNvPr id="31" name="Text 29"/>
          <p:cNvSpPr/>
          <p:nvPr/>
        </p:nvSpPr>
        <p:spPr>
          <a:xfrm>
            <a:off x="3386023" y="3922776"/>
            <a:ext cx="2286000" cy="384048"/>
          </a:xfrm>
          <a:prstGeom prst="rect">
            <a:avLst/>
          </a:prstGeom>
          <a:noFill/>
          <a:ln/>
        </p:spPr>
        <p:txBody>
          <a:bodyPr wrap="square" rtlCol="0" anchor="ctr"/>
          <a:lstStyle/>
          <a:p>
            <a:pPr algn="ctr" indent="0" marL="0">
              <a:buNone/>
            </a:pPr>
            <a:r>
              <a:rPr lang="en-US" sz="1200" b="1" dirty="0">
                <a:solidFill>
                  <a:srgbClr val="0A1628"/>
                </a:solidFill>
                <a:latin typeface="Calibri" pitchFamily="34" charset="0"/>
                <a:ea typeface="Calibri" pitchFamily="34" charset="-122"/>
                <a:cs typeface="Calibri" pitchFamily="34" charset="-120"/>
              </a:rPr>
              <a:t>22%</a:t>
            </a:r>
            <a:endParaRPr lang="en-US" sz="1200" dirty="0"/>
          </a:p>
        </p:txBody>
      </p:sp>
      <p:sp>
        <p:nvSpPr>
          <p:cNvPr id="32" name="Text 30"/>
          <p:cNvSpPr/>
          <p:nvPr/>
        </p:nvSpPr>
        <p:spPr>
          <a:xfrm>
            <a:off x="642823" y="3922776"/>
            <a:ext cx="2560320" cy="384048"/>
          </a:xfrm>
          <a:prstGeom prst="rect">
            <a:avLst/>
          </a:prstGeom>
          <a:noFill/>
          <a:ln/>
        </p:spPr>
        <p:txBody>
          <a:bodyPr wrap="square" rtlCol="0" anchor="ctr"/>
          <a:lstStyle/>
          <a:p>
            <a:pPr algn="ctr" indent="0" marL="0">
              <a:buNone/>
            </a:pPr>
            <a:r>
              <a:rPr lang="en-US" sz="1200" b="1" dirty="0">
                <a:solidFill>
                  <a:srgbClr val="0A1628"/>
                </a:solidFill>
                <a:latin typeface="Calibri" pitchFamily="34" charset="0"/>
                <a:ea typeface="Calibri" pitchFamily="34" charset="-122"/>
                <a:cs typeface="Calibri" pitchFamily="34" charset="-120"/>
              </a:rPr>
              <a:t>25%</a:t>
            </a:r>
            <a:endParaRPr lang="en-US" sz="1200" dirty="0"/>
          </a:p>
        </p:txBody>
      </p:sp>
      <p:sp>
        <p:nvSpPr>
          <p:cNvPr id="33" name="Shape 31"/>
          <p:cNvSpPr/>
          <p:nvPr/>
        </p:nvSpPr>
        <p:spPr>
          <a:xfrm>
            <a:off x="548640" y="4306824"/>
            <a:ext cx="11094415" cy="384048"/>
          </a:xfrm>
          <a:prstGeom prst="rect">
            <a:avLst/>
          </a:prstGeom>
          <a:solidFill>
            <a:srgbClr val="FFFFFF"/>
          </a:solidFill>
          <a:ln w="6350">
            <a:solidFill>
              <a:srgbClr val="E8E3D6"/>
            </a:solidFill>
            <a:prstDash val="solid"/>
          </a:ln>
        </p:spPr>
      </p:sp>
      <p:sp>
        <p:nvSpPr>
          <p:cNvPr id="34" name="Text 32"/>
          <p:cNvSpPr/>
          <p:nvPr/>
        </p:nvSpPr>
        <p:spPr>
          <a:xfrm>
            <a:off x="7958023" y="4306824"/>
            <a:ext cx="3593592" cy="384048"/>
          </a:xfrm>
          <a:prstGeom prst="rect">
            <a:avLst/>
          </a:prstGeom>
          <a:noFill/>
          <a:ln/>
        </p:spPr>
        <p:txBody>
          <a:bodyPr wrap="square" rtlCol="0" anchor="ctr"/>
          <a:lstStyle/>
          <a:p>
            <a:pPr rtl="1" algn="r" indent="0" marL="0">
              <a:buNone/>
            </a:pPr>
            <a:r>
              <a:rPr lang="en-US" sz="1200" b="1" dirty="0">
                <a:solidFill>
                  <a:srgbClr val="1A1A1A"/>
                </a:solidFill>
                <a:latin typeface="Calibri" pitchFamily="34" charset="0"/>
                <a:ea typeface="Calibri" pitchFamily="34" charset="-122"/>
                <a:cs typeface="Calibri" pitchFamily="34" charset="-120"/>
              </a:rPr>
              <a:t>عقود موقّعة سنوياً</a:t>
            </a:r>
            <a:endParaRPr lang="en-US" sz="1200" dirty="0"/>
          </a:p>
        </p:txBody>
      </p:sp>
      <p:sp>
        <p:nvSpPr>
          <p:cNvPr id="35" name="Text 33"/>
          <p:cNvSpPr/>
          <p:nvPr/>
        </p:nvSpPr>
        <p:spPr>
          <a:xfrm>
            <a:off x="5854903" y="4306824"/>
            <a:ext cx="1920240" cy="384048"/>
          </a:xfrm>
          <a:prstGeom prst="rect">
            <a:avLst/>
          </a:prstGeom>
          <a:noFill/>
          <a:ln/>
        </p:spPr>
        <p:txBody>
          <a:bodyPr wrap="square" rtlCol="0" anchor="ctr"/>
          <a:lstStyle/>
          <a:p>
            <a:pPr algn="ctr" indent="0" marL="0">
              <a:buNone/>
            </a:pPr>
            <a:r>
              <a:rPr lang="en-US" sz="1200" dirty="0">
                <a:solidFill>
                  <a:srgbClr val="1A1A1A"/>
                </a:solidFill>
                <a:latin typeface="Calibri" pitchFamily="34" charset="0"/>
                <a:ea typeface="Calibri" pitchFamily="34" charset="-122"/>
                <a:cs typeface="Calibri" pitchFamily="34" charset="-120"/>
              </a:rPr>
              <a:t>1,500</a:t>
            </a:r>
            <a:endParaRPr lang="en-US" sz="1200" dirty="0"/>
          </a:p>
        </p:txBody>
      </p:sp>
      <p:sp>
        <p:nvSpPr>
          <p:cNvPr id="36" name="Text 34"/>
          <p:cNvSpPr/>
          <p:nvPr/>
        </p:nvSpPr>
        <p:spPr>
          <a:xfrm>
            <a:off x="3386023" y="4306824"/>
            <a:ext cx="2286000" cy="384048"/>
          </a:xfrm>
          <a:prstGeom prst="rect">
            <a:avLst/>
          </a:prstGeom>
          <a:noFill/>
          <a:ln/>
        </p:spPr>
        <p:txBody>
          <a:bodyPr wrap="square" rtlCol="0" anchor="ctr"/>
          <a:lstStyle/>
          <a:p>
            <a:pPr algn="ctr" indent="0" marL="0">
              <a:buNone/>
            </a:pPr>
            <a:r>
              <a:rPr lang="en-US" sz="1200" b="1" dirty="0">
                <a:solidFill>
                  <a:srgbClr val="0A1628"/>
                </a:solidFill>
                <a:latin typeface="Calibri" pitchFamily="34" charset="0"/>
                <a:ea typeface="Calibri" pitchFamily="34" charset="-122"/>
                <a:cs typeface="Calibri" pitchFamily="34" charset="-120"/>
              </a:rPr>
              <a:t>2,200</a:t>
            </a:r>
            <a:endParaRPr lang="en-US" sz="1200" dirty="0"/>
          </a:p>
        </p:txBody>
      </p:sp>
      <p:sp>
        <p:nvSpPr>
          <p:cNvPr id="37" name="Text 35"/>
          <p:cNvSpPr/>
          <p:nvPr/>
        </p:nvSpPr>
        <p:spPr>
          <a:xfrm>
            <a:off x="642823" y="4306824"/>
            <a:ext cx="2560320" cy="384048"/>
          </a:xfrm>
          <a:prstGeom prst="rect">
            <a:avLst/>
          </a:prstGeom>
          <a:noFill/>
          <a:ln/>
        </p:spPr>
        <p:txBody>
          <a:bodyPr wrap="square" rtlCol="0" anchor="ctr"/>
          <a:lstStyle/>
          <a:p>
            <a:pPr algn="ctr" indent="0" marL="0">
              <a:buNone/>
            </a:pPr>
            <a:r>
              <a:rPr lang="en-US" sz="1200" b="1" dirty="0">
                <a:solidFill>
                  <a:srgbClr val="0A1628"/>
                </a:solidFill>
                <a:latin typeface="Calibri" pitchFamily="34" charset="0"/>
                <a:ea typeface="Calibri" pitchFamily="34" charset="-122"/>
                <a:cs typeface="Calibri" pitchFamily="34" charset="-120"/>
              </a:rPr>
              <a:t>2,500</a:t>
            </a:r>
            <a:endParaRPr lang="en-US" sz="1200" dirty="0"/>
          </a:p>
        </p:txBody>
      </p:sp>
      <p:sp>
        <p:nvSpPr>
          <p:cNvPr id="38" name="Shape 36"/>
          <p:cNvSpPr/>
          <p:nvPr/>
        </p:nvSpPr>
        <p:spPr>
          <a:xfrm>
            <a:off x="548640" y="4690872"/>
            <a:ext cx="11094415" cy="384048"/>
          </a:xfrm>
          <a:prstGeom prst="rect">
            <a:avLst/>
          </a:prstGeom>
          <a:solidFill>
            <a:srgbClr val="F2EEE4"/>
          </a:solidFill>
          <a:ln w="6350">
            <a:solidFill>
              <a:srgbClr val="E8E3D6"/>
            </a:solidFill>
            <a:prstDash val="solid"/>
          </a:ln>
        </p:spPr>
      </p:sp>
      <p:sp>
        <p:nvSpPr>
          <p:cNvPr id="39" name="Text 37"/>
          <p:cNvSpPr/>
          <p:nvPr/>
        </p:nvSpPr>
        <p:spPr>
          <a:xfrm>
            <a:off x="7958023" y="4690872"/>
            <a:ext cx="3593592" cy="384048"/>
          </a:xfrm>
          <a:prstGeom prst="rect">
            <a:avLst/>
          </a:prstGeom>
          <a:noFill/>
          <a:ln/>
        </p:spPr>
        <p:txBody>
          <a:bodyPr wrap="square" rtlCol="0" anchor="ctr"/>
          <a:lstStyle/>
          <a:p>
            <a:pPr rtl="1" algn="r" indent="0" marL="0">
              <a:buNone/>
            </a:pPr>
            <a:r>
              <a:rPr lang="en-US" sz="1200" b="1" dirty="0">
                <a:solidFill>
                  <a:srgbClr val="1A1A1A"/>
                </a:solidFill>
                <a:latin typeface="Calibri" pitchFamily="34" charset="0"/>
                <a:ea typeface="Calibri" pitchFamily="34" charset="-122"/>
                <a:cs typeface="Calibri" pitchFamily="34" charset="-120"/>
              </a:rPr>
              <a:t>متوسط حجم العقد (نسبي)</a:t>
            </a:r>
            <a:endParaRPr lang="en-US" sz="1200" dirty="0"/>
          </a:p>
        </p:txBody>
      </p:sp>
      <p:sp>
        <p:nvSpPr>
          <p:cNvPr id="40" name="Text 38"/>
          <p:cNvSpPr/>
          <p:nvPr/>
        </p:nvSpPr>
        <p:spPr>
          <a:xfrm>
            <a:off x="5854903" y="4690872"/>
            <a:ext cx="1920240" cy="384048"/>
          </a:xfrm>
          <a:prstGeom prst="rect">
            <a:avLst/>
          </a:prstGeom>
          <a:noFill/>
          <a:ln/>
        </p:spPr>
        <p:txBody>
          <a:bodyPr wrap="square" rtlCol="0" anchor="ctr"/>
          <a:lstStyle/>
          <a:p>
            <a:pPr algn="ctr" indent="0" marL="0">
              <a:buNone/>
            </a:pPr>
            <a:r>
              <a:rPr lang="en-US" sz="1200" dirty="0">
                <a:solidFill>
                  <a:srgbClr val="1A1A1A"/>
                </a:solidFill>
                <a:latin typeface="Calibri" pitchFamily="34" charset="0"/>
                <a:ea typeface="Calibri" pitchFamily="34" charset="-122"/>
                <a:cs typeface="Calibri" pitchFamily="34" charset="-120"/>
              </a:rPr>
              <a:t>أساسي</a:t>
            </a:r>
            <a:endParaRPr lang="en-US" sz="1200" dirty="0"/>
          </a:p>
        </p:txBody>
      </p:sp>
      <p:sp>
        <p:nvSpPr>
          <p:cNvPr id="41" name="Text 39"/>
          <p:cNvSpPr/>
          <p:nvPr/>
        </p:nvSpPr>
        <p:spPr>
          <a:xfrm>
            <a:off x="3386023" y="4690872"/>
            <a:ext cx="2286000" cy="384048"/>
          </a:xfrm>
          <a:prstGeom prst="rect">
            <a:avLst/>
          </a:prstGeom>
          <a:noFill/>
          <a:ln/>
        </p:spPr>
        <p:txBody>
          <a:bodyPr wrap="square" rtlCol="0" anchor="ctr"/>
          <a:lstStyle/>
          <a:p>
            <a:pPr algn="ctr" indent="0" marL="0">
              <a:buNone/>
            </a:pPr>
            <a:r>
              <a:rPr lang="en-US" sz="1200" b="1" dirty="0">
                <a:solidFill>
                  <a:srgbClr val="0A1628"/>
                </a:solidFill>
                <a:latin typeface="Calibri" pitchFamily="34" charset="0"/>
                <a:ea typeface="Calibri" pitchFamily="34" charset="-122"/>
                <a:cs typeface="Calibri" pitchFamily="34" charset="-120"/>
              </a:rPr>
              <a:t>أساسي</a:t>
            </a:r>
            <a:endParaRPr lang="en-US" sz="1200" dirty="0"/>
          </a:p>
        </p:txBody>
      </p:sp>
      <p:sp>
        <p:nvSpPr>
          <p:cNvPr id="42" name="Text 40"/>
          <p:cNvSpPr/>
          <p:nvPr/>
        </p:nvSpPr>
        <p:spPr>
          <a:xfrm>
            <a:off x="642823" y="4690872"/>
            <a:ext cx="2560320" cy="384048"/>
          </a:xfrm>
          <a:prstGeom prst="rect">
            <a:avLst/>
          </a:prstGeom>
          <a:noFill/>
          <a:ln/>
        </p:spPr>
        <p:txBody>
          <a:bodyPr wrap="square" rtlCol="0" anchor="ctr"/>
          <a:lstStyle/>
          <a:p>
            <a:pPr algn="ctr" indent="0" marL="0">
              <a:buNone/>
            </a:pPr>
            <a:r>
              <a:rPr lang="en-US" sz="1200" b="1" dirty="0">
                <a:solidFill>
                  <a:srgbClr val="0A1628"/>
                </a:solidFill>
                <a:latin typeface="Calibri" pitchFamily="34" charset="0"/>
                <a:ea typeface="Calibri" pitchFamily="34" charset="-122"/>
                <a:cs typeface="Calibri" pitchFamily="34" charset="-120"/>
              </a:rPr>
              <a:t>+8%</a:t>
            </a:r>
            <a:endParaRPr lang="en-US" sz="1200" dirty="0"/>
          </a:p>
        </p:txBody>
      </p:sp>
      <p:sp>
        <p:nvSpPr>
          <p:cNvPr id="43" name="Shape 41"/>
          <p:cNvSpPr/>
          <p:nvPr/>
        </p:nvSpPr>
        <p:spPr>
          <a:xfrm>
            <a:off x="548640" y="5074920"/>
            <a:ext cx="11094415" cy="384048"/>
          </a:xfrm>
          <a:prstGeom prst="rect">
            <a:avLst/>
          </a:prstGeom>
          <a:solidFill>
            <a:srgbClr val="13233F"/>
          </a:solidFill>
          <a:ln w="6350">
            <a:solidFill>
              <a:srgbClr val="E8E3D6"/>
            </a:solidFill>
            <a:prstDash val="solid"/>
          </a:ln>
        </p:spPr>
      </p:sp>
      <p:sp>
        <p:nvSpPr>
          <p:cNvPr id="44" name="Text 42"/>
          <p:cNvSpPr/>
          <p:nvPr/>
        </p:nvSpPr>
        <p:spPr>
          <a:xfrm>
            <a:off x="7958023" y="5074920"/>
            <a:ext cx="3593592" cy="384048"/>
          </a:xfrm>
          <a:prstGeom prst="rect">
            <a:avLst/>
          </a:prstGeom>
          <a:noFill/>
          <a:ln/>
        </p:spPr>
        <p:txBody>
          <a:bodyPr wrap="square" rtlCol="0" anchor="ctr"/>
          <a:lstStyle/>
          <a:p>
            <a:pPr rtl="1" algn="r" indent="0" marL="0">
              <a:buNone/>
            </a:pPr>
            <a:r>
              <a:rPr lang="en-US" sz="1400" b="1" dirty="0">
                <a:solidFill>
                  <a:srgbClr val="D4A574"/>
                </a:solidFill>
                <a:latin typeface="Calibri" pitchFamily="34" charset="0"/>
                <a:ea typeface="Calibri" pitchFamily="34" charset="-122"/>
                <a:cs typeface="Calibri" pitchFamily="34" charset="-120"/>
              </a:rPr>
              <a:t>نمو الإيراد السنوي (مؤشر)</a:t>
            </a:r>
            <a:endParaRPr lang="en-US" sz="1400" dirty="0"/>
          </a:p>
        </p:txBody>
      </p:sp>
      <p:sp>
        <p:nvSpPr>
          <p:cNvPr id="45" name="Text 43"/>
          <p:cNvSpPr/>
          <p:nvPr/>
        </p:nvSpPr>
        <p:spPr>
          <a:xfrm>
            <a:off x="5854903" y="5074920"/>
            <a:ext cx="1920240" cy="384048"/>
          </a:xfrm>
          <a:prstGeom prst="rect">
            <a:avLst/>
          </a:prstGeom>
          <a:noFill/>
          <a:ln/>
        </p:spPr>
        <p:txBody>
          <a:bodyPr wrap="square" rtlCol="0" anchor="ctr"/>
          <a:lstStyle/>
          <a:p>
            <a:pPr algn="ctr" indent="0" marL="0">
              <a:buNone/>
            </a:pPr>
            <a:r>
              <a:rPr lang="en-US" sz="1400" b="1" dirty="0">
                <a:solidFill>
                  <a:srgbClr val="D4A574"/>
                </a:solidFill>
                <a:latin typeface="Calibri" pitchFamily="34" charset="0"/>
                <a:ea typeface="Calibri" pitchFamily="34" charset="-122"/>
                <a:cs typeface="Calibri" pitchFamily="34" charset="-120"/>
              </a:rPr>
              <a:t>100</a:t>
            </a:r>
            <a:endParaRPr lang="en-US" sz="1400" dirty="0"/>
          </a:p>
        </p:txBody>
      </p:sp>
      <p:sp>
        <p:nvSpPr>
          <p:cNvPr id="46" name="Text 44"/>
          <p:cNvSpPr/>
          <p:nvPr/>
        </p:nvSpPr>
        <p:spPr>
          <a:xfrm>
            <a:off x="3386023" y="5074920"/>
            <a:ext cx="2286000" cy="384048"/>
          </a:xfrm>
          <a:prstGeom prst="rect">
            <a:avLst/>
          </a:prstGeom>
          <a:noFill/>
          <a:ln/>
        </p:spPr>
        <p:txBody>
          <a:bodyPr wrap="square" rtlCol="0" anchor="ctr"/>
          <a:lstStyle/>
          <a:p>
            <a:pPr algn="ctr" indent="0" marL="0">
              <a:buNone/>
            </a:pPr>
            <a:r>
              <a:rPr lang="en-US" sz="1400" b="1" dirty="0">
                <a:solidFill>
                  <a:srgbClr val="D4A574"/>
                </a:solidFill>
                <a:latin typeface="Calibri" pitchFamily="34" charset="0"/>
                <a:ea typeface="Calibri" pitchFamily="34" charset="-122"/>
                <a:cs typeface="Calibri" pitchFamily="34" charset="-120"/>
              </a:rPr>
              <a:t>147</a:t>
            </a:r>
            <a:endParaRPr lang="en-US" sz="1400" dirty="0"/>
          </a:p>
        </p:txBody>
      </p:sp>
      <p:sp>
        <p:nvSpPr>
          <p:cNvPr id="47" name="Text 45"/>
          <p:cNvSpPr/>
          <p:nvPr/>
        </p:nvSpPr>
        <p:spPr>
          <a:xfrm>
            <a:off x="642823" y="5074920"/>
            <a:ext cx="2560320" cy="384048"/>
          </a:xfrm>
          <a:prstGeom prst="rect">
            <a:avLst/>
          </a:prstGeom>
          <a:noFill/>
          <a:ln/>
        </p:spPr>
        <p:txBody>
          <a:bodyPr wrap="square" rtlCol="0" anchor="ctr"/>
          <a:lstStyle/>
          <a:p>
            <a:pPr algn="ctr" indent="0" marL="0">
              <a:buNone/>
            </a:pPr>
            <a:r>
              <a:rPr lang="en-US" sz="1400" b="1" dirty="0">
                <a:solidFill>
                  <a:srgbClr val="D4A574"/>
                </a:solidFill>
                <a:latin typeface="Calibri" pitchFamily="34" charset="0"/>
                <a:ea typeface="Calibri" pitchFamily="34" charset="-122"/>
                <a:cs typeface="Calibri" pitchFamily="34" charset="-120"/>
              </a:rPr>
              <a:t>180</a:t>
            </a:r>
            <a:endParaRPr lang="en-US" sz="1400" dirty="0"/>
          </a:p>
        </p:txBody>
      </p:sp>
      <p:sp>
        <p:nvSpPr>
          <p:cNvPr id="48" name="Shape 46"/>
          <p:cNvSpPr/>
          <p:nvPr/>
        </p:nvSpPr>
        <p:spPr>
          <a:xfrm>
            <a:off x="548640" y="5596128"/>
            <a:ext cx="11094415" cy="640080"/>
          </a:xfrm>
          <a:prstGeom prst="rect">
            <a:avLst/>
          </a:prstGeom>
          <a:solidFill>
            <a:srgbClr val="D4A574"/>
          </a:solidFill>
          <a:ln/>
        </p:spPr>
      </p:sp>
      <p:sp>
        <p:nvSpPr>
          <p:cNvPr id="49" name="Text 47"/>
          <p:cNvSpPr/>
          <p:nvPr/>
        </p:nvSpPr>
        <p:spPr>
          <a:xfrm>
            <a:off x="822960" y="5596128"/>
            <a:ext cx="3657600" cy="640080"/>
          </a:xfrm>
          <a:prstGeom prst="rect">
            <a:avLst/>
          </a:prstGeom>
          <a:noFill/>
          <a:ln/>
        </p:spPr>
        <p:txBody>
          <a:bodyPr wrap="square" rtlCol="0" anchor="ctr"/>
          <a:lstStyle/>
          <a:p>
            <a:pPr algn="l" indent="0" marL="0">
              <a:buNone/>
            </a:pPr>
            <a:r>
              <a:rPr lang="en-US" sz="2400" b="1" dirty="0">
                <a:solidFill>
                  <a:srgbClr val="0A1628"/>
                </a:solidFill>
                <a:latin typeface="Calibri" pitchFamily="34" charset="0"/>
                <a:ea typeface="Calibri" pitchFamily="34" charset="-122"/>
                <a:cs typeface="Calibri" pitchFamily="34" charset="-120"/>
              </a:rPr>
              <a:t>نمو إيراد مُركّب</a:t>
            </a:r>
            <a:endParaRPr lang="en-US" sz="2400" dirty="0"/>
          </a:p>
        </p:txBody>
      </p:sp>
      <p:sp>
        <p:nvSpPr>
          <p:cNvPr id="50" name="Text 48"/>
          <p:cNvSpPr/>
          <p:nvPr/>
        </p:nvSpPr>
        <p:spPr>
          <a:xfrm>
            <a:off x="4663440" y="5596128"/>
            <a:ext cx="6522415" cy="640080"/>
          </a:xfrm>
          <a:prstGeom prst="rect">
            <a:avLst/>
          </a:prstGeom>
          <a:noFill/>
          <a:ln/>
        </p:spPr>
        <p:txBody>
          <a:bodyPr wrap="square" rtlCol="0" anchor="ctr"/>
          <a:lstStyle/>
          <a:p>
            <a:pPr rtl="1" algn="r" indent="0" marL="0">
              <a:buNone/>
            </a:pPr>
            <a:r>
              <a:rPr lang="en-US" sz="1200" b="1" dirty="0">
                <a:solidFill>
                  <a:srgbClr val="0A1628"/>
                </a:solidFill>
                <a:latin typeface="Calibri" pitchFamily="34" charset="0"/>
                <a:ea typeface="Calibri" pitchFamily="34" charset="-122"/>
                <a:cs typeface="Calibri" pitchFamily="34" charset="-120"/>
              </a:rPr>
              <a:t>إيراد إضافي سنوي في السيناريو المحافظ — قبل احتساب تحسين الهامش</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8F3"/>
        </a:solidFill>
      </p:bgPr>
    </p:bg>
    <p:spTree>
      <p:nvGrpSpPr>
        <p:cNvPr id="1" name=""/>
        <p:cNvGrpSpPr/>
        <p:nvPr/>
      </p:nvGrpSpPr>
      <p:grpSpPr>
        <a:xfrm>
          <a:off x="0" y="0"/>
          <a:ext cx="0" cy="0"/>
          <a:chOff x="0" y="0"/>
          <a:chExt cx="0" cy="0"/>
        </a:xfrm>
      </p:grpSpPr>
      <p:sp>
        <p:nvSpPr>
          <p:cNvPr id="2" name="Shape 0"/>
          <p:cNvSpPr/>
          <p:nvPr/>
        </p:nvSpPr>
        <p:spPr>
          <a:xfrm>
            <a:off x="11734495" y="320040"/>
            <a:ext cx="73152" cy="411480"/>
          </a:xfrm>
          <a:prstGeom prst="rect">
            <a:avLst/>
          </a:prstGeom>
          <a:solidFill>
            <a:srgbClr val="D4A574"/>
          </a:solidFill>
          <a:ln/>
        </p:spPr>
      </p:sp>
      <p:sp>
        <p:nvSpPr>
          <p:cNvPr id="3" name="Text 1"/>
          <p:cNvSpPr/>
          <p:nvPr/>
        </p:nvSpPr>
        <p:spPr>
          <a:xfrm>
            <a:off x="8076895" y="274320"/>
            <a:ext cx="3566160" cy="365760"/>
          </a:xfrm>
          <a:prstGeom prst="rect">
            <a:avLst/>
          </a:prstGeom>
          <a:noFill/>
          <a:ln/>
        </p:spPr>
        <p:txBody>
          <a:bodyPr wrap="square" rtlCol="0" anchor="ctr"/>
          <a:lstStyle/>
          <a:p>
            <a:pPr rtl="1" algn="r" indent="0" marL="0">
              <a:buNone/>
            </a:pPr>
            <a:r>
              <a:rPr lang="en-US" sz="1200" b="1" dirty="0">
                <a:solidFill>
                  <a:srgbClr val="55606E"/>
                </a:solidFill>
                <a:latin typeface="Calibri" pitchFamily="34" charset="0"/>
                <a:ea typeface="Calibri" pitchFamily="34" charset="-122"/>
                <a:cs typeface="Calibri" pitchFamily="34" charset="-120"/>
              </a:rPr>
              <a:t>توفير التكاليف</a:t>
            </a:r>
            <a:endParaRPr lang="en-US" sz="1200" dirty="0"/>
          </a:p>
        </p:txBody>
      </p:sp>
      <p:sp>
        <p:nvSpPr>
          <p:cNvPr id="4" name="Text 2"/>
          <p:cNvSpPr/>
          <p:nvPr/>
        </p:nvSpPr>
        <p:spPr>
          <a:xfrm>
            <a:off x="457200" y="6446520"/>
            <a:ext cx="2286000" cy="274320"/>
          </a:xfrm>
          <a:prstGeom prst="rect">
            <a:avLst/>
          </a:prstGeom>
          <a:noFill/>
          <a:ln/>
        </p:spPr>
        <p:txBody>
          <a:bodyPr wrap="square" rtlCol="0" anchor="ctr"/>
          <a:lstStyle/>
          <a:p>
            <a:pPr algn="l" indent="0" marL="0">
              <a:buNone/>
            </a:pPr>
            <a:r>
              <a:rPr lang="en-US" sz="900" dirty="0">
                <a:solidFill>
                  <a:srgbClr val="8B95A3"/>
                </a:solidFill>
                <a:latin typeface="Calibri" pitchFamily="34" charset="0"/>
                <a:ea typeface="Calibri" pitchFamily="34" charset="-122"/>
                <a:cs typeface="Calibri" pitchFamily="34" charset="-120"/>
              </a:rPr>
              <a:t>Dealix · ديلكس</a:t>
            </a:r>
            <a:endParaRPr lang="en-US" sz="900" dirty="0"/>
          </a:p>
        </p:txBody>
      </p:sp>
      <p:sp>
        <p:nvSpPr>
          <p:cNvPr id="5" name="Text 3"/>
          <p:cNvSpPr/>
          <p:nvPr/>
        </p:nvSpPr>
        <p:spPr>
          <a:xfrm>
            <a:off x="11094415" y="6446520"/>
            <a:ext cx="640080" cy="274320"/>
          </a:xfrm>
          <a:prstGeom prst="rect">
            <a:avLst/>
          </a:prstGeom>
          <a:noFill/>
          <a:ln/>
        </p:spPr>
        <p:txBody>
          <a:bodyPr wrap="square" rtlCol="0" anchor="ctr"/>
          <a:lstStyle/>
          <a:p>
            <a:pPr algn="r" indent="0" marL="0">
              <a:buNone/>
            </a:pPr>
            <a:r>
              <a:rPr lang="en-US" sz="900" b="1" dirty="0">
                <a:solidFill>
                  <a:srgbClr val="8B95A3"/>
                </a:solidFill>
                <a:latin typeface="Calibri" pitchFamily="34" charset="0"/>
                <a:ea typeface="Calibri" pitchFamily="34" charset="-122"/>
                <a:cs typeface="Calibri" pitchFamily="34" charset="-120"/>
              </a:rPr>
              <a:t>28</a:t>
            </a:r>
            <a:endParaRPr lang="en-US" sz="900" dirty="0"/>
          </a:p>
        </p:txBody>
      </p:sp>
      <p:sp>
        <p:nvSpPr>
          <p:cNvPr id="6" name="Text 4"/>
          <p:cNvSpPr/>
          <p:nvPr/>
        </p:nvSpPr>
        <p:spPr>
          <a:xfrm>
            <a:off x="548640" y="914400"/>
            <a:ext cx="11094415" cy="822960"/>
          </a:xfrm>
          <a:prstGeom prst="rect">
            <a:avLst/>
          </a:prstGeom>
          <a:noFill/>
          <a:ln/>
        </p:spPr>
        <p:txBody>
          <a:bodyPr wrap="square" rtlCol="0" anchor="ctr"/>
          <a:lstStyle/>
          <a:p>
            <a:pPr rtl="1" algn="r" indent="0" marL="0">
              <a:buNone/>
            </a:pPr>
            <a:r>
              <a:rPr lang="en-US" sz="3400" b="1" dirty="0">
                <a:solidFill>
                  <a:srgbClr val="0A1628"/>
                </a:solidFill>
                <a:latin typeface="Calibri" pitchFamily="34" charset="0"/>
                <a:ea typeface="Calibri" pitchFamily="34" charset="-122"/>
                <a:cs typeface="Calibri" pitchFamily="34" charset="-120"/>
              </a:rPr>
              <a:t>توفير التكاليف التشغيلية</a:t>
            </a:r>
            <a:endParaRPr lang="en-US" sz="3400" dirty="0"/>
          </a:p>
        </p:txBody>
      </p:sp>
      <p:sp>
        <p:nvSpPr>
          <p:cNvPr id="7" name="Text 5"/>
          <p:cNvSpPr/>
          <p:nvPr/>
        </p:nvSpPr>
        <p:spPr>
          <a:xfrm>
            <a:off x="548640" y="1691640"/>
            <a:ext cx="11094415" cy="411480"/>
          </a:xfrm>
          <a:prstGeom prst="rect">
            <a:avLst/>
          </a:prstGeom>
          <a:noFill/>
          <a:ln/>
        </p:spPr>
        <p:txBody>
          <a:bodyPr wrap="square" rtlCol="0" anchor="ctr"/>
          <a:lstStyle/>
          <a:p>
            <a:pPr rtl="1" algn="r" indent="0" marL="0">
              <a:buNone/>
            </a:pPr>
            <a:r>
              <a:rPr lang="en-US" sz="1500" dirty="0">
                <a:solidFill>
                  <a:srgbClr val="55606E"/>
                </a:solidFill>
                <a:latin typeface="Calibri" pitchFamily="34" charset="0"/>
                <a:ea typeface="Calibri" pitchFamily="34" charset="-122"/>
                <a:cs typeface="Calibri" pitchFamily="34" charset="-120"/>
              </a:rPr>
              <a:t>ساعات الفريق · دورة الصفقة · استبقاء العملاء — أرقام ملموسة</a:t>
            </a:r>
            <a:endParaRPr lang="en-US" sz="1500" dirty="0"/>
          </a:p>
        </p:txBody>
      </p:sp>
      <p:sp>
        <p:nvSpPr>
          <p:cNvPr id="8" name="Shape 6"/>
          <p:cNvSpPr/>
          <p:nvPr/>
        </p:nvSpPr>
        <p:spPr>
          <a:xfrm>
            <a:off x="6233008" y="2331720"/>
            <a:ext cx="5410048" cy="1783080"/>
          </a:xfrm>
          <a:prstGeom prst="rect">
            <a:avLst/>
          </a:prstGeom>
          <a:solidFill>
            <a:srgbClr val="FFFFFF"/>
          </a:solidFill>
          <a:ln w="12700">
            <a:solidFill>
              <a:srgbClr val="E8E3D6"/>
            </a:solidFill>
            <a:prstDash val="solid"/>
          </a:ln>
        </p:spPr>
      </p:sp>
      <p:sp>
        <p:nvSpPr>
          <p:cNvPr id="9" name="Text 7"/>
          <p:cNvSpPr/>
          <p:nvPr/>
        </p:nvSpPr>
        <p:spPr>
          <a:xfrm>
            <a:off x="6415888" y="2514600"/>
            <a:ext cx="5044288" cy="1188720"/>
          </a:xfrm>
          <a:prstGeom prst="rect">
            <a:avLst/>
          </a:prstGeom>
          <a:noFill/>
          <a:ln/>
        </p:spPr>
        <p:txBody>
          <a:bodyPr wrap="square" rtlCol="0" anchor="ctr"/>
          <a:lstStyle/>
          <a:p>
            <a:pPr rtl="1" algn="r" indent="0" marL="0">
              <a:buNone/>
            </a:pPr>
            <a:r>
              <a:rPr lang="en-US" sz="6400" b="1" dirty="0">
                <a:solidFill>
                  <a:srgbClr val="0A1628"/>
                </a:solidFill>
                <a:latin typeface="Calibri" pitchFamily="34" charset="0"/>
                <a:ea typeface="Calibri" pitchFamily="34" charset="-122"/>
                <a:cs typeface="Calibri" pitchFamily="34" charset="-120"/>
              </a:rPr>
              <a:t>2,880</a:t>
            </a:r>
            <a:endParaRPr lang="en-US" sz="6400" dirty="0"/>
          </a:p>
        </p:txBody>
      </p:sp>
      <p:sp>
        <p:nvSpPr>
          <p:cNvPr id="10" name="Text 8"/>
          <p:cNvSpPr/>
          <p:nvPr/>
        </p:nvSpPr>
        <p:spPr>
          <a:xfrm>
            <a:off x="6415888" y="3703320"/>
            <a:ext cx="5044288" cy="365760"/>
          </a:xfrm>
          <a:prstGeom prst="rect">
            <a:avLst/>
          </a:prstGeom>
          <a:noFill/>
          <a:ln/>
        </p:spPr>
        <p:txBody>
          <a:bodyPr wrap="square" rtlCol="0" anchor="ctr"/>
          <a:lstStyle/>
          <a:p>
            <a:pPr rtl="1" algn="r" indent="0" marL="0">
              <a:buNone/>
            </a:pPr>
            <a:r>
              <a:rPr lang="en-US" sz="1400" b="1" dirty="0">
                <a:solidFill>
                  <a:srgbClr val="D4A574"/>
                </a:solidFill>
                <a:latin typeface="Calibri" pitchFamily="34" charset="0"/>
                <a:ea typeface="Calibri" pitchFamily="34" charset="-122"/>
                <a:cs typeface="Calibri" pitchFamily="34" charset="-120"/>
              </a:rPr>
              <a:t>ساعة/شهرياً</a:t>
            </a:r>
            <a:endParaRPr lang="en-US" sz="1400" dirty="0"/>
          </a:p>
        </p:txBody>
      </p:sp>
      <p:sp>
        <p:nvSpPr>
          <p:cNvPr id="11" name="Shape 9"/>
          <p:cNvSpPr/>
          <p:nvPr/>
        </p:nvSpPr>
        <p:spPr>
          <a:xfrm>
            <a:off x="10820095" y="4114800"/>
            <a:ext cx="548640" cy="22860"/>
          </a:xfrm>
          <a:prstGeom prst="rect">
            <a:avLst/>
          </a:prstGeom>
          <a:solidFill>
            <a:srgbClr val="D4A574"/>
          </a:solidFill>
          <a:ln/>
        </p:spPr>
      </p:sp>
      <p:sp>
        <p:nvSpPr>
          <p:cNvPr id="12" name="Text 10"/>
          <p:cNvSpPr/>
          <p:nvPr/>
        </p:nvSpPr>
        <p:spPr>
          <a:xfrm>
            <a:off x="6415888" y="4206240"/>
            <a:ext cx="5044288" cy="-137160"/>
          </a:xfrm>
          <a:prstGeom prst="rect">
            <a:avLst/>
          </a:prstGeom>
          <a:noFill/>
          <a:ln/>
        </p:spPr>
        <p:txBody>
          <a:bodyPr wrap="square" rtlCol="0" anchor="t"/>
          <a:lstStyle/>
          <a:p>
            <a:pPr rtl="1" algn="r" indent="0" marL="0">
              <a:buNone/>
            </a:pPr>
            <a:r>
              <a:rPr lang="en-US" sz="1200" dirty="0">
                <a:solidFill>
                  <a:srgbClr val="55606E"/>
                </a:solidFill>
                <a:latin typeface="Calibri" pitchFamily="34" charset="0"/>
                <a:ea typeface="Calibri" pitchFamily="34" charset="-122"/>
                <a:cs typeface="Calibri" pitchFamily="34" charset="-120"/>
              </a:rPr>
              <a:t>وقت مندوبي المبيعات الموفّر — 12 مندوب × 3 ساعات × 20 يوم</a:t>
            </a:r>
            <a:endParaRPr lang="en-US" sz="1200" dirty="0"/>
          </a:p>
        </p:txBody>
      </p:sp>
      <p:sp>
        <p:nvSpPr>
          <p:cNvPr id="13" name="Shape 11"/>
          <p:cNvSpPr/>
          <p:nvPr/>
        </p:nvSpPr>
        <p:spPr>
          <a:xfrm>
            <a:off x="548640" y="2331720"/>
            <a:ext cx="5410048" cy="1783080"/>
          </a:xfrm>
          <a:prstGeom prst="rect">
            <a:avLst/>
          </a:prstGeom>
          <a:solidFill>
            <a:srgbClr val="FFFFFF"/>
          </a:solidFill>
          <a:ln w="12700">
            <a:solidFill>
              <a:srgbClr val="E8E3D6"/>
            </a:solidFill>
            <a:prstDash val="solid"/>
          </a:ln>
        </p:spPr>
      </p:sp>
      <p:sp>
        <p:nvSpPr>
          <p:cNvPr id="14" name="Text 12"/>
          <p:cNvSpPr/>
          <p:nvPr/>
        </p:nvSpPr>
        <p:spPr>
          <a:xfrm>
            <a:off x="731520" y="2514600"/>
            <a:ext cx="5044288" cy="1188720"/>
          </a:xfrm>
          <a:prstGeom prst="rect">
            <a:avLst/>
          </a:prstGeom>
          <a:noFill/>
          <a:ln/>
        </p:spPr>
        <p:txBody>
          <a:bodyPr wrap="square" rtlCol="0" anchor="ctr"/>
          <a:lstStyle/>
          <a:p>
            <a:pPr rtl="1" algn="r" indent="0" marL="0">
              <a:buNone/>
            </a:pPr>
            <a:r>
              <a:rPr lang="en-US" sz="6400" b="1" dirty="0">
                <a:solidFill>
                  <a:srgbClr val="0A1628"/>
                </a:solidFill>
                <a:latin typeface="Calibri" pitchFamily="34" charset="0"/>
                <a:ea typeface="Calibri" pitchFamily="34" charset="-122"/>
                <a:cs typeface="Calibri" pitchFamily="34" charset="-120"/>
              </a:rPr>
              <a:t>42%</a:t>
            </a:r>
            <a:endParaRPr lang="en-US" sz="6400" dirty="0"/>
          </a:p>
        </p:txBody>
      </p:sp>
      <p:sp>
        <p:nvSpPr>
          <p:cNvPr id="15" name="Text 13"/>
          <p:cNvSpPr/>
          <p:nvPr/>
        </p:nvSpPr>
        <p:spPr>
          <a:xfrm>
            <a:off x="731520" y="3703320"/>
            <a:ext cx="5044288" cy="365760"/>
          </a:xfrm>
          <a:prstGeom prst="rect">
            <a:avLst/>
          </a:prstGeom>
          <a:noFill/>
          <a:ln/>
        </p:spPr>
        <p:txBody>
          <a:bodyPr wrap="square" rtlCol="0" anchor="ctr"/>
          <a:lstStyle/>
          <a:p>
            <a:pPr rtl="1" algn="r" indent="0" marL="0">
              <a:buNone/>
            </a:pPr>
            <a:r>
              <a:rPr lang="en-US" sz="1400" b="1" dirty="0">
                <a:solidFill>
                  <a:srgbClr val="D4A574"/>
                </a:solidFill>
                <a:latin typeface="Calibri" pitchFamily="34" charset="0"/>
                <a:ea typeface="Calibri" pitchFamily="34" charset="-122"/>
                <a:cs typeface="Calibri" pitchFamily="34" charset="-120"/>
              </a:rPr>
              <a:t>تسريع دورة الصفقة</a:t>
            </a:r>
            <a:endParaRPr lang="en-US" sz="1400" dirty="0"/>
          </a:p>
        </p:txBody>
      </p:sp>
      <p:sp>
        <p:nvSpPr>
          <p:cNvPr id="16" name="Shape 14"/>
          <p:cNvSpPr/>
          <p:nvPr/>
        </p:nvSpPr>
        <p:spPr>
          <a:xfrm>
            <a:off x="5135728" y="4114800"/>
            <a:ext cx="548640" cy="22860"/>
          </a:xfrm>
          <a:prstGeom prst="rect">
            <a:avLst/>
          </a:prstGeom>
          <a:solidFill>
            <a:srgbClr val="D4A574"/>
          </a:solidFill>
          <a:ln/>
        </p:spPr>
      </p:sp>
      <p:sp>
        <p:nvSpPr>
          <p:cNvPr id="17" name="Text 15"/>
          <p:cNvSpPr/>
          <p:nvPr/>
        </p:nvSpPr>
        <p:spPr>
          <a:xfrm>
            <a:off x="731520" y="4206240"/>
            <a:ext cx="5044288" cy="-137160"/>
          </a:xfrm>
          <a:prstGeom prst="rect">
            <a:avLst/>
          </a:prstGeom>
          <a:noFill/>
          <a:ln/>
        </p:spPr>
        <p:txBody>
          <a:bodyPr wrap="square" rtlCol="0" anchor="t"/>
          <a:lstStyle/>
          <a:p>
            <a:pPr rtl="1" algn="r" indent="0" marL="0">
              <a:buNone/>
            </a:pPr>
            <a:r>
              <a:rPr lang="en-US" sz="1200" dirty="0">
                <a:solidFill>
                  <a:srgbClr val="55606E"/>
                </a:solidFill>
                <a:latin typeface="Calibri" pitchFamily="34" charset="0"/>
                <a:ea typeface="Calibri" pitchFamily="34" charset="-122"/>
                <a:cs typeface="Calibri" pitchFamily="34" charset="-120"/>
              </a:rPr>
              <a:t>متوسط زمن الصفقة من 45 يوم إلى 26 يوم — بفضل أتمتة العروض والمتابعة</a:t>
            </a:r>
            <a:endParaRPr lang="en-US" sz="1200" dirty="0"/>
          </a:p>
        </p:txBody>
      </p:sp>
      <p:sp>
        <p:nvSpPr>
          <p:cNvPr id="18" name="Shape 16"/>
          <p:cNvSpPr/>
          <p:nvPr/>
        </p:nvSpPr>
        <p:spPr>
          <a:xfrm>
            <a:off x="6233008" y="4389120"/>
            <a:ext cx="5410048" cy="1783080"/>
          </a:xfrm>
          <a:prstGeom prst="rect">
            <a:avLst/>
          </a:prstGeom>
          <a:solidFill>
            <a:srgbClr val="FFFFFF"/>
          </a:solidFill>
          <a:ln w="12700">
            <a:solidFill>
              <a:srgbClr val="E8E3D6"/>
            </a:solidFill>
            <a:prstDash val="solid"/>
          </a:ln>
        </p:spPr>
      </p:sp>
      <p:sp>
        <p:nvSpPr>
          <p:cNvPr id="19" name="Text 17"/>
          <p:cNvSpPr/>
          <p:nvPr/>
        </p:nvSpPr>
        <p:spPr>
          <a:xfrm>
            <a:off x="6415888" y="4572000"/>
            <a:ext cx="5044288" cy="1188720"/>
          </a:xfrm>
          <a:prstGeom prst="rect">
            <a:avLst/>
          </a:prstGeom>
          <a:noFill/>
          <a:ln/>
        </p:spPr>
        <p:txBody>
          <a:bodyPr wrap="square" rtlCol="0" anchor="ctr"/>
          <a:lstStyle/>
          <a:p>
            <a:pPr rtl="1" algn="r" indent="0" marL="0">
              <a:buNone/>
            </a:pPr>
            <a:r>
              <a:rPr lang="en-US" sz="6400" b="1" dirty="0">
                <a:solidFill>
                  <a:srgbClr val="0A1628"/>
                </a:solidFill>
                <a:latin typeface="Calibri" pitchFamily="34" charset="0"/>
                <a:ea typeface="Calibri" pitchFamily="34" charset="-122"/>
                <a:cs typeface="Calibri" pitchFamily="34" charset="-120"/>
              </a:rPr>
              <a:t>3.8x</a:t>
            </a:r>
            <a:endParaRPr lang="en-US" sz="6400" dirty="0"/>
          </a:p>
        </p:txBody>
      </p:sp>
      <p:sp>
        <p:nvSpPr>
          <p:cNvPr id="20" name="Text 18"/>
          <p:cNvSpPr/>
          <p:nvPr/>
        </p:nvSpPr>
        <p:spPr>
          <a:xfrm>
            <a:off x="6415888" y="5760720"/>
            <a:ext cx="5044288" cy="365760"/>
          </a:xfrm>
          <a:prstGeom prst="rect">
            <a:avLst/>
          </a:prstGeom>
          <a:noFill/>
          <a:ln/>
        </p:spPr>
        <p:txBody>
          <a:bodyPr wrap="square" rtlCol="0" anchor="ctr"/>
          <a:lstStyle/>
          <a:p>
            <a:pPr rtl="1" algn="r" indent="0" marL="0">
              <a:buNone/>
            </a:pPr>
            <a:r>
              <a:rPr lang="en-US" sz="1400" b="1" dirty="0">
                <a:solidFill>
                  <a:srgbClr val="D4A574"/>
                </a:solidFill>
                <a:latin typeface="Calibri" pitchFamily="34" charset="0"/>
                <a:ea typeface="Calibri" pitchFamily="34" charset="-122"/>
                <a:cs typeface="Calibri" pitchFamily="34" charset="-120"/>
              </a:rPr>
              <a:t>معدّل التحويل</a:t>
            </a:r>
            <a:endParaRPr lang="en-US" sz="1400" dirty="0"/>
          </a:p>
        </p:txBody>
      </p:sp>
      <p:sp>
        <p:nvSpPr>
          <p:cNvPr id="21" name="Shape 19"/>
          <p:cNvSpPr/>
          <p:nvPr/>
        </p:nvSpPr>
        <p:spPr>
          <a:xfrm>
            <a:off x="10820095" y="6172200"/>
            <a:ext cx="548640" cy="22860"/>
          </a:xfrm>
          <a:prstGeom prst="rect">
            <a:avLst/>
          </a:prstGeom>
          <a:solidFill>
            <a:srgbClr val="D4A574"/>
          </a:solidFill>
          <a:ln/>
        </p:spPr>
      </p:sp>
      <p:sp>
        <p:nvSpPr>
          <p:cNvPr id="22" name="Text 20"/>
          <p:cNvSpPr/>
          <p:nvPr/>
        </p:nvSpPr>
        <p:spPr>
          <a:xfrm>
            <a:off x="6415888" y="6263640"/>
            <a:ext cx="5044288" cy="-137160"/>
          </a:xfrm>
          <a:prstGeom prst="rect">
            <a:avLst/>
          </a:prstGeom>
          <a:noFill/>
          <a:ln/>
        </p:spPr>
        <p:txBody>
          <a:bodyPr wrap="square" rtlCol="0" anchor="t"/>
          <a:lstStyle/>
          <a:p>
            <a:pPr rtl="1" algn="r" indent="0" marL="0">
              <a:buNone/>
            </a:pPr>
            <a:r>
              <a:rPr lang="en-US" sz="1200" dirty="0">
                <a:solidFill>
                  <a:srgbClr val="55606E"/>
                </a:solidFill>
                <a:latin typeface="Calibri" pitchFamily="34" charset="0"/>
                <a:ea typeface="Calibri" pitchFamily="34" charset="-122"/>
                <a:cs typeface="Calibri" pitchFamily="34" charset="-120"/>
              </a:rPr>
              <a:t>من عميل محتمل إلى مؤهّل — بفضل تصنيف AI والتوزيع الذكي</a:t>
            </a:r>
            <a:endParaRPr lang="en-US" sz="1200" dirty="0"/>
          </a:p>
        </p:txBody>
      </p:sp>
      <p:sp>
        <p:nvSpPr>
          <p:cNvPr id="23" name="Shape 21"/>
          <p:cNvSpPr/>
          <p:nvPr/>
        </p:nvSpPr>
        <p:spPr>
          <a:xfrm>
            <a:off x="548640" y="4389120"/>
            <a:ext cx="5410048" cy="1783080"/>
          </a:xfrm>
          <a:prstGeom prst="rect">
            <a:avLst/>
          </a:prstGeom>
          <a:solidFill>
            <a:srgbClr val="FFFFFF"/>
          </a:solidFill>
          <a:ln w="12700">
            <a:solidFill>
              <a:srgbClr val="E8E3D6"/>
            </a:solidFill>
            <a:prstDash val="solid"/>
          </a:ln>
        </p:spPr>
      </p:sp>
      <p:sp>
        <p:nvSpPr>
          <p:cNvPr id="24" name="Text 22"/>
          <p:cNvSpPr/>
          <p:nvPr/>
        </p:nvSpPr>
        <p:spPr>
          <a:xfrm>
            <a:off x="731520" y="4572000"/>
            <a:ext cx="5044288" cy="1188720"/>
          </a:xfrm>
          <a:prstGeom prst="rect">
            <a:avLst/>
          </a:prstGeom>
          <a:noFill/>
          <a:ln/>
        </p:spPr>
        <p:txBody>
          <a:bodyPr wrap="square" rtlCol="0" anchor="ctr"/>
          <a:lstStyle/>
          <a:p>
            <a:pPr rtl="1" algn="r" indent="0" marL="0">
              <a:buNone/>
            </a:pPr>
            <a:r>
              <a:rPr lang="en-US" sz="6400" b="1" dirty="0">
                <a:solidFill>
                  <a:srgbClr val="0A1628"/>
                </a:solidFill>
                <a:latin typeface="Calibri" pitchFamily="34" charset="0"/>
                <a:ea typeface="Calibri" pitchFamily="34" charset="-122"/>
                <a:cs typeface="Calibri" pitchFamily="34" charset="-120"/>
              </a:rPr>
              <a:t>18%</a:t>
            </a:r>
            <a:endParaRPr lang="en-US" sz="6400" dirty="0"/>
          </a:p>
        </p:txBody>
      </p:sp>
      <p:sp>
        <p:nvSpPr>
          <p:cNvPr id="25" name="Text 23"/>
          <p:cNvSpPr/>
          <p:nvPr/>
        </p:nvSpPr>
        <p:spPr>
          <a:xfrm>
            <a:off x="731520" y="5760720"/>
            <a:ext cx="5044288" cy="365760"/>
          </a:xfrm>
          <a:prstGeom prst="rect">
            <a:avLst/>
          </a:prstGeom>
          <a:noFill/>
          <a:ln/>
        </p:spPr>
        <p:txBody>
          <a:bodyPr wrap="square" rtlCol="0" anchor="ctr"/>
          <a:lstStyle/>
          <a:p>
            <a:pPr rtl="1" algn="r" indent="0" marL="0">
              <a:buNone/>
            </a:pPr>
            <a:r>
              <a:rPr lang="en-US" sz="1400" b="1" dirty="0">
                <a:solidFill>
                  <a:srgbClr val="D4A574"/>
                </a:solidFill>
                <a:latin typeface="Calibri" pitchFamily="34" charset="0"/>
                <a:ea typeface="Calibri" pitchFamily="34" charset="-122"/>
                <a:cs typeface="Calibri" pitchFamily="34" charset="-120"/>
              </a:rPr>
              <a:t>انخفاض churn</a:t>
            </a:r>
            <a:endParaRPr lang="en-US" sz="1400" dirty="0"/>
          </a:p>
        </p:txBody>
      </p:sp>
      <p:sp>
        <p:nvSpPr>
          <p:cNvPr id="26" name="Shape 24"/>
          <p:cNvSpPr/>
          <p:nvPr/>
        </p:nvSpPr>
        <p:spPr>
          <a:xfrm>
            <a:off x="5135728" y="6172200"/>
            <a:ext cx="548640" cy="22860"/>
          </a:xfrm>
          <a:prstGeom prst="rect">
            <a:avLst/>
          </a:prstGeom>
          <a:solidFill>
            <a:srgbClr val="D4A574"/>
          </a:solidFill>
          <a:ln/>
        </p:spPr>
      </p:sp>
      <p:sp>
        <p:nvSpPr>
          <p:cNvPr id="27" name="Text 25"/>
          <p:cNvSpPr/>
          <p:nvPr/>
        </p:nvSpPr>
        <p:spPr>
          <a:xfrm>
            <a:off x="731520" y="6263640"/>
            <a:ext cx="5044288" cy="-137160"/>
          </a:xfrm>
          <a:prstGeom prst="rect">
            <a:avLst/>
          </a:prstGeom>
          <a:noFill/>
          <a:ln/>
        </p:spPr>
        <p:txBody>
          <a:bodyPr wrap="square" rtlCol="0" anchor="t"/>
          <a:lstStyle/>
          <a:p>
            <a:pPr rtl="1" algn="r" indent="0" marL="0">
              <a:buNone/>
            </a:pPr>
            <a:r>
              <a:rPr lang="en-US" sz="1200" dirty="0">
                <a:solidFill>
                  <a:srgbClr val="55606E"/>
                </a:solidFill>
                <a:latin typeface="Calibri" pitchFamily="34" charset="0"/>
                <a:ea typeface="Calibri" pitchFamily="34" charset="-122"/>
                <a:cs typeface="Calibri" pitchFamily="34" charset="-120"/>
              </a:rPr>
              <a:t>تقليل فقد العملاء بسبب نظام تجديد استباقي قبل انتهاء العقد بـ 60 يوم</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8F3"/>
        </a:solidFill>
      </p:bgPr>
    </p:bg>
    <p:spTree>
      <p:nvGrpSpPr>
        <p:cNvPr id="1" name=""/>
        <p:cNvGrpSpPr/>
        <p:nvPr/>
      </p:nvGrpSpPr>
      <p:grpSpPr>
        <a:xfrm>
          <a:off x="0" y="0"/>
          <a:ext cx="0" cy="0"/>
          <a:chOff x="0" y="0"/>
          <a:chExt cx="0" cy="0"/>
        </a:xfrm>
      </p:grpSpPr>
      <p:sp>
        <p:nvSpPr>
          <p:cNvPr id="2" name="Shape 0"/>
          <p:cNvSpPr/>
          <p:nvPr/>
        </p:nvSpPr>
        <p:spPr>
          <a:xfrm>
            <a:off x="11734495" y="320040"/>
            <a:ext cx="73152" cy="411480"/>
          </a:xfrm>
          <a:prstGeom prst="rect">
            <a:avLst/>
          </a:prstGeom>
          <a:solidFill>
            <a:srgbClr val="D4A574"/>
          </a:solidFill>
          <a:ln/>
        </p:spPr>
      </p:sp>
      <p:sp>
        <p:nvSpPr>
          <p:cNvPr id="3" name="Text 1"/>
          <p:cNvSpPr/>
          <p:nvPr/>
        </p:nvSpPr>
        <p:spPr>
          <a:xfrm>
            <a:off x="8076895" y="274320"/>
            <a:ext cx="3566160" cy="365760"/>
          </a:xfrm>
          <a:prstGeom prst="rect">
            <a:avLst/>
          </a:prstGeom>
          <a:noFill/>
          <a:ln/>
        </p:spPr>
        <p:txBody>
          <a:bodyPr wrap="square" rtlCol="0" anchor="ctr"/>
          <a:lstStyle/>
          <a:p>
            <a:pPr rtl="1" algn="r" indent="0" marL="0">
              <a:buNone/>
            </a:pPr>
            <a:r>
              <a:rPr lang="en-US" sz="1200" b="1" dirty="0">
                <a:solidFill>
                  <a:srgbClr val="55606E"/>
                </a:solidFill>
                <a:latin typeface="Calibri" pitchFamily="34" charset="0"/>
                <a:ea typeface="Calibri" pitchFamily="34" charset="-122"/>
                <a:cs typeface="Calibri" pitchFamily="34" charset="-120"/>
              </a:rPr>
              <a:t>حاسبة العائد</a:t>
            </a:r>
            <a:endParaRPr lang="en-US" sz="1200" dirty="0"/>
          </a:p>
        </p:txBody>
      </p:sp>
      <p:sp>
        <p:nvSpPr>
          <p:cNvPr id="4" name="Text 2"/>
          <p:cNvSpPr/>
          <p:nvPr/>
        </p:nvSpPr>
        <p:spPr>
          <a:xfrm>
            <a:off x="457200" y="6446520"/>
            <a:ext cx="2286000" cy="274320"/>
          </a:xfrm>
          <a:prstGeom prst="rect">
            <a:avLst/>
          </a:prstGeom>
          <a:noFill/>
          <a:ln/>
        </p:spPr>
        <p:txBody>
          <a:bodyPr wrap="square" rtlCol="0" anchor="ctr"/>
          <a:lstStyle/>
          <a:p>
            <a:pPr algn="l" indent="0" marL="0">
              <a:buNone/>
            </a:pPr>
            <a:r>
              <a:rPr lang="en-US" sz="900" dirty="0">
                <a:solidFill>
                  <a:srgbClr val="8B95A3"/>
                </a:solidFill>
                <a:latin typeface="Calibri" pitchFamily="34" charset="0"/>
                <a:ea typeface="Calibri" pitchFamily="34" charset="-122"/>
                <a:cs typeface="Calibri" pitchFamily="34" charset="-120"/>
              </a:rPr>
              <a:t>Dealix · ديلكس</a:t>
            </a:r>
            <a:endParaRPr lang="en-US" sz="900" dirty="0"/>
          </a:p>
        </p:txBody>
      </p:sp>
      <p:sp>
        <p:nvSpPr>
          <p:cNvPr id="5" name="Text 3"/>
          <p:cNvSpPr/>
          <p:nvPr/>
        </p:nvSpPr>
        <p:spPr>
          <a:xfrm>
            <a:off x="11094415" y="6446520"/>
            <a:ext cx="640080" cy="274320"/>
          </a:xfrm>
          <a:prstGeom prst="rect">
            <a:avLst/>
          </a:prstGeom>
          <a:noFill/>
          <a:ln/>
        </p:spPr>
        <p:txBody>
          <a:bodyPr wrap="square" rtlCol="0" anchor="ctr"/>
          <a:lstStyle/>
          <a:p>
            <a:pPr algn="r" indent="0" marL="0">
              <a:buNone/>
            </a:pPr>
            <a:r>
              <a:rPr lang="en-US" sz="900" b="1" dirty="0">
                <a:solidFill>
                  <a:srgbClr val="8B95A3"/>
                </a:solidFill>
                <a:latin typeface="Calibri" pitchFamily="34" charset="0"/>
                <a:ea typeface="Calibri" pitchFamily="34" charset="-122"/>
                <a:cs typeface="Calibri" pitchFamily="34" charset="-120"/>
              </a:rPr>
              <a:t>29</a:t>
            </a:r>
            <a:endParaRPr lang="en-US" sz="900" dirty="0"/>
          </a:p>
        </p:txBody>
      </p:sp>
      <p:sp>
        <p:nvSpPr>
          <p:cNvPr id="6" name="Text 4"/>
          <p:cNvSpPr/>
          <p:nvPr/>
        </p:nvSpPr>
        <p:spPr>
          <a:xfrm>
            <a:off x="548640" y="914400"/>
            <a:ext cx="11094415" cy="822960"/>
          </a:xfrm>
          <a:prstGeom prst="rect">
            <a:avLst/>
          </a:prstGeom>
          <a:noFill/>
          <a:ln/>
        </p:spPr>
        <p:txBody>
          <a:bodyPr wrap="square" rtlCol="0" anchor="ctr"/>
          <a:lstStyle/>
          <a:p>
            <a:pPr rtl="1" algn="r" indent="0" marL="0">
              <a:buNone/>
            </a:pPr>
            <a:r>
              <a:rPr lang="en-US" sz="3400" b="1" dirty="0">
                <a:solidFill>
                  <a:srgbClr val="0A1628"/>
                </a:solidFill>
                <a:latin typeface="Calibri" pitchFamily="34" charset="0"/>
                <a:ea typeface="Calibri" pitchFamily="34" charset="-122"/>
                <a:cs typeface="Calibri" pitchFamily="34" charset="-120"/>
              </a:rPr>
              <a:t>حاسبة العائد على الاستثمار</a:t>
            </a:r>
            <a:endParaRPr lang="en-US" sz="3400" dirty="0"/>
          </a:p>
        </p:txBody>
      </p:sp>
      <p:sp>
        <p:nvSpPr>
          <p:cNvPr id="7" name="Text 5"/>
          <p:cNvSpPr/>
          <p:nvPr/>
        </p:nvSpPr>
        <p:spPr>
          <a:xfrm>
            <a:off x="548640" y="1691640"/>
            <a:ext cx="11094415" cy="411480"/>
          </a:xfrm>
          <a:prstGeom prst="rect">
            <a:avLst/>
          </a:prstGeom>
          <a:noFill/>
          <a:ln/>
        </p:spPr>
        <p:txBody>
          <a:bodyPr wrap="square" rtlCol="0" anchor="ctr"/>
          <a:lstStyle/>
          <a:p>
            <a:pPr rtl="1" algn="r" indent="0" marL="0">
              <a:buNone/>
            </a:pPr>
            <a:r>
              <a:rPr lang="en-US" sz="1500" dirty="0">
                <a:solidFill>
                  <a:srgbClr val="55606E"/>
                </a:solidFill>
                <a:latin typeface="Calibri" pitchFamily="34" charset="0"/>
                <a:ea typeface="Calibri" pitchFamily="34" charset="-122"/>
                <a:cs typeface="Calibri" pitchFamily="34" charset="-120"/>
              </a:rPr>
              <a:t>نموذج مالي شفّاف — من الشهر الأول إلى السنة الثالثة</a:t>
            </a:r>
            <a:endParaRPr lang="en-US" sz="1500" dirty="0"/>
          </a:p>
        </p:txBody>
      </p:sp>
      <p:sp>
        <p:nvSpPr>
          <p:cNvPr id="8" name="Shape 6"/>
          <p:cNvSpPr/>
          <p:nvPr/>
        </p:nvSpPr>
        <p:spPr>
          <a:xfrm>
            <a:off x="548640" y="2331720"/>
            <a:ext cx="11094415" cy="411480"/>
          </a:xfrm>
          <a:prstGeom prst="rect">
            <a:avLst/>
          </a:prstGeom>
          <a:solidFill>
            <a:srgbClr val="0A1628"/>
          </a:solidFill>
          <a:ln/>
        </p:spPr>
      </p:sp>
      <p:sp>
        <p:nvSpPr>
          <p:cNvPr id="9" name="Text 7"/>
          <p:cNvSpPr/>
          <p:nvPr/>
        </p:nvSpPr>
        <p:spPr>
          <a:xfrm>
            <a:off x="8598103" y="2331720"/>
            <a:ext cx="3044952" cy="411480"/>
          </a:xfrm>
          <a:prstGeom prst="rect">
            <a:avLst/>
          </a:prstGeom>
          <a:noFill/>
          <a:ln/>
        </p:spPr>
        <p:txBody>
          <a:bodyPr wrap="square" rtlCol="0" anchor="ctr"/>
          <a:lstStyle/>
          <a:p>
            <a:pPr rtl="1" algn="r" indent="0" marL="0">
              <a:buNone/>
            </a:pPr>
            <a:r>
              <a:rPr lang="en-US" sz="1200" b="1" dirty="0">
                <a:solidFill>
                  <a:srgbClr val="D4A574"/>
                </a:solidFill>
                <a:latin typeface="Calibri" pitchFamily="34" charset="0"/>
                <a:ea typeface="Calibri" pitchFamily="34" charset="-122"/>
                <a:cs typeface="Calibri" pitchFamily="34" charset="-120"/>
              </a:rPr>
              <a:t>البند</a:t>
            </a:r>
            <a:endParaRPr lang="en-US" sz="1200" dirty="0"/>
          </a:p>
        </p:txBody>
      </p:sp>
      <p:sp>
        <p:nvSpPr>
          <p:cNvPr id="10" name="Text 8"/>
          <p:cNvSpPr/>
          <p:nvPr/>
        </p:nvSpPr>
        <p:spPr>
          <a:xfrm>
            <a:off x="6677863" y="2331720"/>
            <a:ext cx="1920240" cy="411480"/>
          </a:xfrm>
          <a:prstGeom prst="rect">
            <a:avLst/>
          </a:prstGeom>
          <a:noFill/>
          <a:ln/>
        </p:spPr>
        <p:txBody>
          <a:bodyPr wrap="square" rtlCol="0" anchor="ctr"/>
          <a:lstStyle/>
          <a:p>
            <a:pPr algn="ctr" indent="0" marL="0">
              <a:buNone/>
            </a:pPr>
            <a:r>
              <a:rPr lang="en-US" sz="1200" b="1" dirty="0">
                <a:solidFill>
                  <a:srgbClr val="D4A574"/>
                </a:solidFill>
                <a:latin typeface="Calibri" pitchFamily="34" charset="0"/>
                <a:ea typeface="Calibri" pitchFamily="34" charset="-122"/>
                <a:cs typeface="Calibri" pitchFamily="34" charset="-120"/>
              </a:rPr>
              <a:t>السنة 1</a:t>
            </a:r>
            <a:endParaRPr lang="en-US" sz="1200" dirty="0"/>
          </a:p>
        </p:txBody>
      </p:sp>
      <p:sp>
        <p:nvSpPr>
          <p:cNvPr id="11" name="Text 9"/>
          <p:cNvSpPr/>
          <p:nvPr/>
        </p:nvSpPr>
        <p:spPr>
          <a:xfrm>
            <a:off x="4757623" y="2331720"/>
            <a:ext cx="1920240" cy="411480"/>
          </a:xfrm>
          <a:prstGeom prst="rect">
            <a:avLst/>
          </a:prstGeom>
          <a:noFill/>
          <a:ln/>
        </p:spPr>
        <p:txBody>
          <a:bodyPr wrap="square" rtlCol="0" anchor="ctr"/>
          <a:lstStyle/>
          <a:p>
            <a:pPr algn="ctr" indent="0" marL="0">
              <a:buNone/>
            </a:pPr>
            <a:r>
              <a:rPr lang="en-US" sz="1200" b="1" dirty="0">
                <a:solidFill>
                  <a:srgbClr val="D4A574"/>
                </a:solidFill>
                <a:latin typeface="Calibri" pitchFamily="34" charset="0"/>
                <a:ea typeface="Calibri" pitchFamily="34" charset="-122"/>
                <a:cs typeface="Calibri" pitchFamily="34" charset="-120"/>
              </a:rPr>
              <a:t>السنة 2</a:t>
            </a:r>
            <a:endParaRPr lang="en-US" sz="1200" dirty="0"/>
          </a:p>
        </p:txBody>
      </p:sp>
      <p:sp>
        <p:nvSpPr>
          <p:cNvPr id="12" name="Text 10"/>
          <p:cNvSpPr/>
          <p:nvPr/>
        </p:nvSpPr>
        <p:spPr>
          <a:xfrm>
            <a:off x="2837383" y="2331720"/>
            <a:ext cx="1920240" cy="411480"/>
          </a:xfrm>
          <a:prstGeom prst="rect">
            <a:avLst/>
          </a:prstGeom>
          <a:noFill/>
          <a:ln/>
        </p:spPr>
        <p:txBody>
          <a:bodyPr wrap="square" rtlCol="0" anchor="ctr"/>
          <a:lstStyle/>
          <a:p>
            <a:pPr algn="ctr" indent="0" marL="0">
              <a:buNone/>
            </a:pPr>
            <a:r>
              <a:rPr lang="en-US" sz="1200" b="1" dirty="0">
                <a:solidFill>
                  <a:srgbClr val="D4A574"/>
                </a:solidFill>
                <a:latin typeface="Calibri" pitchFamily="34" charset="0"/>
                <a:ea typeface="Calibri" pitchFamily="34" charset="-122"/>
                <a:cs typeface="Calibri" pitchFamily="34" charset="-120"/>
              </a:rPr>
              <a:t>السنة 3</a:t>
            </a:r>
            <a:endParaRPr lang="en-US" sz="1200" dirty="0"/>
          </a:p>
        </p:txBody>
      </p:sp>
      <p:sp>
        <p:nvSpPr>
          <p:cNvPr id="13" name="Text 11"/>
          <p:cNvSpPr/>
          <p:nvPr/>
        </p:nvSpPr>
        <p:spPr>
          <a:xfrm>
            <a:off x="523951" y="2331720"/>
            <a:ext cx="2313432" cy="411480"/>
          </a:xfrm>
          <a:prstGeom prst="rect">
            <a:avLst/>
          </a:prstGeom>
          <a:noFill/>
          <a:ln/>
        </p:spPr>
        <p:txBody>
          <a:bodyPr wrap="square" rtlCol="0" anchor="ctr"/>
          <a:lstStyle/>
          <a:p>
            <a:pPr algn="ctr" indent="0" marL="0">
              <a:buNone/>
            </a:pPr>
            <a:r>
              <a:rPr lang="en-US" sz="1200" b="1" dirty="0">
                <a:solidFill>
                  <a:srgbClr val="D4A574"/>
                </a:solidFill>
                <a:latin typeface="Calibri" pitchFamily="34" charset="0"/>
                <a:ea typeface="Calibri" pitchFamily="34" charset="-122"/>
                <a:cs typeface="Calibri" pitchFamily="34" charset="-120"/>
              </a:rPr>
              <a:t>الإجمالي</a:t>
            </a:r>
            <a:endParaRPr lang="en-US" sz="1200" dirty="0"/>
          </a:p>
        </p:txBody>
      </p:sp>
      <p:sp>
        <p:nvSpPr>
          <p:cNvPr id="14" name="Shape 12"/>
          <p:cNvSpPr/>
          <p:nvPr/>
        </p:nvSpPr>
        <p:spPr>
          <a:xfrm>
            <a:off x="548640" y="2743200"/>
            <a:ext cx="11094415" cy="347472"/>
          </a:xfrm>
          <a:prstGeom prst="rect">
            <a:avLst/>
          </a:prstGeom>
          <a:solidFill>
            <a:srgbClr val="FFFFFF"/>
          </a:solidFill>
          <a:ln w="6350">
            <a:solidFill>
              <a:srgbClr val="E8E3D6"/>
            </a:solidFill>
            <a:prstDash val="solid"/>
          </a:ln>
        </p:spPr>
      </p:sp>
      <p:sp>
        <p:nvSpPr>
          <p:cNvPr id="15" name="Text 13"/>
          <p:cNvSpPr/>
          <p:nvPr/>
        </p:nvSpPr>
        <p:spPr>
          <a:xfrm>
            <a:off x="8671255" y="2743200"/>
            <a:ext cx="2898648" cy="347472"/>
          </a:xfrm>
          <a:prstGeom prst="rect">
            <a:avLst/>
          </a:prstGeom>
          <a:noFill/>
          <a:ln/>
        </p:spPr>
        <p:txBody>
          <a:bodyPr wrap="square" rtlCol="0" anchor="ctr"/>
          <a:lstStyle/>
          <a:p>
            <a:pPr rtl="1" algn="r" indent="0" marL="0">
              <a:buNone/>
            </a:pPr>
            <a:r>
              <a:rPr lang="en-US" sz="1100" b="1" dirty="0">
                <a:solidFill>
                  <a:srgbClr val="1A1A1A"/>
                </a:solidFill>
                <a:latin typeface="Calibri" pitchFamily="34" charset="0"/>
                <a:ea typeface="Calibri" pitchFamily="34" charset="-122"/>
                <a:cs typeface="Calibri" pitchFamily="34" charset="-120"/>
              </a:rPr>
              <a:t>اشتراك ديلكس السنوي (مؤشر)</a:t>
            </a:r>
            <a:endParaRPr lang="en-US" sz="1100" dirty="0"/>
          </a:p>
        </p:txBody>
      </p:sp>
      <p:sp>
        <p:nvSpPr>
          <p:cNvPr id="16" name="Text 14"/>
          <p:cNvSpPr/>
          <p:nvPr/>
        </p:nvSpPr>
        <p:spPr>
          <a:xfrm>
            <a:off x="6751015" y="2743200"/>
            <a:ext cx="1773936" cy="347472"/>
          </a:xfrm>
          <a:prstGeom prst="rect">
            <a:avLst/>
          </a:prstGeom>
          <a:noFill/>
          <a:ln/>
        </p:spPr>
        <p:txBody>
          <a:bodyPr wrap="square"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100</a:t>
            </a:r>
            <a:endParaRPr lang="en-US" sz="1100" dirty="0"/>
          </a:p>
        </p:txBody>
      </p:sp>
      <p:sp>
        <p:nvSpPr>
          <p:cNvPr id="17" name="Text 15"/>
          <p:cNvSpPr/>
          <p:nvPr/>
        </p:nvSpPr>
        <p:spPr>
          <a:xfrm>
            <a:off x="4830775" y="2743200"/>
            <a:ext cx="1773936" cy="347472"/>
          </a:xfrm>
          <a:prstGeom prst="rect">
            <a:avLst/>
          </a:prstGeom>
          <a:noFill/>
          <a:ln/>
        </p:spPr>
        <p:txBody>
          <a:bodyPr wrap="square"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110</a:t>
            </a:r>
            <a:endParaRPr lang="en-US" sz="1100" dirty="0"/>
          </a:p>
        </p:txBody>
      </p:sp>
      <p:sp>
        <p:nvSpPr>
          <p:cNvPr id="18" name="Text 16"/>
          <p:cNvSpPr/>
          <p:nvPr/>
        </p:nvSpPr>
        <p:spPr>
          <a:xfrm>
            <a:off x="2910535" y="2743200"/>
            <a:ext cx="1773936" cy="347472"/>
          </a:xfrm>
          <a:prstGeom prst="rect">
            <a:avLst/>
          </a:prstGeom>
          <a:noFill/>
          <a:ln/>
        </p:spPr>
        <p:txBody>
          <a:bodyPr wrap="square"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121</a:t>
            </a:r>
            <a:endParaRPr lang="en-US" sz="1100" dirty="0"/>
          </a:p>
        </p:txBody>
      </p:sp>
      <p:sp>
        <p:nvSpPr>
          <p:cNvPr id="19" name="Text 17"/>
          <p:cNvSpPr/>
          <p:nvPr/>
        </p:nvSpPr>
        <p:spPr>
          <a:xfrm>
            <a:off x="597103" y="2743200"/>
            <a:ext cx="2167128" cy="347472"/>
          </a:xfrm>
          <a:prstGeom prst="rect">
            <a:avLst/>
          </a:prstGeom>
          <a:noFill/>
          <a:ln/>
        </p:spPr>
        <p:txBody>
          <a:bodyPr wrap="square" rtlCol="0" anchor="ctr"/>
          <a:lstStyle/>
          <a:p>
            <a:pPr algn="ctr" indent="0" marL="0">
              <a:buNone/>
            </a:pPr>
            <a:r>
              <a:rPr lang="en-US" sz="1100" b="1" dirty="0">
                <a:solidFill>
                  <a:srgbClr val="0A1628"/>
                </a:solidFill>
                <a:latin typeface="Calibri" pitchFamily="34" charset="0"/>
                <a:ea typeface="Calibri" pitchFamily="34" charset="-122"/>
                <a:cs typeface="Calibri" pitchFamily="34" charset="-120"/>
              </a:rPr>
              <a:t>331</a:t>
            </a:r>
            <a:endParaRPr lang="en-US" sz="1100" dirty="0"/>
          </a:p>
        </p:txBody>
      </p:sp>
      <p:sp>
        <p:nvSpPr>
          <p:cNvPr id="20" name="Shape 18"/>
          <p:cNvSpPr/>
          <p:nvPr/>
        </p:nvSpPr>
        <p:spPr>
          <a:xfrm>
            <a:off x="548640" y="3090672"/>
            <a:ext cx="11094415" cy="347472"/>
          </a:xfrm>
          <a:prstGeom prst="rect">
            <a:avLst/>
          </a:prstGeom>
          <a:solidFill>
            <a:srgbClr val="FAF8F3"/>
          </a:solidFill>
          <a:ln w="6350">
            <a:solidFill>
              <a:srgbClr val="E8E3D6"/>
            </a:solidFill>
            <a:prstDash val="solid"/>
          </a:ln>
        </p:spPr>
      </p:sp>
      <p:sp>
        <p:nvSpPr>
          <p:cNvPr id="21" name="Text 19"/>
          <p:cNvSpPr/>
          <p:nvPr/>
        </p:nvSpPr>
        <p:spPr>
          <a:xfrm>
            <a:off x="8671255" y="3090672"/>
            <a:ext cx="2898648" cy="347472"/>
          </a:xfrm>
          <a:prstGeom prst="rect">
            <a:avLst/>
          </a:prstGeom>
          <a:noFill/>
          <a:ln/>
        </p:spPr>
        <p:txBody>
          <a:bodyPr wrap="square" rtlCol="0" anchor="ctr"/>
          <a:lstStyle/>
          <a:p>
            <a:pPr rtl="1" algn="r" indent="0" marL="0">
              <a:buNone/>
            </a:pPr>
            <a:r>
              <a:rPr lang="en-US" sz="1100" b="1" dirty="0">
                <a:solidFill>
                  <a:srgbClr val="1A1A1A"/>
                </a:solidFill>
                <a:latin typeface="Calibri" pitchFamily="34" charset="0"/>
                <a:ea typeface="Calibri" pitchFamily="34" charset="-122"/>
                <a:cs typeface="Calibri" pitchFamily="34" charset="-120"/>
              </a:rPr>
              <a:t>تكاليف التطبيق والتكامل (مرة واحدة)</a:t>
            </a:r>
            <a:endParaRPr lang="en-US" sz="1100" dirty="0"/>
          </a:p>
        </p:txBody>
      </p:sp>
      <p:sp>
        <p:nvSpPr>
          <p:cNvPr id="22" name="Text 20"/>
          <p:cNvSpPr/>
          <p:nvPr/>
        </p:nvSpPr>
        <p:spPr>
          <a:xfrm>
            <a:off x="6751015" y="3090672"/>
            <a:ext cx="1773936" cy="347472"/>
          </a:xfrm>
          <a:prstGeom prst="rect">
            <a:avLst/>
          </a:prstGeom>
          <a:noFill/>
          <a:ln/>
        </p:spPr>
        <p:txBody>
          <a:bodyPr wrap="square"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29</a:t>
            </a:r>
            <a:endParaRPr lang="en-US" sz="1100" dirty="0"/>
          </a:p>
        </p:txBody>
      </p:sp>
      <p:sp>
        <p:nvSpPr>
          <p:cNvPr id="23" name="Text 21"/>
          <p:cNvSpPr/>
          <p:nvPr/>
        </p:nvSpPr>
        <p:spPr>
          <a:xfrm>
            <a:off x="4830775" y="3090672"/>
            <a:ext cx="1773936" cy="347472"/>
          </a:xfrm>
          <a:prstGeom prst="rect">
            <a:avLst/>
          </a:prstGeom>
          <a:noFill/>
          <a:ln/>
        </p:spPr>
        <p:txBody>
          <a:bodyPr wrap="square"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p>
        </p:txBody>
      </p:sp>
      <p:sp>
        <p:nvSpPr>
          <p:cNvPr id="24" name="Text 22"/>
          <p:cNvSpPr/>
          <p:nvPr/>
        </p:nvSpPr>
        <p:spPr>
          <a:xfrm>
            <a:off x="2910535" y="3090672"/>
            <a:ext cx="1773936" cy="347472"/>
          </a:xfrm>
          <a:prstGeom prst="rect">
            <a:avLst/>
          </a:prstGeom>
          <a:noFill/>
          <a:ln/>
        </p:spPr>
        <p:txBody>
          <a:bodyPr wrap="square"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p>
        </p:txBody>
      </p:sp>
      <p:sp>
        <p:nvSpPr>
          <p:cNvPr id="25" name="Text 23"/>
          <p:cNvSpPr/>
          <p:nvPr/>
        </p:nvSpPr>
        <p:spPr>
          <a:xfrm>
            <a:off x="597103" y="3090672"/>
            <a:ext cx="2167128" cy="347472"/>
          </a:xfrm>
          <a:prstGeom prst="rect">
            <a:avLst/>
          </a:prstGeom>
          <a:noFill/>
          <a:ln/>
        </p:spPr>
        <p:txBody>
          <a:bodyPr wrap="square" rtlCol="0" anchor="ctr"/>
          <a:lstStyle/>
          <a:p>
            <a:pPr algn="ctr" indent="0" marL="0">
              <a:buNone/>
            </a:pPr>
            <a:r>
              <a:rPr lang="en-US" sz="1100" b="1" dirty="0">
                <a:solidFill>
                  <a:srgbClr val="0A1628"/>
                </a:solidFill>
                <a:latin typeface="Calibri" pitchFamily="34" charset="0"/>
                <a:ea typeface="Calibri" pitchFamily="34" charset="-122"/>
                <a:cs typeface="Calibri" pitchFamily="34" charset="-120"/>
              </a:rPr>
              <a:t>29</a:t>
            </a:r>
            <a:endParaRPr lang="en-US" sz="1100" dirty="0"/>
          </a:p>
        </p:txBody>
      </p:sp>
      <p:sp>
        <p:nvSpPr>
          <p:cNvPr id="26" name="Shape 24"/>
          <p:cNvSpPr/>
          <p:nvPr/>
        </p:nvSpPr>
        <p:spPr>
          <a:xfrm>
            <a:off x="548640" y="3438144"/>
            <a:ext cx="11094415" cy="347472"/>
          </a:xfrm>
          <a:prstGeom prst="rect">
            <a:avLst/>
          </a:prstGeom>
          <a:solidFill>
            <a:srgbClr val="FFFFFF"/>
          </a:solidFill>
          <a:ln w="6350">
            <a:solidFill>
              <a:srgbClr val="E8E3D6"/>
            </a:solidFill>
            <a:prstDash val="solid"/>
          </a:ln>
        </p:spPr>
      </p:sp>
      <p:sp>
        <p:nvSpPr>
          <p:cNvPr id="27" name="Text 25"/>
          <p:cNvSpPr/>
          <p:nvPr/>
        </p:nvSpPr>
        <p:spPr>
          <a:xfrm>
            <a:off x="8671255" y="3438144"/>
            <a:ext cx="2898648" cy="347472"/>
          </a:xfrm>
          <a:prstGeom prst="rect">
            <a:avLst/>
          </a:prstGeom>
          <a:noFill/>
          <a:ln/>
        </p:spPr>
        <p:txBody>
          <a:bodyPr wrap="square" rtlCol="0" anchor="ctr"/>
          <a:lstStyle/>
          <a:p>
            <a:pPr rtl="1" algn="r" indent="0" marL="0">
              <a:buNone/>
            </a:pPr>
            <a:r>
              <a:rPr lang="en-US" sz="1100" b="1" dirty="0">
                <a:solidFill>
                  <a:srgbClr val="1A1A1A"/>
                </a:solidFill>
                <a:latin typeface="Calibri" pitchFamily="34" charset="0"/>
                <a:ea typeface="Calibri" pitchFamily="34" charset="-122"/>
                <a:cs typeface="Calibri" pitchFamily="34" charset="-120"/>
              </a:rPr>
              <a:t>تدريب الفريق وإدارة التغيير</a:t>
            </a:r>
            <a:endParaRPr lang="en-US" sz="1100" dirty="0"/>
          </a:p>
        </p:txBody>
      </p:sp>
      <p:sp>
        <p:nvSpPr>
          <p:cNvPr id="28" name="Text 26"/>
          <p:cNvSpPr/>
          <p:nvPr/>
        </p:nvSpPr>
        <p:spPr>
          <a:xfrm>
            <a:off x="6751015" y="3438144"/>
            <a:ext cx="1773936" cy="347472"/>
          </a:xfrm>
          <a:prstGeom prst="rect">
            <a:avLst/>
          </a:prstGeom>
          <a:noFill/>
          <a:ln/>
        </p:spPr>
        <p:txBody>
          <a:bodyPr wrap="square"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10</a:t>
            </a:r>
            <a:endParaRPr lang="en-US" sz="1100" dirty="0"/>
          </a:p>
        </p:txBody>
      </p:sp>
      <p:sp>
        <p:nvSpPr>
          <p:cNvPr id="29" name="Text 27"/>
          <p:cNvSpPr/>
          <p:nvPr/>
        </p:nvSpPr>
        <p:spPr>
          <a:xfrm>
            <a:off x="4830775" y="3438144"/>
            <a:ext cx="1773936" cy="347472"/>
          </a:xfrm>
          <a:prstGeom prst="rect">
            <a:avLst/>
          </a:prstGeom>
          <a:noFill/>
          <a:ln/>
        </p:spPr>
        <p:txBody>
          <a:bodyPr wrap="square"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5</a:t>
            </a:r>
            <a:endParaRPr lang="en-US" sz="1100" dirty="0"/>
          </a:p>
        </p:txBody>
      </p:sp>
      <p:sp>
        <p:nvSpPr>
          <p:cNvPr id="30" name="Text 28"/>
          <p:cNvSpPr/>
          <p:nvPr/>
        </p:nvSpPr>
        <p:spPr>
          <a:xfrm>
            <a:off x="2910535" y="3438144"/>
            <a:ext cx="1773936" cy="347472"/>
          </a:xfrm>
          <a:prstGeom prst="rect">
            <a:avLst/>
          </a:prstGeom>
          <a:noFill/>
          <a:ln/>
        </p:spPr>
        <p:txBody>
          <a:bodyPr wrap="square"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5</a:t>
            </a:r>
            <a:endParaRPr lang="en-US" sz="1100" dirty="0"/>
          </a:p>
        </p:txBody>
      </p:sp>
      <p:sp>
        <p:nvSpPr>
          <p:cNvPr id="31" name="Text 29"/>
          <p:cNvSpPr/>
          <p:nvPr/>
        </p:nvSpPr>
        <p:spPr>
          <a:xfrm>
            <a:off x="597103" y="3438144"/>
            <a:ext cx="2167128" cy="347472"/>
          </a:xfrm>
          <a:prstGeom prst="rect">
            <a:avLst/>
          </a:prstGeom>
          <a:noFill/>
          <a:ln/>
        </p:spPr>
        <p:txBody>
          <a:bodyPr wrap="square" rtlCol="0" anchor="ctr"/>
          <a:lstStyle/>
          <a:p>
            <a:pPr algn="ctr" indent="0" marL="0">
              <a:buNone/>
            </a:pPr>
            <a:r>
              <a:rPr lang="en-US" sz="1100" b="1" dirty="0">
                <a:solidFill>
                  <a:srgbClr val="0A1628"/>
                </a:solidFill>
                <a:latin typeface="Calibri" pitchFamily="34" charset="0"/>
                <a:ea typeface="Calibri" pitchFamily="34" charset="-122"/>
                <a:cs typeface="Calibri" pitchFamily="34" charset="-120"/>
              </a:rPr>
              <a:t>20</a:t>
            </a:r>
            <a:endParaRPr lang="en-US" sz="1100" dirty="0"/>
          </a:p>
        </p:txBody>
      </p:sp>
      <p:sp>
        <p:nvSpPr>
          <p:cNvPr id="32" name="Shape 30"/>
          <p:cNvSpPr/>
          <p:nvPr/>
        </p:nvSpPr>
        <p:spPr>
          <a:xfrm>
            <a:off x="548640" y="3785616"/>
            <a:ext cx="11094415" cy="347472"/>
          </a:xfrm>
          <a:prstGeom prst="rect">
            <a:avLst/>
          </a:prstGeom>
          <a:solidFill>
            <a:srgbClr val="F2EEE4"/>
          </a:solidFill>
          <a:ln w="6350">
            <a:solidFill>
              <a:srgbClr val="E8E3D6"/>
            </a:solidFill>
            <a:prstDash val="solid"/>
          </a:ln>
        </p:spPr>
      </p:sp>
      <p:sp>
        <p:nvSpPr>
          <p:cNvPr id="33" name="Text 31"/>
          <p:cNvSpPr/>
          <p:nvPr/>
        </p:nvSpPr>
        <p:spPr>
          <a:xfrm>
            <a:off x="8671255" y="3785616"/>
            <a:ext cx="2898648" cy="347472"/>
          </a:xfrm>
          <a:prstGeom prst="rect">
            <a:avLst/>
          </a:prstGeom>
          <a:noFill/>
          <a:ln/>
        </p:spPr>
        <p:txBody>
          <a:bodyPr wrap="square" rtlCol="0" anchor="ctr"/>
          <a:lstStyle/>
          <a:p>
            <a:pPr rtl="1" algn="r" indent="0" marL="0">
              <a:buNone/>
            </a:pPr>
            <a:r>
              <a:rPr lang="en-US" sz="1100" b="1" dirty="0">
                <a:solidFill>
                  <a:srgbClr val="1A1A1A"/>
                </a:solidFill>
                <a:latin typeface="Calibri" pitchFamily="34" charset="0"/>
                <a:ea typeface="Calibri" pitchFamily="34" charset="-122"/>
                <a:cs typeface="Calibri" pitchFamily="34" charset="-120"/>
              </a:rPr>
              <a:t>إجمالي الاستثمار</a:t>
            </a:r>
            <a:endParaRPr lang="en-US" sz="1100" dirty="0"/>
          </a:p>
        </p:txBody>
      </p:sp>
      <p:sp>
        <p:nvSpPr>
          <p:cNvPr id="34" name="Text 32"/>
          <p:cNvSpPr/>
          <p:nvPr/>
        </p:nvSpPr>
        <p:spPr>
          <a:xfrm>
            <a:off x="6751015" y="3785616"/>
            <a:ext cx="1773936" cy="347472"/>
          </a:xfrm>
          <a:prstGeom prst="rect">
            <a:avLst/>
          </a:prstGeom>
          <a:noFill/>
          <a:ln/>
        </p:spPr>
        <p:txBody>
          <a:bodyPr wrap="square" rtlCol="0" anchor="ctr"/>
          <a:lstStyle/>
          <a:p>
            <a:pPr algn="ctr" indent="0" marL="0">
              <a:buNone/>
            </a:pPr>
            <a:r>
              <a:rPr lang="en-US" sz="1100" b="1" dirty="0">
                <a:solidFill>
                  <a:srgbClr val="1A1A1A"/>
                </a:solidFill>
                <a:latin typeface="Calibri" pitchFamily="34" charset="0"/>
                <a:ea typeface="Calibri" pitchFamily="34" charset="-122"/>
                <a:cs typeface="Calibri" pitchFamily="34" charset="-120"/>
              </a:rPr>
              <a:t>139</a:t>
            </a:r>
            <a:endParaRPr lang="en-US" sz="1100" dirty="0"/>
          </a:p>
        </p:txBody>
      </p:sp>
      <p:sp>
        <p:nvSpPr>
          <p:cNvPr id="35" name="Text 33"/>
          <p:cNvSpPr/>
          <p:nvPr/>
        </p:nvSpPr>
        <p:spPr>
          <a:xfrm>
            <a:off x="4830775" y="3785616"/>
            <a:ext cx="1773936" cy="347472"/>
          </a:xfrm>
          <a:prstGeom prst="rect">
            <a:avLst/>
          </a:prstGeom>
          <a:noFill/>
          <a:ln/>
        </p:spPr>
        <p:txBody>
          <a:bodyPr wrap="square" rtlCol="0" anchor="ctr"/>
          <a:lstStyle/>
          <a:p>
            <a:pPr algn="ctr" indent="0" marL="0">
              <a:buNone/>
            </a:pPr>
            <a:r>
              <a:rPr lang="en-US" sz="1100" b="1" dirty="0">
                <a:solidFill>
                  <a:srgbClr val="1A1A1A"/>
                </a:solidFill>
                <a:latin typeface="Calibri" pitchFamily="34" charset="0"/>
                <a:ea typeface="Calibri" pitchFamily="34" charset="-122"/>
                <a:cs typeface="Calibri" pitchFamily="34" charset="-120"/>
              </a:rPr>
              <a:t>115</a:t>
            </a:r>
            <a:endParaRPr lang="en-US" sz="1100" dirty="0"/>
          </a:p>
        </p:txBody>
      </p:sp>
      <p:sp>
        <p:nvSpPr>
          <p:cNvPr id="36" name="Text 34"/>
          <p:cNvSpPr/>
          <p:nvPr/>
        </p:nvSpPr>
        <p:spPr>
          <a:xfrm>
            <a:off x="2910535" y="3785616"/>
            <a:ext cx="1773936" cy="347472"/>
          </a:xfrm>
          <a:prstGeom prst="rect">
            <a:avLst/>
          </a:prstGeom>
          <a:noFill/>
          <a:ln/>
        </p:spPr>
        <p:txBody>
          <a:bodyPr wrap="square" rtlCol="0" anchor="ctr"/>
          <a:lstStyle/>
          <a:p>
            <a:pPr algn="ctr" indent="0" marL="0">
              <a:buNone/>
            </a:pPr>
            <a:r>
              <a:rPr lang="en-US" sz="1100" b="1" dirty="0">
                <a:solidFill>
                  <a:srgbClr val="1A1A1A"/>
                </a:solidFill>
                <a:latin typeface="Calibri" pitchFamily="34" charset="0"/>
                <a:ea typeface="Calibri" pitchFamily="34" charset="-122"/>
                <a:cs typeface="Calibri" pitchFamily="34" charset="-120"/>
              </a:rPr>
              <a:t>126</a:t>
            </a:r>
            <a:endParaRPr lang="en-US" sz="1100" dirty="0"/>
          </a:p>
        </p:txBody>
      </p:sp>
      <p:sp>
        <p:nvSpPr>
          <p:cNvPr id="37" name="Text 35"/>
          <p:cNvSpPr/>
          <p:nvPr/>
        </p:nvSpPr>
        <p:spPr>
          <a:xfrm>
            <a:off x="597103" y="3785616"/>
            <a:ext cx="2167128" cy="347472"/>
          </a:xfrm>
          <a:prstGeom prst="rect">
            <a:avLst/>
          </a:prstGeom>
          <a:noFill/>
          <a:ln/>
        </p:spPr>
        <p:txBody>
          <a:bodyPr wrap="square" rtlCol="0" anchor="ctr"/>
          <a:lstStyle/>
          <a:p>
            <a:pPr algn="ctr" indent="0" marL="0">
              <a:buNone/>
            </a:pPr>
            <a:r>
              <a:rPr lang="en-US" sz="1100" b="1" dirty="0">
                <a:solidFill>
                  <a:srgbClr val="0A1628"/>
                </a:solidFill>
                <a:latin typeface="Calibri" pitchFamily="34" charset="0"/>
                <a:ea typeface="Calibri" pitchFamily="34" charset="-122"/>
                <a:cs typeface="Calibri" pitchFamily="34" charset="-120"/>
              </a:rPr>
              <a:t>380</a:t>
            </a:r>
            <a:endParaRPr lang="en-US" sz="1100" dirty="0"/>
          </a:p>
        </p:txBody>
      </p:sp>
      <p:sp>
        <p:nvSpPr>
          <p:cNvPr id="38" name="Shape 36"/>
          <p:cNvSpPr/>
          <p:nvPr/>
        </p:nvSpPr>
        <p:spPr>
          <a:xfrm>
            <a:off x="548640" y="4133088"/>
            <a:ext cx="11094415" cy="347472"/>
          </a:xfrm>
          <a:prstGeom prst="rect">
            <a:avLst/>
          </a:prstGeom>
          <a:solidFill>
            <a:srgbClr val="FFFFFF"/>
          </a:solidFill>
          <a:ln w="6350">
            <a:solidFill>
              <a:srgbClr val="E8E3D6"/>
            </a:solidFill>
            <a:prstDash val="solid"/>
          </a:ln>
        </p:spPr>
      </p:sp>
      <p:sp>
        <p:nvSpPr>
          <p:cNvPr id="39" name="Text 37"/>
          <p:cNvSpPr/>
          <p:nvPr/>
        </p:nvSpPr>
        <p:spPr>
          <a:xfrm>
            <a:off x="8671255" y="4133088"/>
            <a:ext cx="2898648" cy="347472"/>
          </a:xfrm>
          <a:prstGeom prst="rect">
            <a:avLst/>
          </a:prstGeom>
          <a:noFill/>
          <a:ln/>
        </p:spPr>
        <p:txBody>
          <a:bodyPr wrap="square" rtlCol="0" anchor="ctr"/>
          <a:lstStyle/>
          <a:p>
            <a:pPr rtl="1" algn="r" indent="0" marL="0">
              <a:buNone/>
            </a:pPr>
            <a:r>
              <a:rPr lang="en-US" sz="1100" b="1" dirty="0">
                <a:solidFill>
                  <a:srgbClr val="1A1A1A"/>
                </a:solidFill>
                <a:latin typeface="Calibri" pitchFamily="34" charset="0"/>
                <a:ea typeface="Calibri" pitchFamily="34" charset="-122"/>
                <a:cs typeface="Calibri" pitchFamily="34" charset="-120"/>
              </a:rPr>
              <a:t>إيراد إضافي من تحسين الفوز</a:t>
            </a:r>
            <a:endParaRPr lang="en-US" sz="1100" dirty="0"/>
          </a:p>
        </p:txBody>
      </p:sp>
      <p:sp>
        <p:nvSpPr>
          <p:cNvPr id="40" name="Text 38"/>
          <p:cNvSpPr/>
          <p:nvPr/>
        </p:nvSpPr>
        <p:spPr>
          <a:xfrm>
            <a:off x="6751015" y="4133088"/>
            <a:ext cx="1773936" cy="347472"/>
          </a:xfrm>
          <a:prstGeom prst="rect">
            <a:avLst/>
          </a:prstGeom>
          <a:noFill/>
          <a:ln/>
        </p:spPr>
        <p:txBody>
          <a:bodyPr wrap="square"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2,917</a:t>
            </a:r>
            <a:endParaRPr lang="en-US" sz="1100" dirty="0"/>
          </a:p>
        </p:txBody>
      </p:sp>
      <p:sp>
        <p:nvSpPr>
          <p:cNvPr id="41" name="Text 39"/>
          <p:cNvSpPr/>
          <p:nvPr/>
        </p:nvSpPr>
        <p:spPr>
          <a:xfrm>
            <a:off x="4830775" y="4133088"/>
            <a:ext cx="1773936" cy="347472"/>
          </a:xfrm>
          <a:prstGeom prst="rect">
            <a:avLst/>
          </a:prstGeom>
          <a:noFill/>
          <a:ln/>
        </p:spPr>
        <p:txBody>
          <a:bodyPr wrap="square"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4,958</a:t>
            </a:r>
            <a:endParaRPr lang="en-US" sz="1100" dirty="0"/>
          </a:p>
        </p:txBody>
      </p:sp>
      <p:sp>
        <p:nvSpPr>
          <p:cNvPr id="42" name="Text 40"/>
          <p:cNvSpPr/>
          <p:nvPr/>
        </p:nvSpPr>
        <p:spPr>
          <a:xfrm>
            <a:off x="2910535" y="4133088"/>
            <a:ext cx="1773936" cy="347472"/>
          </a:xfrm>
          <a:prstGeom prst="rect">
            <a:avLst/>
          </a:prstGeom>
          <a:noFill/>
          <a:ln/>
        </p:spPr>
        <p:txBody>
          <a:bodyPr wrap="square"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6,000</a:t>
            </a:r>
            <a:endParaRPr lang="en-US" sz="1100" dirty="0"/>
          </a:p>
        </p:txBody>
      </p:sp>
      <p:sp>
        <p:nvSpPr>
          <p:cNvPr id="43" name="Text 41"/>
          <p:cNvSpPr/>
          <p:nvPr/>
        </p:nvSpPr>
        <p:spPr>
          <a:xfrm>
            <a:off x="597103" y="4133088"/>
            <a:ext cx="2167128" cy="347472"/>
          </a:xfrm>
          <a:prstGeom prst="rect">
            <a:avLst/>
          </a:prstGeom>
          <a:noFill/>
          <a:ln/>
        </p:spPr>
        <p:txBody>
          <a:bodyPr wrap="square" rtlCol="0" anchor="ctr"/>
          <a:lstStyle/>
          <a:p>
            <a:pPr algn="ctr" indent="0" marL="0">
              <a:buNone/>
            </a:pPr>
            <a:r>
              <a:rPr lang="en-US" sz="1100" b="1" dirty="0">
                <a:solidFill>
                  <a:srgbClr val="0A1628"/>
                </a:solidFill>
                <a:latin typeface="Calibri" pitchFamily="34" charset="0"/>
                <a:ea typeface="Calibri" pitchFamily="34" charset="-122"/>
                <a:cs typeface="Calibri" pitchFamily="34" charset="-120"/>
              </a:rPr>
              <a:t>13,875</a:t>
            </a:r>
            <a:endParaRPr lang="en-US" sz="1100" dirty="0"/>
          </a:p>
        </p:txBody>
      </p:sp>
      <p:sp>
        <p:nvSpPr>
          <p:cNvPr id="44" name="Shape 42"/>
          <p:cNvSpPr/>
          <p:nvPr/>
        </p:nvSpPr>
        <p:spPr>
          <a:xfrm>
            <a:off x="548640" y="4480560"/>
            <a:ext cx="11094415" cy="347472"/>
          </a:xfrm>
          <a:prstGeom prst="rect">
            <a:avLst/>
          </a:prstGeom>
          <a:solidFill>
            <a:srgbClr val="FAF8F3"/>
          </a:solidFill>
          <a:ln w="6350">
            <a:solidFill>
              <a:srgbClr val="E8E3D6"/>
            </a:solidFill>
            <a:prstDash val="solid"/>
          </a:ln>
        </p:spPr>
      </p:sp>
      <p:sp>
        <p:nvSpPr>
          <p:cNvPr id="45" name="Text 43"/>
          <p:cNvSpPr/>
          <p:nvPr/>
        </p:nvSpPr>
        <p:spPr>
          <a:xfrm>
            <a:off x="8671255" y="4480560"/>
            <a:ext cx="2898648" cy="347472"/>
          </a:xfrm>
          <a:prstGeom prst="rect">
            <a:avLst/>
          </a:prstGeom>
          <a:noFill/>
          <a:ln/>
        </p:spPr>
        <p:txBody>
          <a:bodyPr wrap="square" rtlCol="0" anchor="ctr"/>
          <a:lstStyle/>
          <a:p>
            <a:pPr rtl="1" algn="r" indent="0" marL="0">
              <a:buNone/>
            </a:pPr>
            <a:r>
              <a:rPr lang="en-US" sz="1100" b="1" dirty="0">
                <a:solidFill>
                  <a:srgbClr val="1A1A1A"/>
                </a:solidFill>
                <a:latin typeface="Calibri" pitchFamily="34" charset="0"/>
                <a:ea typeface="Calibri" pitchFamily="34" charset="-122"/>
                <a:cs typeface="Calibri" pitchFamily="34" charset="-120"/>
              </a:rPr>
              <a:t>توفير تكاليف تشغيلية</a:t>
            </a:r>
            <a:endParaRPr lang="en-US" sz="1100" dirty="0"/>
          </a:p>
        </p:txBody>
      </p:sp>
      <p:sp>
        <p:nvSpPr>
          <p:cNvPr id="46" name="Text 44"/>
          <p:cNvSpPr/>
          <p:nvPr/>
        </p:nvSpPr>
        <p:spPr>
          <a:xfrm>
            <a:off x="6751015" y="4480560"/>
            <a:ext cx="1773936" cy="347472"/>
          </a:xfrm>
          <a:prstGeom prst="rect">
            <a:avLst/>
          </a:prstGeom>
          <a:noFill/>
          <a:ln/>
        </p:spPr>
        <p:txBody>
          <a:bodyPr wrap="square"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400</a:t>
            </a:r>
            <a:endParaRPr lang="en-US" sz="1100" dirty="0"/>
          </a:p>
        </p:txBody>
      </p:sp>
      <p:sp>
        <p:nvSpPr>
          <p:cNvPr id="47" name="Text 45"/>
          <p:cNvSpPr/>
          <p:nvPr/>
        </p:nvSpPr>
        <p:spPr>
          <a:xfrm>
            <a:off x="4830775" y="4480560"/>
            <a:ext cx="1773936" cy="347472"/>
          </a:xfrm>
          <a:prstGeom prst="rect">
            <a:avLst/>
          </a:prstGeom>
          <a:noFill/>
          <a:ln/>
        </p:spPr>
        <p:txBody>
          <a:bodyPr wrap="square"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492</a:t>
            </a:r>
            <a:endParaRPr lang="en-US" sz="1100" dirty="0"/>
          </a:p>
        </p:txBody>
      </p:sp>
      <p:sp>
        <p:nvSpPr>
          <p:cNvPr id="48" name="Text 46"/>
          <p:cNvSpPr/>
          <p:nvPr/>
        </p:nvSpPr>
        <p:spPr>
          <a:xfrm>
            <a:off x="2910535" y="4480560"/>
            <a:ext cx="1773936" cy="347472"/>
          </a:xfrm>
          <a:prstGeom prst="rect">
            <a:avLst/>
          </a:prstGeom>
          <a:noFill/>
          <a:ln/>
        </p:spPr>
        <p:txBody>
          <a:bodyPr wrap="square"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517</a:t>
            </a:r>
            <a:endParaRPr lang="en-US" sz="1100" dirty="0"/>
          </a:p>
        </p:txBody>
      </p:sp>
      <p:sp>
        <p:nvSpPr>
          <p:cNvPr id="49" name="Text 47"/>
          <p:cNvSpPr/>
          <p:nvPr/>
        </p:nvSpPr>
        <p:spPr>
          <a:xfrm>
            <a:off x="597103" y="4480560"/>
            <a:ext cx="2167128" cy="347472"/>
          </a:xfrm>
          <a:prstGeom prst="rect">
            <a:avLst/>
          </a:prstGeom>
          <a:noFill/>
          <a:ln/>
        </p:spPr>
        <p:txBody>
          <a:bodyPr wrap="square" rtlCol="0" anchor="ctr"/>
          <a:lstStyle/>
          <a:p>
            <a:pPr algn="ctr" indent="0" marL="0">
              <a:buNone/>
            </a:pPr>
            <a:r>
              <a:rPr lang="en-US" sz="1100" b="1" dirty="0">
                <a:solidFill>
                  <a:srgbClr val="0A1628"/>
                </a:solidFill>
                <a:latin typeface="Calibri" pitchFamily="34" charset="0"/>
                <a:ea typeface="Calibri" pitchFamily="34" charset="-122"/>
                <a:cs typeface="Calibri" pitchFamily="34" charset="-120"/>
              </a:rPr>
              <a:t>1,408</a:t>
            </a:r>
            <a:endParaRPr lang="en-US" sz="1100" dirty="0"/>
          </a:p>
        </p:txBody>
      </p:sp>
      <p:sp>
        <p:nvSpPr>
          <p:cNvPr id="50" name="Shape 48"/>
          <p:cNvSpPr/>
          <p:nvPr/>
        </p:nvSpPr>
        <p:spPr>
          <a:xfrm>
            <a:off x="548640" y="4828032"/>
            <a:ext cx="11094415" cy="347472"/>
          </a:xfrm>
          <a:prstGeom prst="rect">
            <a:avLst/>
          </a:prstGeom>
          <a:solidFill>
            <a:srgbClr val="F2EEE4"/>
          </a:solidFill>
          <a:ln w="6350">
            <a:solidFill>
              <a:srgbClr val="E8E3D6"/>
            </a:solidFill>
            <a:prstDash val="solid"/>
          </a:ln>
        </p:spPr>
      </p:sp>
      <p:sp>
        <p:nvSpPr>
          <p:cNvPr id="51" name="Text 49"/>
          <p:cNvSpPr/>
          <p:nvPr/>
        </p:nvSpPr>
        <p:spPr>
          <a:xfrm>
            <a:off x="8671255" y="4828032"/>
            <a:ext cx="2898648" cy="347472"/>
          </a:xfrm>
          <a:prstGeom prst="rect">
            <a:avLst/>
          </a:prstGeom>
          <a:noFill/>
          <a:ln/>
        </p:spPr>
        <p:txBody>
          <a:bodyPr wrap="square" rtlCol="0" anchor="ctr"/>
          <a:lstStyle/>
          <a:p>
            <a:pPr rtl="1" algn="r" indent="0" marL="0">
              <a:buNone/>
            </a:pPr>
            <a:r>
              <a:rPr lang="en-US" sz="1100" b="1" dirty="0">
                <a:solidFill>
                  <a:srgbClr val="1A1A1A"/>
                </a:solidFill>
                <a:latin typeface="Calibri" pitchFamily="34" charset="0"/>
                <a:ea typeface="Calibri" pitchFamily="34" charset="-122"/>
                <a:cs typeface="Calibri" pitchFamily="34" charset="-120"/>
              </a:rPr>
              <a:t>إجمالي العائد</a:t>
            </a:r>
            <a:endParaRPr lang="en-US" sz="1100" dirty="0"/>
          </a:p>
        </p:txBody>
      </p:sp>
      <p:sp>
        <p:nvSpPr>
          <p:cNvPr id="52" name="Text 50"/>
          <p:cNvSpPr/>
          <p:nvPr/>
        </p:nvSpPr>
        <p:spPr>
          <a:xfrm>
            <a:off x="6751015" y="4828032"/>
            <a:ext cx="1773936" cy="347472"/>
          </a:xfrm>
          <a:prstGeom prst="rect">
            <a:avLst/>
          </a:prstGeom>
          <a:noFill/>
          <a:ln/>
        </p:spPr>
        <p:txBody>
          <a:bodyPr wrap="square" rtlCol="0" anchor="ctr"/>
          <a:lstStyle/>
          <a:p>
            <a:pPr algn="ctr" indent="0" marL="0">
              <a:buNone/>
            </a:pPr>
            <a:r>
              <a:rPr lang="en-US" sz="1100" b="1" dirty="0">
                <a:solidFill>
                  <a:srgbClr val="1A1A1A"/>
                </a:solidFill>
                <a:latin typeface="Calibri" pitchFamily="34" charset="0"/>
                <a:ea typeface="Calibri" pitchFamily="34" charset="-122"/>
                <a:cs typeface="Calibri" pitchFamily="34" charset="-120"/>
              </a:rPr>
              <a:t>3,317</a:t>
            </a:r>
            <a:endParaRPr lang="en-US" sz="1100" dirty="0"/>
          </a:p>
        </p:txBody>
      </p:sp>
      <p:sp>
        <p:nvSpPr>
          <p:cNvPr id="53" name="Text 51"/>
          <p:cNvSpPr/>
          <p:nvPr/>
        </p:nvSpPr>
        <p:spPr>
          <a:xfrm>
            <a:off x="4830775" y="4828032"/>
            <a:ext cx="1773936" cy="347472"/>
          </a:xfrm>
          <a:prstGeom prst="rect">
            <a:avLst/>
          </a:prstGeom>
          <a:noFill/>
          <a:ln/>
        </p:spPr>
        <p:txBody>
          <a:bodyPr wrap="square" rtlCol="0" anchor="ctr"/>
          <a:lstStyle/>
          <a:p>
            <a:pPr algn="ctr" indent="0" marL="0">
              <a:buNone/>
            </a:pPr>
            <a:r>
              <a:rPr lang="en-US" sz="1100" b="1" dirty="0">
                <a:solidFill>
                  <a:srgbClr val="1A1A1A"/>
                </a:solidFill>
                <a:latin typeface="Calibri" pitchFamily="34" charset="0"/>
                <a:ea typeface="Calibri" pitchFamily="34" charset="-122"/>
                <a:cs typeface="Calibri" pitchFamily="34" charset="-120"/>
              </a:rPr>
              <a:t>5,450</a:t>
            </a:r>
            <a:endParaRPr lang="en-US" sz="1100" dirty="0"/>
          </a:p>
        </p:txBody>
      </p:sp>
      <p:sp>
        <p:nvSpPr>
          <p:cNvPr id="54" name="Text 52"/>
          <p:cNvSpPr/>
          <p:nvPr/>
        </p:nvSpPr>
        <p:spPr>
          <a:xfrm>
            <a:off x="2910535" y="4828032"/>
            <a:ext cx="1773936" cy="347472"/>
          </a:xfrm>
          <a:prstGeom prst="rect">
            <a:avLst/>
          </a:prstGeom>
          <a:noFill/>
          <a:ln/>
        </p:spPr>
        <p:txBody>
          <a:bodyPr wrap="square" rtlCol="0" anchor="ctr"/>
          <a:lstStyle/>
          <a:p>
            <a:pPr algn="ctr" indent="0" marL="0">
              <a:buNone/>
            </a:pPr>
            <a:r>
              <a:rPr lang="en-US" sz="1100" b="1" dirty="0">
                <a:solidFill>
                  <a:srgbClr val="1A1A1A"/>
                </a:solidFill>
                <a:latin typeface="Calibri" pitchFamily="34" charset="0"/>
                <a:ea typeface="Calibri" pitchFamily="34" charset="-122"/>
                <a:cs typeface="Calibri" pitchFamily="34" charset="-120"/>
              </a:rPr>
              <a:t>6,517</a:t>
            </a:r>
            <a:endParaRPr lang="en-US" sz="1100" dirty="0"/>
          </a:p>
        </p:txBody>
      </p:sp>
      <p:sp>
        <p:nvSpPr>
          <p:cNvPr id="55" name="Text 53"/>
          <p:cNvSpPr/>
          <p:nvPr/>
        </p:nvSpPr>
        <p:spPr>
          <a:xfrm>
            <a:off x="597103" y="4828032"/>
            <a:ext cx="2167128" cy="347472"/>
          </a:xfrm>
          <a:prstGeom prst="rect">
            <a:avLst/>
          </a:prstGeom>
          <a:noFill/>
          <a:ln/>
        </p:spPr>
        <p:txBody>
          <a:bodyPr wrap="square" rtlCol="0" anchor="ctr"/>
          <a:lstStyle/>
          <a:p>
            <a:pPr algn="ctr" indent="0" marL="0">
              <a:buNone/>
            </a:pPr>
            <a:r>
              <a:rPr lang="en-US" sz="1100" b="1" dirty="0">
                <a:solidFill>
                  <a:srgbClr val="0A1628"/>
                </a:solidFill>
                <a:latin typeface="Calibri" pitchFamily="34" charset="0"/>
                <a:ea typeface="Calibri" pitchFamily="34" charset="-122"/>
                <a:cs typeface="Calibri" pitchFamily="34" charset="-120"/>
              </a:rPr>
              <a:t>15,283</a:t>
            </a:r>
            <a:endParaRPr lang="en-US" sz="1100" dirty="0"/>
          </a:p>
        </p:txBody>
      </p:sp>
      <p:sp>
        <p:nvSpPr>
          <p:cNvPr id="56" name="Shape 54"/>
          <p:cNvSpPr/>
          <p:nvPr/>
        </p:nvSpPr>
        <p:spPr>
          <a:xfrm>
            <a:off x="548640" y="5175504"/>
            <a:ext cx="11094415" cy="347472"/>
          </a:xfrm>
          <a:prstGeom prst="rect">
            <a:avLst/>
          </a:prstGeom>
          <a:solidFill>
            <a:srgbClr val="13233F"/>
          </a:solidFill>
          <a:ln w="6350">
            <a:solidFill>
              <a:srgbClr val="E8E3D6"/>
            </a:solidFill>
            <a:prstDash val="solid"/>
          </a:ln>
        </p:spPr>
      </p:sp>
      <p:sp>
        <p:nvSpPr>
          <p:cNvPr id="57" name="Text 55"/>
          <p:cNvSpPr/>
          <p:nvPr/>
        </p:nvSpPr>
        <p:spPr>
          <a:xfrm>
            <a:off x="8671255" y="5175504"/>
            <a:ext cx="2898648" cy="347472"/>
          </a:xfrm>
          <a:prstGeom prst="rect">
            <a:avLst/>
          </a:prstGeom>
          <a:noFill/>
          <a:ln/>
        </p:spPr>
        <p:txBody>
          <a:bodyPr wrap="square" rtlCol="0" anchor="ctr"/>
          <a:lstStyle/>
          <a:p>
            <a:pPr rtl="1" algn="r" indent="0" marL="0">
              <a:buNone/>
            </a:pPr>
            <a:r>
              <a:rPr lang="en-US" sz="1200" b="1" dirty="0">
                <a:solidFill>
                  <a:srgbClr val="D4A574"/>
                </a:solidFill>
                <a:latin typeface="Calibri" pitchFamily="34" charset="0"/>
                <a:ea typeface="Calibri" pitchFamily="34" charset="-122"/>
                <a:cs typeface="Calibri" pitchFamily="34" charset="-120"/>
              </a:rPr>
              <a:t>صافي العائد</a:t>
            </a:r>
            <a:endParaRPr lang="en-US" sz="1200" dirty="0"/>
          </a:p>
        </p:txBody>
      </p:sp>
      <p:sp>
        <p:nvSpPr>
          <p:cNvPr id="58" name="Text 56"/>
          <p:cNvSpPr/>
          <p:nvPr/>
        </p:nvSpPr>
        <p:spPr>
          <a:xfrm>
            <a:off x="6751015" y="5175504"/>
            <a:ext cx="1773936" cy="347472"/>
          </a:xfrm>
          <a:prstGeom prst="rect">
            <a:avLst/>
          </a:prstGeom>
          <a:noFill/>
          <a:ln/>
        </p:spPr>
        <p:txBody>
          <a:bodyPr wrap="square" rtlCol="0" anchor="ctr"/>
          <a:lstStyle/>
          <a:p>
            <a:pPr algn="ctr" indent="0" marL="0">
              <a:buNone/>
            </a:pPr>
            <a:r>
              <a:rPr lang="en-US" sz="1200" b="1" dirty="0">
                <a:solidFill>
                  <a:srgbClr val="D4A574"/>
                </a:solidFill>
                <a:latin typeface="Calibri" pitchFamily="34" charset="0"/>
                <a:ea typeface="Calibri" pitchFamily="34" charset="-122"/>
                <a:cs typeface="Calibri" pitchFamily="34" charset="-120"/>
              </a:rPr>
              <a:t>3,178</a:t>
            </a:r>
            <a:endParaRPr lang="en-US" sz="1200" dirty="0"/>
          </a:p>
        </p:txBody>
      </p:sp>
      <p:sp>
        <p:nvSpPr>
          <p:cNvPr id="59" name="Text 57"/>
          <p:cNvSpPr/>
          <p:nvPr/>
        </p:nvSpPr>
        <p:spPr>
          <a:xfrm>
            <a:off x="4830775" y="5175504"/>
            <a:ext cx="1773936" cy="347472"/>
          </a:xfrm>
          <a:prstGeom prst="rect">
            <a:avLst/>
          </a:prstGeom>
          <a:noFill/>
          <a:ln/>
        </p:spPr>
        <p:txBody>
          <a:bodyPr wrap="square" rtlCol="0" anchor="ctr"/>
          <a:lstStyle/>
          <a:p>
            <a:pPr algn="ctr" indent="0" marL="0">
              <a:buNone/>
            </a:pPr>
            <a:r>
              <a:rPr lang="en-US" sz="1200" b="1" dirty="0">
                <a:solidFill>
                  <a:srgbClr val="D4A574"/>
                </a:solidFill>
                <a:latin typeface="Calibri" pitchFamily="34" charset="0"/>
                <a:ea typeface="Calibri" pitchFamily="34" charset="-122"/>
                <a:cs typeface="Calibri" pitchFamily="34" charset="-120"/>
              </a:rPr>
              <a:t>5,335</a:t>
            </a:r>
            <a:endParaRPr lang="en-US" sz="1200" dirty="0"/>
          </a:p>
        </p:txBody>
      </p:sp>
      <p:sp>
        <p:nvSpPr>
          <p:cNvPr id="60" name="Text 58"/>
          <p:cNvSpPr/>
          <p:nvPr/>
        </p:nvSpPr>
        <p:spPr>
          <a:xfrm>
            <a:off x="2910535" y="5175504"/>
            <a:ext cx="1773936" cy="347472"/>
          </a:xfrm>
          <a:prstGeom prst="rect">
            <a:avLst/>
          </a:prstGeom>
          <a:noFill/>
          <a:ln/>
        </p:spPr>
        <p:txBody>
          <a:bodyPr wrap="square" rtlCol="0" anchor="ctr"/>
          <a:lstStyle/>
          <a:p>
            <a:pPr algn="ctr" indent="0" marL="0">
              <a:buNone/>
            </a:pPr>
            <a:r>
              <a:rPr lang="en-US" sz="1200" b="1" dirty="0">
                <a:solidFill>
                  <a:srgbClr val="D4A574"/>
                </a:solidFill>
                <a:latin typeface="Calibri" pitchFamily="34" charset="0"/>
                <a:ea typeface="Calibri" pitchFamily="34" charset="-122"/>
                <a:cs typeface="Calibri" pitchFamily="34" charset="-120"/>
              </a:rPr>
              <a:t>6,391</a:t>
            </a:r>
            <a:endParaRPr lang="en-US" sz="1200" dirty="0"/>
          </a:p>
        </p:txBody>
      </p:sp>
      <p:sp>
        <p:nvSpPr>
          <p:cNvPr id="61" name="Text 59"/>
          <p:cNvSpPr/>
          <p:nvPr/>
        </p:nvSpPr>
        <p:spPr>
          <a:xfrm>
            <a:off x="597103" y="5175504"/>
            <a:ext cx="2167128" cy="347472"/>
          </a:xfrm>
          <a:prstGeom prst="rect">
            <a:avLst/>
          </a:prstGeom>
          <a:noFill/>
          <a:ln/>
        </p:spPr>
        <p:txBody>
          <a:bodyPr wrap="square" rtlCol="0" anchor="ctr"/>
          <a:lstStyle/>
          <a:p>
            <a:pPr algn="ctr" indent="0" marL="0">
              <a:buNone/>
            </a:pPr>
            <a:r>
              <a:rPr lang="en-US" sz="1200" b="1" dirty="0">
                <a:solidFill>
                  <a:srgbClr val="D4A574"/>
                </a:solidFill>
                <a:latin typeface="Calibri" pitchFamily="34" charset="0"/>
                <a:ea typeface="Calibri" pitchFamily="34" charset="-122"/>
                <a:cs typeface="Calibri" pitchFamily="34" charset="-120"/>
              </a:rPr>
              <a:t>14,903</a:t>
            </a:r>
            <a:endParaRPr lang="en-US" sz="1200" dirty="0"/>
          </a:p>
        </p:txBody>
      </p:sp>
      <p:sp>
        <p:nvSpPr>
          <p:cNvPr id="62" name="Shape 60"/>
          <p:cNvSpPr/>
          <p:nvPr/>
        </p:nvSpPr>
        <p:spPr>
          <a:xfrm>
            <a:off x="548640" y="5522976"/>
            <a:ext cx="11094415" cy="347472"/>
          </a:xfrm>
          <a:prstGeom prst="rect">
            <a:avLst/>
          </a:prstGeom>
          <a:solidFill>
            <a:srgbClr val="13233F"/>
          </a:solidFill>
          <a:ln w="6350">
            <a:solidFill>
              <a:srgbClr val="E8E3D6"/>
            </a:solidFill>
            <a:prstDash val="solid"/>
          </a:ln>
        </p:spPr>
      </p:sp>
      <p:sp>
        <p:nvSpPr>
          <p:cNvPr id="63" name="Text 61"/>
          <p:cNvSpPr/>
          <p:nvPr/>
        </p:nvSpPr>
        <p:spPr>
          <a:xfrm>
            <a:off x="8671255" y="5522976"/>
            <a:ext cx="2898648" cy="347472"/>
          </a:xfrm>
          <a:prstGeom prst="rect">
            <a:avLst/>
          </a:prstGeom>
          <a:noFill/>
          <a:ln/>
        </p:spPr>
        <p:txBody>
          <a:bodyPr wrap="square" rtlCol="0" anchor="ctr"/>
          <a:lstStyle/>
          <a:p>
            <a:pPr rtl="1" algn="r" indent="0" marL="0">
              <a:buNone/>
            </a:pPr>
            <a:r>
              <a:rPr lang="en-US" sz="1200" b="1" dirty="0">
                <a:solidFill>
                  <a:srgbClr val="D4A574"/>
                </a:solidFill>
                <a:latin typeface="Calibri" pitchFamily="34" charset="0"/>
                <a:ea typeface="Calibri" pitchFamily="34" charset="-122"/>
                <a:cs typeface="Calibri" pitchFamily="34" charset="-120"/>
              </a:rPr>
              <a:t>معامل العائد (ROI)</a:t>
            </a:r>
            <a:endParaRPr lang="en-US" sz="1200" dirty="0"/>
          </a:p>
        </p:txBody>
      </p:sp>
      <p:sp>
        <p:nvSpPr>
          <p:cNvPr id="64" name="Text 62"/>
          <p:cNvSpPr/>
          <p:nvPr/>
        </p:nvSpPr>
        <p:spPr>
          <a:xfrm>
            <a:off x="6751015" y="5522976"/>
            <a:ext cx="1773936" cy="347472"/>
          </a:xfrm>
          <a:prstGeom prst="rect">
            <a:avLst/>
          </a:prstGeom>
          <a:noFill/>
          <a:ln/>
        </p:spPr>
        <p:txBody>
          <a:bodyPr wrap="square" rtlCol="0" anchor="ctr"/>
          <a:lstStyle/>
          <a:p>
            <a:pPr algn="ctr" indent="0" marL="0">
              <a:buNone/>
            </a:pPr>
            <a:r>
              <a:rPr lang="en-US" sz="1200" b="1" dirty="0">
                <a:solidFill>
                  <a:srgbClr val="D4A574"/>
                </a:solidFill>
                <a:latin typeface="Calibri" pitchFamily="34" charset="0"/>
                <a:ea typeface="Calibri" pitchFamily="34" charset="-122"/>
                <a:cs typeface="Calibri" pitchFamily="34" charset="-120"/>
              </a:rPr>
              <a:t>23x</a:t>
            </a:r>
            <a:endParaRPr lang="en-US" sz="1200" dirty="0"/>
          </a:p>
        </p:txBody>
      </p:sp>
      <p:sp>
        <p:nvSpPr>
          <p:cNvPr id="65" name="Text 63"/>
          <p:cNvSpPr/>
          <p:nvPr/>
        </p:nvSpPr>
        <p:spPr>
          <a:xfrm>
            <a:off x="4830775" y="5522976"/>
            <a:ext cx="1773936" cy="347472"/>
          </a:xfrm>
          <a:prstGeom prst="rect">
            <a:avLst/>
          </a:prstGeom>
          <a:noFill/>
          <a:ln/>
        </p:spPr>
        <p:txBody>
          <a:bodyPr wrap="square" rtlCol="0" anchor="ctr"/>
          <a:lstStyle/>
          <a:p>
            <a:pPr algn="ctr" indent="0" marL="0">
              <a:buNone/>
            </a:pPr>
            <a:r>
              <a:rPr lang="en-US" sz="1200" b="1" dirty="0">
                <a:solidFill>
                  <a:srgbClr val="D4A574"/>
                </a:solidFill>
                <a:latin typeface="Calibri" pitchFamily="34" charset="0"/>
                <a:ea typeface="Calibri" pitchFamily="34" charset="-122"/>
                <a:cs typeface="Calibri" pitchFamily="34" charset="-120"/>
              </a:rPr>
              <a:t>46x</a:t>
            </a:r>
            <a:endParaRPr lang="en-US" sz="1200" dirty="0"/>
          </a:p>
        </p:txBody>
      </p:sp>
      <p:sp>
        <p:nvSpPr>
          <p:cNvPr id="66" name="Text 64"/>
          <p:cNvSpPr/>
          <p:nvPr/>
        </p:nvSpPr>
        <p:spPr>
          <a:xfrm>
            <a:off x="2910535" y="5522976"/>
            <a:ext cx="1773936" cy="347472"/>
          </a:xfrm>
          <a:prstGeom prst="rect">
            <a:avLst/>
          </a:prstGeom>
          <a:noFill/>
          <a:ln/>
        </p:spPr>
        <p:txBody>
          <a:bodyPr wrap="square" rtlCol="0" anchor="ctr"/>
          <a:lstStyle/>
          <a:p>
            <a:pPr algn="ctr" indent="0" marL="0">
              <a:buNone/>
            </a:pPr>
            <a:r>
              <a:rPr lang="en-US" sz="1200" b="1" dirty="0">
                <a:solidFill>
                  <a:srgbClr val="D4A574"/>
                </a:solidFill>
                <a:latin typeface="Calibri" pitchFamily="34" charset="0"/>
                <a:ea typeface="Calibri" pitchFamily="34" charset="-122"/>
                <a:cs typeface="Calibri" pitchFamily="34" charset="-120"/>
              </a:rPr>
              <a:t>51x</a:t>
            </a:r>
            <a:endParaRPr lang="en-US" sz="1200" dirty="0"/>
          </a:p>
        </p:txBody>
      </p:sp>
      <p:sp>
        <p:nvSpPr>
          <p:cNvPr id="67" name="Text 65"/>
          <p:cNvSpPr/>
          <p:nvPr/>
        </p:nvSpPr>
        <p:spPr>
          <a:xfrm>
            <a:off x="597103" y="5522976"/>
            <a:ext cx="2167128" cy="347472"/>
          </a:xfrm>
          <a:prstGeom prst="rect">
            <a:avLst/>
          </a:prstGeom>
          <a:noFill/>
          <a:ln/>
        </p:spPr>
        <p:txBody>
          <a:bodyPr wrap="square" rtlCol="0" anchor="ctr"/>
          <a:lstStyle/>
          <a:p>
            <a:pPr algn="ctr" indent="0" marL="0">
              <a:buNone/>
            </a:pPr>
            <a:r>
              <a:rPr lang="en-US" sz="1200" b="1" dirty="0">
                <a:solidFill>
                  <a:srgbClr val="D4A574"/>
                </a:solidFill>
                <a:latin typeface="Calibri" pitchFamily="34" charset="0"/>
                <a:ea typeface="Calibri" pitchFamily="34" charset="-122"/>
                <a:cs typeface="Calibri" pitchFamily="34" charset="-120"/>
              </a:rPr>
              <a:t>39x</a:t>
            </a:r>
            <a:endParaRPr lang="en-US" sz="1200" dirty="0"/>
          </a:p>
        </p:txBody>
      </p:sp>
      <p:sp>
        <p:nvSpPr>
          <p:cNvPr id="68" name="Shape 66"/>
          <p:cNvSpPr/>
          <p:nvPr/>
        </p:nvSpPr>
        <p:spPr>
          <a:xfrm>
            <a:off x="548640" y="6035040"/>
            <a:ext cx="11094415" cy="411480"/>
          </a:xfrm>
          <a:prstGeom prst="rect">
            <a:avLst/>
          </a:prstGeom>
          <a:solidFill>
            <a:srgbClr val="D4A574"/>
          </a:solidFill>
          <a:ln/>
        </p:spPr>
      </p:sp>
      <p:sp>
        <p:nvSpPr>
          <p:cNvPr id="69" name="Text 67"/>
          <p:cNvSpPr/>
          <p:nvPr/>
        </p:nvSpPr>
        <p:spPr>
          <a:xfrm>
            <a:off x="548640" y="6035040"/>
            <a:ext cx="10911535" cy="411480"/>
          </a:xfrm>
          <a:prstGeom prst="rect">
            <a:avLst/>
          </a:prstGeom>
          <a:noFill/>
          <a:ln/>
        </p:spPr>
        <p:txBody>
          <a:bodyPr wrap="square" rtlCol="0" anchor="ctr"/>
          <a:lstStyle/>
          <a:p>
            <a:pPr rtl="1" algn="r" indent="0" marL="0">
              <a:buNone/>
            </a:pPr>
            <a:r>
              <a:rPr lang="en-US" sz="1300" b="1" dirty="0">
                <a:solidFill>
                  <a:srgbClr val="0A1628"/>
                </a:solidFill>
                <a:latin typeface="Calibri" pitchFamily="34" charset="0"/>
                <a:ea typeface="Calibri" pitchFamily="34" charset="-122"/>
                <a:cs typeface="Calibri" pitchFamily="34" charset="-120"/>
              </a:rPr>
              <a:t>متوسط ROI ثلاث سنوات: 39 ضعف الاستثمار — فترة الاسترداد: أقل من 5 أسابيع</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8F3"/>
        </a:solidFill>
      </p:bgPr>
    </p:bg>
    <p:spTree>
      <p:nvGrpSpPr>
        <p:cNvPr id="1" name=""/>
        <p:cNvGrpSpPr/>
        <p:nvPr/>
      </p:nvGrpSpPr>
      <p:grpSpPr>
        <a:xfrm>
          <a:off x="0" y="0"/>
          <a:ext cx="0" cy="0"/>
          <a:chOff x="0" y="0"/>
          <a:chExt cx="0" cy="0"/>
        </a:xfrm>
      </p:grpSpPr>
      <p:sp>
        <p:nvSpPr>
          <p:cNvPr id="2" name="Shape 0"/>
          <p:cNvSpPr/>
          <p:nvPr/>
        </p:nvSpPr>
        <p:spPr>
          <a:xfrm>
            <a:off x="11734495" y="320040"/>
            <a:ext cx="73152" cy="411480"/>
          </a:xfrm>
          <a:prstGeom prst="rect">
            <a:avLst/>
          </a:prstGeom>
          <a:solidFill>
            <a:srgbClr val="D4A574"/>
          </a:solidFill>
          <a:ln/>
        </p:spPr>
      </p:sp>
      <p:sp>
        <p:nvSpPr>
          <p:cNvPr id="3" name="Text 1"/>
          <p:cNvSpPr/>
          <p:nvPr/>
        </p:nvSpPr>
        <p:spPr>
          <a:xfrm>
            <a:off x="8076895" y="274320"/>
            <a:ext cx="3566160" cy="365760"/>
          </a:xfrm>
          <a:prstGeom prst="rect">
            <a:avLst/>
          </a:prstGeom>
          <a:noFill/>
          <a:ln/>
        </p:spPr>
        <p:txBody>
          <a:bodyPr wrap="square" rtlCol="0" anchor="ctr"/>
          <a:lstStyle/>
          <a:p>
            <a:pPr rtl="1" algn="r" indent="0" marL="0">
              <a:buNone/>
            </a:pPr>
            <a:r>
              <a:rPr lang="en-US" sz="1200" b="1" dirty="0">
                <a:solidFill>
                  <a:srgbClr val="55606E"/>
                </a:solidFill>
                <a:latin typeface="Calibri" pitchFamily="34" charset="0"/>
                <a:ea typeface="Calibri" pitchFamily="34" charset="-122"/>
                <a:cs typeface="Calibri" pitchFamily="34" charset="-120"/>
              </a:rPr>
              <a:t>قصة نجاح</a:t>
            </a:r>
            <a:endParaRPr lang="en-US" sz="1200" dirty="0"/>
          </a:p>
        </p:txBody>
      </p:sp>
      <p:sp>
        <p:nvSpPr>
          <p:cNvPr id="4" name="Text 2"/>
          <p:cNvSpPr/>
          <p:nvPr/>
        </p:nvSpPr>
        <p:spPr>
          <a:xfrm>
            <a:off x="457200" y="6446520"/>
            <a:ext cx="2286000" cy="274320"/>
          </a:xfrm>
          <a:prstGeom prst="rect">
            <a:avLst/>
          </a:prstGeom>
          <a:noFill/>
          <a:ln/>
        </p:spPr>
        <p:txBody>
          <a:bodyPr wrap="square" rtlCol="0" anchor="ctr"/>
          <a:lstStyle/>
          <a:p>
            <a:pPr algn="l" indent="0" marL="0">
              <a:buNone/>
            </a:pPr>
            <a:r>
              <a:rPr lang="en-US" sz="900" dirty="0">
                <a:solidFill>
                  <a:srgbClr val="8B95A3"/>
                </a:solidFill>
                <a:latin typeface="Calibri" pitchFamily="34" charset="0"/>
                <a:ea typeface="Calibri" pitchFamily="34" charset="-122"/>
                <a:cs typeface="Calibri" pitchFamily="34" charset="-120"/>
              </a:rPr>
              <a:t>Dealix · ديلكس</a:t>
            </a:r>
            <a:endParaRPr lang="en-US" sz="900" dirty="0"/>
          </a:p>
        </p:txBody>
      </p:sp>
      <p:sp>
        <p:nvSpPr>
          <p:cNvPr id="5" name="Text 3"/>
          <p:cNvSpPr/>
          <p:nvPr/>
        </p:nvSpPr>
        <p:spPr>
          <a:xfrm>
            <a:off x="11094415" y="6446520"/>
            <a:ext cx="640080" cy="274320"/>
          </a:xfrm>
          <a:prstGeom prst="rect">
            <a:avLst/>
          </a:prstGeom>
          <a:noFill/>
          <a:ln/>
        </p:spPr>
        <p:txBody>
          <a:bodyPr wrap="square" rtlCol="0" anchor="ctr"/>
          <a:lstStyle/>
          <a:p>
            <a:pPr algn="r" indent="0" marL="0">
              <a:buNone/>
            </a:pPr>
            <a:r>
              <a:rPr lang="en-US" sz="900" b="1" dirty="0">
                <a:solidFill>
                  <a:srgbClr val="8B95A3"/>
                </a:solidFill>
                <a:latin typeface="Calibri" pitchFamily="34" charset="0"/>
                <a:ea typeface="Calibri" pitchFamily="34" charset="-122"/>
                <a:cs typeface="Calibri" pitchFamily="34" charset="-120"/>
              </a:rPr>
              <a:t>30</a:t>
            </a:r>
            <a:endParaRPr lang="en-US" sz="900" dirty="0"/>
          </a:p>
        </p:txBody>
      </p:sp>
      <p:sp>
        <p:nvSpPr>
          <p:cNvPr id="6" name="Text 4"/>
          <p:cNvSpPr/>
          <p:nvPr/>
        </p:nvSpPr>
        <p:spPr>
          <a:xfrm>
            <a:off x="548640" y="914400"/>
            <a:ext cx="11094415" cy="822960"/>
          </a:xfrm>
          <a:prstGeom prst="rect">
            <a:avLst/>
          </a:prstGeom>
          <a:noFill/>
          <a:ln/>
        </p:spPr>
        <p:txBody>
          <a:bodyPr wrap="square" rtlCol="0" anchor="ctr"/>
          <a:lstStyle/>
          <a:p>
            <a:pPr rtl="1" algn="r" indent="0" marL="0">
              <a:buNone/>
            </a:pPr>
            <a:r>
              <a:rPr lang="en-US" sz="3400" b="1" dirty="0">
                <a:solidFill>
                  <a:srgbClr val="0A1628"/>
                </a:solidFill>
                <a:latin typeface="Calibri" pitchFamily="34" charset="0"/>
                <a:ea typeface="Calibri" pitchFamily="34" charset="-122"/>
                <a:cs typeface="Calibri" pitchFamily="34" charset="-120"/>
              </a:rPr>
              <a:t>قصة نجاح — شركة لوجستيات خليجية بحجمكم</a:t>
            </a:r>
            <a:endParaRPr lang="en-US" sz="3400" dirty="0"/>
          </a:p>
        </p:txBody>
      </p:sp>
      <p:sp>
        <p:nvSpPr>
          <p:cNvPr id="7" name="Text 5"/>
          <p:cNvSpPr/>
          <p:nvPr/>
        </p:nvSpPr>
        <p:spPr>
          <a:xfrm>
            <a:off x="548640" y="1691640"/>
            <a:ext cx="11094415" cy="411480"/>
          </a:xfrm>
          <a:prstGeom prst="rect">
            <a:avLst/>
          </a:prstGeom>
          <a:noFill/>
          <a:ln/>
        </p:spPr>
        <p:txBody>
          <a:bodyPr wrap="square" rtlCol="0" anchor="ctr"/>
          <a:lstStyle/>
          <a:p>
            <a:pPr rtl="1" algn="r" indent="0" marL="0">
              <a:buNone/>
            </a:pPr>
            <a:r>
              <a:rPr lang="en-US" sz="1500" dirty="0">
                <a:solidFill>
                  <a:srgbClr val="55606E"/>
                </a:solidFill>
                <a:latin typeface="Calibri" pitchFamily="34" charset="0"/>
                <a:ea typeface="Calibri" pitchFamily="34" charset="-122"/>
                <a:cs typeface="Calibri" pitchFamily="34" charset="-120"/>
              </a:rPr>
              <a:t>نتائج 6 أشهر من التطبيق الفعلي (الأسماء محفوظة بطلب العميل)</a:t>
            </a:r>
            <a:endParaRPr lang="en-US" sz="1500" dirty="0"/>
          </a:p>
        </p:txBody>
      </p:sp>
      <p:sp>
        <p:nvSpPr>
          <p:cNvPr id="8" name="Shape 6"/>
          <p:cNvSpPr/>
          <p:nvPr/>
        </p:nvSpPr>
        <p:spPr>
          <a:xfrm>
            <a:off x="8127797" y="2331720"/>
            <a:ext cx="3515258" cy="3657600"/>
          </a:xfrm>
          <a:prstGeom prst="rect">
            <a:avLst/>
          </a:prstGeom>
          <a:solidFill>
            <a:srgbClr val="FFFFFF"/>
          </a:solidFill>
          <a:ln w="12700">
            <a:solidFill>
              <a:srgbClr val="55606E"/>
            </a:solidFill>
            <a:prstDash val="solid"/>
          </a:ln>
        </p:spPr>
      </p:sp>
      <p:sp>
        <p:nvSpPr>
          <p:cNvPr id="9" name="Shape 7"/>
          <p:cNvSpPr/>
          <p:nvPr/>
        </p:nvSpPr>
        <p:spPr>
          <a:xfrm>
            <a:off x="8127797" y="2331720"/>
            <a:ext cx="3515258" cy="73152"/>
          </a:xfrm>
          <a:prstGeom prst="rect">
            <a:avLst/>
          </a:prstGeom>
          <a:solidFill>
            <a:srgbClr val="55606E"/>
          </a:solidFill>
          <a:ln/>
        </p:spPr>
      </p:sp>
      <p:sp>
        <p:nvSpPr>
          <p:cNvPr id="10" name="Text 8"/>
          <p:cNvSpPr/>
          <p:nvPr/>
        </p:nvSpPr>
        <p:spPr>
          <a:xfrm>
            <a:off x="8264957" y="2514600"/>
            <a:ext cx="3240938" cy="320040"/>
          </a:xfrm>
          <a:prstGeom prst="rect">
            <a:avLst/>
          </a:prstGeom>
          <a:noFill/>
          <a:ln/>
        </p:spPr>
        <p:txBody>
          <a:bodyPr wrap="square" rtlCol="0" anchor="ctr"/>
          <a:lstStyle/>
          <a:p>
            <a:pPr rtl="1" algn="r" indent="0" marL="0">
              <a:buNone/>
            </a:pPr>
            <a:r>
              <a:rPr lang="en-US" sz="1100" b="1" dirty="0">
                <a:solidFill>
                  <a:srgbClr val="55606E"/>
                </a:solidFill>
                <a:latin typeface="Calibri" pitchFamily="34" charset="0"/>
                <a:ea typeface="Calibri" pitchFamily="34" charset="-122"/>
                <a:cs typeface="Calibri" pitchFamily="34" charset="-120"/>
              </a:rPr>
              <a:t>ما قبل ديلكس</a:t>
            </a:r>
            <a:endParaRPr lang="en-US" sz="1100" dirty="0"/>
          </a:p>
        </p:txBody>
      </p:sp>
      <p:sp>
        <p:nvSpPr>
          <p:cNvPr id="11" name="Text 9"/>
          <p:cNvSpPr/>
          <p:nvPr/>
        </p:nvSpPr>
        <p:spPr>
          <a:xfrm>
            <a:off x="8264957" y="2880360"/>
            <a:ext cx="3240938" cy="457200"/>
          </a:xfrm>
          <a:prstGeom prst="rect">
            <a:avLst/>
          </a:prstGeom>
          <a:noFill/>
          <a:ln/>
        </p:spPr>
        <p:txBody>
          <a:bodyPr wrap="square" rtlCol="0" anchor="ctr"/>
          <a:lstStyle/>
          <a:p>
            <a:pPr rtl="1" algn="r" indent="0" marL="0">
              <a:buNone/>
            </a:pPr>
            <a:r>
              <a:rPr lang="en-US" sz="1800" b="1" dirty="0">
                <a:solidFill>
                  <a:srgbClr val="0A1628"/>
                </a:solidFill>
                <a:latin typeface="Calibri" pitchFamily="34" charset="0"/>
                <a:ea typeface="Calibri" pitchFamily="34" charset="-122"/>
                <a:cs typeface="Calibri" pitchFamily="34" charset="-120"/>
              </a:rPr>
              <a:t>الحالة الابتدائية</a:t>
            </a:r>
            <a:endParaRPr lang="en-US" sz="1800" dirty="0"/>
          </a:p>
        </p:txBody>
      </p:sp>
      <p:sp>
        <p:nvSpPr>
          <p:cNvPr id="12" name="Shape 10"/>
          <p:cNvSpPr/>
          <p:nvPr/>
        </p:nvSpPr>
        <p:spPr>
          <a:xfrm>
            <a:off x="10911535" y="3383280"/>
            <a:ext cx="502920" cy="18288"/>
          </a:xfrm>
          <a:prstGeom prst="rect">
            <a:avLst/>
          </a:prstGeom>
          <a:solidFill>
            <a:srgbClr val="55606E"/>
          </a:solidFill>
          <a:ln/>
        </p:spPr>
      </p:sp>
      <p:sp>
        <p:nvSpPr>
          <p:cNvPr id="13" name="Shape 11"/>
          <p:cNvSpPr/>
          <p:nvPr/>
        </p:nvSpPr>
        <p:spPr>
          <a:xfrm>
            <a:off x="11368735" y="3675888"/>
            <a:ext cx="109728" cy="109728"/>
          </a:xfrm>
          <a:prstGeom prst="ellipse">
            <a:avLst/>
          </a:prstGeom>
          <a:solidFill>
            <a:srgbClr val="55606E"/>
          </a:solidFill>
          <a:ln/>
        </p:spPr>
      </p:sp>
      <p:sp>
        <p:nvSpPr>
          <p:cNvPr id="14" name="Text 12"/>
          <p:cNvSpPr/>
          <p:nvPr/>
        </p:nvSpPr>
        <p:spPr>
          <a:xfrm>
            <a:off x="8264957" y="3566160"/>
            <a:ext cx="3058058" cy="502920"/>
          </a:xfrm>
          <a:prstGeom prst="rect">
            <a:avLst/>
          </a:prstGeom>
          <a:noFill/>
          <a:ln/>
        </p:spPr>
        <p:txBody>
          <a:bodyPr wrap="square" rtlCol="0" anchor="t"/>
          <a:lstStyle/>
          <a:p>
            <a:pPr rtl="1" algn="r" indent="0" marL="0">
              <a:buNone/>
            </a:pPr>
            <a:r>
              <a:rPr lang="en-US" sz="1100" dirty="0">
                <a:solidFill>
                  <a:srgbClr val="1A1A1A"/>
                </a:solidFill>
                <a:latin typeface="Calibri" pitchFamily="34" charset="0"/>
                <a:ea typeface="Calibri" pitchFamily="34" charset="-122"/>
                <a:cs typeface="Calibri" pitchFamily="34" charset="-120"/>
              </a:rPr>
              <a:t>8 فروع · 6 دول · 4 أنظمة CRM مختلفة</a:t>
            </a:r>
            <a:endParaRPr lang="en-US" sz="1100" dirty="0"/>
          </a:p>
        </p:txBody>
      </p:sp>
      <p:sp>
        <p:nvSpPr>
          <p:cNvPr id="15" name="Shape 13"/>
          <p:cNvSpPr/>
          <p:nvPr/>
        </p:nvSpPr>
        <p:spPr>
          <a:xfrm>
            <a:off x="11368735" y="4224528"/>
            <a:ext cx="109728" cy="109728"/>
          </a:xfrm>
          <a:prstGeom prst="ellipse">
            <a:avLst/>
          </a:prstGeom>
          <a:solidFill>
            <a:srgbClr val="55606E"/>
          </a:solidFill>
          <a:ln/>
        </p:spPr>
      </p:sp>
      <p:sp>
        <p:nvSpPr>
          <p:cNvPr id="16" name="Text 14"/>
          <p:cNvSpPr/>
          <p:nvPr/>
        </p:nvSpPr>
        <p:spPr>
          <a:xfrm>
            <a:off x="8264957" y="4114800"/>
            <a:ext cx="3058058" cy="502920"/>
          </a:xfrm>
          <a:prstGeom prst="rect">
            <a:avLst/>
          </a:prstGeom>
          <a:noFill/>
          <a:ln/>
        </p:spPr>
        <p:txBody>
          <a:bodyPr wrap="square" rtlCol="0" anchor="t"/>
          <a:lstStyle/>
          <a:p>
            <a:pPr rtl="1" algn="r" indent="0" marL="0">
              <a:buNone/>
            </a:pPr>
            <a:r>
              <a:rPr lang="en-US" sz="1100" dirty="0">
                <a:solidFill>
                  <a:srgbClr val="1A1A1A"/>
                </a:solidFill>
                <a:latin typeface="Calibri" pitchFamily="34" charset="0"/>
                <a:ea typeface="Calibri" pitchFamily="34" charset="-122"/>
                <a:cs typeface="Calibri" pitchFamily="34" charset="-120"/>
              </a:rPr>
              <a:t>متوسط الرد على RFP: 11 يوم</a:t>
            </a:r>
            <a:endParaRPr lang="en-US" sz="1100" dirty="0"/>
          </a:p>
        </p:txBody>
      </p:sp>
      <p:sp>
        <p:nvSpPr>
          <p:cNvPr id="17" name="Shape 15"/>
          <p:cNvSpPr/>
          <p:nvPr/>
        </p:nvSpPr>
        <p:spPr>
          <a:xfrm>
            <a:off x="11368735" y="4773168"/>
            <a:ext cx="109728" cy="109728"/>
          </a:xfrm>
          <a:prstGeom prst="ellipse">
            <a:avLst/>
          </a:prstGeom>
          <a:solidFill>
            <a:srgbClr val="55606E"/>
          </a:solidFill>
          <a:ln/>
        </p:spPr>
      </p:sp>
      <p:sp>
        <p:nvSpPr>
          <p:cNvPr id="18" name="Text 16"/>
          <p:cNvSpPr/>
          <p:nvPr/>
        </p:nvSpPr>
        <p:spPr>
          <a:xfrm>
            <a:off x="8264957" y="4663440"/>
            <a:ext cx="3058058" cy="502920"/>
          </a:xfrm>
          <a:prstGeom prst="rect">
            <a:avLst/>
          </a:prstGeom>
          <a:noFill/>
          <a:ln/>
        </p:spPr>
        <p:txBody>
          <a:bodyPr wrap="square" rtlCol="0" anchor="t"/>
          <a:lstStyle/>
          <a:p>
            <a:pPr rtl="1" algn="r" indent="0" marL="0">
              <a:buNone/>
            </a:pPr>
            <a:r>
              <a:rPr lang="en-US" sz="1100" dirty="0">
                <a:solidFill>
                  <a:srgbClr val="1A1A1A"/>
                </a:solidFill>
                <a:latin typeface="Calibri" pitchFamily="34" charset="0"/>
                <a:ea typeface="Calibri" pitchFamily="34" charset="-122"/>
                <a:cs typeface="Calibri" pitchFamily="34" charset="-120"/>
              </a:rPr>
              <a:t>معدّل فوز التندرات: 14%</a:t>
            </a:r>
            <a:endParaRPr lang="en-US" sz="1100" dirty="0"/>
          </a:p>
        </p:txBody>
      </p:sp>
      <p:sp>
        <p:nvSpPr>
          <p:cNvPr id="19" name="Shape 17"/>
          <p:cNvSpPr/>
          <p:nvPr/>
        </p:nvSpPr>
        <p:spPr>
          <a:xfrm>
            <a:off x="11368735" y="5321808"/>
            <a:ext cx="109728" cy="109728"/>
          </a:xfrm>
          <a:prstGeom prst="ellipse">
            <a:avLst/>
          </a:prstGeom>
          <a:solidFill>
            <a:srgbClr val="55606E"/>
          </a:solidFill>
          <a:ln/>
        </p:spPr>
      </p:sp>
      <p:sp>
        <p:nvSpPr>
          <p:cNvPr id="20" name="Text 18"/>
          <p:cNvSpPr/>
          <p:nvPr/>
        </p:nvSpPr>
        <p:spPr>
          <a:xfrm>
            <a:off x="8264957" y="5212080"/>
            <a:ext cx="3058058" cy="502920"/>
          </a:xfrm>
          <a:prstGeom prst="rect">
            <a:avLst/>
          </a:prstGeom>
          <a:noFill/>
          <a:ln/>
        </p:spPr>
        <p:txBody>
          <a:bodyPr wrap="square" rtlCol="0" anchor="t"/>
          <a:lstStyle/>
          <a:p>
            <a:pPr rtl="1" algn="r" indent="0" marL="0">
              <a:buNone/>
            </a:pPr>
            <a:r>
              <a:rPr lang="en-US" sz="1100" dirty="0">
                <a:solidFill>
                  <a:srgbClr val="1A1A1A"/>
                </a:solidFill>
                <a:latin typeface="Calibri" pitchFamily="34" charset="0"/>
                <a:ea typeface="Calibri" pitchFamily="34" charset="-122"/>
                <a:cs typeface="Calibri" pitchFamily="34" charset="-120"/>
              </a:rPr>
              <a:t>38% من طلبات WhatsApp لا يُرد عليها</a:t>
            </a:r>
            <a:endParaRPr lang="en-US" sz="1100" dirty="0"/>
          </a:p>
        </p:txBody>
      </p:sp>
      <p:sp>
        <p:nvSpPr>
          <p:cNvPr id="21" name="Shape 19"/>
          <p:cNvSpPr/>
          <p:nvPr/>
        </p:nvSpPr>
        <p:spPr>
          <a:xfrm>
            <a:off x="4338218" y="2331720"/>
            <a:ext cx="3515258" cy="3657600"/>
          </a:xfrm>
          <a:prstGeom prst="rect">
            <a:avLst/>
          </a:prstGeom>
          <a:solidFill>
            <a:srgbClr val="FFFFFF"/>
          </a:solidFill>
          <a:ln w="12700">
            <a:solidFill>
              <a:srgbClr val="D4A574"/>
            </a:solidFill>
            <a:prstDash val="solid"/>
          </a:ln>
        </p:spPr>
      </p:sp>
      <p:sp>
        <p:nvSpPr>
          <p:cNvPr id="22" name="Shape 20"/>
          <p:cNvSpPr/>
          <p:nvPr/>
        </p:nvSpPr>
        <p:spPr>
          <a:xfrm>
            <a:off x="4338218" y="2331720"/>
            <a:ext cx="3515258" cy="73152"/>
          </a:xfrm>
          <a:prstGeom prst="rect">
            <a:avLst/>
          </a:prstGeom>
          <a:solidFill>
            <a:srgbClr val="D4A574"/>
          </a:solidFill>
          <a:ln/>
        </p:spPr>
      </p:sp>
      <p:sp>
        <p:nvSpPr>
          <p:cNvPr id="23" name="Text 21"/>
          <p:cNvSpPr/>
          <p:nvPr/>
        </p:nvSpPr>
        <p:spPr>
          <a:xfrm>
            <a:off x="4475378" y="2514600"/>
            <a:ext cx="3240938" cy="320040"/>
          </a:xfrm>
          <a:prstGeom prst="rect">
            <a:avLst/>
          </a:prstGeom>
          <a:noFill/>
          <a:ln/>
        </p:spPr>
        <p:txBody>
          <a:bodyPr wrap="square" rtlCol="0" anchor="ctr"/>
          <a:lstStyle/>
          <a:p>
            <a:pPr rtl="1" algn="r" indent="0" marL="0">
              <a:buNone/>
            </a:pPr>
            <a:r>
              <a:rPr lang="en-US" sz="1100" b="1" dirty="0">
                <a:solidFill>
                  <a:srgbClr val="D4A574"/>
                </a:solidFill>
                <a:latin typeface="Calibri" pitchFamily="34" charset="0"/>
                <a:ea typeface="Calibri" pitchFamily="34" charset="-122"/>
                <a:cs typeface="Calibri" pitchFamily="34" charset="-120"/>
              </a:rPr>
              <a:t>التطبيق (90 يوم)</a:t>
            </a:r>
            <a:endParaRPr lang="en-US" sz="1100" dirty="0"/>
          </a:p>
        </p:txBody>
      </p:sp>
      <p:sp>
        <p:nvSpPr>
          <p:cNvPr id="24" name="Text 22"/>
          <p:cNvSpPr/>
          <p:nvPr/>
        </p:nvSpPr>
        <p:spPr>
          <a:xfrm>
            <a:off x="4475378" y="2880360"/>
            <a:ext cx="3240938" cy="457200"/>
          </a:xfrm>
          <a:prstGeom prst="rect">
            <a:avLst/>
          </a:prstGeom>
          <a:noFill/>
          <a:ln/>
        </p:spPr>
        <p:txBody>
          <a:bodyPr wrap="square" rtlCol="0" anchor="ctr"/>
          <a:lstStyle/>
          <a:p>
            <a:pPr rtl="1" algn="r" indent="0" marL="0">
              <a:buNone/>
            </a:pPr>
            <a:r>
              <a:rPr lang="en-US" sz="1800" b="1" dirty="0">
                <a:solidFill>
                  <a:srgbClr val="0A1628"/>
                </a:solidFill>
                <a:latin typeface="Calibri" pitchFamily="34" charset="0"/>
                <a:ea typeface="Calibri" pitchFamily="34" charset="-122"/>
                <a:cs typeface="Calibri" pitchFamily="34" charset="-120"/>
              </a:rPr>
              <a:t>الانتقال المنظّم</a:t>
            </a:r>
            <a:endParaRPr lang="en-US" sz="1800" dirty="0"/>
          </a:p>
        </p:txBody>
      </p:sp>
      <p:sp>
        <p:nvSpPr>
          <p:cNvPr id="25" name="Shape 23"/>
          <p:cNvSpPr/>
          <p:nvPr/>
        </p:nvSpPr>
        <p:spPr>
          <a:xfrm>
            <a:off x="7121957" y="3383280"/>
            <a:ext cx="502920" cy="18288"/>
          </a:xfrm>
          <a:prstGeom prst="rect">
            <a:avLst/>
          </a:prstGeom>
          <a:solidFill>
            <a:srgbClr val="D4A574"/>
          </a:solidFill>
          <a:ln/>
        </p:spPr>
      </p:sp>
      <p:sp>
        <p:nvSpPr>
          <p:cNvPr id="26" name="Shape 24"/>
          <p:cNvSpPr/>
          <p:nvPr/>
        </p:nvSpPr>
        <p:spPr>
          <a:xfrm>
            <a:off x="7579157" y="3675888"/>
            <a:ext cx="109728" cy="109728"/>
          </a:xfrm>
          <a:prstGeom prst="ellipse">
            <a:avLst/>
          </a:prstGeom>
          <a:solidFill>
            <a:srgbClr val="D4A574"/>
          </a:solidFill>
          <a:ln/>
        </p:spPr>
      </p:sp>
      <p:sp>
        <p:nvSpPr>
          <p:cNvPr id="27" name="Text 25"/>
          <p:cNvSpPr/>
          <p:nvPr/>
        </p:nvSpPr>
        <p:spPr>
          <a:xfrm>
            <a:off x="4475378" y="3566160"/>
            <a:ext cx="3058058" cy="502920"/>
          </a:xfrm>
          <a:prstGeom prst="rect">
            <a:avLst/>
          </a:prstGeom>
          <a:noFill/>
          <a:ln/>
        </p:spPr>
        <p:txBody>
          <a:bodyPr wrap="square" rtlCol="0" anchor="t"/>
          <a:lstStyle/>
          <a:p>
            <a:pPr rtl="1" algn="r" indent="0" marL="0">
              <a:buNone/>
            </a:pPr>
            <a:r>
              <a:rPr lang="en-US" sz="1100" dirty="0">
                <a:solidFill>
                  <a:srgbClr val="1A1A1A"/>
                </a:solidFill>
                <a:latin typeface="Calibri" pitchFamily="34" charset="0"/>
                <a:ea typeface="Calibri" pitchFamily="34" charset="-122"/>
                <a:cs typeface="Calibri" pitchFamily="34" charset="-120"/>
              </a:rPr>
              <a:t>أسبوع 1-4: اكتشاف البيانات والتكامل مع Oracle TM</a:t>
            </a:r>
            <a:endParaRPr lang="en-US" sz="1100" dirty="0"/>
          </a:p>
        </p:txBody>
      </p:sp>
      <p:sp>
        <p:nvSpPr>
          <p:cNvPr id="28" name="Shape 26"/>
          <p:cNvSpPr/>
          <p:nvPr/>
        </p:nvSpPr>
        <p:spPr>
          <a:xfrm>
            <a:off x="7579157" y="4224528"/>
            <a:ext cx="109728" cy="109728"/>
          </a:xfrm>
          <a:prstGeom prst="ellipse">
            <a:avLst/>
          </a:prstGeom>
          <a:solidFill>
            <a:srgbClr val="D4A574"/>
          </a:solidFill>
          <a:ln/>
        </p:spPr>
      </p:sp>
      <p:sp>
        <p:nvSpPr>
          <p:cNvPr id="29" name="Text 27"/>
          <p:cNvSpPr/>
          <p:nvPr/>
        </p:nvSpPr>
        <p:spPr>
          <a:xfrm>
            <a:off x="4475378" y="4114800"/>
            <a:ext cx="3058058" cy="502920"/>
          </a:xfrm>
          <a:prstGeom prst="rect">
            <a:avLst/>
          </a:prstGeom>
          <a:noFill/>
          <a:ln/>
        </p:spPr>
        <p:txBody>
          <a:bodyPr wrap="square" rtlCol="0" anchor="t"/>
          <a:lstStyle/>
          <a:p>
            <a:pPr rtl="1" algn="r" indent="0" marL="0">
              <a:buNone/>
            </a:pPr>
            <a:r>
              <a:rPr lang="en-US" sz="1100" dirty="0">
                <a:solidFill>
                  <a:srgbClr val="1A1A1A"/>
                </a:solidFill>
                <a:latin typeface="Calibri" pitchFamily="34" charset="0"/>
                <a:ea typeface="Calibri" pitchFamily="34" charset="-122"/>
                <a:cs typeface="Calibri" pitchFamily="34" charset="-120"/>
              </a:rPr>
              <a:t>أسبوع 5-8: تدريب 80 مندوب + تهجير البيانات</a:t>
            </a:r>
            <a:endParaRPr lang="en-US" sz="1100" dirty="0"/>
          </a:p>
        </p:txBody>
      </p:sp>
      <p:sp>
        <p:nvSpPr>
          <p:cNvPr id="30" name="Shape 28"/>
          <p:cNvSpPr/>
          <p:nvPr/>
        </p:nvSpPr>
        <p:spPr>
          <a:xfrm>
            <a:off x="7579157" y="4773168"/>
            <a:ext cx="109728" cy="109728"/>
          </a:xfrm>
          <a:prstGeom prst="ellipse">
            <a:avLst/>
          </a:prstGeom>
          <a:solidFill>
            <a:srgbClr val="D4A574"/>
          </a:solidFill>
          <a:ln/>
        </p:spPr>
      </p:sp>
      <p:sp>
        <p:nvSpPr>
          <p:cNvPr id="31" name="Text 29"/>
          <p:cNvSpPr/>
          <p:nvPr/>
        </p:nvSpPr>
        <p:spPr>
          <a:xfrm>
            <a:off x="4475378" y="4663440"/>
            <a:ext cx="3058058" cy="502920"/>
          </a:xfrm>
          <a:prstGeom prst="rect">
            <a:avLst/>
          </a:prstGeom>
          <a:noFill/>
          <a:ln/>
        </p:spPr>
        <p:txBody>
          <a:bodyPr wrap="square" rtlCol="0" anchor="t"/>
          <a:lstStyle/>
          <a:p>
            <a:pPr rtl="1" algn="r" indent="0" marL="0">
              <a:buNone/>
            </a:pPr>
            <a:r>
              <a:rPr lang="en-US" sz="1100" dirty="0">
                <a:solidFill>
                  <a:srgbClr val="1A1A1A"/>
                </a:solidFill>
                <a:latin typeface="Calibri" pitchFamily="34" charset="0"/>
                <a:ea typeface="Calibri" pitchFamily="34" charset="-122"/>
                <a:cs typeface="Calibri" pitchFamily="34" charset="-120"/>
              </a:rPr>
              <a:t>أسبوع 9-12: تشغيل تجريبي في 3 فروع ثم كامل</a:t>
            </a:r>
            <a:endParaRPr lang="en-US" sz="1100" dirty="0"/>
          </a:p>
        </p:txBody>
      </p:sp>
      <p:sp>
        <p:nvSpPr>
          <p:cNvPr id="32" name="Shape 30"/>
          <p:cNvSpPr/>
          <p:nvPr/>
        </p:nvSpPr>
        <p:spPr>
          <a:xfrm>
            <a:off x="7579157" y="5321808"/>
            <a:ext cx="109728" cy="109728"/>
          </a:xfrm>
          <a:prstGeom prst="ellipse">
            <a:avLst/>
          </a:prstGeom>
          <a:solidFill>
            <a:srgbClr val="D4A574"/>
          </a:solidFill>
          <a:ln/>
        </p:spPr>
      </p:sp>
      <p:sp>
        <p:nvSpPr>
          <p:cNvPr id="33" name="Text 31"/>
          <p:cNvSpPr/>
          <p:nvPr/>
        </p:nvSpPr>
        <p:spPr>
          <a:xfrm>
            <a:off x="4475378" y="5212080"/>
            <a:ext cx="3058058" cy="502920"/>
          </a:xfrm>
          <a:prstGeom prst="rect">
            <a:avLst/>
          </a:prstGeom>
          <a:noFill/>
          <a:ln/>
        </p:spPr>
        <p:txBody>
          <a:bodyPr wrap="square" rtlCol="0" anchor="t"/>
          <a:lstStyle/>
          <a:p>
            <a:pPr rtl="1" algn="r" indent="0" marL="0">
              <a:buNone/>
            </a:pPr>
            <a:r>
              <a:rPr lang="en-US" sz="1100" dirty="0">
                <a:solidFill>
                  <a:srgbClr val="1A1A1A"/>
                </a:solidFill>
                <a:latin typeface="Calibri" pitchFamily="34" charset="0"/>
                <a:ea typeface="Calibri" pitchFamily="34" charset="-122"/>
                <a:cs typeface="Calibri" pitchFamily="34" charset="-120"/>
              </a:rPr>
              <a:t>فريق نجاح ديلكس مقيم في الرياض</a:t>
            </a:r>
            <a:endParaRPr lang="en-US" sz="1100" dirty="0"/>
          </a:p>
        </p:txBody>
      </p:sp>
      <p:sp>
        <p:nvSpPr>
          <p:cNvPr id="34" name="Shape 32"/>
          <p:cNvSpPr/>
          <p:nvPr/>
        </p:nvSpPr>
        <p:spPr>
          <a:xfrm>
            <a:off x="548640" y="2331720"/>
            <a:ext cx="3515258" cy="3657600"/>
          </a:xfrm>
          <a:prstGeom prst="rect">
            <a:avLst/>
          </a:prstGeom>
          <a:solidFill>
            <a:srgbClr val="0A1628"/>
          </a:solidFill>
          <a:ln w="25400">
            <a:solidFill>
              <a:srgbClr val="0A1628"/>
            </a:solidFill>
            <a:prstDash val="solid"/>
          </a:ln>
        </p:spPr>
      </p:sp>
      <p:sp>
        <p:nvSpPr>
          <p:cNvPr id="35" name="Shape 33"/>
          <p:cNvSpPr/>
          <p:nvPr/>
        </p:nvSpPr>
        <p:spPr>
          <a:xfrm>
            <a:off x="548640" y="2331720"/>
            <a:ext cx="3515258" cy="73152"/>
          </a:xfrm>
          <a:prstGeom prst="rect">
            <a:avLst/>
          </a:prstGeom>
          <a:solidFill>
            <a:srgbClr val="0A1628"/>
          </a:solidFill>
          <a:ln/>
        </p:spPr>
      </p:sp>
      <p:sp>
        <p:nvSpPr>
          <p:cNvPr id="36" name="Text 34"/>
          <p:cNvSpPr/>
          <p:nvPr/>
        </p:nvSpPr>
        <p:spPr>
          <a:xfrm>
            <a:off x="685800" y="2514600"/>
            <a:ext cx="3240938" cy="320040"/>
          </a:xfrm>
          <a:prstGeom prst="rect">
            <a:avLst/>
          </a:prstGeom>
          <a:noFill/>
          <a:ln/>
        </p:spPr>
        <p:txBody>
          <a:bodyPr wrap="square" rtlCol="0" anchor="ctr"/>
          <a:lstStyle/>
          <a:p>
            <a:pPr rtl="1" algn="r" indent="0" marL="0">
              <a:buNone/>
            </a:pPr>
            <a:r>
              <a:rPr lang="en-US" sz="1100" b="1" dirty="0">
                <a:solidFill>
                  <a:srgbClr val="D4A574"/>
                </a:solidFill>
                <a:latin typeface="Calibri" pitchFamily="34" charset="0"/>
                <a:ea typeface="Calibri" pitchFamily="34" charset="-122"/>
                <a:cs typeface="Calibri" pitchFamily="34" charset="-120"/>
              </a:rPr>
              <a:t>بعد 6 أشهر</a:t>
            </a:r>
            <a:endParaRPr lang="en-US" sz="1100" dirty="0"/>
          </a:p>
        </p:txBody>
      </p:sp>
      <p:sp>
        <p:nvSpPr>
          <p:cNvPr id="37" name="Text 35"/>
          <p:cNvSpPr/>
          <p:nvPr/>
        </p:nvSpPr>
        <p:spPr>
          <a:xfrm>
            <a:off x="685800" y="2880360"/>
            <a:ext cx="3240938" cy="457200"/>
          </a:xfrm>
          <a:prstGeom prst="rect">
            <a:avLst/>
          </a:prstGeom>
          <a:noFill/>
          <a:ln/>
        </p:spPr>
        <p:txBody>
          <a:bodyPr wrap="square" rtlCol="0" anchor="ctr"/>
          <a:lstStyle/>
          <a:p>
            <a:pPr rtl="1" algn="r" indent="0" marL="0">
              <a:buNone/>
            </a:pPr>
            <a:r>
              <a:rPr lang="en-US" sz="1800" b="1" dirty="0">
                <a:solidFill>
                  <a:srgbClr val="F5F5F5"/>
                </a:solidFill>
                <a:latin typeface="Calibri" pitchFamily="34" charset="0"/>
                <a:ea typeface="Calibri" pitchFamily="34" charset="-122"/>
                <a:cs typeface="Calibri" pitchFamily="34" charset="-120"/>
              </a:rPr>
              <a:t>النتائج المحقّقة</a:t>
            </a:r>
            <a:endParaRPr lang="en-US" sz="1800" dirty="0"/>
          </a:p>
        </p:txBody>
      </p:sp>
      <p:sp>
        <p:nvSpPr>
          <p:cNvPr id="38" name="Shape 36"/>
          <p:cNvSpPr/>
          <p:nvPr/>
        </p:nvSpPr>
        <p:spPr>
          <a:xfrm>
            <a:off x="3332378" y="3383280"/>
            <a:ext cx="502920" cy="18288"/>
          </a:xfrm>
          <a:prstGeom prst="rect">
            <a:avLst/>
          </a:prstGeom>
          <a:solidFill>
            <a:srgbClr val="D4A574"/>
          </a:solidFill>
          <a:ln/>
        </p:spPr>
      </p:sp>
      <p:sp>
        <p:nvSpPr>
          <p:cNvPr id="39" name="Shape 37"/>
          <p:cNvSpPr/>
          <p:nvPr/>
        </p:nvSpPr>
        <p:spPr>
          <a:xfrm>
            <a:off x="3789578" y="3675888"/>
            <a:ext cx="109728" cy="109728"/>
          </a:xfrm>
          <a:prstGeom prst="ellipse">
            <a:avLst/>
          </a:prstGeom>
          <a:solidFill>
            <a:srgbClr val="D4A574"/>
          </a:solidFill>
          <a:ln/>
        </p:spPr>
      </p:sp>
      <p:sp>
        <p:nvSpPr>
          <p:cNvPr id="40" name="Text 38"/>
          <p:cNvSpPr/>
          <p:nvPr/>
        </p:nvSpPr>
        <p:spPr>
          <a:xfrm>
            <a:off x="685800" y="3566160"/>
            <a:ext cx="3058058" cy="502920"/>
          </a:xfrm>
          <a:prstGeom prst="rect">
            <a:avLst/>
          </a:prstGeom>
          <a:noFill/>
          <a:ln/>
        </p:spPr>
        <p:txBody>
          <a:bodyPr wrap="square" rtlCol="0" anchor="t"/>
          <a:lstStyle/>
          <a:p>
            <a:pPr rtl="1" algn="r" indent="0" marL="0">
              <a:buNone/>
            </a:pPr>
            <a:r>
              <a:rPr lang="en-US" sz="1100" dirty="0">
                <a:solidFill>
                  <a:srgbClr val="F5F5F5"/>
                </a:solidFill>
                <a:latin typeface="Calibri" pitchFamily="34" charset="0"/>
                <a:ea typeface="Calibri" pitchFamily="34" charset="-122"/>
                <a:cs typeface="Calibri" pitchFamily="34" charset="-120"/>
              </a:rPr>
              <a:t>متوسط الرد على RFP: 4 ساعات (سابقاً 11 يوم)</a:t>
            </a:r>
            <a:endParaRPr lang="en-US" sz="1100" dirty="0"/>
          </a:p>
        </p:txBody>
      </p:sp>
      <p:sp>
        <p:nvSpPr>
          <p:cNvPr id="41" name="Shape 39"/>
          <p:cNvSpPr/>
          <p:nvPr/>
        </p:nvSpPr>
        <p:spPr>
          <a:xfrm>
            <a:off x="3789578" y="4224528"/>
            <a:ext cx="109728" cy="109728"/>
          </a:xfrm>
          <a:prstGeom prst="ellipse">
            <a:avLst/>
          </a:prstGeom>
          <a:solidFill>
            <a:srgbClr val="D4A574"/>
          </a:solidFill>
          <a:ln/>
        </p:spPr>
      </p:sp>
      <p:sp>
        <p:nvSpPr>
          <p:cNvPr id="42" name="Text 40"/>
          <p:cNvSpPr/>
          <p:nvPr/>
        </p:nvSpPr>
        <p:spPr>
          <a:xfrm>
            <a:off x="685800" y="4114800"/>
            <a:ext cx="3058058" cy="502920"/>
          </a:xfrm>
          <a:prstGeom prst="rect">
            <a:avLst/>
          </a:prstGeom>
          <a:noFill/>
          <a:ln/>
        </p:spPr>
        <p:txBody>
          <a:bodyPr wrap="square" rtlCol="0" anchor="t"/>
          <a:lstStyle/>
          <a:p>
            <a:pPr rtl="1" algn="r" indent="0" marL="0">
              <a:buNone/>
            </a:pPr>
            <a:r>
              <a:rPr lang="en-US" sz="1100" dirty="0">
                <a:solidFill>
                  <a:srgbClr val="F5F5F5"/>
                </a:solidFill>
                <a:latin typeface="Calibri" pitchFamily="34" charset="0"/>
                <a:ea typeface="Calibri" pitchFamily="34" charset="-122"/>
                <a:cs typeface="Calibri" pitchFamily="34" charset="-120"/>
              </a:rPr>
              <a:t>معدّل فوز التندرات: 23% (+64%)</a:t>
            </a:r>
            <a:endParaRPr lang="en-US" sz="1100" dirty="0"/>
          </a:p>
        </p:txBody>
      </p:sp>
      <p:sp>
        <p:nvSpPr>
          <p:cNvPr id="43" name="Shape 41"/>
          <p:cNvSpPr/>
          <p:nvPr/>
        </p:nvSpPr>
        <p:spPr>
          <a:xfrm>
            <a:off x="3789578" y="4773168"/>
            <a:ext cx="109728" cy="109728"/>
          </a:xfrm>
          <a:prstGeom prst="ellipse">
            <a:avLst/>
          </a:prstGeom>
          <a:solidFill>
            <a:srgbClr val="D4A574"/>
          </a:solidFill>
          <a:ln/>
        </p:spPr>
      </p:sp>
      <p:sp>
        <p:nvSpPr>
          <p:cNvPr id="44" name="Text 42"/>
          <p:cNvSpPr/>
          <p:nvPr/>
        </p:nvSpPr>
        <p:spPr>
          <a:xfrm>
            <a:off x="685800" y="4663440"/>
            <a:ext cx="3058058" cy="502920"/>
          </a:xfrm>
          <a:prstGeom prst="rect">
            <a:avLst/>
          </a:prstGeom>
          <a:noFill/>
          <a:ln/>
        </p:spPr>
        <p:txBody>
          <a:bodyPr wrap="square" rtlCol="0" anchor="t"/>
          <a:lstStyle/>
          <a:p>
            <a:pPr rtl="1" algn="r" indent="0" marL="0">
              <a:buNone/>
            </a:pPr>
            <a:r>
              <a:rPr lang="en-US" sz="1100" dirty="0">
                <a:solidFill>
                  <a:srgbClr val="F5F5F5"/>
                </a:solidFill>
                <a:latin typeface="Calibri" pitchFamily="34" charset="0"/>
                <a:ea typeface="Calibri" pitchFamily="34" charset="-122"/>
                <a:cs typeface="Calibri" pitchFamily="34" charset="-120"/>
              </a:rPr>
              <a:t>استبقاء العملاء: 87% (سابقاً 72%)</a:t>
            </a:r>
            <a:endParaRPr lang="en-US" sz="1100" dirty="0"/>
          </a:p>
        </p:txBody>
      </p:sp>
      <p:sp>
        <p:nvSpPr>
          <p:cNvPr id="45" name="Shape 43"/>
          <p:cNvSpPr/>
          <p:nvPr/>
        </p:nvSpPr>
        <p:spPr>
          <a:xfrm>
            <a:off x="3789578" y="5321808"/>
            <a:ext cx="109728" cy="109728"/>
          </a:xfrm>
          <a:prstGeom prst="ellipse">
            <a:avLst/>
          </a:prstGeom>
          <a:solidFill>
            <a:srgbClr val="D4A574"/>
          </a:solidFill>
          <a:ln/>
        </p:spPr>
      </p:sp>
      <p:sp>
        <p:nvSpPr>
          <p:cNvPr id="46" name="Text 44"/>
          <p:cNvSpPr/>
          <p:nvPr/>
        </p:nvSpPr>
        <p:spPr>
          <a:xfrm>
            <a:off x="685800" y="5212080"/>
            <a:ext cx="3058058" cy="502920"/>
          </a:xfrm>
          <a:prstGeom prst="rect">
            <a:avLst/>
          </a:prstGeom>
          <a:noFill/>
          <a:ln/>
        </p:spPr>
        <p:txBody>
          <a:bodyPr wrap="square" rtlCol="0" anchor="t"/>
          <a:lstStyle/>
          <a:p>
            <a:pPr rtl="1" algn="r" indent="0" marL="0">
              <a:buNone/>
            </a:pPr>
            <a:r>
              <a:rPr lang="en-US" sz="1100" dirty="0">
                <a:solidFill>
                  <a:srgbClr val="F5F5F5"/>
                </a:solidFill>
                <a:latin typeface="Calibri" pitchFamily="34" charset="0"/>
                <a:ea typeface="Calibri" pitchFamily="34" charset="-122"/>
                <a:cs typeface="Calibri" pitchFamily="34" charset="-120"/>
              </a:rPr>
              <a:t>نمو إيراد مُثبت خلال 6 أشهر</a:t>
            </a:r>
            <a:endParaRPr lang="en-US" sz="1100" dirty="0"/>
          </a:p>
        </p:txBody>
      </p:sp>
      <p:sp>
        <p:nvSpPr>
          <p:cNvPr id="47" name="Text 45"/>
          <p:cNvSpPr/>
          <p:nvPr/>
        </p:nvSpPr>
        <p:spPr>
          <a:xfrm>
            <a:off x="548640" y="5989320"/>
            <a:ext cx="11094415" cy="320040"/>
          </a:xfrm>
          <a:prstGeom prst="rect">
            <a:avLst/>
          </a:prstGeom>
          <a:noFill/>
          <a:ln/>
        </p:spPr>
        <p:txBody>
          <a:bodyPr wrap="square" rtlCol="0" anchor="ctr"/>
          <a:lstStyle/>
          <a:p>
            <a:pPr rtl="1" algn="r" indent="0" marL="0">
              <a:buNone/>
            </a:pPr>
            <a:r>
              <a:rPr lang="en-US" sz="1300" i="1" dirty="0">
                <a:solidFill>
                  <a:srgbClr val="1A1A1A"/>
                </a:solidFill>
                <a:latin typeface="Georgia" pitchFamily="34" charset="0"/>
                <a:ea typeface="Georgia" pitchFamily="34" charset="-122"/>
                <a:cs typeface="Georgia" pitchFamily="34" charset="-120"/>
              </a:rPr>
              <a:t>"النقلة كانت من ردة فعل إلى ريادة. لم نعد نلاحق التندرات — التندرات تأتينا مُؤهّلة" — VP Sales</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8F3"/>
        </a:solidFill>
      </p:bgPr>
    </p:bg>
    <p:spTree>
      <p:nvGrpSpPr>
        <p:cNvPr id="1" name=""/>
        <p:cNvGrpSpPr/>
        <p:nvPr/>
      </p:nvGrpSpPr>
      <p:grpSpPr>
        <a:xfrm>
          <a:off x="0" y="0"/>
          <a:ext cx="0" cy="0"/>
          <a:chOff x="0" y="0"/>
          <a:chExt cx="0" cy="0"/>
        </a:xfrm>
      </p:grpSpPr>
      <p:sp>
        <p:nvSpPr>
          <p:cNvPr id="2" name="Shape 0"/>
          <p:cNvSpPr/>
          <p:nvPr/>
        </p:nvSpPr>
        <p:spPr>
          <a:xfrm>
            <a:off x="11734495" y="320040"/>
            <a:ext cx="73152" cy="411480"/>
          </a:xfrm>
          <a:prstGeom prst="rect">
            <a:avLst/>
          </a:prstGeom>
          <a:solidFill>
            <a:srgbClr val="D4A574"/>
          </a:solidFill>
          <a:ln/>
        </p:spPr>
      </p:sp>
      <p:sp>
        <p:nvSpPr>
          <p:cNvPr id="3" name="Text 1"/>
          <p:cNvSpPr/>
          <p:nvPr/>
        </p:nvSpPr>
        <p:spPr>
          <a:xfrm>
            <a:off x="8076895" y="274320"/>
            <a:ext cx="3566160" cy="365760"/>
          </a:xfrm>
          <a:prstGeom prst="rect">
            <a:avLst/>
          </a:prstGeom>
          <a:noFill/>
          <a:ln/>
        </p:spPr>
        <p:txBody>
          <a:bodyPr wrap="square" rtlCol="0" anchor="ctr"/>
          <a:lstStyle/>
          <a:p>
            <a:pPr rtl="1" algn="r" indent="0" marL="0">
              <a:buNone/>
            </a:pPr>
            <a:r>
              <a:rPr lang="en-US" sz="1200" b="1" dirty="0">
                <a:solidFill>
                  <a:srgbClr val="55606E"/>
                </a:solidFill>
                <a:latin typeface="Calibri" pitchFamily="34" charset="0"/>
                <a:ea typeface="Calibri" pitchFamily="34" charset="-122"/>
                <a:cs typeface="Calibri" pitchFamily="34" charset="-120"/>
              </a:rPr>
              <a:t>إدارة المخاطر</a:t>
            </a:r>
            <a:endParaRPr lang="en-US" sz="1200" dirty="0"/>
          </a:p>
        </p:txBody>
      </p:sp>
      <p:sp>
        <p:nvSpPr>
          <p:cNvPr id="4" name="Text 2"/>
          <p:cNvSpPr/>
          <p:nvPr/>
        </p:nvSpPr>
        <p:spPr>
          <a:xfrm>
            <a:off x="457200" y="6446520"/>
            <a:ext cx="2286000" cy="274320"/>
          </a:xfrm>
          <a:prstGeom prst="rect">
            <a:avLst/>
          </a:prstGeom>
          <a:noFill/>
          <a:ln/>
        </p:spPr>
        <p:txBody>
          <a:bodyPr wrap="square" rtlCol="0" anchor="ctr"/>
          <a:lstStyle/>
          <a:p>
            <a:pPr algn="l" indent="0" marL="0">
              <a:buNone/>
            </a:pPr>
            <a:r>
              <a:rPr lang="en-US" sz="900" dirty="0">
                <a:solidFill>
                  <a:srgbClr val="8B95A3"/>
                </a:solidFill>
                <a:latin typeface="Calibri" pitchFamily="34" charset="0"/>
                <a:ea typeface="Calibri" pitchFamily="34" charset="-122"/>
                <a:cs typeface="Calibri" pitchFamily="34" charset="-120"/>
              </a:rPr>
              <a:t>Dealix · ديلكس</a:t>
            </a:r>
            <a:endParaRPr lang="en-US" sz="900" dirty="0"/>
          </a:p>
        </p:txBody>
      </p:sp>
      <p:sp>
        <p:nvSpPr>
          <p:cNvPr id="5" name="Text 3"/>
          <p:cNvSpPr/>
          <p:nvPr/>
        </p:nvSpPr>
        <p:spPr>
          <a:xfrm>
            <a:off x="11094415" y="6446520"/>
            <a:ext cx="640080" cy="274320"/>
          </a:xfrm>
          <a:prstGeom prst="rect">
            <a:avLst/>
          </a:prstGeom>
          <a:noFill/>
          <a:ln/>
        </p:spPr>
        <p:txBody>
          <a:bodyPr wrap="square" rtlCol="0" anchor="ctr"/>
          <a:lstStyle/>
          <a:p>
            <a:pPr algn="r" indent="0" marL="0">
              <a:buNone/>
            </a:pPr>
            <a:r>
              <a:rPr lang="en-US" sz="900" b="1" dirty="0">
                <a:solidFill>
                  <a:srgbClr val="8B95A3"/>
                </a:solidFill>
                <a:latin typeface="Calibri" pitchFamily="34" charset="0"/>
                <a:ea typeface="Calibri" pitchFamily="34" charset="-122"/>
                <a:cs typeface="Calibri" pitchFamily="34" charset="-120"/>
              </a:rPr>
              <a:t>31</a:t>
            </a:r>
            <a:endParaRPr lang="en-US" sz="900" dirty="0"/>
          </a:p>
        </p:txBody>
      </p:sp>
      <p:sp>
        <p:nvSpPr>
          <p:cNvPr id="6" name="Text 4"/>
          <p:cNvSpPr/>
          <p:nvPr/>
        </p:nvSpPr>
        <p:spPr>
          <a:xfrm>
            <a:off x="548640" y="914400"/>
            <a:ext cx="11094415" cy="822960"/>
          </a:xfrm>
          <a:prstGeom prst="rect">
            <a:avLst/>
          </a:prstGeom>
          <a:noFill/>
          <a:ln/>
        </p:spPr>
        <p:txBody>
          <a:bodyPr wrap="square" rtlCol="0" anchor="ctr"/>
          <a:lstStyle/>
          <a:p>
            <a:pPr rtl="1" algn="r" indent="0" marL="0">
              <a:buNone/>
            </a:pPr>
            <a:r>
              <a:rPr lang="en-US" sz="3400" b="1" dirty="0">
                <a:solidFill>
                  <a:srgbClr val="0A1628"/>
                </a:solidFill>
                <a:latin typeface="Calibri" pitchFamily="34" charset="0"/>
                <a:ea typeface="Calibri" pitchFamily="34" charset="-122"/>
                <a:cs typeface="Calibri" pitchFamily="34" charset="-120"/>
              </a:rPr>
              <a:t>كيف نُدير المخاطر معاً</a:t>
            </a:r>
            <a:endParaRPr lang="en-US" sz="3400" dirty="0"/>
          </a:p>
        </p:txBody>
      </p:sp>
      <p:sp>
        <p:nvSpPr>
          <p:cNvPr id="7" name="Text 5"/>
          <p:cNvSpPr/>
          <p:nvPr/>
        </p:nvSpPr>
        <p:spPr>
          <a:xfrm>
            <a:off x="548640" y="1691640"/>
            <a:ext cx="11094415" cy="411480"/>
          </a:xfrm>
          <a:prstGeom prst="rect">
            <a:avLst/>
          </a:prstGeom>
          <a:noFill/>
          <a:ln/>
        </p:spPr>
        <p:txBody>
          <a:bodyPr wrap="square" rtlCol="0" anchor="ctr"/>
          <a:lstStyle/>
          <a:p>
            <a:pPr rtl="1" algn="r" indent="0" marL="0">
              <a:buNone/>
            </a:pPr>
            <a:r>
              <a:rPr lang="en-US" sz="1500" dirty="0">
                <a:solidFill>
                  <a:srgbClr val="55606E"/>
                </a:solidFill>
                <a:latin typeface="Calibri" pitchFamily="34" charset="0"/>
                <a:ea typeface="Calibri" pitchFamily="34" charset="-122"/>
                <a:cs typeface="Calibri" pitchFamily="34" charset="-120"/>
              </a:rPr>
              <a:t>أربع ضمانات تشغيلية — لتبدأ بدون قلق</a:t>
            </a:r>
            <a:endParaRPr lang="en-US" sz="1500" dirty="0"/>
          </a:p>
        </p:txBody>
      </p:sp>
      <p:sp>
        <p:nvSpPr>
          <p:cNvPr id="8" name="Shape 6"/>
          <p:cNvSpPr/>
          <p:nvPr/>
        </p:nvSpPr>
        <p:spPr>
          <a:xfrm>
            <a:off x="9075191" y="2331720"/>
            <a:ext cx="2567864" cy="3657600"/>
          </a:xfrm>
          <a:prstGeom prst="rect">
            <a:avLst/>
          </a:prstGeom>
          <a:solidFill>
            <a:srgbClr val="FFFFFF"/>
          </a:solidFill>
          <a:ln w="12700">
            <a:solidFill>
              <a:srgbClr val="E8E3D6"/>
            </a:solidFill>
            <a:prstDash val="solid"/>
          </a:ln>
        </p:spPr>
      </p:sp>
      <p:sp>
        <p:nvSpPr>
          <p:cNvPr id="9" name="Text 7"/>
          <p:cNvSpPr/>
          <p:nvPr/>
        </p:nvSpPr>
        <p:spPr>
          <a:xfrm>
            <a:off x="9166631" y="2697480"/>
            <a:ext cx="2384984" cy="914400"/>
          </a:xfrm>
          <a:prstGeom prst="rect">
            <a:avLst/>
          </a:prstGeom>
          <a:noFill/>
          <a:ln/>
        </p:spPr>
        <p:txBody>
          <a:bodyPr wrap="square" rtlCol="0" anchor="ctr"/>
          <a:lstStyle/>
          <a:p>
            <a:pPr algn="ctr" indent="0" marL="0">
              <a:buNone/>
            </a:pPr>
            <a:r>
              <a:rPr lang="en-US" sz="5400" b="1" dirty="0">
                <a:solidFill>
                  <a:srgbClr val="0A1628"/>
                </a:solidFill>
                <a:latin typeface="Calibri" pitchFamily="34" charset="0"/>
                <a:ea typeface="Calibri" pitchFamily="34" charset="-122"/>
                <a:cs typeface="Calibri" pitchFamily="34" charset="-120"/>
              </a:rPr>
              <a:t>90</a:t>
            </a:r>
            <a:endParaRPr lang="en-US" sz="5400" dirty="0"/>
          </a:p>
        </p:txBody>
      </p:sp>
      <p:sp>
        <p:nvSpPr>
          <p:cNvPr id="10" name="Text 8"/>
          <p:cNvSpPr/>
          <p:nvPr/>
        </p:nvSpPr>
        <p:spPr>
          <a:xfrm>
            <a:off x="9166631" y="3611880"/>
            <a:ext cx="2384984" cy="320040"/>
          </a:xfrm>
          <a:prstGeom prst="rect">
            <a:avLst/>
          </a:prstGeom>
          <a:noFill/>
          <a:ln/>
        </p:spPr>
        <p:txBody>
          <a:bodyPr wrap="square" rtlCol="0" anchor="ctr"/>
          <a:lstStyle/>
          <a:p>
            <a:pPr rtl="1" algn="ctr" indent="0" marL="0">
              <a:buNone/>
            </a:pPr>
            <a:r>
              <a:rPr lang="en-US" sz="1200" b="1" dirty="0">
                <a:solidFill>
                  <a:srgbClr val="D4A574"/>
                </a:solidFill>
                <a:latin typeface="Calibri" pitchFamily="34" charset="0"/>
                <a:ea typeface="Calibri" pitchFamily="34" charset="-122"/>
                <a:cs typeface="Calibri" pitchFamily="34" charset="-120"/>
              </a:rPr>
              <a:t>يوم</a:t>
            </a:r>
            <a:endParaRPr lang="en-US" sz="1200" dirty="0"/>
          </a:p>
        </p:txBody>
      </p:sp>
      <p:sp>
        <p:nvSpPr>
          <p:cNvPr id="11" name="Shape 9"/>
          <p:cNvSpPr/>
          <p:nvPr/>
        </p:nvSpPr>
        <p:spPr>
          <a:xfrm>
            <a:off x="10084803" y="4023360"/>
            <a:ext cx="548640" cy="27432"/>
          </a:xfrm>
          <a:prstGeom prst="rect">
            <a:avLst/>
          </a:prstGeom>
          <a:solidFill>
            <a:srgbClr val="D4A574"/>
          </a:solidFill>
          <a:ln/>
        </p:spPr>
      </p:sp>
      <p:sp>
        <p:nvSpPr>
          <p:cNvPr id="12" name="Text 10"/>
          <p:cNvSpPr/>
          <p:nvPr/>
        </p:nvSpPr>
        <p:spPr>
          <a:xfrm>
            <a:off x="9212351" y="4160520"/>
            <a:ext cx="2293544" cy="457200"/>
          </a:xfrm>
          <a:prstGeom prst="rect">
            <a:avLst/>
          </a:prstGeom>
          <a:noFill/>
          <a:ln/>
        </p:spPr>
        <p:txBody>
          <a:bodyPr wrap="square" rtlCol="0" anchor="ctr"/>
          <a:lstStyle/>
          <a:p>
            <a:pPr rtl="1" algn="ctr" indent="0" marL="0">
              <a:buNone/>
            </a:pPr>
            <a:r>
              <a:rPr lang="en-US" sz="1400" b="1" dirty="0">
                <a:solidFill>
                  <a:srgbClr val="0A1628"/>
                </a:solidFill>
                <a:latin typeface="Calibri" pitchFamily="34" charset="0"/>
                <a:ea typeface="Calibri" pitchFamily="34" charset="-122"/>
                <a:cs typeface="Calibri" pitchFamily="34" charset="-120"/>
              </a:rPr>
              <a:t>Pilot مدفوع جزئياً</a:t>
            </a:r>
            <a:endParaRPr lang="en-US" sz="1400" dirty="0"/>
          </a:p>
        </p:txBody>
      </p:sp>
      <p:sp>
        <p:nvSpPr>
          <p:cNvPr id="13" name="Text 11"/>
          <p:cNvSpPr/>
          <p:nvPr/>
        </p:nvSpPr>
        <p:spPr>
          <a:xfrm>
            <a:off x="9212351" y="4709160"/>
            <a:ext cx="2293544" cy="1234440"/>
          </a:xfrm>
          <a:prstGeom prst="rect">
            <a:avLst/>
          </a:prstGeom>
          <a:noFill/>
          <a:ln/>
        </p:spPr>
        <p:txBody>
          <a:bodyPr wrap="square" rtlCol="0" anchor="t"/>
          <a:lstStyle/>
          <a:p>
            <a:pPr rtl="1" algn="r" indent="0" marL="0">
              <a:buNone/>
            </a:pPr>
            <a:r>
              <a:rPr lang="en-US" sz="1100" dirty="0">
                <a:solidFill>
                  <a:srgbClr val="55606E"/>
                </a:solidFill>
                <a:latin typeface="Calibri" pitchFamily="34" charset="0"/>
                <a:ea typeface="Calibri" pitchFamily="34" charset="-122"/>
                <a:cs typeface="Calibri" pitchFamily="34" charset="-120"/>
              </a:rPr>
              <a:t>فترة تجربة فعلية — إن لم نحقق الـ KPI المتفق عليها، استرداد كامل للمبلغ. لا أسئلة.</a:t>
            </a:r>
            <a:endParaRPr lang="en-US" sz="1100" dirty="0"/>
          </a:p>
        </p:txBody>
      </p:sp>
      <p:sp>
        <p:nvSpPr>
          <p:cNvPr id="14" name="Shape 12"/>
          <p:cNvSpPr/>
          <p:nvPr/>
        </p:nvSpPr>
        <p:spPr>
          <a:xfrm>
            <a:off x="6233008" y="2331720"/>
            <a:ext cx="2567864" cy="3657600"/>
          </a:xfrm>
          <a:prstGeom prst="rect">
            <a:avLst/>
          </a:prstGeom>
          <a:solidFill>
            <a:srgbClr val="FFFFFF"/>
          </a:solidFill>
          <a:ln w="12700">
            <a:solidFill>
              <a:srgbClr val="E8E3D6"/>
            </a:solidFill>
            <a:prstDash val="solid"/>
          </a:ln>
        </p:spPr>
      </p:sp>
      <p:sp>
        <p:nvSpPr>
          <p:cNvPr id="15" name="Text 13"/>
          <p:cNvSpPr/>
          <p:nvPr/>
        </p:nvSpPr>
        <p:spPr>
          <a:xfrm>
            <a:off x="6324448" y="2697480"/>
            <a:ext cx="2384984" cy="914400"/>
          </a:xfrm>
          <a:prstGeom prst="rect">
            <a:avLst/>
          </a:prstGeom>
          <a:noFill/>
          <a:ln/>
        </p:spPr>
        <p:txBody>
          <a:bodyPr wrap="square" rtlCol="0" anchor="ctr"/>
          <a:lstStyle/>
          <a:p>
            <a:pPr algn="ctr" indent="0" marL="0">
              <a:buNone/>
            </a:pPr>
            <a:r>
              <a:rPr lang="en-US" sz="5400" b="1" dirty="0">
                <a:solidFill>
                  <a:srgbClr val="0A1628"/>
                </a:solidFill>
                <a:latin typeface="Calibri" pitchFamily="34" charset="0"/>
                <a:ea typeface="Calibri" pitchFamily="34" charset="-122"/>
                <a:cs typeface="Calibri" pitchFamily="34" charset="-120"/>
              </a:rPr>
              <a:t>99.9%</a:t>
            </a:r>
            <a:endParaRPr lang="en-US" sz="5400" dirty="0"/>
          </a:p>
        </p:txBody>
      </p:sp>
      <p:sp>
        <p:nvSpPr>
          <p:cNvPr id="16" name="Text 14"/>
          <p:cNvSpPr/>
          <p:nvPr/>
        </p:nvSpPr>
        <p:spPr>
          <a:xfrm>
            <a:off x="6324448" y="3611880"/>
            <a:ext cx="2384984" cy="320040"/>
          </a:xfrm>
          <a:prstGeom prst="rect">
            <a:avLst/>
          </a:prstGeom>
          <a:noFill/>
          <a:ln/>
        </p:spPr>
        <p:txBody>
          <a:bodyPr wrap="square" rtlCol="0" anchor="ctr"/>
          <a:lstStyle/>
          <a:p>
            <a:pPr rtl="1" algn="ctr" indent="0" marL="0">
              <a:buNone/>
            </a:pPr>
            <a:r>
              <a:rPr lang="en-US" sz="1200" b="1" dirty="0">
                <a:solidFill>
                  <a:srgbClr val="D4A574"/>
                </a:solidFill>
                <a:latin typeface="Calibri" pitchFamily="34" charset="0"/>
                <a:ea typeface="Calibri" pitchFamily="34" charset="-122"/>
                <a:cs typeface="Calibri" pitchFamily="34" charset="-120"/>
              </a:rPr>
              <a:t>SLA</a:t>
            </a:r>
            <a:endParaRPr lang="en-US" sz="1200" dirty="0"/>
          </a:p>
        </p:txBody>
      </p:sp>
      <p:sp>
        <p:nvSpPr>
          <p:cNvPr id="17" name="Shape 15"/>
          <p:cNvSpPr/>
          <p:nvPr/>
        </p:nvSpPr>
        <p:spPr>
          <a:xfrm>
            <a:off x="7242620" y="4023360"/>
            <a:ext cx="548640" cy="27432"/>
          </a:xfrm>
          <a:prstGeom prst="rect">
            <a:avLst/>
          </a:prstGeom>
          <a:solidFill>
            <a:srgbClr val="D4A574"/>
          </a:solidFill>
          <a:ln/>
        </p:spPr>
      </p:sp>
      <p:sp>
        <p:nvSpPr>
          <p:cNvPr id="18" name="Text 16"/>
          <p:cNvSpPr/>
          <p:nvPr/>
        </p:nvSpPr>
        <p:spPr>
          <a:xfrm>
            <a:off x="6370168" y="4160520"/>
            <a:ext cx="2293544" cy="457200"/>
          </a:xfrm>
          <a:prstGeom prst="rect">
            <a:avLst/>
          </a:prstGeom>
          <a:noFill/>
          <a:ln/>
        </p:spPr>
        <p:txBody>
          <a:bodyPr wrap="square" rtlCol="0" anchor="ctr"/>
          <a:lstStyle/>
          <a:p>
            <a:pPr rtl="1" algn="ctr" indent="0" marL="0">
              <a:buNone/>
            </a:pPr>
            <a:r>
              <a:rPr lang="en-US" sz="1400" b="1" dirty="0">
                <a:solidFill>
                  <a:srgbClr val="0A1628"/>
                </a:solidFill>
                <a:latin typeface="Calibri" pitchFamily="34" charset="0"/>
                <a:ea typeface="Calibri" pitchFamily="34" charset="-122"/>
                <a:cs typeface="Calibri" pitchFamily="34" charset="-120"/>
              </a:rPr>
              <a:t>ضمان زمن التشغيل</a:t>
            </a:r>
            <a:endParaRPr lang="en-US" sz="1400" dirty="0"/>
          </a:p>
        </p:txBody>
      </p:sp>
      <p:sp>
        <p:nvSpPr>
          <p:cNvPr id="19" name="Text 17"/>
          <p:cNvSpPr/>
          <p:nvPr/>
        </p:nvSpPr>
        <p:spPr>
          <a:xfrm>
            <a:off x="6370168" y="4709160"/>
            <a:ext cx="2293544" cy="1234440"/>
          </a:xfrm>
          <a:prstGeom prst="rect">
            <a:avLst/>
          </a:prstGeom>
          <a:noFill/>
          <a:ln/>
        </p:spPr>
        <p:txBody>
          <a:bodyPr wrap="square" rtlCol="0" anchor="t"/>
          <a:lstStyle/>
          <a:p>
            <a:pPr rtl="1" algn="r" indent="0" marL="0">
              <a:buNone/>
            </a:pPr>
            <a:r>
              <a:rPr lang="en-US" sz="1100" dirty="0">
                <a:solidFill>
                  <a:srgbClr val="55606E"/>
                </a:solidFill>
                <a:latin typeface="Calibri" pitchFamily="34" charset="0"/>
                <a:ea typeface="Calibri" pitchFamily="34" charset="-122"/>
                <a:cs typeface="Calibri" pitchFamily="34" charset="-120"/>
              </a:rPr>
              <a:t>تعويض مالي عن كل ساعة تعطّل — مُدوّن في العقد. المنصة مراقبة 24/7 من فريق SRE.</a:t>
            </a:r>
            <a:endParaRPr lang="en-US" sz="1100" dirty="0"/>
          </a:p>
        </p:txBody>
      </p:sp>
      <p:sp>
        <p:nvSpPr>
          <p:cNvPr id="20" name="Shape 18"/>
          <p:cNvSpPr/>
          <p:nvPr/>
        </p:nvSpPr>
        <p:spPr>
          <a:xfrm>
            <a:off x="3390824" y="2331720"/>
            <a:ext cx="2567864" cy="3657600"/>
          </a:xfrm>
          <a:prstGeom prst="rect">
            <a:avLst/>
          </a:prstGeom>
          <a:solidFill>
            <a:srgbClr val="FFFFFF"/>
          </a:solidFill>
          <a:ln w="12700">
            <a:solidFill>
              <a:srgbClr val="E8E3D6"/>
            </a:solidFill>
            <a:prstDash val="solid"/>
          </a:ln>
        </p:spPr>
      </p:sp>
      <p:sp>
        <p:nvSpPr>
          <p:cNvPr id="21" name="Text 19"/>
          <p:cNvSpPr/>
          <p:nvPr/>
        </p:nvSpPr>
        <p:spPr>
          <a:xfrm>
            <a:off x="3482264" y="2697480"/>
            <a:ext cx="2384984" cy="914400"/>
          </a:xfrm>
          <a:prstGeom prst="rect">
            <a:avLst/>
          </a:prstGeom>
          <a:noFill/>
          <a:ln/>
        </p:spPr>
        <p:txBody>
          <a:bodyPr wrap="square" rtlCol="0" anchor="ctr"/>
          <a:lstStyle/>
          <a:p>
            <a:pPr algn="ctr" indent="0" marL="0">
              <a:buNone/>
            </a:pPr>
            <a:r>
              <a:rPr lang="en-US" sz="5400" b="1" dirty="0">
                <a:solidFill>
                  <a:srgbClr val="0A1628"/>
                </a:solidFill>
                <a:latin typeface="Calibri" pitchFamily="34" charset="0"/>
                <a:ea typeface="Calibri" pitchFamily="34" charset="-122"/>
                <a:cs typeface="Calibri" pitchFamily="34" charset="-120"/>
              </a:rPr>
              <a:t>24/7</a:t>
            </a:r>
            <a:endParaRPr lang="en-US" sz="5400" dirty="0"/>
          </a:p>
        </p:txBody>
      </p:sp>
      <p:sp>
        <p:nvSpPr>
          <p:cNvPr id="22" name="Text 20"/>
          <p:cNvSpPr/>
          <p:nvPr/>
        </p:nvSpPr>
        <p:spPr>
          <a:xfrm>
            <a:off x="3482264" y="3611880"/>
            <a:ext cx="2384984" cy="320040"/>
          </a:xfrm>
          <a:prstGeom prst="rect">
            <a:avLst/>
          </a:prstGeom>
          <a:noFill/>
          <a:ln/>
        </p:spPr>
        <p:txBody>
          <a:bodyPr wrap="square" rtlCol="0" anchor="ctr"/>
          <a:lstStyle/>
          <a:p>
            <a:pPr rtl="1" algn="ctr" indent="0" marL="0">
              <a:buNone/>
            </a:pPr>
            <a:r>
              <a:rPr lang="en-US" sz="1200" b="1" dirty="0">
                <a:solidFill>
                  <a:srgbClr val="D4A574"/>
                </a:solidFill>
                <a:latin typeface="Calibri" pitchFamily="34" charset="0"/>
                <a:ea typeface="Calibri" pitchFamily="34" charset="-122"/>
                <a:cs typeface="Calibri" pitchFamily="34" charset="-120"/>
              </a:rPr>
              <a:t>دعم عربي</a:t>
            </a:r>
            <a:endParaRPr lang="en-US" sz="1200" dirty="0"/>
          </a:p>
        </p:txBody>
      </p:sp>
      <p:sp>
        <p:nvSpPr>
          <p:cNvPr id="23" name="Shape 21"/>
          <p:cNvSpPr/>
          <p:nvPr/>
        </p:nvSpPr>
        <p:spPr>
          <a:xfrm>
            <a:off x="4400436" y="4023360"/>
            <a:ext cx="548640" cy="27432"/>
          </a:xfrm>
          <a:prstGeom prst="rect">
            <a:avLst/>
          </a:prstGeom>
          <a:solidFill>
            <a:srgbClr val="D4A574"/>
          </a:solidFill>
          <a:ln/>
        </p:spPr>
      </p:sp>
      <p:sp>
        <p:nvSpPr>
          <p:cNvPr id="24" name="Text 22"/>
          <p:cNvSpPr/>
          <p:nvPr/>
        </p:nvSpPr>
        <p:spPr>
          <a:xfrm>
            <a:off x="3527984" y="4160520"/>
            <a:ext cx="2293544" cy="457200"/>
          </a:xfrm>
          <a:prstGeom prst="rect">
            <a:avLst/>
          </a:prstGeom>
          <a:noFill/>
          <a:ln/>
        </p:spPr>
        <p:txBody>
          <a:bodyPr wrap="square" rtlCol="0" anchor="ctr"/>
          <a:lstStyle/>
          <a:p>
            <a:pPr rtl="1" algn="ctr" indent="0" marL="0">
              <a:buNone/>
            </a:pPr>
            <a:r>
              <a:rPr lang="en-US" sz="1400" b="1" dirty="0">
                <a:solidFill>
                  <a:srgbClr val="0A1628"/>
                </a:solidFill>
                <a:latin typeface="Calibri" pitchFamily="34" charset="0"/>
                <a:ea typeface="Calibri" pitchFamily="34" charset="-122"/>
                <a:cs typeface="Calibri" pitchFamily="34" charset="-120"/>
              </a:rPr>
              <a:t>فريق مخصّص</a:t>
            </a:r>
            <a:endParaRPr lang="en-US" sz="1400" dirty="0"/>
          </a:p>
        </p:txBody>
      </p:sp>
      <p:sp>
        <p:nvSpPr>
          <p:cNvPr id="25" name="Text 23"/>
          <p:cNvSpPr/>
          <p:nvPr/>
        </p:nvSpPr>
        <p:spPr>
          <a:xfrm>
            <a:off x="3527984" y="4709160"/>
            <a:ext cx="2293544" cy="1234440"/>
          </a:xfrm>
          <a:prstGeom prst="rect">
            <a:avLst/>
          </a:prstGeom>
          <a:noFill/>
          <a:ln/>
        </p:spPr>
        <p:txBody>
          <a:bodyPr wrap="square" rtlCol="0" anchor="t"/>
          <a:lstStyle/>
          <a:p>
            <a:pPr rtl="1" algn="r" indent="0" marL="0">
              <a:buNone/>
            </a:pPr>
            <a:r>
              <a:rPr lang="en-US" sz="1100" dirty="0">
                <a:solidFill>
                  <a:srgbClr val="55606E"/>
                </a:solidFill>
                <a:latin typeface="Calibri" pitchFamily="34" charset="0"/>
                <a:ea typeface="Calibri" pitchFamily="34" charset="-122"/>
                <a:cs typeface="Calibri" pitchFamily="34" charset="-120"/>
              </a:rPr>
              <a:t>مدير نجاح عملاء بالاسم · مهندس حلول · متحدث عربي. رقم مباشر — ليس تذكرة دعم.</a:t>
            </a:r>
            <a:endParaRPr lang="en-US" sz="1100" dirty="0"/>
          </a:p>
        </p:txBody>
      </p:sp>
      <p:sp>
        <p:nvSpPr>
          <p:cNvPr id="26" name="Shape 24"/>
          <p:cNvSpPr/>
          <p:nvPr/>
        </p:nvSpPr>
        <p:spPr>
          <a:xfrm>
            <a:off x="548640" y="2331720"/>
            <a:ext cx="2567864" cy="3657600"/>
          </a:xfrm>
          <a:prstGeom prst="rect">
            <a:avLst/>
          </a:prstGeom>
          <a:solidFill>
            <a:srgbClr val="FFFFFF"/>
          </a:solidFill>
          <a:ln w="12700">
            <a:solidFill>
              <a:srgbClr val="E8E3D6"/>
            </a:solidFill>
            <a:prstDash val="solid"/>
          </a:ln>
        </p:spPr>
      </p:sp>
      <p:sp>
        <p:nvSpPr>
          <p:cNvPr id="27" name="Text 25"/>
          <p:cNvSpPr/>
          <p:nvPr/>
        </p:nvSpPr>
        <p:spPr>
          <a:xfrm>
            <a:off x="640080" y="2697480"/>
            <a:ext cx="2384984" cy="914400"/>
          </a:xfrm>
          <a:prstGeom prst="rect">
            <a:avLst/>
          </a:prstGeom>
          <a:noFill/>
          <a:ln/>
        </p:spPr>
        <p:txBody>
          <a:bodyPr wrap="square" rtlCol="0" anchor="ctr"/>
          <a:lstStyle/>
          <a:p>
            <a:pPr algn="ctr" indent="0" marL="0">
              <a:buNone/>
            </a:pPr>
            <a:r>
              <a:rPr lang="en-US" sz="5400" b="1" dirty="0">
                <a:solidFill>
                  <a:srgbClr val="0A1628"/>
                </a:solidFill>
                <a:latin typeface="Calibri" pitchFamily="34" charset="0"/>
                <a:ea typeface="Calibri" pitchFamily="34" charset="-122"/>
                <a:cs typeface="Calibri" pitchFamily="34" charset="-120"/>
              </a:rPr>
              <a:t>4</a:t>
            </a:r>
            <a:endParaRPr lang="en-US" sz="5400" dirty="0"/>
          </a:p>
        </p:txBody>
      </p:sp>
      <p:sp>
        <p:nvSpPr>
          <p:cNvPr id="28" name="Text 26"/>
          <p:cNvSpPr/>
          <p:nvPr/>
        </p:nvSpPr>
        <p:spPr>
          <a:xfrm>
            <a:off x="640080" y="3611880"/>
            <a:ext cx="2384984" cy="320040"/>
          </a:xfrm>
          <a:prstGeom prst="rect">
            <a:avLst/>
          </a:prstGeom>
          <a:noFill/>
          <a:ln/>
        </p:spPr>
        <p:txBody>
          <a:bodyPr wrap="square" rtlCol="0" anchor="ctr"/>
          <a:lstStyle/>
          <a:p>
            <a:pPr rtl="1" algn="ctr" indent="0" marL="0">
              <a:buNone/>
            </a:pPr>
            <a:r>
              <a:rPr lang="en-US" sz="1200" b="1" dirty="0">
                <a:solidFill>
                  <a:srgbClr val="D4A574"/>
                </a:solidFill>
                <a:latin typeface="Calibri" pitchFamily="34" charset="0"/>
                <a:ea typeface="Calibri" pitchFamily="34" charset="-122"/>
                <a:cs typeface="Calibri" pitchFamily="34" charset="-120"/>
              </a:rPr>
              <a:t>مراجعات</a:t>
            </a:r>
            <a:endParaRPr lang="en-US" sz="1200" dirty="0"/>
          </a:p>
        </p:txBody>
      </p:sp>
      <p:sp>
        <p:nvSpPr>
          <p:cNvPr id="29" name="Shape 27"/>
          <p:cNvSpPr/>
          <p:nvPr/>
        </p:nvSpPr>
        <p:spPr>
          <a:xfrm>
            <a:off x="1558252" y="4023360"/>
            <a:ext cx="548640" cy="27432"/>
          </a:xfrm>
          <a:prstGeom prst="rect">
            <a:avLst/>
          </a:prstGeom>
          <a:solidFill>
            <a:srgbClr val="D4A574"/>
          </a:solidFill>
          <a:ln/>
        </p:spPr>
      </p:sp>
      <p:sp>
        <p:nvSpPr>
          <p:cNvPr id="30" name="Text 28"/>
          <p:cNvSpPr/>
          <p:nvPr/>
        </p:nvSpPr>
        <p:spPr>
          <a:xfrm>
            <a:off x="685800" y="4160520"/>
            <a:ext cx="2293544" cy="457200"/>
          </a:xfrm>
          <a:prstGeom prst="rect">
            <a:avLst/>
          </a:prstGeom>
          <a:noFill/>
          <a:ln/>
        </p:spPr>
        <p:txBody>
          <a:bodyPr wrap="square" rtlCol="0" anchor="ctr"/>
          <a:lstStyle/>
          <a:p>
            <a:pPr rtl="1" algn="ctr" indent="0" marL="0">
              <a:buNone/>
            </a:pPr>
            <a:r>
              <a:rPr lang="en-US" sz="1400" b="1" dirty="0">
                <a:solidFill>
                  <a:srgbClr val="0A1628"/>
                </a:solidFill>
                <a:latin typeface="Calibri" pitchFamily="34" charset="0"/>
                <a:ea typeface="Calibri" pitchFamily="34" charset="-122"/>
                <a:cs typeface="Calibri" pitchFamily="34" charset="-120"/>
              </a:rPr>
              <a:t>مراجعات تنفيذية</a:t>
            </a:r>
            <a:endParaRPr lang="en-US" sz="1400" dirty="0"/>
          </a:p>
        </p:txBody>
      </p:sp>
      <p:sp>
        <p:nvSpPr>
          <p:cNvPr id="31" name="Text 29"/>
          <p:cNvSpPr/>
          <p:nvPr/>
        </p:nvSpPr>
        <p:spPr>
          <a:xfrm>
            <a:off x="685800" y="4709160"/>
            <a:ext cx="2293544" cy="1234440"/>
          </a:xfrm>
          <a:prstGeom prst="rect">
            <a:avLst/>
          </a:prstGeom>
          <a:noFill/>
          <a:ln/>
        </p:spPr>
        <p:txBody>
          <a:bodyPr wrap="square" rtlCol="0" anchor="t"/>
          <a:lstStyle/>
          <a:p>
            <a:pPr rtl="1" algn="r" indent="0" marL="0">
              <a:buNone/>
            </a:pPr>
            <a:r>
              <a:rPr lang="en-US" sz="1100" dirty="0">
                <a:solidFill>
                  <a:srgbClr val="55606E"/>
                </a:solidFill>
                <a:latin typeface="Calibri" pitchFamily="34" charset="0"/>
                <a:ea typeface="Calibri" pitchFamily="34" charset="-122"/>
                <a:cs typeface="Calibri" pitchFamily="34" charset="-120"/>
              </a:rPr>
              <a:t>كل ربع: اجتماع مع CEO وCCO ديلكس لمراجعة الأداء والـ Roadmap. بيانات شفافة.</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8F3"/>
        </a:solidFill>
      </p:bgPr>
    </p:bg>
    <p:spTree>
      <p:nvGrpSpPr>
        <p:cNvPr id="1" name=""/>
        <p:cNvGrpSpPr/>
        <p:nvPr/>
      </p:nvGrpSpPr>
      <p:grpSpPr>
        <a:xfrm>
          <a:off x="0" y="0"/>
          <a:ext cx="0" cy="0"/>
          <a:chOff x="0" y="0"/>
          <a:chExt cx="0" cy="0"/>
        </a:xfrm>
      </p:grpSpPr>
      <p:sp>
        <p:nvSpPr>
          <p:cNvPr id="2" name="Shape 0"/>
          <p:cNvSpPr/>
          <p:nvPr/>
        </p:nvSpPr>
        <p:spPr>
          <a:xfrm>
            <a:off x="11734495" y="320040"/>
            <a:ext cx="73152" cy="411480"/>
          </a:xfrm>
          <a:prstGeom prst="rect">
            <a:avLst/>
          </a:prstGeom>
          <a:solidFill>
            <a:srgbClr val="D4A574"/>
          </a:solidFill>
          <a:ln/>
        </p:spPr>
      </p:sp>
      <p:sp>
        <p:nvSpPr>
          <p:cNvPr id="3" name="Text 1"/>
          <p:cNvSpPr/>
          <p:nvPr/>
        </p:nvSpPr>
        <p:spPr>
          <a:xfrm>
            <a:off x="8076895" y="274320"/>
            <a:ext cx="3566160" cy="365760"/>
          </a:xfrm>
          <a:prstGeom prst="rect">
            <a:avLst/>
          </a:prstGeom>
          <a:noFill/>
          <a:ln/>
        </p:spPr>
        <p:txBody>
          <a:bodyPr wrap="square" rtlCol="0" anchor="ctr"/>
          <a:lstStyle/>
          <a:p>
            <a:pPr rtl="1" algn="r" indent="0" marL="0">
              <a:buNone/>
            </a:pPr>
            <a:r>
              <a:rPr lang="en-US" sz="1200" b="1" dirty="0">
                <a:solidFill>
                  <a:srgbClr val="55606E"/>
                </a:solidFill>
                <a:latin typeface="Calibri" pitchFamily="34" charset="0"/>
                <a:ea typeface="Calibri" pitchFamily="34" charset="-122"/>
                <a:cs typeface="Calibri" pitchFamily="34" charset="-120"/>
              </a:rPr>
              <a:t>خارطة 90 يوم</a:t>
            </a:r>
            <a:endParaRPr lang="en-US" sz="1200" dirty="0"/>
          </a:p>
        </p:txBody>
      </p:sp>
      <p:sp>
        <p:nvSpPr>
          <p:cNvPr id="4" name="Text 2"/>
          <p:cNvSpPr/>
          <p:nvPr/>
        </p:nvSpPr>
        <p:spPr>
          <a:xfrm>
            <a:off x="457200" y="6446520"/>
            <a:ext cx="2286000" cy="274320"/>
          </a:xfrm>
          <a:prstGeom prst="rect">
            <a:avLst/>
          </a:prstGeom>
          <a:noFill/>
          <a:ln/>
        </p:spPr>
        <p:txBody>
          <a:bodyPr wrap="square" rtlCol="0" anchor="ctr"/>
          <a:lstStyle/>
          <a:p>
            <a:pPr algn="l" indent="0" marL="0">
              <a:buNone/>
            </a:pPr>
            <a:r>
              <a:rPr lang="en-US" sz="900" dirty="0">
                <a:solidFill>
                  <a:srgbClr val="8B95A3"/>
                </a:solidFill>
                <a:latin typeface="Calibri" pitchFamily="34" charset="0"/>
                <a:ea typeface="Calibri" pitchFamily="34" charset="-122"/>
                <a:cs typeface="Calibri" pitchFamily="34" charset="-120"/>
              </a:rPr>
              <a:t>Dealix · ديلكس</a:t>
            </a:r>
            <a:endParaRPr lang="en-US" sz="900" dirty="0"/>
          </a:p>
        </p:txBody>
      </p:sp>
      <p:sp>
        <p:nvSpPr>
          <p:cNvPr id="5" name="Text 3"/>
          <p:cNvSpPr/>
          <p:nvPr/>
        </p:nvSpPr>
        <p:spPr>
          <a:xfrm>
            <a:off x="11094415" y="6446520"/>
            <a:ext cx="640080" cy="274320"/>
          </a:xfrm>
          <a:prstGeom prst="rect">
            <a:avLst/>
          </a:prstGeom>
          <a:noFill/>
          <a:ln/>
        </p:spPr>
        <p:txBody>
          <a:bodyPr wrap="square" rtlCol="0" anchor="ctr"/>
          <a:lstStyle/>
          <a:p>
            <a:pPr algn="r" indent="0" marL="0">
              <a:buNone/>
            </a:pPr>
            <a:r>
              <a:rPr lang="en-US" sz="900" b="1" dirty="0">
                <a:solidFill>
                  <a:srgbClr val="8B95A3"/>
                </a:solidFill>
                <a:latin typeface="Calibri" pitchFamily="34" charset="0"/>
                <a:ea typeface="Calibri" pitchFamily="34" charset="-122"/>
                <a:cs typeface="Calibri" pitchFamily="34" charset="-120"/>
              </a:rPr>
              <a:t>32</a:t>
            </a:r>
            <a:endParaRPr lang="en-US" sz="900" dirty="0"/>
          </a:p>
        </p:txBody>
      </p:sp>
      <p:sp>
        <p:nvSpPr>
          <p:cNvPr id="6" name="Text 4"/>
          <p:cNvSpPr/>
          <p:nvPr/>
        </p:nvSpPr>
        <p:spPr>
          <a:xfrm>
            <a:off x="548640" y="914400"/>
            <a:ext cx="11094415" cy="822960"/>
          </a:xfrm>
          <a:prstGeom prst="rect">
            <a:avLst/>
          </a:prstGeom>
          <a:noFill/>
          <a:ln/>
        </p:spPr>
        <p:txBody>
          <a:bodyPr wrap="square" rtlCol="0" anchor="ctr"/>
          <a:lstStyle/>
          <a:p>
            <a:pPr rtl="1" algn="r" indent="0" marL="0">
              <a:buNone/>
            </a:pPr>
            <a:r>
              <a:rPr lang="en-US" sz="3400" b="1" dirty="0">
                <a:solidFill>
                  <a:srgbClr val="0A1628"/>
                </a:solidFill>
                <a:latin typeface="Calibri" pitchFamily="34" charset="0"/>
                <a:ea typeface="Calibri" pitchFamily="34" charset="-122"/>
                <a:cs typeface="Calibri" pitchFamily="34" charset="-120"/>
              </a:rPr>
              <a:t>خارطة الطريق — 90 يوم للتشغيل الكامل</a:t>
            </a:r>
            <a:endParaRPr lang="en-US" sz="3400" dirty="0"/>
          </a:p>
        </p:txBody>
      </p:sp>
      <p:sp>
        <p:nvSpPr>
          <p:cNvPr id="7" name="Text 5"/>
          <p:cNvSpPr/>
          <p:nvPr/>
        </p:nvSpPr>
        <p:spPr>
          <a:xfrm>
            <a:off x="548640" y="1691640"/>
            <a:ext cx="11094415" cy="411480"/>
          </a:xfrm>
          <a:prstGeom prst="rect">
            <a:avLst/>
          </a:prstGeom>
          <a:noFill/>
          <a:ln/>
        </p:spPr>
        <p:txBody>
          <a:bodyPr wrap="square" rtlCol="0" anchor="ctr"/>
          <a:lstStyle/>
          <a:p>
            <a:pPr rtl="1" algn="r" indent="0" marL="0">
              <a:buNone/>
            </a:pPr>
            <a:r>
              <a:rPr lang="en-US" sz="1500" dirty="0">
                <a:solidFill>
                  <a:srgbClr val="55606E"/>
                </a:solidFill>
                <a:latin typeface="Calibri" pitchFamily="34" charset="0"/>
                <a:ea typeface="Calibri" pitchFamily="34" charset="-122"/>
                <a:cs typeface="Calibri" pitchFamily="34" charset="-120"/>
              </a:rPr>
              <a:t>أسابيع محدّدة · مخرجات ملموسة · مسؤوليات واضحة</a:t>
            </a:r>
            <a:endParaRPr lang="en-US" sz="1500" dirty="0"/>
          </a:p>
        </p:txBody>
      </p:sp>
      <p:sp>
        <p:nvSpPr>
          <p:cNvPr id="8" name="Shape 6"/>
          <p:cNvSpPr/>
          <p:nvPr/>
        </p:nvSpPr>
        <p:spPr>
          <a:xfrm>
            <a:off x="548640" y="3246120"/>
            <a:ext cx="11094415" cy="0"/>
          </a:xfrm>
          <a:prstGeom prst="line">
            <a:avLst/>
          </a:prstGeom>
          <a:noFill/>
          <a:ln w="38100">
            <a:solidFill>
              <a:srgbClr val="D4A574"/>
            </a:solidFill>
            <a:prstDash val="solid"/>
          </a:ln>
        </p:spPr>
      </p:sp>
      <p:sp>
        <p:nvSpPr>
          <p:cNvPr id="9" name="Shape 7"/>
          <p:cNvSpPr/>
          <p:nvPr/>
        </p:nvSpPr>
        <p:spPr>
          <a:xfrm>
            <a:off x="10119093" y="3108960"/>
            <a:ext cx="274320" cy="274320"/>
          </a:xfrm>
          <a:prstGeom prst="ellipse">
            <a:avLst/>
          </a:prstGeom>
          <a:solidFill>
            <a:srgbClr val="0A1628"/>
          </a:solidFill>
          <a:ln w="25400">
            <a:solidFill>
              <a:srgbClr val="D4A574"/>
            </a:solidFill>
            <a:prstDash val="solid"/>
          </a:ln>
        </p:spPr>
      </p:sp>
      <p:sp>
        <p:nvSpPr>
          <p:cNvPr id="10" name="Text 8"/>
          <p:cNvSpPr/>
          <p:nvPr/>
        </p:nvSpPr>
        <p:spPr>
          <a:xfrm>
            <a:off x="8960891" y="2423160"/>
            <a:ext cx="2590724" cy="320040"/>
          </a:xfrm>
          <a:prstGeom prst="rect">
            <a:avLst/>
          </a:prstGeom>
          <a:noFill/>
          <a:ln/>
        </p:spPr>
        <p:txBody>
          <a:bodyPr wrap="square" rtlCol="0" anchor="ctr"/>
          <a:lstStyle/>
          <a:p>
            <a:pPr rtl="1" algn="ctr" indent="0" marL="0">
              <a:buNone/>
            </a:pPr>
            <a:r>
              <a:rPr lang="en-US" sz="1100" b="1" dirty="0">
                <a:solidFill>
                  <a:srgbClr val="D4A574"/>
                </a:solidFill>
                <a:latin typeface="Calibri" pitchFamily="34" charset="0"/>
                <a:ea typeface="Calibri" pitchFamily="34" charset="-122"/>
                <a:cs typeface="Calibri" pitchFamily="34" charset="-120"/>
              </a:rPr>
              <a:t>أسبوع 1-2</a:t>
            </a:r>
            <a:endParaRPr lang="en-US" sz="1100" dirty="0"/>
          </a:p>
        </p:txBody>
      </p:sp>
      <p:sp>
        <p:nvSpPr>
          <p:cNvPr id="11" name="Shape 9"/>
          <p:cNvSpPr/>
          <p:nvPr/>
        </p:nvSpPr>
        <p:spPr>
          <a:xfrm>
            <a:off x="9006611" y="3749040"/>
            <a:ext cx="2499284" cy="2194560"/>
          </a:xfrm>
          <a:prstGeom prst="rect">
            <a:avLst/>
          </a:prstGeom>
          <a:solidFill>
            <a:srgbClr val="FFFFFF"/>
          </a:solidFill>
          <a:ln w="12700">
            <a:solidFill>
              <a:srgbClr val="E8E3D6"/>
            </a:solidFill>
            <a:prstDash val="solid"/>
          </a:ln>
        </p:spPr>
      </p:sp>
      <p:sp>
        <p:nvSpPr>
          <p:cNvPr id="12" name="Text 10"/>
          <p:cNvSpPr/>
          <p:nvPr/>
        </p:nvSpPr>
        <p:spPr>
          <a:xfrm>
            <a:off x="9006611" y="3886200"/>
            <a:ext cx="2499284" cy="457200"/>
          </a:xfrm>
          <a:prstGeom prst="rect">
            <a:avLst/>
          </a:prstGeom>
          <a:noFill/>
          <a:ln/>
        </p:spPr>
        <p:txBody>
          <a:bodyPr wrap="square" rtlCol="0" anchor="ctr"/>
          <a:lstStyle/>
          <a:p>
            <a:pPr algn="ctr" indent="0" marL="0">
              <a:buNone/>
            </a:pPr>
            <a:r>
              <a:rPr lang="en-US" sz="1800" b="1" dirty="0">
                <a:solidFill>
                  <a:srgbClr val="0A1628"/>
                </a:solidFill>
                <a:latin typeface="Calibri" pitchFamily="34" charset="0"/>
                <a:ea typeface="Calibri" pitchFamily="34" charset="-122"/>
                <a:cs typeface="Calibri" pitchFamily="34" charset="-120"/>
              </a:rPr>
              <a:t>Discovery</a:t>
            </a:r>
            <a:endParaRPr lang="en-US" sz="1800" dirty="0"/>
          </a:p>
        </p:txBody>
      </p:sp>
      <p:sp>
        <p:nvSpPr>
          <p:cNvPr id="13" name="Shape 11"/>
          <p:cNvSpPr/>
          <p:nvPr/>
        </p:nvSpPr>
        <p:spPr>
          <a:xfrm>
            <a:off x="9981933" y="4343400"/>
            <a:ext cx="548640" cy="18288"/>
          </a:xfrm>
          <a:prstGeom prst="rect">
            <a:avLst/>
          </a:prstGeom>
          <a:solidFill>
            <a:srgbClr val="D4A574"/>
          </a:solidFill>
          <a:ln/>
        </p:spPr>
      </p:sp>
      <p:sp>
        <p:nvSpPr>
          <p:cNvPr id="14" name="Text 12"/>
          <p:cNvSpPr/>
          <p:nvPr/>
        </p:nvSpPr>
        <p:spPr>
          <a:xfrm>
            <a:off x="9098051" y="4480560"/>
            <a:ext cx="2316404" cy="1371600"/>
          </a:xfrm>
          <a:prstGeom prst="rect">
            <a:avLst/>
          </a:prstGeom>
          <a:noFill/>
          <a:ln/>
        </p:spPr>
        <p:txBody>
          <a:bodyPr wrap="square" rtlCol="0" anchor="t"/>
          <a:lstStyle/>
          <a:p>
            <a:pPr rtl="1" algn="r" indent="0" marL="0">
              <a:buNone/>
            </a:pPr>
            <a:r>
              <a:rPr lang="en-US" sz="1100" dirty="0">
                <a:solidFill>
                  <a:srgbClr val="1A1A1A"/>
                </a:solidFill>
                <a:latin typeface="Calibri" pitchFamily="34" charset="0"/>
                <a:ea typeface="Calibri" pitchFamily="34" charset="-122"/>
                <a:cs typeface="Calibri" pitchFamily="34" charset="-120"/>
              </a:rPr>
              <a:t>ورش مع CCO · VP Sales · CIO · خرائط عملياتكم الحالية · متطلبات التكامل</a:t>
            </a:r>
            <a:endParaRPr lang="en-US" sz="1100" dirty="0"/>
          </a:p>
        </p:txBody>
      </p:sp>
      <p:sp>
        <p:nvSpPr>
          <p:cNvPr id="15" name="Shape 13"/>
          <p:cNvSpPr/>
          <p:nvPr/>
        </p:nvSpPr>
        <p:spPr>
          <a:xfrm>
            <a:off x="7345490" y="3108960"/>
            <a:ext cx="274320" cy="274320"/>
          </a:xfrm>
          <a:prstGeom prst="ellipse">
            <a:avLst/>
          </a:prstGeom>
          <a:solidFill>
            <a:srgbClr val="0A1628"/>
          </a:solidFill>
          <a:ln w="25400">
            <a:solidFill>
              <a:srgbClr val="D4A574"/>
            </a:solidFill>
            <a:prstDash val="solid"/>
          </a:ln>
        </p:spPr>
      </p:sp>
      <p:sp>
        <p:nvSpPr>
          <p:cNvPr id="16" name="Text 14"/>
          <p:cNvSpPr/>
          <p:nvPr/>
        </p:nvSpPr>
        <p:spPr>
          <a:xfrm>
            <a:off x="6187288" y="2423160"/>
            <a:ext cx="2590724" cy="320040"/>
          </a:xfrm>
          <a:prstGeom prst="rect">
            <a:avLst/>
          </a:prstGeom>
          <a:noFill/>
          <a:ln/>
        </p:spPr>
        <p:txBody>
          <a:bodyPr wrap="square" rtlCol="0" anchor="ctr"/>
          <a:lstStyle/>
          <a:p>
            <a:pPr rtl="1" algn="ctr" indent="0" marL="0">
              <a:buNone/>
            </a:pPr>
            <a:r>
              <a:rPr lang="en-US" sz="1100" b="1" dirty="0">
                <a:solidFill>
                  <a:srgbClr val="D4A574"/>
                </a:solidFill>
                <a:latin typeface="Calibri" pitchFamily="34" charset="0"/>
                <a:ea typeface="Calibri" pitchFamily="34" charset="-122"/>
                <a:cs typeface="Calibri" pitchFamily="34" charset="-120"/>
              </a:rPr>
              <a:t>أسبوع 3-6</a:t>
            </a:r>
            <a:endParaRPr lang="en-US" sz="1100" dirty="0"/>
          </a:p>
        </p:txBody>
      </p:sp>
      <p:sp>
        <p:nvSpPr>
          <p:cNvPr id="17" name="Shape 15"/>
          <p:cNvSpPr/>
          <p:nvPr/>
        </p:nvSpPr>
        <p:spPr>
          <a:xfrm>
            <a:off x="6233008" y="3749040"/>
            <a:ext cx="2499284" cy="2194560"/>
          </a:xfrm>
          <a:prstGeom prst="rect">
            <a:avLst/>
          </a:prstGeom>
          <a:solidFill>
            <a:srgbClr val="FFFFFF"/>
          </a:solidFill>
          <a:ln w="12700">
            <a:solidFill>
              <a:srgbClr val="E8E3D6"/>
            </a:solidFill>
            <a:prstDash val="solid"/>
          </a:ln>
        </p:spPr>
      </p:sp>
      <p:sp>
        <p:nvSpPr>
          <p:cNvPr id="18" name="Text 16"/>
          <p:cNvSpPr/>
          <p:nvPr/>
        </p:nvSpPr>
        <p:spPr>
          <a:xfrm>
            <a:off x="6233008" y="3886200"/>
            <a:ext cx="2499284" cy="457200"/>
          </a:xfrm>
          <a:prstGeom prst="rect">
            <a:avLst/>
          </a:prstGeom>
          <a:noFill/>
          <a:ln/>
        </p:spPr>
        <p:txBody>
          <a:bodyPr wrap="square" rtlCol="0" anchor="ctr"/>
          <a:lstStyle/>
          <a:p>
            <a:pPr algn="ctr" indent="0" marL="0">
              <a:buNone/>
            </a:pPr>
            <a:r>
              <a:rPr lang="en-US" sz="1800" b="1" dirty="0">
                <a:solidFill>
                  <a:srgbClr val="0A1628"/>
                </a:solidFill>
                <a:latin typeface="Calibri" pitchFamily="34" charset="0"/>
                <a:ea typeface="Calibri" pitchFamily="34" charset="-122"/>
                <a:cs typeface="Calibri" pitchFamily="34" charset="-120"/>
              </a:rPr>
              <a:t>Integration</a:t>
            </a:r>
            <a:endParaRPr lang="en-US" sz="1800" dirty="0"/>
          </a:p>
        </p:txBody>
      </p:sp>
      <p:sp>
        <p:nvSpPr>
          <p:cNvPr id="19" name="Shape 17"/>
          <p:cNvSpPr/>
          <p:nvPr/>
        </p:nvSpPr>
        <p:spPr>
          <a:xfrm>
            <a:off x="7208330" y="4343400"/>
            <a:ext cx="548640" cy="18288"/>
          </a:xfrm>
          <a:prstGeom prst="rect">
            <a:avLst/>
          </a:prstGeom>
          <a:solidFill>
            <a:srgbClr val="D4A574"/>
          </a:solidFill>
          <a:ln/>
        </p:spPr>
      </p:sp>
      <p:sp>
        <p:nvSpPr>
          <p:cNvPr id="20" name="Text 18"/>
          <p:cNvSpPr/>
          <p:nvPr/>
        </p:nvSpPr>
        <p:spPr>
          <a:xfrm>
            <a:off x="6324448" y="4480560"/>
            <a:ext cx="2316404" cy="1371600"/>
          </a:xfrm>
          <a:prstGeom prst="rect">
            <a:avLst/>
          </a:prstGeom>
          <a:noFill/>
          <a:ln/>
        </p:spPr>
        <p:txBody>
          <a:bodyPr wrap="square" rtlCol="0" anchor="t"/>
          <a:lstStyle/>
          <a:p>
            <a:pPr rtl="1" algn="r" indent="0" marL="0">
              <a:buNone/>
            </a:pPr>
            <a:r>
              <a:rPr lang="en-US" sz="1100" dirty="0">
                <a:solidFill>
                  <a:srgbClr val="1A1A1A"/>
                </a:solidFill>
                <a:latin typeface="Calibri" pitchFamily="34" charset="0"/>
                <a:ea typeface="Calibri" pitchFamily="34" charset="-122"/>
                <a:cs typeface="Calibri" pitchFamily="34" charset="-120"/>
              </a:rPr>
              <a:t>ربط Oracle/SAP TM · WMS · ERP · قنوات WhatsApp و Email · بوابات التندرات</a:t>
            </a:r>
            <a:endParaRPr lang="en-US" sz="1100" dirty="0"/>
          </a:p>
        </p:txBody>
      </p:sp>
      <p:sp>
        <p:nvSpPr>
          <p:cNvPr id="21" name="Shape 19"/>
          <p:cNvSpPr/>
          <p:nvPr/>
        </p:nvSpPr>
        <p:spPr>
          <a:xfrm>
            <a:off x="4571886" y="3108960"/>
            <a:ext cx="274320" cy="274320"/>
          </a:xfrm>
          <a:prstGeom prst="ellipse">
            <a:avLst/>
          </a:prstGeom>
          <a:solidFill>
            <a:srgbClr val="0A1628"/>
          </a:solidFill>
          <a:ln w="25400">
            <a:solidFill>
              <a:srgbClr val="D4A574"/>
            </a:solidFill>
            <a:prstDash val="solid"/>
          </a:ln>
        </p:spPr>
      </p:sp>
      <p:sp>
        <p:nvSpPr>
          <p:cNvPr id="22" name="Text 20"/>
          <p:cNvSpPr/>
          <p:nvPr/>
        </p:nvSpPr>
        <p:spPr>
          <a:xfrm>
            <a:off x="3413684" y="2423160"/>
            <a:ext cx="2590724" cy="320040"/>
          </a:xfrm>
          <a:prstGeom prst="rect">
            <a:avLst/>
          </a:prstGeom>
          <a:noFill/>
          <a:ln/>
        </p:spPr>
        <p:txBody>
          <a:bodyPr wrap="square" rtlCol="0" anchor="ctr"/>
          <a:lstStyle/>
          <a:p>
            <a:pPr rtl="1" algn="ctr" indent="0" marL="0">
              <a:buNone/>
            </a:pPr>
            <a:r>
              <a:rPr lang="en-US" sz="1100" b="1" dirty="0">
                <a:solidFill>
                  <a:srgbClr val="D4A574"/>
                </a:solidFill>
                <a:latin typeface="Calibri" pitchFamily="34" charset="0"/>
                <a:ea typeface="Calibri" pitchFamily="34" charset="-122"/>
                <a:cs typeface="Calibri" pitchFamily="34" charset="-120"/>
              </a:rPr>
              <a:t>أسبوع 7-9</a:t>
            </a:r>
            <a:endParaRPr lang="en-US" sz="1100" dirty="0"/>
          </a:p>
        </p:txBody>
      </p:sp>
      <p:sp>
        <p:nvSpPr>
          <p:cNvPr id="23" name="Shape 21"/>
          <p:cNvSpPr/>
          <p:nvPr/>
        </p:nvSpPr>
        <p:spPr>
          <a:xfrm>
            <a:off x="3459404" y="3749040"/>
            <a:ext cx="2499284" cy="2194560"/>
          </a:xfrm>
          <a:prstGeom prst="rect">
            <a:avLst/>
          </a:prstGeom>
          <a:solidFill>
            <a:srgbClr val="FFFFFF"/>
          </a:solidFill>
          <a:ln w="12700">
            <a:solidFill>
              <a:srgbClr val="E8E3D6"/>
            </a:solidFill>
            <a:prstDash val="solid"/>
          </a:ln>
        </p:spPr>
      </p:sp>
      <p:sp>
        <p:nvSpPr>
          <p:cNvPr id="24" name="Text 22"/>
          <p:cNvSpPr/>
          <p:nvPr/>
        </p:nvSpPr>
        <p:spPr>
          <a:xfrm>
            <a:off x="3459404" y="3886200"/>
            <a:ext cx="2499284" cy="457200"/>
          </a:xfrm>
          <a:prstGeom prst="rect">
            <a:avLst/>
          </a:prstGeom>
          <a:noFill/>
          <a:ln/>
        </p:spPr>
        <p:txBody>
          <a:bodyPr wrap="square" rtlCol="0" anchor="ctr"/>
          <a:lstStyle/>
          <a:p>
            <a:pPr algn="ctr" indent="0" marL="0">
              <a:buNone/>
            </a:pPr>
            <a:r>
              <a:rPr lang="en-US" sz="1800" b="1" dirty="0">
                <a:solidFill>
                  <a:srgbClr val="0A1628"/>
                </a:solidFill>
                <a:latin typeface="Calibri" pitchFamily="34" charset="0"/>
                <a:ea typeface="Calibri" pitchFamily="34" charset="-122"/>
                <a:cs typeface="Calibri" pitchFamily="34" charset="-120"/>
              </a:rPr>
              <a:t>Training</a:t>
            </a:r>
            <a:endParaRPr lang="en-US" sz="1800" dirty="0"/>
          </a:p>
        </p:txBody>
      </p:sp>
      <p:sp>
        <p:nvSpPr>
          <p:cNvPr id="25" name="Shape 23"/>
          <p:cNvSpPr/>
          <p:nvPr/>
        </p:nvSpPr>
        <p:spPr>
          <a:xfrm>
            <a:off x="4434726" y="4343400"/>
            <a:ext cx="548640" cy="18288"/>
          </a:xfrm>
          <a:prstGeom prst="rect">
            <a:avLst/>
          </a:prstGeom>
          <a:solidFill>
            <a:srgbClr val="D4A574"/>
          </a:solidFill>
          <a:ln/>
        </p:spPr>
      </p:sp>
      <p:sp>
        <p:nvSpPr>
          <p:cNvPr id="26" name="Text 24"/>
          <p:cNvSpPr/>
          <p:nvPr/>
        </p:nvSpPr>
        <p:spPr>
          <a:xfrm>
            <a:off x="3550844" y="4480560"/>
            <a:ext cx="2316404" cy="1371600"/>
          </a:xfrm>
          <a:prstGeom prst="rect">
            <a:avLst/>
          </a:prstGeom>
          <a:noFill/>
          <a:ln/>
        </p:spPr>
        <p:txBody>
          <a:bodyPr wrap="square" rtlCol="0" anchor="t"/>
          <a:lstStyle/>
          <a:p>
            <a:pPr rtl="1" algn="r" indent="0" marL="0">
              <a:buNone/>
            </a:pPr>
            <a:r>
              <a:rPr lang="en-US" sz="1100" dirty="0">
                <a:solidFill>
                  <a:srgbClr val="1A1A1A"/>
                </a:solidFill>
                <a:latin typeface="Calibri" pitchFamily="34" charset="0"/>
                <a:ea typeface="Calibri" pitchFamily="34" charset="-122"/>
                <a:cs typeface="Calibri" pitchFamily="34" charset="-120"/>
              </a:rPr>
              <a:t>تدريب فريق المبيعات · فريق التندرات · المدراء · وثائق ومكتبة فيديو بالعربية</a:t>
            </a:r>
            <a:endParaRPr lang="en-US" sz="1100" dirty="0"/>
          </a:p>
        </p:txBody>
      </p:sp>
      <p:sp>
        <p:nvSpPr>
          <p:cNvPr id="27" name="Shape 25"/>
          <p:cNvSpPr/>
          <p:nvPr/>
        </p:nvSpPr>
        <p:spPr>
          <a:xfrm>
            <a:off x="1798282" y="3108960"/>
            <a:ext cx="274320" cy="274320"/>
          </a:xfrm>
          <a:prstGeom prst="ellipse">
            <a:avLst/>
          </a:prstGeom>
          <a:solidFill>
            <a:srgbClr val="0A1628"/>
          </a:solidFill>
          <a:ln w="25400">
            <a:solidFill>
              <a:srgbClr val="D4A574"/>
            </a:solidFill>
            <a:prstDash val="solid"/>
          </a:ln>
        </p:spPr>
      </p:sp>
      <p:sp>
        <p:nvSpPr>
          <p:cNvPr id="28" name="Text 26"/>
          <p:cNvSpPr/>
          <p:nvPr/>
        </p:nvSpPr>
        <p:spPr>
          <a:xfrm>
            <a:off x="640080" y="2423160"/>
            <a:ext cx="2590724" cy="320040"/>
          </a:xfrm>
          <a:prstGeom prst="rect">
            <a:avLst/>
          </a:prstGeom>
          <a:noFill/>
          <a:ln/>
        </p:spPr>
        <p:txBody>
          <a:bodyPr wrap="square" rtlCol="0" anchor="ctr"/>
          <a:lstStyle/>
          <a:p>
            <a:pPr rtl="1" algn="ctr" indent="0" marL="0">
              <a:buNone/>
            </a:pPr>
            <a:r>
              <a:rPr lang="en-US" sz="1100" b="1" dirty="0">
                <a:solidFill>
                  <a:srgbClr val="D4A574"/>
                </a:solidFill>
                <a:latin typeface="Calibri" pitchFamily="34" charset="0"/>
                <a:ea typeface="Calibri" pitchFamily="34" charset="-122"/>
                <a:cs typeface="Calibri" pitchFamily="34" charset="-120"/>
              </a:rPr>
              <a:t>أسبوع 10-12</a:t>
            </a:r>
            <a:endParaRPr lang="en-US" sz="1100" dirty="0"/>
          </a:p>
        </p:txBody>
      </p:sp>
      <p:sp>
        <p:nvSpPr>
          <p:cNvPr id="29" name="Shape 27"/>
          <p:cNvSpPr/>
          <p:nvPr/>
        </p:nvSpPr>
        <p:spPr>
          <a:xfrm>
            <a:off x="685800" y="3749040"/>
            <a:ext cx="2499284" cy="2194560"/>
          </a:xfrm>
          <a:prstGeom prst="rect">
            <a:avLst/>
          </a:prstGeom>
          <a:solidFill>
            <a:srgbClr val="FFFFFF"/>
          </a:solidFill>
          <a:ln w="12700">
            <a:solidFill>
              <a:srgbClr val="E8E3D6"/>
            </a:solidFill>
            <a:prstDash val="solid"/>
          </a:ln>
        </p:spPr>
      </p:sp>
      <p:sp>
        <p:nvSpPr>
          <p:cNvPr id="30" name="Text 28"/>
          <p:cNvSpPr/>
          <p:nvPr/>
        </p:nvSpPr>
        <p:spPr>
          <a:xfrm>
            <a:off x="685800" y="3886200"/>
            <a:ext cx="2499284" cy="457200"/>
          </a:xfrm>
          <a:prstGeom prst="rect">
            <a:avLst/>
          </a:prstGeom>
          <a:noFill/>
          <a:ln/>
        </p:spPr>
        <p:txBody>
          <a:bodyPr wrap="square" rtlCol="0" anchor="ctr"/>
          <a:lstStyle/>
          <a:p>
            <a:pPr algn="ctr" indent="0" marL="0">
              <a:buNone/>
            </a:pPr>
            <a:r>
              <a:rPr lang="en-US" sz="1800" b="1" dirty="0">
                <a:solidFill>
                  <a:srgbClr val="0A1628"/>
                </a:solidFill>
                <a:latin typeface="Calibri" pitchFamily="34" charset="0"/>
                <a:ea typeface="Calibri" pitchFamily="34" charset="-122"/>
                <a:cs typeface="Calibri" pitchFamily="34" charset="-120"/>
              </a:rPr>
              <a:t>Launch</a:t>
            </a:r>
            <a:endParaRPr lang="en-US" sz="1800" dirty="0"/>
          </a:p>
        </p:txBody>
      </p:sp>
      <p:sp>
        <p:nvSpPr>
          <p:cNvPr id="31" name="Shape 29"/>
          <p:cNvSpPr/>
          <p:nvPr/>
        </p:nvSpPr>
        <p:spPr>
          <a:xfrm>
            <a:off x="1661122" y="4343400"/>
            <a:ext cx="548640" cy="18288"/>
          </a:xfrm>
          <a:prstGeom prst="rect">
            <a:avLst/>
          </a:prstGeom>
          <a:solidFill>
            <a:srgbClr val="D4A574"/>
          </a:solidFill>
          <a:ln/>
        </p:spPr>
      </p:sp>
      <p:sp>
        <p:nvSpPr>
          <p:cNvPr id="32" name="Text 30"/>
          <p:cNvSpPr/>
          <p:nvPr/>
        </p:nvSpPr>
        <p:spPr>
          <a:xfrm>
            <a:off x="777240" y="4480560"/>
            <a:ext cx="2316404" cy="1371600"/>
          </a:xfrm>
          <a:prstGeom prst="rect">
            <a:avLst/>
          </a:prstGeom>
          <a:noFill/>
          <a:ln/>
        </p:spPr>
        <p:txBody>
          <a:bodyPr wrap="square" rtlCol="0" anchor="t"/>
          <a:lstStyle/>
          <a:p>
            <a:pPr rtl="1" algn="r" indent="0" marL="0">
              <a:buNone/>
            </a:pPr>
            <a:r>
              <a:rPr lang="en-US" sz="1100" dirty="0">
                <a:solidFill>
                  <a:srgbClr val="1A1A1A"/>
                </a:solidFill>
                <a:latin typeface="Calibri" pitchFamily="34" charset="0"/>
                <a:ea typeface="Calibri" pitchFamily="34" charset="-122"/>
                <a:cs typeface="Calibri" pitchFamily="34" charset="-120"/>
              </a:rPr>
              <a:t>تشغيل مرحلي فرع-فرع · رصد يومي · معايرة AI · تسليم رسمي للعمليات</a:t>
            </a:r>
            <a:endParaRPr lang="en-US" sz="1100" dirty="0"/>
          </a:p>
        </p:txBody>
      </p:sp>
      <p:sp>
        <p:nvSpPr>
          <p:cNvPr id="33" name="Text 31"/>
          <p:cNvSpPr/>
          <p:nvPr/>
        </p:nvSpPr>
        <p:spPr>
          <a:xfrm>
            <a:off x="548640" y="2194560"/>
            <a:ext cx="11094415" cy="320040"/>
          </a:xfrm>
          <a:prstGeom prst="rect">
            <a:avLst/>
          </a:prstGeom>
          <a:noFill/>
          <a:ln/>
        </p:spPr>
        <p:txBody>
          <a:bodyPr wrap="square" rtlCol="0" anchor="ctr"/>
          <a:lstStyle/>
          <a:p>
            <a:pPr rtl="1" algn="r" indent="0" marL="0">
              <a:buNone/>
            </a:pPr>
            <a:r>
              <a:rPr lang="en-US" sz="1300" i="1" dirty="0">
                <a:solidFill>
                  <a:srgbClr val="55606E"/>
                </a:solidFill>
                <a:latin typeface="Georgia" pitchFamily="34" charset="0"/>
                <a:ea typeface="Georgia" pitchFamily="34" charset="-122"/>
                <a:cs typeface="Georgia" pitchFamily="34" charset="-120"/>
              </a:rPr>
              <a:t>ثلاث مراحل — مخرج قابل للقياس في كل أسبوع</a:t>
            </a:r>
            <a:endParaRPr lang="en-US" sz="1300" dirty="0"/>
          </a:p>
        </p:txBody>
      </p:sp>
      <p:sp>
        <p:nvSpPr>
          <p:cNvPr id="34" name="Shape 32"/>
          <p:cNvSpPr/>
          <p:nvPr/>
        </p:nvSpPr>
        <p:spPr>
          <a:xfrm>
            <a:off x="548640" y="5943600"/>
            <a:ext cx="11094415" cy="365760"/>
          </a:xfrm>
          <a:prstGeom prst="rect">
            <a:avLst/>
          </a:prstGeom>
          <a:solidFill>
            <a:srgbClr val="0A1628"/>
          </a:solidFill>
          <a:ln/>
        </p:spPr>
      </p:sp>
      <p:sp>
        <p:nvSpPr>
          <p:cNvPr id="35" name="Text 33"/>
          <p:cNvSpPr/>
          <p:nvPr/>
        </p:nvSpPr>
        <p:spPr>
          <a:xfrm>
            <a:off x="548640" y="5943600"/>
            <a:ext cx="11094415" cy="365760"/>
          </a:xfrm>
          <a:prstGeom prst="rect">
            <a:avLst/>
          </a:prstGeom>
          <a:noFill/>
          <a:ln/>
        </p:spPr>
        <p:txBody>
          <a:bodyPr wrap="square" rtlCol="0" anchor="ctr"/>
          <a:lstStyle/>
          <a:p>
            <a:pPr rtl="1" algn="r" indent="0" marL="0">
              <a:buNone/>
            </a:pPr>
            <a:r>
              <a:rPr lang="en-US" sz="1200" b="1" dirty="0">
                <a:solidFill>
                  <a:srgbClr val="D4A574"/>
                </a:solidFill>
                <a:latin typeface="Calibri" pitchFamily="34" charset="0"/>
                <a:ea typeface="Calibri" pitchFamily="34" charset="-122"/>
                <a:cs typeface="Calibri" pitchFamily="34" charset="-120"/>
              </a:rPr>
              <a:t>يوم 90: منصّة تعمل بكامل طاقتها · 80+ مندوب مدرّب · تكامل مع 7 أنظمة · أول تقرير تنفيذي جاهز</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8F3"/>
        </a:solidFill>
      </p:bgPr>
    </p:bg>
    <p:spTree>
      <p:nvGrpSpPr>
        <p:cNvPr id="1" name=""/>
        <p:cNvGrpSpPr/>
        <p:nvPr/>
      </p:nvGrpSpPr>
      <p:grpSpPr>
        <a:xfrm>
          <a:off x="0" y="0"/>
          <a:ext cx="0" cy="0"/>
          <a:chOff x="0" y="0"/>
          <a:chExt cx="0" cy="0"/>
        </a:xfrm>
      </p:grpSpPr>
      <p:sp>
        <p:nvSpPr>
          <p:cNvPr id="2" name="Shape 0"/>
          <p:cNvSpPr/>
          <p:nvPr/>
        </p:nvSpPr>
        <p:spPr>
          <a:xfrm>
            <a:off x="11734495" y="320040"/>
            <a:ext cx="73152" cy="411480"/>
          </a:xfrm>
          <a:prstGeom prst="rect">
            <a:avLst/>
          </a:prstGeom>
          <a:solidFill>
            <a:srgbClr val="D4A574"/>
          </a:solidFill>
          <a:ln/>
        </p:spPr>
      </p:sp>
      <p:sp>
        <p:nvSpPr>
          <p:cNvPr id="3" name="Text 1"/>
          <p:cNvSpPr/>
          <p:nvPr/>
        </p:nvSpPr>
        <p:spPr>
          <a:xfrm>
            <a:off x="8076895" y="274320"/>
            <a:ext cx="3566160" cy="365760"/>
          </a:xfrm>
          <a:prstGeom prst="rect">
            <a:avLst/>
          </a:prstGeom>
          <a:noFill/>
          <a:ln/>
        </p:spPr>
        <p:txBody>
          <a:bodyPr wrap="square" rtlCol="0" anchor="ctr"/>
          <a:lstStyle/>
          <a:p>
            <a:pPr rtl="1" algn="r" indent="0" marL="0">
              <a:buNone/>
            </a:pPr>
            <a:r>
              <a:rPr lang="en-US" sz="1200" b="1" dirty="0">
                <a:solidFill>
                  <a:srgbClr val="55606E"/>
                </a:solidFill>
                <a:latin typeface="Calibri" pitchFamily="34" charset="0"/>
                <a:ea typeface="Calibri" pitchFamily="34" charset="-122"/>
                <a:cs typeface="Calibri" pitchFamily="34" charset="-120"/>
              </a:rPr>
              <a:t>فريقكم المخصّص</a:t>
            </a:r>
            <a:endParaRPr lang="en-US" sz="1200" dirty="0"/>
          </a:p>
        </p:txBody>
      </p:sp>
      <p:sp>
        <p:nvSpPr>
          <p:cNvPr id="4" name="Text 2"/>
          <p:cNvSpPr/>
          <p:nvPr/>
        </p:nvSpPr>
        <p:spPr>
          <a:xfrm>
            <a:off x="457200" y="6446520"/>
            <a:ext cx="2286000" cy="274320"/>
          </a:xfrm>
          <a:prstGeom prst="rect">
            <a:avLst/>
          </a:prstGeom>
          <a:noFill/>
          <a:ln/>
        </p:spPr>
        <p:txBody>
          <a:bodyPr wrap="square" rtlCol="0" anchor="ctr"/>
          <a:lstStyle/>
          <a:p>
            <a:pPr algn="l" indent="0" marL="0">
              <a:buNone/>
            </a:pPr>
            <a:r>
              <a:rPr lang="en-US" sz="900" dirty="0">
                <a:solidFill>
                  <a:srgbClr val="8B95A3"/>
                </a:solidFill>
                <a:latin typeface="Calibri" pitchFamily="34" charset="0"/>
                <a:ea typeface="Calibri" pitchFamily="34" charset="-122"/>
                <a:cs typeface="Calibri" pitchFamily="34" charset="-120"/>
              </a:rPr>
              <a:t>Dealix · ديلكس</a:t>
            </a:r>
            <a:endParaRPr lang="en-US" sz="900" dirty="0"/>
          </a:p>
        </p:txBody>
      </p:sp>
      <p:sp>
        <p:nvSpPr>
          <p:cNvPr id="5" name="Text 3"/>
          <p:cNvSpPr/>
          <p:nvPr/>
        </p:nvSpPr>
        <p:spPr>
          <a:xfrm>
            <a:off x="11094415" y="6446520"/>
            <a:ext cx="640080" cy="274320"/>
          </a:xfrm>
          <a:prstGeom prst="rect">
            <a:avLst/>
          </a:prstGeom>
          <a:noFill/>
          <a:ln/>
        </p:spPr>
        <p:txBody>
          <a:bodyPr wrap="square" rtlCol="0" anchor="ctr"/>
          <a:lstStyle/>
          <a:p>
            <a:pPr algn="r" indent="0" marL="0">
              <a:buNone/>
            </a:pPr>
            <a:r>
              <a:rPr lang="en-US" sz="900" b="1" dirty="0">
                <a:solidFill>
                  <a:srgbClr val="8B95A3"/>
                </a:solidFill>
                <a:latin typeface="Calibri" pitchFamily="34" charset="0"/>
                <a:ea typeface="Calibri" pitchFamily="34" charset="-122"/>
                <a:cs typeface="Calibri" pitchFamily="34" charset="-120"/>
              </a:rPr>
              <a:t>33</a:t>
            </a:r>
            <a:endParaRPr lang="en-US" sz="900" dirty="0"/>
          </a:p>
        </p:txBody>
      </p:sp>
      <p:sp>
        <p:nvSpPr>
          <p:cNvPr id="6" name="Text 4"/>
          <p:cNvSpPr/>
          <p:nvPr/>
        </p:nvSpPr>
        <p:spPr>
          <a:xfrm>
            <a:off x="548640" y="914400"/>
            <a:ext cx="11094415" cy="822960"/>
          </a:xfrm>
          <a:prstGeom prst="rect">
            <a:avLst/>
          </a:prstGeom>
          <a:noFill/>
          <a:ln/>
        </p:spPr>
        <p:txBody>
          <a:bodyPr wrap="square" rtlCol="0" anchor="ctr"/>
          <a:lstStyle/>
          <a:p>
            <a:pPr rtl="1" algn="r" indent="0" marL="0">
              <a:buNone/>
            </a:pPr>
            <a:r>
              <a:rPr lang="en-US" sz="3400" b="1" dirty="0">
                <a:solidFill>
                  <a:srgbClr val="0A1628"/>
                </a:solidFill>
                <a:latin typeface="Calibri" pitchFamily="34" charset="0"/>
                <a:ea typeface="Calibri" pitchFamily="34" charset="-122"/>
                <a:cs typeface="Calibri" pitchFamily="34" charset="-120"/>
              </a:rPr>
              <a:t>فريق ديلكس المخصّص لكم</a:t>
            </a:r>
            <a:endParaRPr lang="en-US" sz="3400" dirty="0"/>
          </a:p>
        </p:txBody>
      </p:sp>
      <p:sp>
        <p:nvSpPr>
          <p:cNvPr id="7" name="Text 5"/>
          <p:cNvSpPr/>
          <p:nvPr/>
        </p:nvSpPr>
        <p:spPr>
          <a:xfrm>
            <a:off x="548640" y="1691640"/>
            <a:ext cx="11094415" cy="411480"/>
          </a:xfrm>
          <a:prstGeom prst="rect">
            <a:avLst/>
          </a:prstGeom>
          <a:noFill/>
          <a:ln/>
        </p:spPr>
        <p:txBody>
          <a:bodyPr wrap="square" rtlCol="0" anchor="ctr"/>
          <a:lstStyle/>
          <a:p>
            <a:pPr rtl="1" algn="r" indent="0" marL="0">
              <a:buNone/>
            </a:pPr>
            <a:r>
              <a:rPr lang="en-US" sz="1500" dirty="0">
                <a:solidFill>
                  <a:srgbClr val="55606E"/>
                </a:solidFill>
                <a:latin typeface="Calibri" pitchFamily="34" charset="0"/>
                <a:ea typeface="Calibri" pitchFamily="34" charset="-122"/>
                <a:cs typeface="Calibri" pitchFamily="34" charset="-120"/>
              </a:rPr>
              <a:t>ليس دعم فني عام — فريق مُسمّى يلتزم بنجاحكم</a:t>
            </a:r>
            <a:endParaRPr lang="en-US" sz="1500" dirty="0"/>
          </a:p>
        </p:txBody>
      </p:sp>
      <p:sp>
        <p:nvSpPr>
          <p:cNvPr id="8" name="Shape 6"/>
          <p:cNvSpPr/>
          <p:nvPr/>
        </p:nvSpPr>
        <p:spPr>
          <a:xfrm>
            <a:off x="548640" y="2331720"/>
            <a:ext cx="11094415" cy="749808"/>
          </a:xfrm>
          <a:prstGeom prst="rect">
            <a:avLst/>
          </a:prstGeom>
          <a:solidFill>
            <a:srgbClr val="FFFFFF"/>
          </a:solidFill>
          <a:ln w="12700">
            <a:solidFill>
              <a:srgbClr val="E8E3D6"/>
            </a:solidFill>
            <a:prstDash val="solid"/>
          </a:ln>
        </p:spPr>
      </p:sp>
      <p:sp>
        <p:nvSpPr>
          <p:cNvPr id="9" name="Text 7"/>
          <p:cNvSpPr/>
          <p:nvPr/>
        </p:nvSpPr>
        <p:spPr>
          <a:xfrm>
            <a:off x="8168335" y="2404872"/>
            <a:ext cx="3291840" cy="365760"/>
          </a:xfrm>
          <a:prstGeom prst="rect">
            <a:avLst/>
          </a:prstGeom>
          <a:noFill/>
          <a:ln/>
        </p:spPr>
        <p:txBody>
          <a:bodyPr wrap="square" rtlCol="0" anchor="ctr"/>
          <a:lstStyle/>
          <a:p>
            <a:pPr rtl="1" algn="r" indent="0" marL="0">
              <a:buNone/>
            </a:pPr>
            <a:r>
              <a:rPr lang="en-US" sz="1500" b="1" dirty="0">
                <a:solidFill>
                  <a:srgbClr val="0A1628"/>
                </a:solidFill>
                <a:latin typeface="Calibri" pitchFamily="34" charset="0"/>
                <a:ea typeface="Calibri" pitchFamily="34" charset="-122"/>
                <a:cs typeface="Calibri" pitchFamily="34" charset="-120"/>
              </a:rPr>
              <a:t>مدير نجاح العملاء</a:t>
            </a:r>
            <a:endParaRPr lang="en-US" sz="1500" dirty="0"/>
          </a:p>
        </p:txBody>
      </p:sp>
      <p:sp>
        <p:nvSpPr>
          <p:cNvPr id="10" name="Text 8"/>
          <p:cNvSpPr/>
          <p:nvPr/>
        </p:nvSpPr>
        <p:spPr>
          <a:xfrm>
            <a:off x="8168335" y="2770632"/>
            <a:ext cx="3291840" cy="274320"/>
          </a:xfrm>
          <a:prstGeom prst="rect">
            <a:avLst/>
          </a:prstGeom>
          <a:noFill/>
          <a:ln/>
        </p:spPr>
        <p:txBody>
          <a:bodyPr wrap="square" rtlCol="0" anchor="ctr"/>
          <a:lstStyle/>
          <a:p>
            <a:pPr algn="r" indent="0" marL="0">
              <a:buNone/>
            </a:pPr>
            <a:r>
              <a:rPr lang="en-US" sz="1100" b="1" dirty="0">
                <a:solidFill>
                  <a:srgbClr val="D4A574"/>
                </a:solidFill>
                <a:latin typeface="Calibri" pitchFamily="34" charset="0"/>
                <a:ea typeface="Calibri" pitchFamily="34" charset="-122"/>
                <a:cs typeface="Calibri" pitchFamily="34" charset="-120"/>
              </a:rPr>
              <a:t>Customer Success Manager</a:t>
            </a:r>
            <a:endParaRPr lang="en-US" sz="1100" dirty="0"/>
          </a:p>
        </p:txBody>
      </p:sp>
      <p:sp>
        <p:nvSpPr>
          <p:cNvPr id="11" name="Shape 9"/>
          <p:cNvSpPr/>
          <p:nvPr/>
        </p:nvSpPr>
        <p:spPr>
          <a:xfrm>
            <a:off x="7985455" y="2423160"/>
            <a:ext cx="27432" cy="566928"/>
          </a:xfrm>
          <a:prstGeom prst="rect">
            <a:avLst/>
          </a:prstGeom>
          <a:solidFill>
            <a:srgbClr val="D4A574"/>
          </a:solidFill>
          <a:ln/>
        </p:spPr>
      </p:sp>
      <p:sp>
        <p:nvSpPr>
          <p:cNvPr id="12" name="Text 10"/>
          <p:cNvSpPr/>
          <p:nvPr/>
        </p:nvSpPr>
        <p:spPr>
          <a:xfrm>
            <a:off x="822960" y="2423160"/>
            <a:ext cx="7071055" cy="566928"/>
          </a:xfrm>
          <a:prstGeom prst="rect">
            <a:avLst/>
          </a:prstGeom>
          <a:noFill/>
          <a:ln/>
        </p:spPr>
        <p:txBody>
          <a:bodyPr wrap="square" rtlCol="0" anchor="ctr"/>
          <a:lstStyle/>
          <a:p>
            <a:pPr rtl="1" algn="r" indent="0" marL="0">
              <a:buNone/>
            </a:pPr>
            <a:r>
              <a:rPr lang="en-US" sz="1150" dirty="0">
                <a:solidFill>
                  <a:srgbClr val="1A1A1A"/>
                </a:solidFill>
                <a:latin typeface="Calibri" pitchFamily="34" charset="0"/>
                <a:ea typeface="Calibri" pitchFamily="34" charset="-122"/>
                <a:cs typeface="Calibri" pitchFamily="34" charset="-120"/>
              </a:rPr>
              <a:t>نقطة الاتصال الأولى · يعرف عملياتكم اليومية · يقيم في الرياض · اجتماع أسبوعي ثابت</a:t>
            </a:r>
            <a:endParaRPr lang="en-US" sz="1150" dirty="0"/>
          </a:p>
        </p:txBody>
      </p:sp>
      <p:sp>
        <p:nvSpPr>
          <p:cNvPr id="13" name="Shape 11"/>
          <p:cNvSpPr/>
          <p:nvPr/>
        </p:nvSpPr>
        <p:spPr>
          <a:xfrm>
            <a:off x="548640" y="3154680"/>
            <a:ext cx="11094415" cy="749808"/>
          </a:xfrm>
          <a:prstGeom prst="rect">
            <a:avLst/>
          </a:prstGeom>
          <a:solidFill>
            <a:srgbClr val="FFFFFF"/>
          </a:solidFill>
          <a:ln w="12700">
            <a:solidFill>
              <a:srgbClr val="E8E3D6"/>
            </a:solidFill>
            <a:prstDash val="solid"/>
          </a:ln>
        </p:spPr>
      </p:sp>
      <p:sp>
        <p:nvSpPr>
          <p:cNvPr id="14" name="Text 12"/>
          <p:cNvSpPr/>
          <p:nvPr/>
        </p:nvSpPr>
        <p:spPr>
          <a:xfrm>
            <a:off x="8168335" y="3227832"/>
            <a:ext cx="3291840" cy="365760"/>
          </a:xfrm>
          <a:prstGeom prst="rect">
            <a:avLst/>
          </a:prstGeom>
          <a:noFill/>
          <a:ln/>
        </p:spPr>
        <p:txBody>
          <a:bodyPr wrap="square" rtlCol="0" anchor="ctr"/>
          <a:lstStyle/>
          <a:p>
            <a:pPr rtl="1" algn="r" indent="0" marL="0">
              <a:buNone/>
            </a:pPr>
            <a:r>
              <a:rPr lang="en-US" sz="1500" b="1" dirty="0">
                <a:solidFill>
                  <a:srgbClr val="0A1628"/>
                </a:solidFill>
                <a:latin typeface="Calibri" pitchFamily="34" charset="0"/>
                <a:ea typeface="Calibri" pitchFamily="34" charset="-122"/>
                <a:cs typeface="Calibri" pitchFamily="34" charset="-120"/>
              </a:rPr>
              <a:t>مهندس الحلول</a:t>
            </a:r>
            <a:endParaRPr lang="en-US" sz="1500" dirty="0"/>
          </a:p>
        </p:txBody>
      </p:sp>
      <p:sp>
        <p:nvSpPr>
          <p:cNvPr id="15" name="Text 13"/>
          <p:cNvSpPr/>
          <p:nvPr/>
        </p:nvSpPr>
        <p:spPr>
          <a:xfrm>
            <a:off x="8168335" y="3593592"/>
            <a:ext cx="3291840" cy="274320"/>
          </a:xfrm>
          <a:prstGeom prst="rect">
            <a:avLst/>
          </a:prstGeom>
          <a:noFill/>
          <a:ln/>
        </p:spPr>
        <p:txBody>
          <a:bodyPr wrap="square" rtlCol="0" anchor="ctr"/>
          <a:lstStyle/>
          <a:p>
            <a:pPr algn="r" indent="0" marL="0">
              <a:buNone/>
            </a:pPr>
            <a:r>
              <a:rPr lang="en-US" sz="1100" b="1" dirty="0">
                <a:solidFill>
                  <a:srgbClr val="D4A574"/>
                </a:solidFill>
                <a:latin typeface="Calibri" pitchFamily="34" charset="0"/>
                <a:ea typeface="Calibri" pitchFamily="34" charset="-122"/>
                <a:cs typeface="Calibri" pitchFamily="34" charset="-120"/>
              </a:rPr>
              <a:t>Solution Architect</a:t>
            </a:r>
            <a:endParaRPr lang="en-US" sz="1100" dirty="0"/>
          </a:p>
        </p:txBody>
      </p:sp>
      <p:sp>
        <p:nvSpPr>
          <p:cNvPr id="16" name="Shape 14"/>
          <p:cNvSpPr/>
          <p:nvPr/>
        </p:nvSpPr>
        <p:spPr>
          <a:xfrm>
            <a:off x="7985455" y="3246120"/>
            <a:ext cx="27432" cy="566928"/>
          </a:xfrm>
          <a:prstGeom prst="rect">
            <a:avLst/>
          </a:prstGeom>
          <a:solidFill>
            <a:srgbClr val="D4A574"/>
          </a:solidFill>
          <a:ln/>
        </p:spPr>
      </p:sp>
      <p:sp>
        <p:nvSpPr>
          <p:cNvPr id="17" name="Text 15"/>
          <p:cNvSpPr/>
          <p:nvPr/>
        </p:nvSpPr>
        <p:spPr>
          <a:xfrm>
            <a:off x="822960" y="3246120"/>
            <a:ext cx="7071055" cy="566928"/>
          </a:xfrm>
          <a:prstGeom prst="rect">
            <a:avLst/>
          </a:prstGeom>
          <a:noFill/>
          <a:ln/>
        </p:spPr>
        <p:txBody>
          <a:bodyPr wrap="square" rtlCol="0" anchor="ctr"/>
          <a:lstStyle/>
          <a:p>
            <a:pPr rtl="1" algn="r" indent="0" marL="0">
              <a:buNone/>
            </a:pPr>
            <a:r>
              <a:rPr lang="en-US" sz="1150" dirty="0">
                <a:solidFill>
                  <a:srgbClr val="1A1A1A"/>
                </a:solidFill>
                <a:latin typeface="Calibri" pitchFamily="34" charset="0"/>
                <a:ea typeface="Calibri" pitchFamily="34" charset="-122"/>
                <a:cs typeface="Calibri" pitchFamily="34" charset="-120"/>
              </a:rPr>
              <a:t>خبير تكاملات · يصمّم سير العمل · يفهم TMS/WMS · دعم فني من المستوى الثالث</a:t>
            </a:r>
            <a:endParaRPr lang="en-US" sz="1150" dirty="0"/>
          </a:p>
        </p:txBody>
      </p:sp>
      <p:sp>
        <p:nvSpPr>
          <p:cNvPr id="18" name="Shape 16"/>
          <p:cNvSpPr/>
          <p:nvPr/>
        </p:nvSpPr>
        <p:spPr>
          <a:xfrm>
            <a:off x="548640" y="3977640"/>
            <a:ext cx="11094415" cy="749808"/>
          </a:xfrm>
          <a:prstGeom prst="rect">
            <a:avLst/>
          </a:prstGeom>
          <a:solidFill>
            <a:srgbClr val="FFFFFF"/>
          </a:solidFill>
          <a:ln w="12700">
            <a:solidFill>
              <a:srgbClr val="E8E3D6"/>
            </a:solidFill>
            <a:prstDash val="solid"/>
          </a:ln>
        </p:spPr>
      </p:sp>
      <p:sp>
        <p:nvSpPr>
          <p:cNvPr id="19" name="Text 17"/>
          <p:cNvSpPr/>
          <p:nvPr/>
        </p:nvSpPr>
        <p:spPr>
          <a:xfrm>
            <a:off x="8168335" y="4050792"/>
            <a:ext cx="3291840" cy="365760"/>
          </a:xfrm>
          <a:prstGeom prst="rect">
            <a:avLst/>
          </a:prstGeom>
          <a:noFill/>
          <a:ln/>
        </p:spPr>
        <p:txBody>
          <a:bodyPr wrap="square" rtlCol="0" anchor="ctr"/>
          <a:lstStyle/>
          <a:p>
            <a:pPr rtl="1" algn="r" indent="0" marL="0">
              <a:buNone/>
            </a:pPr>
            <a:r>
              <a:rPr lang="en-US" sz="1500" b="1" dirty="0">
                <a:solidFill>
                  <a:srgbClr val="0A1628"/>
                </a:solidFill>
                <a:latin typeface="Calibri" pitchFamily="34" charset="0"/>
                <a:ea typeface="Calibri" pitchFamily="34" charset="-122"/>
                <a:cs typeface="Calibri" pitchFamily="34" charset="-120"/>
              </a:rPr>
              <a:t>مهندس الذكاء الاصطناعي</a:t>
            </a:r>
            <a:endParaRPr lang="en-US" sz="1500" dirty="0"/>
          </a:p>
        </p:txBody>
      </p:sp>
      <p:sp>
        <p:nvSpPr>
          <p:cNvPr id="20" name="Text 18"/>
          <p:cNvSpPr/>
          <p:nvPr/>
        </p:nvSpPr>
        <p:spPr>
          <a:xfrm>
            <a:off x="8168335" y="4416552"/>
            <a:ext cx="3291840" cy="274320"/>
          </a:xfrm>
          <a:prstGeom prst="rect">
            <a:avLst/>
          </a:prstGeom>
          <a:noFill/>
          <a:ln/>
        </p:spPr>
        <p:txBody>
          <a:bodyPr wrap="square" rtlCol="0" anchor="ctr"/>
          <a:lstStyle/>
          <a:p>
            <a:pPr algn="r" indent="0" marL="0">
              <a:buNone/>
            </a:pPr>
            <a:r>
              <a:rPr lang="en-US" sz="1100" b="1" dirty="0">
                <a:solidFill>
                  <a:srgbClr val="D4A574"/>
                </a:solidFill>
                <a:latin typeface="Calibri" pitchFamily="34" charset="0"/>
                <a:ea typeface="Calibri" pitchFamily="34" charset="-122"/>
                <a:cs typeface="Calibri" pitchFamily="34" charset="-120"/>
              </a:rPr>
              <a:t>AI/ML Engineer</a:t>
            </a:r>
            <a:endParaRPr lang="en-US" sz="1100" dirty="0"/>
          </a:p>
        </p:txBody>
      </p:sp>
      <p:sp>
        <p:nvSpPr>
          <p:cNvPr id="21" name="Shape 19"/>
          <p:cNvSpPr/>
          <p:nvPr/>
        </p:nvSpPr>
        <p:spPr>
          <a:xfrm>
            <a:off x="7985455" y="4069080"/>
            <a:ext cx="27432" cy="566928"/>
          </a:xfrm>
          <a:prstGeom prst="rect">
            <a:avLst/>
          </a:prstGeom>
          <a:solidFill>
            <a:srgbClr val="D4A574"/>
          </a:solidFill>
          <a:ln/>
        </p:spPr>
      </p:sp>
      <p:sp>
        <p:nvSpPr>
          <p:cNvPr id="22" name="Text 20"/>
          <p:cNvSpPr/>
          <p:nvPr/>
        </p:nvSpPr>
        <p:spPr>
          <a:xfrm>
            <a:off x="822960" y="4069080"/>
            <a:ext cx="7071055" cy="566928"/>
          </a:xfrm>
          <a:prstGeom prst="rect">
            <a:avLst/>
          </a:prstGeom>
          <a:noFill/>
          <a:ln/>
        </p:spPr>
        <p:txBody>
          <a:bodyPr wrap="square" rtlCol="0" anchor="ctr"/>
          <a:lstStyle/>
          <a:p>
            <a:pPr rtl="1" algn="r" indent="0" marL="0">
              <a:buNone/>
            </a:pPr>
            <a:r>
              <a:rPr lang="en-US" sz="1150" dirty="0">
                <a:solidFill>
                  <a:srgbClr val="1A1A1A"/>
                </a:solidFill>
                <a:latin typeface="Calibri" pitchFamily="34" charset="0"/>
                <a:ea typeface="Calibri" pitchFamily="34" charset="-122"/>
                <a:cs typeface="Calibri" pitchFamily="34" charset="-120"/>
              </a:rPr>
              <a:t>يعاير نماذج اللهجة والتأهيل لقطاعكم · يحلّل أداء AI · يحسّن النتائج</a:t>
            </a:r>
            <a:endParaRPr lang="en-US" sz="1150" dirty="0"/>
          </a:p>
        </p:txBody>
      </p:sp>
      <p:sp>
        <p:nvSpPr>
          <p:cNvPr id="23" name="Shape 21"/>
          <p:cNvSpPr/>
          <p:nvPr/>
        </p:nvSpPr>
        <p:spPr>
          <a:xfrm>
            <a:off x="548640" y="4800600"/>
            <a:ext cx="11094415" cy="749808"/>
          </a:xfrm>
          <a:prstGeom prst="rect">
            <a:avLst/>
          </a:prstGeom>
          <a:solidFill>
            <a:srgbClr val="FFFFFF"/>
          </a:solidFill>
          <a:ln w="12700">
            <a:solidFill>
              <a:srgbClr val="E8E3D6"/>
            </a:solidFill>
            <a:prstDash val="solid"/>
          </a:ln>
        </p:spPr>
      </p:sp>
      <p:sp>
        <p:nvSpPr>
          <p:cNvPr id="24" name="Text 22"/>
          <p:cNvSpPr/>
          <p:nvPr/>
        </p:nvSpPr>
        <p:spPr>
          <a:xfrm>
            <a:off x="8168335" y="4873752"/>
            <a:ext cx="3291840" cy="365760"/>
          </a:xfrm>
          <a:prstGeom prst="rect">
            <a:avLst/>
          </a:prstGeom>
          <a:noFill/>
          <a:ln/>
        </p:spPr>
        <p:txBody>
          <a:bodyPr wrap="square" rtlCol="0" anchor="ctr"/>
          <a:lstStyle/>
          <a:p>
            <a:pPr rtl="1" algn="r" indent="0" marL="0">
              <a:buNone/>
            </a:pPr>
            <a:r>
              <a:rPr lang="en-US" sz="1500" b="1" dirty="0">
                <a:solidFill>
                  <a:srgbClr val="0A1628"/>
                </a:solidFill>
                <a:latin typeface="Calibri" pitchFamily="34" charset="0"/>
                <a:ea typeface="Calibri" pitchFamily="34" charset="-122"/>
                <a:cs typeface="Calibri" pitchFamily="34" charset="-120"/>
              </a:rPr>
              <a:t>أخصائي المحتوى العربي</a:t>
            </a:r>
            <a:endParaRPr lang="en-US" sz="1500" dirty="0"/>
          </a:p>
        </p:txBody>
      </p:sp>
      <p:sp>
        <p:nvSpPr>
          <p:cNvPr id="25" name="Text 23"/>
          <p:cNvSpPr/>
          <p:nvPr/>
        </p:nvSpPr>
        <p:spPr>
          <a:xfrm>
            <a:off x="8168335" y="5239512"/>
            <a:ext cx="3291840" cy="274320"/>
          </a:xfrm>
          <a:prstGeom prst="rect">
            <a:avLst/>
          </a:prstGeom>
          <a:noFill/>
          <a:ln/>
        </p:spPr>
        <p:txBody>
          <a:bodyPr wrap="square" rtlCol="0" anchor="ctr"/>
          <a:lstStyle/>
          <a:p>
            <a:pPr algn="r" indent="0" marL="0">
              <a:buNone/>
            </a:pPr>
            <a:r>
              <a:rPr lang="en-US" sz="1100" b="1" dirty="0">
                <a:solidFill>
                  <a:srgbClr val="D4A574"/>
                </a:solidFill>
                <a:latin typeface="Calibri" pitchFamily="34" charset="0"/>
                <a:ea typeface="Calibri" pitchFamily="34" charset="-122"/>
                <a:cs typeface="Calibri" pitchFamily="34" charset="-120"/>
              </a:rPr>
              <a:t>Arabic Content Specialist</a:t>
            </a:r>
            <a:endParaRPr lang="en-US" sz="1100" dirty="0"/>
          </a:p>
        </p:txBody>
      </p:sp>
      <p:sp>
        <p:nvSpPr>
          <p:cNvPr id="26" name="Shape 24"/>
          <p:cNvSpPr/>
          <p:nvPr/>
        </p:nvSpPr>
        <p:spPr>
          <a:xfrm>
            <a:off x="7985455" y="4892040"/>
            <a:ext cx="27432" cy="566928"/>
          </a:xfrm>
          <a:prstGeom prst="rect">
            <a:avLst/>
          </a:prstGeom>
          <a:solidFill>
            <a:srgbClr val="D4A574"/>
          </a:solidFill>
          <a:ln/>
        </p:spPr>
      </p:sp>
      <p:sp>
        <p:nvSpPr>
          <p:cNvPr id="27" name="Text 25"/>
          <p:cNvSpPr/>
          <p:nvPr/>
        </p:nvSpPr>
        <p:spPr>
          <a:xfrm>
            <a:off x="822960" y="4892040"/>
            <a:ext cx="7071055" cy="566928"/>
          </a:xfrm>
          <a:prstGeom prst="rect">
            <a:avLst/>
          </a:prstGeom>
          <a:noFill/>
          <a:ln/>
        </p:spPr>
        <p:txBody>
          <a:bodyPr wrap="square" rtlCol="0" anchor="ctr"/>
          <a:lstStyle/>
          <a:p>
            <a:pPr rtl="1" algn="r" indent="0" marL="0">
              <a:buNone/>
            </a:pPr>
            <a:r>
              <a:rPr lang="en-US" sz="1150" dirty="0">
                <a:solidFill>
                  <a:srgbClr val="1A1A1A"/>
                </a:solidFill>
                <a:latin typeface="Calibri" pitchFamily="34" charset="0"/>
                <a:ea typeface="Calibri" pitchFamily="34" charset="-122"/>
                <a:cs typeface="Calibri" pitchFamily="34" charset="-120"/>
              </a:rPr>
              <a:t>يُصمّم قوالب العروض · يُجهّز ردود AI · يضمن السياق الثقافي والتجاري السعودي</a:t>
            </a:r>
            <a:endParaRPr lang="en-US" sz="1150" dirty="0"/>
          </a:p>
        </p:txBody>
      </p:sp>
      <p:sp>
        <p:nvSpPr>
          <p:cNvPr id="28" name="Shape 26"/>
          <p:cNvSpPr/>
          <p:nvPr/>
        </p:nvSpPr>
        <p:spPr>
          <a:xfrm>
            <a:off x="548640" y="5623560"/>
            <a:ext cx="11094415" cy="749808"/>
          </a:xfrm>
          <a:prstGeom prst="rect">
            <a:avLst/>
          </a:prstGeom>
          <a:solidFill>
            <a:srgbClr val="FFFFFF"/>
          </a:solidFill>
          <a:ln w="12700">
            <a:solidFill>
              <a:srgbClr val="E8E3D6"/>
            </a:solidFill>
            <a:prstDash val="solid"/>
          </a:ln>
        </p:spPr>
      </p:sp>
      <p:sp>
        <p:nvSpPr>
          <p:cNvPr id="29" name="Text 27"/>
          <p:cNvSpPr/>
          <p:nvPr/>
        </p:nvSpPr>
        <p:spPr>
          <a:xfrm>
            <a:off x="8168335" y="5696712"/>
            <a:ext cx="3291840" cy="365760"/>
          </a:xfrm>
          <a:prstGeom prst="rect">
            <a:avLst/>
          </a:prstGeom>
          <a:noFill/>
          <a:ln/>
        </p:spPr>
        <p:txBody>
          <a:bodyPr wrap="square" rtlCol="0" anchor="ctr"/>
          <a:lstStyle/>
          <a:p>
            <a:pPr rtl="1" algn="r" indent="0" marL="0">
              <a:buNone/>
            </a:pPr>
            <a:r>
              <a:rPr lang="en-US" sz="1500" b="1" dirty="0">
                <a:solidFill>
                  <a:srgbClr val="0A1628"/>
                </a:solidFill>
                <a:latin typeface="Calibri" pitchFamily="34" charset="0"/>
                <a:ea typeface="Calibri" pitchFamily="34" charset="-122"/>
                <a:cs typeface="Calibri" pitchFamily="34" charset="-120"/>
              </a:rPr>
              <a:t>الراعي التنفيذي</a:t>
            </a:r>
            <a:endParaRPr lang="en-US" sz="1500" dirty="0"/>
          </a:p>
        </p:txBody>
      </p:sp>
      <p:sp>
        <p:nvSpPr>
          <p:cNvPr id="30" name="Text 28"/>
          <p:cNvSpPr/>
          <p:nvPr/>
        </p:nvSpPr>
        <p:spPr>
          <a:xfrm>
            <a:off x="8168335" y="6062472"/>
            <a:ext cx="3291840" cy="274320"/>
          </a:xfrm>
          <a:prstGeom prst="rect">
            <a:avLst/>
          </a:prstGeom>
          <a:noFill/>
          <a:ln/>
        </p:spPr>
        <p:txBody>
          <a:bodyPr wrap="square" rtlCol="0" anchor="ctr"/>
          <a:lstStyle/>
          <a:p>
            <a:pPr algn="r" indent="0" marL="0">
              <a:buNone/>
            </a:pPr>
            <a:r>
              <a:rPr lang="en-US" sz="1100" b="1" dirty="0">
                <a:solidFill>
                  <a:srgbClr val="D4A574"/>
                </a:solidFill>
                <a:latin typeface="Calibri" pitchFamily="34" charset="0"/>
                <a:ea typeface="Calibri" pitchFamily="34" charset="-122"/>
                <a:cs typeface="Calibri" pitchFamily="34" charset="-120"/>
              </a:rPr>
              <a:t>Executive Sponsor</a:t>
            </a:r>
            <a:endParaRPr lang="en-US" sz="1100" dirty="0"/>
          </a:p>
        </p:txBody>
      </p:sp>
      <p:sp>
        <p:nvSpPr>
          <p:cNvPr id="31" name="Shape 29"/>
          <p:cNvSpPr/>
          <p:nvPr/>
        </p:nvSpPr>
        <p:spPr>
          <a:xfrm>
            <a:off x="7985455" y="5715000"/>
            <a:ext cx="27432" cy="566928"/>
          </a:xfrm>
          <a:prstGeom prst="rect">
            <a:avLst/>
          </a:prstGeom>
          <a:solidFill>
            <a:srgbClr val="D4A574"/>
          </a:solidFill>
          <a:ln/>
        </p:spPr>
      </p:sp>
      <p:sp>
        <p:nvSpPr>
          <p:cNvPr id="32" name="Text 30"/>
          <p:cNvSpPr/>
          <p:nvPr/>
        </p:nvSpPr>
        <p:spPr>
          <a:xfrm>
            <a:off x="822960" y="5715000"/>
            <a:ext cx="7071055" cy="566928"/>
          </a:xfrm>
          <a:prstGeom prst="rect">
            <a:avLst/>
          </a:prstGeom>
          <a:noFill/>
          <a:ln/>
        </p:spPr>
        <p:txBody>
          <a:bodyPr wrap="square" rtlCol="0" anchor="ctr"/>
          <a:lstStyle/>
          <a:p>
            <a:pPr rtl="1" algn="r" indent="0" marL="0">
              <a:buNone/>
            </a:pPr>
            <a:r>
              <a:rPr lang="en-US" sz="1150" dirty="0">
                <a:solidFill>
                  <a:srgbClr val="1A1A1A"/>
                </a:solidFill>
                <a:latin typeface="Calibri" pitchFamily="34" charset="0"/>
                <a:ea typeface="Calibri" pitchFamily="34" charset="-122"/>
                <a:cs typeface="Calibri" pitchFamily="34" charset="-120"/>
              </a:rPr>
              <a:t>من مستوى C-suite في ديلكس (سامي العسيري) · يشرف على علاقتكم · متاح للتصعيد المباشر</a:t>
            </a:r>
            <a:endParaRPr lang="en-US" sz="11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8F3"/>
        </a:solidFill>
      </p:bgPr>
    </p:bg>
    <p:spTree>
      <p:nvGrpSpPr>
        <p:cNvPr id="1" name=""/>
        <p:cNvGrpSpPr/>
        <p:nvPr/>
      </p:nvGrpSpPr>
      <p:grpSpPr>
        <a:xfrm>
          <a:off x="0" y="0"/>
          <a:ext cx="0" cy="0"/>
          <a:chOff x="0" y="0"/>
          <a:chExt cx="0" cy="0"/>
        </a:xfrm>
      </p:grpSpPr>
      <p:sp>
        <p:nvSpPr>
          <p:cNvPr id="2" name="Shape 0"/>
          <p:cNvSpPr/>
          <p:nvPr/>
        </p:nvSpPr>
        <p:spPr>
          <a:xfrm>
            <a:off x="11734495" y="320040"/>
            <a:ext cx="73152" cy="411480"/>
          </a:xfrm>
          <a:prstGeom prst="rect">
            <a:avLst/>
          </a:prstGeom>
          <a:solidFill>
            <a:srgbClr val="D4A574"/>
          </a:solidFill>
          <a:ln/>
        </p:spPr>
      </p:sp>
      <p:sp>
        <p:nvSpPr>
          <p:cNvPr id="3" name="Text 1"/>
          <p:cNvSpPr/>
          <p:nvPr/>
        </p:nvSpPr>
        <p:spPr>
          <a:xfrm>
            <a:off x="8076895" y="274320"/>
            <a:ext cx="3566160" cy="365760"/>
          </a:xfrm>
          <a:prstGeom prst="rect">
            <a:avLst/>
          </a:prstGeom>
          <a:noFill/>
          <a:ln/>
        </p:spPr>
        <p:txBody>
          <a:bodyPr wrap="square" rtlCol="0" anchor="ctr"/>
          <a:lstStyle/>
          <a:p>
            <a:pPr rtl="1" algn="r" indent="0" marL="0">
              <a:buNone/>
            </a:pPr>
            <a:r>
              <a:rPr lang="en-US" sz="1200" b="1" dirty="0">
                <a:solidFill>
                  <a:srgbClr val="55606E"/>
                </a:solidFill>
                <a:latin typeface="Calibri" pitchFamily="34" charset="0"/>
                <a:ea typeface="Calibri" pitchFamily="34" charset="-122"/>
                <a:cs typeface="Calibri" pitchFamily="34" charset="-120"/>
              </a:rPr>
              <a:t>التسعير</a:t>
            </a:r>
            <a:endParaRPr lang="en-US" sz="1200" dirty="0"/>
          </a:p>
        </p:txBody>
      </p:sp>
      <p:sp>
        <p:nvSpPr>
          <p:cNvPr id="4" name="Text 2"/>
          <p:cNvSpPr/>
          <p:nvPr/>
        </p:nvSpPr>
        <p:spPr>
          <a:xfrm>
            <a:off x="457200" y="6446520"/>
            <a:ext cx="2286000" cy="274320"/>
          </a:xfrm>
          <a:prstGeom prst="rect">
            <a:avLst/>
          </a:prstGeom>
          <a:noFill/>
          <a:ln/>
        </p:spPr>
        <p:txBody>
          <a:bodyPr wrap="square" rtlCol="0" anchor="ctr"/>
          <a:lstStyle/>
          <a:p>
            <a:pPr algn="l" indent="0" marL="0">
              <a:buNone/>
            </a:pPr>
            <a:r>
              <a:rPr lang="en-US" sz="900" dirty="0">
                <a:solidFill>
                  <a:srgbClr val="8B95A3"/>
                </a:solidFill>
                <a:latin typeface="Calibri" pitchFamily="34" charset="0"/>
                <a:ea typeface="Calibri" pitchFamily="34" charset="-122"/>
                <a:cs typeface="Calibri" pitchFamily="34" charset="-120"/>
              </a:rPr>
              <a:t>Dealix · ديلكس</a:t>
            </a:r>
            <a:endParaRPr lang="en-US" sz="900" dirty="0"/>
          </a:p>
        </p:txBody>
      </p:sp>
      <p:sp>
        <p:nvSpPr>
          <p:cNvPr id="5" name="Text 3"/>
          <p:cNvSpPr/>
          <p:nvPr/>
        </p:nvSpPr>
        <p:spPr>
          <a:xfrm>
            <a:off x="11094415" y="6446520"/>
            <a:ext cx="640080" cy="274320"/>
          </a:xfrm>
          <a:prstGeom prst="rect">
            <a:avLst/>
          </a:prstGeom>
          <a:noFill/>
          <a:ln/>
        </p:spPr>
        <p:txBody>
          <a:bodyPr wrap="square" rtlCol="0" anchor="ctr"/>
          <a:lstStyle/>
          <a:p>
            <a:pPr algn="r" indent="0" marL="0">
              <a:buNone/>
            </a:pPr>
            <a:r>
              <a:rPr lang="en-US" sz="900" b="1" dirty="0">
                <a:solidFill>
                  <a:srgbClr val="8B95A3"/>
                </a:solidFill>
                <a:latin typeface="Calibri" pitchFamily="34" charset="0"/>
                <a:ea typeface="Calibri" pitchFamily="34" charset="-122"/>
                <a:cs typeface="Calibri" pitchFamily="34" charset="-120"/>
              </a:rPr>
              <a:t>34</a:t>
            </a:r>
            <a:endParaRPr lang="en-US" sz="900" dirty="0"/>
          </a:p>
        </p:txBody>
      </p:sp>
      <p:sp>
        <p:nvSpPr>
          <p:cNvPr id="6" name="Text 4"/>
          <p:cNvSpPr/>
          <p:nvPr/>
        </p:nvSpPr>
        <p:spPr>
          <a:xfrm>
            <a:off x="548640" y="914400"/>
            <a:ext cx="11094415" cy="822960"/>
          </a:xfrm>
          <a:prstGeom prst="rect">
            <a:avLst/>
          </a:prstGeom>
          <a:noFill/>
          <a:ln/>
        </p:spPr>
        <p:txBody>
          <a:bodyPr wrap="square" rtlCol="0" anchor="ctr"/>
          <a:lstStyle/>
          <a:p>
            <a:pPr rtl="1" algn="r" indent="0" marL="0">
              <a:buNone/>
            </a:pPr>
            <a:r>
              <a:rPr lang="en-US" sz="3400" b="1" dirty="0">
                <a:solidFill>
                  <a:srgbClr val="0A1628"/>
                </a:solidFill>
                <a:latin typeface="Calibri" pitchFamily="34" charset="0"/>
                <a:ea typeface="Calibri" pitchFamily="34" charset="-122"/>
                <a:cs typeface="Calibri" pitchFamily="34" charset="-120"/>
              </a:rPr>
              <a:t>الحزم المقترحة</a:t>
            </a:r>
            <a:endParaRPr lang="en-US" sz="3400" dirty="0"/>
          </a:p>
        </p:txBody>
      </p:sp>
      <p:sp>
        <p:nvSpPr>
          <p:cNvPr id="7" name="Text 5"/>
          <p:cNvSpPr/>
          <p:nvPr/>
        </p:nvSpPr>
        <p:spPr>
          <a:xfrm>
            <a:off x="548640" y="1691640"/>
            <a:ext cx="11094415" cy="411480"/>
          </a:xfrm>
          <a:prstGeom prst="rect">
            <a:avLst/>
          </a:prstGeom>
          <a:noFill/>
          <a:ln/>
        </p:spPr>
        <p:txBody>
          <a:bodyPr wrap="square" rtlCol="0" anchor="ctr"/>
          <a:lstStyle/>
          <a:p>
            <a:pPr rtl="1" algn="r" indent="0" marL="0">
              <a:buNone/>
            </a:pPr>
            <a:r>
              <a:rPr lang="en-US" sz="1500" dirty="0">
                <a:solidFill>
                  <a:srgbClr val="55606E"/>
                </a:solidFill>
                <a:latin typeface="Calibri" pitchFamily="34" charset="0"/>
                <a:ea typeface="Calibri" pitchFamily="34" charset="-122"/>
                <a:cs typeface="Calibri" pitchFamily="34" charset="-120"/>
              </a:rPr>
              <a:t>ثلاث حزم enterprise — مصمّمة لشركات اللوجستيات الكبرى</a:t>
            </a:r>
            <a:endParaRPr lang="en-US" sz="1500" dirty="0"/>
          </a:p>
        </p:txBody>
      </p:sp>
      <p:sp>
        <p:nvSpPr>
          <p:cNvPr id="8" name="Shape 6"/>
          <p:cNvSpPr/>
          <p:nvPr/>
        </p:nvSpPr>
        <p:spPr>
          <a:xfrm>
            <a:off x="8127797" y="2331720"/>
            <a:ext cx="3515258" cy="3931920"/>
          </a:xfrm>
          <a:prstGeom prst="rect">
            <a:avLst/>
          </a:prstGeom>
          <a:solidFill>
            <a:srgbClr val="FFFFFF"/>
          </a:solidFill>
          <a:ln w="12700">
            <a:solidFill>
              <a:srgbClr val="E8E3D6"/>
            </a:solidFill>
            <a:prstDash val="solid"/>
          </a:ln>
        </p:spPr>
      </p:sp>
      <p:sp>
        <p:nvSpPr>
          <p:cNvPr id="9" name="Text 7"/>
          <p:cNvSpPr/>
          <p:nvPr/>
        </p:nvSpPr>
        <p:spPr>
          <a:xfrm>
            <a:off x="8127797" y="2560320"/>
            <a:ext cx="3515258" cy="365760"/>
          </a:xfrm>
          <a:prstGeom prst="rect">
            <a:avLst/>
          </a:prstGeom>
          <a:noFill/>
          <a:ln/>
        </p:spPr>
        <p:txBody>
          <a:bodyPr wrap="square" rtlCol="0" anchor="ctr"/>
          <a:lstStyle/>
          <a:p>
            <a:pPr rtl="1" algn="ctr" indent="0" marL="0">
              <a:buNone/>
            </a:pPr>
            <a:r>
              <a:rPr lang="en-US" sz="2000" b="1" dirty="0">
                <a:solidFill>
                  <a:srgbClr val="0A1628"/>
                </a:solidFill>
                <a:latin typeface="Calibri" pitchFamily="34" charset="0"/>
                <a:ea typeface="Calibri" pitchFamily="34" charset="-122"/>
                <a:cs typeface="Calibri" pitchFamily="34" charset="-120"/>
              </a:rPr>
              <a:t>النمو</a:t>
            </a:r>
            <a:endParaRPr lang="en-US" sz="2000" dirty="0"/>
          </a:p>
        </p:txBody>
      </p:sp>
      <p:sp>
        <p:nvSpPr>
          <p:cNvPr id="10" name="Text 8"/>
          <p:cNvSpPr/>
          <p:nvPr/>
        </p:nvSpPr>
        <p:spPr>
          <a:xfrm>
            <a:off x="8127797" y="2926080"/>
            <a:ext cx="3515258" cy="274320"/>
          </a:xfrm>
          <a:prstGeom prst="rect">
            <a:avLst/>
          </a:prstGeom>
          <a:noFill/>
          <a:ln/>
        </p:spPr>
        <p:txBody>
          <a:bodyPr wrap="square" rtlCol="0" anchor="ctr"/>
          <a:lstStyle/>
          <a:p>
            <a:pPr algn="ctr" indent="0" marL="0">
              <a:buNone/>
            </a:pPr>
            <a:r>
              <a:rPr lang="en-US" sz="1100" b="1" dirty="0">
                <a:solidFill>
                  <a:srgbClr val="55606E"/>
                </a:solidFill>
                <a:latin typeface="Calibri" pitchFamily="34" charset="0"/>
                <a:ea typeface="Calibri" pitchFamily="34" charset="-122"/>
                <a:cs typeface="Calibri" pitchFamily="34" charset="-120"/>
              </a:rPr>
              <a:t>Growth</a:t>
            </a:r>
            <a:endParaRPr lang="en-US" sz="1100" dirty="0"/>
          </a:p>
        </p:txBody>
      </p:sp>
      <p:sp>
        <p:nvSpPr>
          <p:cNvPr id="11" name="Text 9"/>
          <p:cNvSpPr/>
          <p:nvPr/>
        </p:nvSpPr>
        <p:spPr>
          <a:xfrm>
            <a:off x="8127797" y="3337560"/>
            <a:ext cx="3515258" cy="640080"/>
          </a:xfrm>
          <a:prstGeom prst="rect">
            <a:avLst/>
          </a:prstGeom>
          <a:noFill/>
          <a:ln/>
        </p:spPr>
        <p:txBody>
          <a:bodyPr wrap="square" rtlCol="0" anchor="ctr"/>
          <a:lstStyle/>
          <a:p>
            <a:pPr rtl="1" algn="ctr" indent="0" marL="0">
              <a:buNone/>
            </a:pPr>
            <a:r>
              <a:rPr lang="en-US" sz="3600" b="1" dirty="0">
                <a:solidFill>
                  <a:srgbClr val="0A1628"/>
                </a:solidFill>
                <a:latin typeface="Calibri" pitchFamily="34" charset="0"/>
                <a:ea typeface="Calibri" pitchFamily="34" charset="-122"/>
                <a:cs typeface="Calibri" pitchFamily="34" charset="-120"/>
              </a:rPr>
              <a:t>—</a:t>
            </a:r>
            <a:endParaRPr lang="en-US" sz="3600" dirty="0"/>
          </a:p>
        </p:txBody>
      </p:sp>
      <p:sp>
        <p:nvSpPr>
          <p:cNvPr id="12" name="Text 10"/>
          <p:cNvSpPr/>
          <p:nvPr/>
        </p:nvSpPr>
        <p:spPr>
          <a:xfrm>
            <a:off x="8127797" y="3977640"/>
            <a:ext cx="3515258" cy="274320"/>
          </a:xfrm>
          <a:prstGeom prst="rect">
            <a:avLst/>
          </a:prstGeom>
          <a:noFill/>
          <a:ln/>
        </p:spPr>
        <p:txBody>
          <a:bodyPr wrap="square" rtlCol="0" anchor="ctr"/>
          <a:lstStyle/>
          <a:p>
            <a:pPr rtl="1" algn="ctr" indent="0" marL="0">
              <a:buNone/>
            </a:pPr>
            <a:r>
              <a:rPr lang="en-US" sz="1100" dirty="0">
                <a:solidFill>
                  <a:srgbClr val="55606E"/>
                </a:solidFill>
                <a:latin typeface="Calibri" pitchFamily="34" charset="0"/>
                <a:ea typeface="Calibri" pitchFamily="34" charset="-122"/>
                <a:cs typeface="Calibri" pitchFamily="34" charset="-120"/>
              </a:rPr>
              <a:t>لفرع واحد</a:t>
            </a:r>
            <a:endParaRPr lang="en-US" sz="1100" dirty="0"/>
          </a:p>
        </p:txBody>
      </p:sp>
      <p:sp>
        <p:nvSpPr>
          <p:cNvPr id="13" name="Shape 11"/>
          <p:cNvSpPr/>
          <p:nvPr/>
        </p:nvSpPr>
        <p:spPr>
          <a:xfrm>
            <a:off x="9611106" y="4343400"/>
            <a:ext cx="548640" cy="18288"/>
          </a:xfrm>
          <a:prstGeom prst="rect">
            <a:avLst/>
          </a:prstGeom>
          <a:solidFill>
            <a:srgbClr val="D4A574"/>
          </a:solidFill>
          <a:ln/>
        </p:spPr>
      </p:sp>
      <p:sp>
        <p:nvSpPr>
          <p:cNvPr id="14" name="Text 12"/>
          <p:cNvSpPr/>
          <p:nvPr/>
        </p:nvSpPr>
        <p:spPr>
          <a:xfrm>
            <a:off x="8264957" y="4480560"/>
            <a:ext cx="3240938" cy="320040"/>
          </a:xfrm>
          <a:prstGeom prst="rect">
            <a:avLst/>
          </a:prstGeom>
          <a:noFill/>
          <a:ln/>
        </p:spPr>
        <p:txBody>
          <a:bodyPr wrap="square" rtlCol="0" anchor="ctr"/>
          <a:lstStyle/>
          <a:p>
            <a:pPr rtl="1" algn="ctr" indent="0" marL="0">
              <a:buNone/>
            </a:pPr>
            <a:r>
              <a:rPr lang="en-US" sz="1100" i="1" dirty="0">
                <a:solidFill>
                  <a:srgbClr val="D4A574"/>
                </a:solidFill>
                <a:latin typeface="Georgia" pitchFamily="34" charset="0"/>
                <a:ea typeface="Georgia" pitchFamily="34" charset="-122"/>
                <a:cs typeface="Georgia" pitchFamily="34" charset="-120"/>
              </a:rPr>
              <a:t>لفرع واحد · 30-50 مستخدم</a:t>
            </a:r>
            <a:endParaRPr lang="en-US" sz="1100" dirty="0"/>
          </a:p>
        </p:txBody>
      </p:sp>
      <p:sp>
        <p:nvSpPr>
          <p:cNvPr id="15" name="Text 13"/>
          <p:cNvSpPr/>
          <p:nvPr/>
        </p:nvSpPr>
        <p:spPr>
          <a:xfrm>
            <a:off x="11368735" y="4892040"/>
            <a:ext cx="137160" cy="228600"/>
          </a:xfrm>
          <a:prstGeom prst="rect">
            <a:avLst/>
          </a:prstGeom>
          <a:noFill/>
          <a:ln/>
        </p:spPr>
        <p:txBody>
          <a:bodyPr wrap="square" rtlCol="0" anchor="ctr"/>
          <a:lstStyle/>
          <a:p>
            <a:pPr algn="r" indent="0" marL="0">
              <a:buNone/>
            </a:pPr>
            <a:r>
              <a:rPr lang="en-US" sz="1200" dirty="0">
                <a:solidFill>
                  <a:srgbClr val="D4A574"/>
                </a:solidFill>
                <a:latin typeface="Calibri" pitchFamily="34" charset="0"/>
                <a:ea typeface="Calibri" pitchFamily="34" charset="-122"/>
                <a:cs typeface="Calibri" pitchFamily="34" charset="-120"/>
              </a:rPr>
              <a:t>•</a:t>
            </a:r>
            <a:endParaRPr lang="en-US" sz="1200" dirty="0"/>
          </a:p>
        </p:txBody>
      </p:sp>
      <p:sp>
        <p:nvSpPr>
          <p:cNvPr id="16" name="Text 14"/>
          <p:cNvSpPr/>
          <p:nvPr/>
        </p:nvSpPr>
        <p:spPr>
          <a:xfrm>
            <a:off x="8264957" y="4892040"/>
            <a:ext cx="3058058" cy="228600"/>
          </a:xfrm>
          <a:prstGeom prst="rect">
            <a:avLst/>
          </a:prstGeom>
          <a:noFill/>
          <a:ln/>
        </p:spPr>
        <p:txBody>
          <a:bodyPr wrap="square" rtlCol="0" anchor="ctr"/>
          <a:lstStyle/>
          <a:p>
            <a:pPr rtl="1" algn="r" indent="0" marL="0">
              <a:buNone/>
            </a:pPr>
            <a:r>
              <a:rPr lang="en-US" sz="1050" dirty="0">
                <a:solidFill>
                  <a:srgbClr val="1A1A1A"/>
                </a:solidFill>
                <a:latin typeface="Calibri" pitchFamily="34" charset="0"/>
                <a:ea typeface="Calibri" pitchFamily="34" charset="-122"/>
                <a:cs typeface="Calibri" pitchFamily="34" charset="-120"/>
              </a:rPr>
              <a:t>كل ركائز المنتج الأساسية</a:t>
            </a:r>
            <a:endParaRPr lang="en-US" sz="1050" dirty="0"/>
          </a:p>
        </p:txBody>
      </p:sp>
      <p:sp>
        <p:nvSpPr>
          <p:cNvPr id="17" name="Text 15"/>
          <p:cNvSpPr/>
          <p:nvPr/>
        </p:nvSpPr>
        <p:spPr>
          <a:xfrm>
            <a:off x="11368735" y="5120640"/>
            <a:ext cx="137160" cy="228600"/>
          </a:xfrm>
          <a:prstGeom prst="rect">
            <a:avLst/>
          </a:prstGeom>
          <a:noFill/>
          <a:ln/>
        </p:spPr>
        <p:txBody>
          <a:bodyPr wrap="square" rtlCol="0" anchor="ctr"/>
          <a:lstStyle/>
          <a:p>
            <a:pPr algn="r" indent="0" marL="0">
              <a:buNone/>
            </a:pPr>
            <a:r>
              <a:rPr lang="en-US" sz="1200" dirty="0">
                <a:solidFill>
                  <a:srgbClr val="D4A574"/>
                </a:solidFill>
                <a:latin typeface="Calibri" pitchFamily="34" charset="0"/>
                <a:ea typeface="Calibri" pitchFamily="34" charset="-122"/>
                <a:cs typeface="Calibri" pitchFamily="34" charset="-120"/>
              </a:rPr>
              <a:t>•</a:t>
            </a:r>
            <a:endParaRPr lang="en-US" sz="1200" dirty="0"/>
          </a:p>
        </p:txBody>
      </p:sp>
      <p:sp>
        <p:nvSpPr>
          <p:cNvPr id="18" name="Text 16"/>
          <p:cNvSpPr/>
          <p:nvPr/>
        </p:nvSpPr>
        <p:spPr>
          <a:xfrm>
            <a:off x="8264957" y="5120640"/>
            <a:ext cx="3058058" cy="228600"/>
          </a:xfrm>
          <a:prstGeom prst="rect">
            <a:avLst/>
          </a:prstGeom>
          <a:noFill/>
          <a:ln/>
        </p:spPr>
        <p:txBody>
          <a:bodyPr wrap="square" rtlCol="0" anchor="ctr"/>
          <a:lstStyle/>
          <a:p>
            <a:pPr rtl="1" algn="r" indent="0" marL="0">
              <a:buNone/>
            </a:pPr>
            <a:r>
              <a:rPr lang="en-US" sz="1050" dirty="0">
                <a:solidFill>
                  <a:srgbClr val="1A1A1A"/>
                </a:solidFill>
                <a:latin typeface="Calibri" pitchFamily="34" charset="0"/>
                <a:ea typeface="Calibri" pitchFamily="34" charset="-122"/>
                <a:cs typeface="Calibri" pitchFamily="34" charset="-120"/>
              </a:rPr>
              <a:t>تكامل مع 3 أنظمة خارجية</a:t>
            </a:r>
            <a:endParaRPr lang="en-US" sz="1050" dirty="0"/>
          </a:p>
        </p:txBody>
      </p:sp>
      <p:sp>
        <p:nvSpPr>
          <p:cNvPr id="19" name="Text 17"/>
          <p:cNvSpPr/>
          <p:nvPr/>
        </p:nvSpPr>
        <p:spPr>
          <a:xfrm>
            <a:off x="11368735" y="5349240"/>
            <a:ext cx="137160" cy="228600"/>
          </a:xfrm>
          <a:prstGeom prst="rect">
            <a:avLst/>
          </a:prstGeom>
          <a:noFill/>
          <a:ln/>
        </p:spPr>
        <p:txBody>
          <a:bodyPr wrap="square" rtlCol="0" anchor="ctr"/>
          <a:lstStyle/>
          <a:p>
            <a:pPr algn="r" indent="0" marL="0">
              <a:buNone/>
            </a:pPr>
            <a:r>
              <a:rPr lang="en-US" sz="1200" dirty="0">
                <a:solidFill>
                  <a:srgbClr val="D4A574"/>
                </a:solidFill>
                <a:latin typeface="Calibri" pitchFamily="34" charset="0"/>
                <a:ea typeface="Calibri" pitchFamily="34" charset="-122"/>
                <a:cs typeface="Calibri" pitchFamily="34" charset="-120"/>
              </a:rPr>
              <a:t>•</a:t>
            </a:r>
            <a:endParaRPr lang="en-US" sz="1200" dirty="0"/>
          </a:p>
        </p:txBody>
      </p:sp>
      <p:sp>
        <p:nvSpPr>
          <p:cNvPr id="20" name="Text 18"/>
          <p:cNvSpPr/>
          <p:nvPr/>
        </p:nvSpPr>
        <p:spPr>
          <a:xfrm>
            <a:off x="8264957" y="5349240"/>
            <a:ext cx="3058058" cy="228600"/>
          </a:xfrm>
          <a:prstGeom prst="rect">
            <a:avLst/>
          </a:prstGeom>
          <a:noFill/>
          <a:ln/>
        </p:spPr>
        <p:txBody>
          <a:bodyPr wrap="square" rtlCol="0" anchor="ctr"/>
          <a:lstStyle/>
          <a:p>
            <a:pPr rtl="1" algn="r" indent="0" marL="0">
              <a:buNone/>
            </a:pPr>
            <a:r>
              <a:rPr lang="en-US" sz="1050" dirty="0">
                <a:solidFill>
                  <a:srgbClr val="1A1A1A"/>
                </a:solidFill>
                <a:latin typeface="Calibri" pitchFamily="34" charset="0"/>
                <a:ea typeface="Calibri" pitchFamily="34" charset="-122"/>
                <a:cs typeface="Calibri" pitchFamily="34" charset="-120"/>
              </a:rPr>
              <a:t>دعم 8/5 بالعربية</a:t>
            </a:r>
            <a:endParaRPr lang="en-US" sz="1050" dirty="0"/>
          </a:p>
        </p:txBody>
      </p:sp>
      <p:sp>
        <p:nvSpPr>
          <p:cNvPr id="21" name="Text 19"/>
          <p:cNvSpPr/>
          <p:nvPr/>
        </p:nvSpPr>
        <p:spPr>
          <a:xfrm>
            <a:off x="11368735" y="5577840"/>
            <a:ext cx="137160" cy="228600"/>
          </a:xfrm>
          <a:prstGeom prst="rect">
            <a:avLst/>
          </a:prstGeom>
          <a:noFill/>
          <a:ln/>
        </p:spPr>
        <p:txBody>
          <a:bodyPr wrap="square" rtlCol="0" anchor="ctr"/>
          <a:lstStyle/>
          <a:p>
            <a:pPr algn="r" indent="0" marL="0">
              <a:buNone/>
            </a:pPr>
            <a:r>
              <a:rPr lang="en-US" sz="1200" dirty="0">
                <a:solidFill>
                  <a:srgbClr val="D4A574"/>
                </a:solidFill>
                <a:latin typeface="Calibri" pitchFamily="34" charset="0"/>
                <a:ea typeface="Calibri" pitchFamily="34" charset="-122"/>
                <a:cs typeface="Calibri" pitchFamily="34" charset="-120"/>
              </a:rPr>
              <a:t>•</a:t>
            </a:r>
            <a:endParaRPr lang="en-US" sz="1200" dirty="0"/>
          </a:p>
        </p:txBody>
      </p:sp>
      <p:sp>
        <p:nvSpPr>
          <p:cNvPr id="22" name="Text 20"/>
          <p:cNvSpPr/>
          <p:nvPr/>
        </p:nvSpPr>
        <p:spPr>
          <a:xfrm>
            <a:off x="8264957" y="5577840"/>
            <a:ext cx="3058058" cy="228600"/>
          </a:xfrm>
          <a:prstGeom prst="rect">
            <a:avLst/>
          </a:prstGeom>
          <a:noFill/>
          <a:ln/>
        </p:spPr>
        <p:txBody>
          <a:bodyPr wrap="square" rtlCol="0" anchor="ctr"/>
          <a:lstStyle/>
          <a:p>
            <a:pPr rtl="1" algn="r" indent="0" marL="0">
              <a:buNone/>
            </a:pPr>
            <a:r>
              <a:rPr lang="en-US" sz="1050" dirty="0">
                <a:solidFill>
                  <a:srgbClr val="1A1A1A"/>
                </a:solidFill>
                <a:latin typeface="Calibri" pitchFamily="34" charset="0"/>
                <a:ea typeface="Calibri" pitchFamily="34" charset="-122"/>
                <a:cs typeface="Calibri" pitchFamily="34" charset="-120"/>
              </a:rPr>
              <a:t>مراجعة ربعية</a:t>
            </a:r>
            <a:endParaRPr lang="en-US" sz="1050" dirty="0"/>
          </a:p>
        </p:txBody>
      </p:sp>
      <p:sp>
        <p:nvSpPr>
          <p:cNvPr id="23" name="Text 21"/>
          <p:cNvSpPr/>
          <p:nvPr/>
        </p:nvSpPr>
        <p:spPr>
          <a:xfrm>
            <a:off x="11368735" y="5806440"/>
            <a:ext cx="137160" cy="228600"/>
          </a:xfrm>
          <a:prstGeom prst="rect">
            <a:avLst/>
          </a:prstGeom>
          <a:noFill/>
          <a:ln/>
        </p:spPr>
        <p:txBody>
          <a:bodyPr wrap="square" rtlCol="0" anchor="ctr"/>
          <a:lstStyle/>
          <a:p>
            <a:pPr algn="r" indent="0" marL="0">
              <a:buNone/>
            </a:pPr>
            <a:r>
              <a:rPr lang="en-US" sz="1200" dirty="0">
                <a:solidFill>
                  <a:srgbClr val="D4A574"/>
                </a:solidFill>
                <a:latin typeface="Calibri" pitchFamily="34" charset="0"/>
                <a:ea typeface="Calibri" pitchFamily="34" charset="-122"/>
                <a:cs typeface="Calibri" pitchFamily="34" charset="-120"/>
              </a:rPr>
              <a:t>•</a:t>
            </a:r>
            <a:endParaRPr lang="en-US" sz="1200" dirty="0"/>
          </a:p>
        </p:txBody>
      </p:sp>
      <p:sp>
        <p:nvSpPr>
          <p:cNvPr id="24" name="Text 22"/>
          <p:cNvSpPr/>
          <p:nvPr/>
        </p:nvSpPr>
        <p:spPr>
          <a:xfrm>
            <a:off x="8264957" y="5806440"/>
            <a:ext cx="3058058" cy="228600"/>
          </a:xfrm>
          <a:prstGeom prst="rect">
            <a:avLst/>
          </a:prstGeom>
          <a:noFill/>
          <a:ln/>
        </p:spPr>
        <p:txBody>
          <a:bodyPr wrap="square" rtlCol="0" anchor="ctr"/>
          <a:lstStyle/>
          <a:p>
            <a:pPr rtl="1" algn="r" indent="0" marL="0">
              <a:buNone/>
            </a:pPr>
            <a:r>
              <a:rPr lang="en-US" sz="1050" dirty="0">
                <a:solidFill>
                  <a:srgbClr val="1A1A1A"/>
                </a:solidFill>
                <a:latin typeface="Calibri" pitchFamily="34" charset="0"/>
                <a:ea typeface="Calibri" pitchFamily="34" charset="-122"/>
                <a:cs typeface="Calibri" pitchFamily="34" charset="-120"/>
              </a:rPr>
              <a:t>حتى 50K فرصة/شهر</a:t>
            </a:r>
            <a:endParaRPr lang="en-US" sz="1050" dirty="0"/>
          </a:p>
        </p:txBody>
      </p:sp>
      <p:sp>
        <p:nvSpPr>
          <p:cNvPr id="25" name="Shape 23"/>
          <p:cNvSpPr/>
          <p:nvPr/>
        </p:nvSpPr>
        <p:spPr>
          <a:xfrm>
            <a:off x="4338218" y="2331720"/>
            <a:ext cx="3515258" cy="3931920"/>
          </a:xfrm>
          <a:prstGeom prst="rect">
            <a:avLst/>
          </a:prstGeom>
          <a:solidFill>
            <a:srgbClr val="0A1628"/>
          </a:solidFill>
          <a:ln w="25400">
            <a:solidFill>
              <a:srgbClr val="D4A574"/>
            </a:solidFill>
            <a:prstDash val="solid"/>
          </a:ln>
        </p:spPr>
      </p:sp>
      <p:sp>
        <p:nvSpPr>
          <p:cNvPr id="26" name="Shape 24"/>
          <p:cNvSpPr/>
          <p:nvPr/>
        </p:nvSpPr>
        <p:spPr>
          <a:xfrm>
            <a:off x="5090008" y="2148840"/>
            <a:ext cx="2011680" cy="365760"/>
          </a:xfrm>
          <a:prstGeom prst="rect">
            <a:avLst/>
          </a:prstGeom>
          <a:solidFill>
            <a:srgbClr val="D4A574"/>
          </a:solidFill>
          <a:ln/>
        </p:spPr>
      </p:sp>
      <p:sp>
        <p:nvSpPr>
          <p:cNvPr id="27" name="Text 25"/>
          <p:cNvSpPr/>
          <p:nvPr/>
        </p:nvSpPr>
        <p:spPr>
          <a:xfrm>
            <a:off x="5090008" y="2148840"/>
            <a:ext cx="2011680" cy="365760"/>
          </a:xfrm>
          <a:prstGeom prst="rect">
            <a:avLst/>
          </a:prstGeom>
          <a:noFill/>
          <a:ln/>
        </p:spPr>
        <p:txBody>
          <a:bodyPr wrap="square" rtlCol="0" anchor="ctr"/>
          <a:lstStyle/>
          <a:p>
            <a:pPr rtl="1" algn="ctr" indent="0" marL="0">
              <a:buNone/>
            </a:pPr>
            <a:r>
              <a:rPr lang="en-US" sz="1000" b="1" dirty="0">
                <a:solidFill>
                  <a:srgbClr val="0A1628"/>
                </a:solidFill>
                <a:latin typeface="Calibri" pitchFamily="34" charset="0"/>
                <a:ea typeface="Calibri" pitchFamily="34" charset="-122"/>
                <a:cs typeface="Calibri" pitchFamily="34" charset="-120"/>
              </a:rPr>
              <a:t>الأكثر ملاءمة لكم</a:t>
            </a:r>
            <a:endParaRPr lang="en-US" sz="1000" dirty="0"/>
          </a:p>
        </p:txBody>
      </p:sp>
      <p:sp>
        <p:nvSpPr>
          <p:cNvPr id="28" name="Text 26"/>
          <p:cNvSpPr/>
          <p:nvPr/>
        </p:nvSpPr>
        <p:spPr>
          <a:xfrm>
            <a:off x="4338218" y="2560320"/>
            <a:ext cx="3515258" cy="365760"/>
          </a:xfrm>
          <a:prstGeom prst="rect">
            <a:avLst/>
          </a:prstGeom>
          <a:noFill/>
          <a:ln/>
        </p:spPr>
        <p:txBody>
          <a:bodyPr wrap="square" rtlCol="0" anchor="ctr"/>
          <a:lstStyle/>
          <a:p>
            <a:pPr rtl="1" algn="ctr" indent="0" marL="0">
              <a:buNone/>
            </a:pPr>
            <a:r>
              <a:rPr lang="en-US" sz="2000" b="1" dirty="0">
                <a:solidFill>
                  <a:srgbClr val="D4A574"/>
                </a:solidFill>
                <a:latin typeface="Calibri" pitchFamily="34" charset="0"/>
                <a:ea typeface="Calibri" pitchFamily="34" charset="-122"/>
                <a:cs typeface="Calibri" pitchFamily="34" charset="-120"/>
              </a:rPr>
              <a:t>المؤسسي</a:t>
            </a:r>
            <a:endParaRPr lang="en-US" sz="2000" dirty="0"/>
          </a:p>
        </p:txBody>
      </p:sp>
      <p:sp>
        <p:nvSpPr>
          <p:cNvPr id="29" name="Text 27"/>
          <p:cNvSpPr/>
          <p:nvPr/>
        </p:nvSpPr>
        <p:spPr>
          <a:xfrm>
            <a:off x="4338218" y="2926080"/>
            <a:ext cx="3515258" cy="274320"/>
          </a:xfrm>
          <a:prstGeom prst="rect">
            <a:avLst/>
          </a:prstGeom>
          <a:noFill/>
          <a:ln/>
        </p:spPr>
        <p:txBody>
          <a:bodyPr wrap="square" rtlCol="0" anchor="ctr"/>
          <a:lstStyle/>
          <a:p>
            <a:pPr algn="ctr" indent="0" marL="0">
              <a:buNone/>
            </a:pPr>
            <a:r>
              <a:rPr lang="en-US" sz="1100" b="1" dirty="0">
                <a:solidFill>
                  <a:srgbClr val="B9C2CD"/>
                </a:solidFill>
                <a:latin typeface="Calibri" pitchFamily="34" charset="0"/>
                <a:ea typeface="Calibri" pitchFamily="34" charset="-122"/>
                <a:cs typeface="Calibri" pitchFamily="34" charset="-120"/>
              </a:rPr>
              <a:t>Enterprise</a:t>
            </a:r>
            <a:endParaRPr lang="en-US" sz="1100" dirty="0"/>
          </a:p>
        </p:txBody>
      </p:sp>
      <p:sp>
        <p:nvSpPr>
          <p:cNvPr id="30" name="Text 28"/>
          <p:cNvSpPr/>
          <p:nvPr/>
        </p:nvSpPr>
        <p:spPr>
          <a:xfrm>
            <a:off x="4338218" y="3337560"/>
            <a:ext cx="3515258" cy="640080"/>
          </a:xfrm>
          <a:prstGeom prst="rect">
            <a:avLst/>
          </a:prstGeom>
          <a:noFill/>
          <a:ln/>
        </p:spPr>
        <p:txBody>
          <a:bodyPr wrap="square" rtlCol="0" anchor="ctr"/>
          <a:lstStyle/>
          <a:p>
            <a:pPr rtl="1" algn="ctr" indent="0" marL="0">
              <a:buNone/>
            </a:pPr>
            <a:r>
              <a:rPr lang="en-US" sz="3600" b="1" dirty="0">
                <a:solidFill>
                  <a:srgbClr val="F5F5F5"/>
                </a:solidFill>
                <a:latin typeface="Calibri" pitchFamily="34" charset="0"/>
                <a:ea typeface="Calibri" pitchFamily="34" charset="-122"/>
                <a:cs typeface="Calibri" pitchFamily="34" charset="-120"/>
              </a:rPr>
              <a:t>—</a:t>
            </a:r>
            <a:endParaRPr lang="en-US" sz="3600" dirty="0"/>
          </a:p>
        </p:txBody>
      </p:sp>
      <p:sp>
        <p:nvSpPr>
          <p:cNvPr id="31" name="Text 29"/>
          <p:cNvSpPr/>
          <p:nvPr/>
        </p:nvSpPr>
        <p:spPr>
          <a:xfrm>
            <a:off x="4338218" y="3977640"/>
            <a:ext cx="3515258" cy="274320"/>
          </a:xfrm>
          <a:prstGeom prst="rect">
            <a:avLst/>
          </a:prstGeom>
          <a:noFill/>
          <a:ln/>
        </p:spPr>
        <p:txBody>
          <a:bodyPr wrap="square" rtlCol="0" anchor="ctr"/>
          <a:lstStyle/>
          <a:p>
            <a:pPr rtl="1" algn="ctr" indent="0" marL="0">
              <a:buNone/>
            </a:pPr>
            <a:r>
              <a:rPr lang="en-US" sz="1100" dirty="0">
                <a:solidFill>
                  <a:srgbClr val="B9C2CD"/>
                </a:solidFill>
                <a:latin typeface="Calibri" pitchFamily="34" charset="0"/>
                <a:ea typeface="Calibri" pitchFamily="34" charset="-122"/>
                <a:cs typeface="Calibri" pitchFamily="34" charset="-120"/>
              </a:rPr>
              <a:t>متعدد الفروع</a:t>
            </a:r>
            <a:endParaRPr lang="en-US" sz="1100" dirty="0"/>
          </a:p>
        </p:txBody>
      </p:sp>
      <p:sp>
        <p:nvSpPr>
          <p:cNvPr id="32" name="Shape 30"/>
          <p:cNvSpPr/>
          <p:nvPr/>
        </p:nvSpPr>
        <p:spPr>
          <a:xfrm>
            <a:off x="5821528" y="4343400"/>
            <a:ext cx="548640" cy="18288"/>
          </a:xfrm>
          <a:prstGeom prst="rect">
            <a:avLst/>
          </a:prstGeom>
          <a:solidFill>
            <a:srgbClr val="D4A574"/>
          </a:solidFill>
          <a:ln/>
        </p:spPr>
      </p:sp>
      <p:sp>
        <p:nvSpPr>
          <p:cNvPr id="33" name="Text 31"/>
          <p:cNvSpPr/>
          <p:nvPr/>
        </p:nvSpPr>
        <p:spPr>
          <a:xfrm>
            <a:off x="4475378" y="4480560"/>
            <a:ext cx="3240938" cy="320040"/>
          </a:xfrm>
          <a:prstGeom prst="rect">
            <a:avLst/>
          </a:prstGeom>
          <a:noFill/>
          <a:ln/>
        </p:spPr>
        <p:txBody>
          <a:bodyPr wrap="square" rtlCol="0" anchor="ctr"/>
          <a:lstStyle/>
          <a:p>
            <a:pPr rtl="1" algn="ctr" indent="0" marL="0">
              <a:buNone/>
            </a:pPr>
            <a:r>
              <a:rPr lang="en-US" sz="1100" i="1" dirty="0">
                <a:solidFill>
                  <a:srgbClr val="D4A574"/>
                </a:solidFill>
                <a:latin typeface="Georgia" pitchFamily="34" charset="0"/>
                <a:ea typeface="Georgia" pitchFamily="34" charset="-122"/>
                <a:cs typeface="Georgia" pitchFamily="34" charset="-120"/>
              </a:rPr>
              <a:t>لـ 3-5 فروع · 100-250 مستخدم</a:t>
            </a:r>
            <a:endParaRPr lang="en-US" sz="1100" dirty="0"/>
          </a:p>
        </p:txBody>
      </p:sp>
      <p:sp>
        <p:nvSpPr>
          <p:cNvPr id="34" name="Text 32"/>
          <p:cNvSpPr/>
          <p:nvPr/>
        </p:nvSpPr>
        <p:spPr>
          <a:xfrm>
            <a:off x="7579157" y="4892040"/>
            <a:ext cx="137160" cy="228600"/>
          </a:xfrm>
          <a:prstGeom prst="rect">
            <a:avLst/>
          </a:prstGeom>
          <a:noFill/>
          <a:ln/>
        </p:spPr>
        <p:txBody>
          <a:bodyPr wrap="square" rtlCol="0" anchor="ctr"/>
          <a:lstStyle/>
          <a:p>
            <a:pPr algn="r" indent="0" marL="0">
              <a:buNone/>
            </a:pPr>
            <a:r>
              <a:rPr lang="en-US" sz="1200" dirty="0">
                <a:solidFill>
                  <a:srgbClr val="D4A574"/>
                </a:solidFill>
                <a:latin typeface="Calibri" pitchFamily="34" charset="0"/>
                <a:ea typeface="Calibri" pitchFamily="34" charset="-122"/>
                <a:cs typeface="Calibri" pitchFamily="34" charset="-120"/>
              </a:rPr>
              <a:t>•</a:t>
            </a:r>
            <a:endParaRPr lang="en-US" sz="1200" dirty="0"/>
          </a:p>
        </p:txBody>
      </p:sp>
      <p:sp>
        <p:nvSpPr>
          <p:cNvPr id="35" name="Text 33"/>
          <p:cNvSpPr/>
          <p:nvPr/>
        </p:nvSpPr>
        <p:spPr>
          <a:xfrm>
            <a:off x="4475378" y="4892040"/>
            <a:ext cx="3058058" cy="228600"/>
          </a:xfrm>
          <a:prstGeom prst="rect">
            <a:avLst/>
          </a:prstGeom>
          <a:noFill/>
          <a:ln/>
        </p:spPr>
        <p:txBody>
          <a:bodyPr wrap="square" rtlCol="0" anchor="ctr"/>
          <a:lstStyle/>
          <a:p>
            <a:pPr rtl="1" algn="r" indent="0" marL="0">
              <a:buNone/>
            </a:pPr>
            <a:r>
              <a:rPr lang="en-US" sz="1050" dirty="0">
                <a:solidFill>
                  <a:srgbClr val="F5F5F5"/>
                </a:solidFill>
                <a:latin typeface="Calibri" pitchFamily="34" charset="0"/>
                <a:ea typeface="Calibri" pitchFamily="34" charset="-122"/>
                <a:cs typeface="Calibri" pitchFamily="34" charset="-120"/>
              </a:rPr>
              <a:t>كل ميزات Growth</a:t>
            </a:r>
            <a:endParaRPr lang="en-US" sz="1050" dirty="0"/>
          </a:p>
        </p:txBody>
      </p:sp>
      <p:sp>
        <p:nvSpPr>
          <p:cNvPr id="36" name="Text 34"/>
          <p:cNvSpPr/>
          <p:nvPr/>
        </p:nvSpPr>
        <p:spPr>
          <a:xfrm>
            <a:off x="7579157" y="5120640"/>
            <a:ext cx="137160" cy="228600"/>
          </a:xfrm>
          <a:prstGeom prst="rect">
            <a:avLst/>
          </a:prstGeom>
          <a:noFill/>
          <a:ln/>
        </p:spPr>
        <p:txBody>
          <a:bodyPr wrap="square" rtlCol="0" anchor="ctr"/>
          <a:lstStyle/>
          <a:p>
            <a:pPr algn="r" indent="0" marL="0">
              <a:buNone/>
            </a:pPr>
            <a:r>
              <a:rPr lang="en-US" sz="1200" dirty="0">
                <a:solidFill>
                  <a:srgbClr val="D4A574"/>
                </a:solidFill>
                <a:latin typeface="Calibri" pitchFamily="34" charset="0"/>
                <a:ea typeface="Calibri" pitchFamily="34" charset="-122"/>
                <a:cs typeface="Calibri" pitchFamily="34" charset="-120"/>
              </a:rPr>
              <a:t>•</a:t>
            </a:r>
            <a:endParaRPr lang="en-US" sz="1200" dirty="0"/>
          </a:p>
        </p:txBody>
      </p:sp>
      <p:sp>
        <p:nvSpPr>
          <p:cNvPr id="37" name="Text 35"/>
          <p:cNvSpPr/>
          <p:nvPr/>
        </p:nvSpPr>
        <p:spPr>
          <a:xfrm>
            <a:off x="4475378" y="5120640"/>
            <a:ext cx="3058058" cy="228600"/>
          </a:xfrm>
          <a:prstGeom prst="rect">
            <a:avLst/>
          </a:prstGeom>
          <a:noFill/>
          <a:ln/>
        </p:spPr>
        <p:txBody>
          <a:bodyPr wrap="square" rtlCol="0" anchor="ctr"/>
          <a:lstStyle/>
          <a:p>
            <a:pPr rtl="1" algn="r" indent="0" marL="0">
              <a:buNone/>
            </a:pPr>
            <a:r>
              <a:rPr lang="en-US" sz="1050" dirty="0">
                <a:solidFill>
                  <a:srgbClr val="F5F5F5"/>
                </a:solidFill>
                <a:latin typeface="Calibri" pitchFamily="34" charset="0"/>
                <a:ea typeface="Calibri" pitchFamily="34" charset="-122"/>
                <a:cs typeface="Calibri" pitchFamily="34" charset="-120"/>
              </a:rPr>
              <a:t>تكاملات غير محدودة</a:t>
            </a:r>
            <a:endParaRPr lang="en-US" sz="1050" dirty="0"/>
          </a:p>
        </p:txBody>
      </p:sp>
      <p:sp>
        <p:nvSpPr>
          <p:cNvPr id="38" name="Text 36"/>
          <p:cNvSpPr/>
          <p:nvPr/>
        </p:nvSpPr>
        <p:spPr>
          <a:xfrm>
            <a:off x="7579157" y="5349240"/>
            <a:ext cx="137160" cy="228600"/>
          </a:xfrm>
          <a:prstGeom prst="rect">
            <a:avLst/>
          </a:prstGeom>
          <a:noFill/>
          <a:ln/>
        </p:spPr>
        <p:txBody>
          <a:bodyPr wrap="square" rtlCol="0" anchor="ctr"/>
          <a:lstStyle/>
          <a:p>
            <a:pPr algn="r" indent="0" marL="0">
              <a:buNone/>
            </a:pPr>
            <a:r>
              <a:rPr lang="en-US" sz="1200" dirty="0">
                <a:solidFill>
                  <a:srgbClr val="D4A574"/>
                </a:solidFill>
                <a:latin typeface="Calibri" pitchFamily="34" charset="0"/>
                <a:ea typeface="Calibri" pitchFamily="34" charset="-122"/>
                <a:cs typeface="Calibri" pitchFamily="34" charset="-120"/>
              </a:rPr>
              <a:t>•</a:t>
            </a:r>
            <a:endParaRPr lang="en-US" sz="1200" dirty="0"/>
          </a:p>
        </p:txBody>
      </p:sp>
      <p:sp>
        <p:nvSpPr>
          <p:cNvPr id="39" name="Text 37"/>
          <p:cNvSpPr/>
          <p:nvPr/>
        </p:nvSpPr>
        <p:spPr>
          <a:xfrm>
            <a:off x="4475378" y="5349240"/>
            <a:ext cx="3058058" cy="228600"/>
          </a:xfrm>
          <a:prstGeom prst="rect">
            <a:avLst/>
          </a:prstGeom>
          <a:noFill/>
          <a:ln/>
        </p:spPr>
        <p:txBody>
          <a:bodyPr wrap="square" rtlCol="0" anchor="ctr"/>
          <a:lstStyle/>
          <a:p>
            <a:pPr rtl="1" algn="r" indent="0" marL="0">
              <a:buNone/>
            </a:pPr>
            <a:r>
              <a:rPr lang="en-US" sz="1050" dirty="0">
                <a:solidFill>
                  <a:srgbClr val="F5F5F5"/>
                </a:solidFill>
                <a:latin typeface="Calibri" pitchFamily="34" charset="0"/>
                <a:ea typeface="Calibri" pitchFamily="34" charset="-122"/>
                <a:cs typeface="Calibri" pitchFamily="34" charset="-120"/>
              </a:rPr>
              <a:t>دعم 24/7 بالعربية</a:t>
            </a:r>
            <a:endParaRPr lang="en-US" sz="1050" dirty="0"/>
          </a:p>
        </p:txBody>
      </p:sp>
      <p:sp>
        <p:nvSpPr>
          <p:cNvPr id="40" name="Text 38"/>
          <p:cNvSpPr/>
          <p:nvPr/>
        </p:nvSpPr>
        <p:spPr>
          <a:xfrm>
            <a:off x="7579157" y="5577840"/>
            <a:ext cx="137160" cy="228600"/>
          </a:xfrm>
          <a:prstGeom prst="rect">
            <a:avLst/>
          </a:prstGeom>
          <a:noFill/>
          <a:ln/>
        </p:spPr>
        <p:txBody>
          <a:bodyPr wrap="square" rtlCol="0" anchor="ctr"/>
          <a:lstStyle/>
          <a:p>
            <a:pPr algn="r" indent="0" marL="0">
              <a:buNone/>
            </a:pPr>
            <a:r>
              <a:rPr lang="en-US" sz="1200" dirty="0">
                <a:solidFill>
                  <a:srgbClr val="D4A574"/>
                </a:solidFill>
                <a:latin typeface="Calibri" pitchFamily="34" charset="0"/>
                <a:ea typeface="Calibri" pitchFamily="34" charset="-122"/>
                <a:cs typeface="Calibri" pitchFamily="34" charset="-120"/>
              </a:rPr>
              <a:t>•</a:t>
            </a:r>
            <a:endParaRPr lang="en-US" sz="1200" dirty="0"/>
          </a:p>
        </p:txBody>
      </p:sp>
      <p:sp>
        <p:nvSpPr>
          <p:cNvPr id="41" name="Text 39"/>
          <p:cNvSpPr/>
          <p:nvPr/>
        </p:nvSpPr>
        <p:spPr>
          <a:xfrm>
            <a:off x="4475378" y="5577840"/>
            <a:ext cx="3058058" cy="228600"/>
          </a:xfrm>
          <a:prstGeom prst="rect">
            <a:avLst/>
          </a:prstGeom>
          <a:noFill/>
          <a:ln/>
        </p:spPr>
        <p:txBody>
          <a:bodyPr wrap="square" rtlCol="0" anchor="ctr"/>
          <a:lstStyle/>
          <a:p>
            <a:pPr rtl="1" algn="r" indent="0" marL="0">
              <a:buNone/>
            </a:pPr>
            <a:r>
              <a:rPr lang="en-US" sz="1050" dirty="0">
                <a:solidFill>
                  <a:srgbClr val="F5F5F5"/>
                </a:solidFill>
                <a:latin typeface="Calibri" pitchFamily="34" charset="0"/>
                <a:ea typeface="Calibri" pitchFamily="34" charset="-122"/>
                <a:cs typeface="Calibri" pitchFamily="34" charset="-120"/>
              </a:rPr>
              <a:t>AI مخصّص لقطاعكم</a:t>
            </a:r>
            <a:endParaRPr lang="en-US" sz="1050" dirty="0"/>
          </a:p>
        </p:txBody>
      </p:sp>
      <p:sp>
        <p:nvSpPr>
          <p:cNvPr id="42" name="Text 40"/>
          <p:cNvSpPr/>
          <p:nvPr/>
        </p:nvSpPr>
        <p:spPr>
          <a:xfrm>
            <a:off x="7579157" y="5806440"/>
            <a:ext cx="137160" cy="228600"/>
          </a:xfrm>
          <a:prstGeom prst="rect">
            <a:avLst/>
          </a:prstGeom>
          <a:noFill/>
          <a:ln/>
        </p:spPr>
        <p:txBody>
          <a:bodyPr wrap="square" rtlCol="0" anchor="ctr"/>
          <a:lstStyle/>
          <a:p>
            <a:pPr algn="r" indent="0" marL="0">
              <a:buNone/>
            </a:pPr>
            <a:r>
              <a:rPr lang="en-US" sz="1200" dirty="0">
                <a:solidFill>
                  <a:srgbClr val="D4A574"/>
                </a:solidFill>
                <a:latin typeface="Calibri" pitchFamily="34" charset="0"/>
                <a:ea typeface="Calibri" pitchFamily="34" charset="-122"/>
                <a:cs typeface="Calibri" pitchFamily="34" charset="-120"/>
              </a:rPr>
              <a:t>•</a:t>
            </a:r>
            <a:endParaRPr lang="en-US" sz="1200" dirty="0"/>
          </a:p>
        </p:txBody>
      </p:sp>
      <p:sp>
        <p:nvSpPr>
          <p:cNvPr id="43" name="Text 41"/>
          <p:cNvSpPr/>
          <p:nvPr/>
        </p:nvSpPr>
        <p:spPr>
          <a:xfrm>
            <a:off x="4475378" y="5806440"/>
            <a:ext cx="3058058" cy="228600"/>
          </a:xfrm>
          <a:prstGeom prst="rect">
            <a:avLst/>
          </a:prstGeom>
          <a:noFill/>
          <a:ln/>
        </p:spPr>
        <p:txBody>
          <a:bodyPr wrap="square" rtlCol="0" anchor="ctr"/>
          <a:lstStyle/>
          <a:p>
            <a:pPr rtl="1" algn="r" indent="0" marL="0">
              <a:buNone/>
            </a:pPr>
            <a:r>
              <a:rPr lang="en-US" sz="1050" dirty="0">
                <a:solidFill>
                  <a:srgbClr val="F5F5F5"/>
                </a:solidFill>
                <a:latin typeface="Calibri" pitchFamily="34" charset="0"/>
                <a:ea typeface="Calibri" pitchFamily="34" charset="-122"/>
                <a:cs typeface="Calibri" pitchFamily="34" charset="-120"/>
              </a:rPr>
              <a:t>حتى 250K فرصة/شهر</a:t>
            </a:r>
            <a:endParaRPr lang="en-US" sz="1050" dirty="0"/>
          </a:p>
        </p:txBody>
      </p:sp>
      <p:sp>
        <p:nvSpPr>
          <p:cNvPr id="44" name="Text 42"/>
          <p:cNvSpPr/>
          <p:nvPr/>
        </p:nvSpPr>
        <p:spPr>
          <a:xfrm>
            <a:off x="7579157" y="6035040"/>
            <a:ext cx="137160" cy="228600"/>
          </a:xfrm>
          <a:prstGeom prst="rect">
            <a:avLst/>
          </a:prstGeom>
          <a:noFill/>
          <a:ln/>
        </p:spPr>
        <p:txBody>
          <a:bodyPr wrap="square" rtlCol="0" anchor="ctr"/>
          <a:lstStyle/>
          <a:p>
            <a:pPr algn="r" indent="0" marL="0">
              <a:buNone/>
            </a:pPr>
            <a:r>
              <a:rPr lang="en-US" sz="1200" dirty="0">
                <a:solidFill>
                  <a:srgbClr val="D4A574"/>
                </a:solidFill>
                <a:latin typeface="Calibri" pitchFamily="34" charset="0"/>
                <a:ea typeface="Calibri" pitchFamily="34" charset="-122"/>
                <a:cs typeface="Calibri" pitchFamily="34" charset="-120"/>
              </a:rPr>
              <a:t>•</a:t>
            </a:r>
            <a:endParaRPr lang="en-US" sz="1200" dirty="0"/>
          </a:p>
        </p:txBody>
      </p:sp>
      <p:sp>
        <p:nvSpPr>
          <p:cNvPr id="45" name="Text 43"/>
          <p:cNvSpPr/>
          <p:nvPr/>
        </p:nvSpPr>
        <p:spPr>
          <a:xfrm>
            <a:off x="4475378" y="6035040"/>
            <a:ext cx="3058058" cy="228600"/>
          </a:xfrm>
          <a:prstGeom prst="rect">
            <a:avLst/>
          </a:prstGeom>
          <a:noFill/>
          <a:ln/>
        </p:spPr>
        <p:txBody>
          <a:bodyPr wrap="square" rtlCol="0" anchor="ctr"/>
          <a:lstStyle/>
          <a:p>
            <a:pPr rtl="1" algn="r" indent="0" marL="0">
              <a:buNone/>
            </a:pPr>
            <a:r>
              <a:rPr lang="en-US" sz="1050" dirty="0">
                <a:solidFill>
                  <a:srgbClr val="F5F5F5"/>
                </a:solidFill>
                <a:latin typeface="Calibri" pitchFamily="34" charset="0"/>
                <a:ea typeface="Calibri" pitchFamily="34" charset="-122"/>
                <a:cs typeface="Calibri" pitchFamily="34" charset="-120"/>
              </a:rPr>
              <a:t>مدير نجاح مقيم</a:t>
            </a:r>
            <a:endParaRPr lang="en-US" sz="1050" dirty="0"/>
          </a:p>
        </p:txBody>
      </p:sp>
      <p:sp>
        <p:nvSpPr>
          <p:cNvPr id="46" name="Shape 44"/>
          <p:cNvSpPr/>
          <p:nvPr/>
        </p:nvSpPr>
        <p:spPr>
          <a:xfrm>
            <a:off x="548640" y="2331720"/>
            <a:ext cx="3515258" cy="3931920"/>
          </a:xfrm>
          <a:prstGeom prst="rect">
            <a:avLst/>
          </a:prstGeom>
          <a:solidFill>
            <a:srgbClr val="FFFFFF"/>
          </a:solidFill>
          <a:ln w="12700">
            <a:solidFill>
              <a:srgbClr val="E8E3D6"/>
            </a:solidFill>
            <a:prstDash val="solid"/>
          </a:ln>
        </p:spPr>
      </p:sp>
      <p:sp>
        <p:nvSpPr>
          <p:cNvPr id="47" name="Text 45"/>
          <p:cNvSpPr/>
          <p:nvPr/>
        </p:nvSpPr>
        <p:spPr>
          <a:xfrm>
            <a:off x="548640" y="2560320"/>
            <a:ext cx="3515258" cy="365760"/>
          </a:xfrm>
          <a:prstGeom prst="rect">
            <a:avLst/>
          </a:prstGeom>
          <a:noFill/>
          <a:ln/>
        </p:spPr>
        <p:txBody>
          <a:bodyPr wrap="square" rtlCol="0" anchor="ctr"/>
          <a:lstStyle/>
          <a:p>
            <a:pPr rtl="1" algn="ctr" indent="0" marL="0">
              <a:buNone/>
            </a:pPr>
            <a:r>
              <a:rPr lang="en-US" sz="2000" b="1" dirty="0">
                <a:solidFill>
                  <a:srgbClr val="0A1628"/>
                </a:solidFill>
                <a:latin typeface="Calibri" pitchFamily="34" charset="0"/>
                <a:ea typeface="Calibri" pitchFamily="34" charset="-122"/>
                <a:cs typeface="Calibri" pitchFamily="34" charset="-120"/>
              </a:rPr>
              <a:t>السيادي</a:t>
            </a:r>
            <a:endParaRPr lang="en-US" sz="2000" dirty="0"/>
          </a:p>
        </p:txBody>
      </p:sp>
      <p:sp>
        <p:nvSpPr>
          <p:cNvPr id="48" name="Text 46"/>
          <p:cNvSpPr/>
          <p:nvPr/>
        </p:nvSpPr>
        <p:spPr>
          <a:xfrm>
            <a:off x="548640" y="2926080"/>
            <a:ext cx="3515258" cy="274320"/>
          </a:xfrm>
          <a:prstGeom prst="rect">
            <a:avLst/>
          </a:prstGeom>
          <a:noFill/>
          <a:ln/>
        </p:spPr>
        <p:txBody>
          <a:bodyPr wrap="square" rtlCol="0" anchor="ctr"/>
          <a:lstStyle/>
          <a:p>
            <a:pPr algn="ctr" indent="0" marL="0">
              <a:buNone/>
            </a:pPr>
            <a:r>
              <a:rPr lang="en-US" sz="1100" b="1" dirty="0">
                <a:solidFill>
                  <a:srgbClr val="55606E"/>
                </a:solidFill>
                <a:latin typeface="Calibri" pitchFamily="34" charset="0"/>
                <a:ea typeface="Calibri" pitchFamily="34" charset="-122"/>
                <a:cs typeface="Calibri" pitchFamily="34" charset="-120"/>
              </a:rPr>
              <a:t>Sovereign</a:t>
            </a:r>
            <a:endParaRPr lang="en-US" sz="1100" dirty="0"/>
          </a:p>
        </p:txBody>
      </p:sp>
      <p:sp>
        <p:nvSpPr>
          <p:cNvPr id="49" name="Text 47"/>
          <p:cNvSpPr/>
          <p:nvPr/>
        </p:nvSpPr>
        <p:spPr>
          <a:xfrm>
            <a:off x="548640" y="3337560"/>
            <a:ext cx="3515258" cy="640080"/>
          </a:xfrm>
          <a:prstGeom prst="rect">
            <a:avLst/>
          </a:prstGeom>
          <a:noFill/>
          <a:ln/>
        </p:spPr>
        <p:txBody>
          <a:bodyPr wrap="square" rtlCol="0" anchor="ctr"/>
          <a:lstStyle/>
          <a:p>
            <a:pPr rtl="1" algn="ctr" indent="0" marL="0">
              <a:buNone/>
            </a:pPr>
            <a:r>
              <a:rPr lang="en-US" sz="3600" b="1" dirty="0">
                <a:solidFill>
                  <a:srgbClr val="0A1628"/>
                </a:solidFill>
                <a:latin typeface="Calibri" pitchFamily="34" charset="0"/>
                <a:ea typeface="Calibri" pitchFamily="34" charset="-122"/>
                <a:cs typeface="Calibri" pitchFamily="34" charset="-120"/>
              </a:rPr>
              <a:t>—</a:t>
            </a:r>
            <a:endParaRPr lang="en-US" sz="3600" dirty="0"/>
          </a:p>
        </p:txBody>
      </p:sp>
      <p:sp>
        <p:nvSpPr>
          <p:cNvPr id="50" name="Text 48"/>
          <p:cNvSpPr/>
          <p:nvPr/>
        </p:nvSpPr>
        <p:spPr>
          <a:xfrm>
            <a:off x="548640" y="3977640"/>
            <a:ext cx="3515258" cy="274320"/>
          </a:xfrm>
          <a:prstGeom prst="rect">
            <a:avLst/>
          </a:prstGeom>
          <a:noFill/>
          <a:ln/>
        </p:spPr>
        <p:txBody>
          <a:bodyPr wrap="square" rtlCol="0" anchor="ctr"/>
          <a:lstStyle/>
          <a:p>
            <a:pPr rtl="1" algn="ctr" indent="0" marL="0">
              <a:buNone/>
            </a:pPr>
            <a:r>
              <a:rPr lang="en-US" sz="1100" dirty="0">
                <a:solidFill>
                  <a:srgbClr val="55606E"/>
                </a:solidFill>
                <a:latin typeface="Calibri" pitchFamily="34" charset="0"/>
                <a:ea typeface="Calibri" pitchFamily="34" charset="-122"/>
                <a:cs typeface="Calibri" pitchFamily="34" charset="-120"/>
              </a:rPr>
              <a:t>للمجموعات الكبرى</a:t>
            </a:r>
            <a:endParaRPr lang="en-US" sz="1100" dirty="0"/>
          </a:p>
        </p:txBody>
      </p:sp>
      <p:sp>
        <p:nvSpPr>
          <p:cNvPr id="51" name="Shape 49"/>
          <p:cNvSpPr/>
          <p:nvPr/>
        </p:nvSpPr>
        <p:spPr>
          <a:xfrm>
            <a:off x="2031949" y="4343400"/>
            <a:ext cx="548640" cy="18288"/>
          </a:xfrm>
          <a:prstGeom prst="rect">
            <a:avLst/>
          </a:prstGeom>
          <a:solidFill>
            <a:srgbClr val="D4A574"/>
          </a:solidFill>
          <a:ln/>
        </p:spPr>
      </p:sp>
      <p:sp>
        <p:nvSpPr>
          <p:cNvPr id="52" name="Text 50"/>
          <p:cNvSpPr/>
          <p:nvPr/>
        </p:nvSpPr>
        <p:spPr>
          <a:xfrm>
            <a:off x="685800" y="4480560"/>
            <a:ext cx="3240938" cy="320040"/>
          </a:xfrm>
          <a:prstGeom prst="rect">
            <a:avLst/>
          </a:prstGeom>
          <a:noFill/>
          <a:ln/>
        </p:spPr>
        <p:txBody>
          <a:bodyPr wrap="square" rtlCol="0" anchor="ctr"/>
          <a:lstStyle/>
          <a:p>
            <a:pPr rtl="1" algn="ctr" indent="0" marL="0">
              <a:buNone/>
            </a:pPr>
            <a:r>
              <a:rPr lang="en-US" sz="1100" i="1" dirty="0">
                <a:solidFill>
                  <a:srgbClr val="D4A574"/>
                </a:solidFill>
                <a:latin typeface="Georgia" pitchFamily="34" charset="0"/>
                <a:ea typeface="Georgia" pitchFamily="34" charset="-122"/>
                <a:cs typeface="Georgia" pitchFamily="34" charset="-120"/>
              </a:rPr>
              <a:t>لمجموعة خليجية · مؤسسة حكومية</a:t>
            </a:r>
            <a:endParaRPr lang="en-US" sz="1100" dirty="0"/>
          </a:p>
        </p:txBody>
      </p:sp>
      <p:sp>
        <p:nvSpPr>
          <p:cNvPr id="53" name="Text 51"/>
          <p:cNvSpPr/>
          <p:nvPr/>
        </p:nvSpPr>
        <p:spPr>
          <a:xfrm>
            <a:off x="3789578" y="4892040"/>
            <a:ext cx="137160" cy="228600"/>
          </a:xfrm>
          <a:prstGeom prst="rect">
            <a:avLst/>
          </a:prstGeom>
          <a:noFill/>
          <a:ln/>
        </p:spPr>
        <p:txBody>
          <a:bodyPr wrap="square" rtlCol="0" anchor="ctr"/>
          <a:lstStyle/>
          <a:p>
            <a:pPr algn="r" indent="0" marL="0">
              <a:buNone/>
            </a:pPr>
            <a:r>
              <a:rPr lang="en-US" sz="1200" dirty="0">
                <a:solidFill>
                  <a:srgbClr val="D4A574"/>
                </a:solidFill>
                <a:latin typeface="Calibri" pitchFamily="34" charset="0"/>
                <a:ea typeface="Calibri" pitchFamily="34" charset="-122"/>
                <a:cs typeface="Calibri" pitchFamily="34" charset="-120"/>
              </a:rPr>
              <a:t>•</a:t>
            </a:r>
            <a:endParaRPr lang="en-US" sz="1200" dirty="0"/>
          </a:p>
        </p:txBody>
      </p:sp>
      <p:sp>
        <p:nvSpPr>
          <p:cNvPr id="54" name="Text 52"/>
          <p:cNvSpPr/>
          <p:nvPr/>
        </p:nvSpPr>
        <p:spPr>
          <a:xfrm>
            <a:off x="685800" y="4892040"/>
            <a:ext cx="3058058" cy="228600"/>
          </a:xfrm>
          <a:prstGeom prst="rect">
            <a:avLst/>
          </a:prstGeom>
          <a:noFill/>
          <a:ln/>
        </p:spPr>
        <p:txBody>
          <a:bodyPr wrap="square" rtlCol="0" anchor="ctr"/>
          <a:lstStyle/>
          <a:p>
            <a:pPr rtl="1" algn="r" indent="0" marL="0">
              <a:buNone/>
            </a:pPr>
            <a:r>
              <a:rPr lang="en-US" sz="1050" dirty="0">
                <a:solidFill>
                  <a:srgbClr val="1A1A1A"/>
                </a:solidFill>
                <a:latin typeface="Calibri" pitchFamily="34" charset="0"/>
                <a:ea typeface="Calibri" pitchFamily="34" charset="-122"/>
                <a:cs typeface="Calibri" pitchFamily="34" charset="-120"/>
              </a:rPr>
              <a:t>كل ميزات Enterprise</a:t>
            </a:r>
            <a:endParaRPr lang="en-US" sz="1050" dirty="0"/>
          </a:p>
        </p:txBody>
      </p:sp>
      <p:sp>
        <p:nvSpPr>
          <p:cNvPr id="55" name="Text 53"/>
          <p:cNvSpPr/>
          <p:nvPr/>
        </p:nvSpPr>
        <p:spPr>
          <a:xfrm>
            <a:off x="3789578" y="5120640"/>
            <a:ext cx="137160" cy="228600"/>
          </a:xfrm>
          <a:prstGeom prst="rect">
            <a:avLst/>
          </a:prstGeom>
          <a:noFill/>
          <a:ln/>
        </p:spPr>
        <p:txBody>
          <a:bodyPr wrap="square" rtlCol="0" anchor="ctr"/>
          <a:lstStyle/>
          <a:p>
            <a:pPr algn="r" indent="0" marL="0">
              <a:buNone/>
            </a:pPr>
            <a:r>
              <a:rPr lang="en-US" sz="1200" dirty="0">
                <a:solidFill>
                  <a:srgbClr val="D4A574"/>
                </a:solidFill>
                <a:latin typeface="Calibri" pitchFamily="34" charset="0"/>
                <a:ea typeface="Calibri" pitchFamily="34" charset="-122"/>
                <a:cs typeface="Calibri" pitchFamily="34" charset="-120"/>
              </a:rPr>
              <a:t>•</a:t>
            </a:r>
            <a:endParaRPr lang="en-US" sz="1200" dirty="0"/>
          </a:p>
        </p:txBody>
      </p:sp>
      <p:sp>
        <p:nvSpPr>
          <p:cNvPr id="56" name="Text 54"/>
          <p:cNvSpPr/>
          <p:nvPr/>
        </p:nvSpPr>
        <p:spPr>
          <a:xfrm>
            <a:off x="685800" y="5120640"/>
            <a:ext cx="3058058" cy="228600"/>
          </a:xfrm>
          <a:prstGeom prst="rect">
            <a:avLst/>
          </a:prstGeom>
          <a:noFill/>
          <a:ln/>
        </p:spPr>
        <p:txBody>
          <a:bodyPr wrap="square" rtlCol="0" anchor="ctr"/>
          <a:lstStyle/>
          <a:p>
            <a:pPr rtl="1" algn="r" indent="0" marL="0">
              <a:buNone/>
            </a:pPr>
            <a:r>
              <a:rPr lang="en-US" sz="1050" dirty="0">
                <a:solidFill>
                  <a:srgbClr val="1A1A1A"/>
                </a:solidFill>
                <a:latin typeface="Calibri" pitchFamily="34" charset="0"/>
                <a:ea typeface="Calibri" pitchFamily="34" charset="-122"/>
                <a:cs typeface="Calibri" pitchFamily="34" charset="-120"/>
              </a:rPr>
              <a:t>استضافة سيادية محلية</a:t>
            </a:r>
            <a:endParaRPr lang="en-US" sz="1050" dirty="0"/>
          </a:p>
        </p:txBody>
      </p:sp>
      <p:sp>
        <p:nvSpPr>
          <p:cNvPr id="57" name="Text 55"/>
          <p:cNvSpPr/>
          <p:nvPr/>
        </p:nvSpPr>
        <p:spPr>
          <a:xfrm>
            <a:off x="3789578" y="5349240"/>
            <a:ext cx="137160" cy="228600"/>
          </a:xfrm>
          <a:prstGeom prst="rect">
            <a:avLst/>
          </a:prstGeom>
          <a:noFill/>
          <a:ln/>
        </p:spPr>
        <p:txBody>
          <a:bodyPr wrap="square" rtlCol="0" anchor="ctr"/>
          <a:lstStyle/>
          <a:p>
            <a:pPr algn="r" indent="0" marL="0">
              <a:buNone/>
            </a:pPr>
            <a:r>
              <a:rPr lang="en-US" sz="1200" dirty="0">
                <a:solidFill>
                  <a:srgbClr val="D4A574"/>
                </a:solidFill>
                <a:latin typeface="Calibri" pitchFamily="34" charset="0"/>
                <a:ea typeface="Calibri" pitchFamily="34" charset="-122"/>
                <a:cs typeface="Calibri" pitchFamily="34" charset="-120"/>
              </a:rPr>
              <a:t>•</a:t>
            </a:r>
            <a:endParaRPr lang="en-US" sz="1200" dirty="0"/>
          </a:p>
        </p:txBody>
      </p:sp>
      <p:sp>
        <p:nvSpPr>
          <p:cNvPr id="58" name="Text 56"/>
          <p:cNvSpPr/>
          <p:nvPr/>
        </p:nvSpPr>
        <p:spPr>
          <a:xfrm>
            <a:off x="685800" y="5349240"/>
            <a:ext cx="3058058" cy="228600"/>
          </a:xfrm>
          <a:prstGeom prst="rect">
            <a:avLst/>
          </a:prstGeom>
          <a:noFill/>
          <a:ln/>
        </p:spPr>
        <p:txBody>
          <a:bodyPr wrap="square" rtlCol="0" anchor="ctr"/>
          <a:lstStyle/>
          <a:p>
            <a:pPr rtl="1" algn="r" indent="0" marL="0">
              <a:buNone/>
            </a:pPr>
            <a:r>
              <a:rPr lang="en-US" sz="1050" dirty="0">
                <a:solidFill>
                  <a:srgbClr val="1A1A1A"/>
                </a:solidFill>
                <a:latin typeface="Calibri" pitchFamily="34" charset="0"/>
                <a:ea typeface="Calibri" pitchFamily="34" charset="-122"/>
                <a:cs typeface="Calibri" pitchFamily="34" charset="-120"/>
              </a:rPr>
              <a:t>تخصيص عميق بمصدر مفتوح</a:t>
            </a:r>
            <a:endParaRPr lang="en-US" sz="1050" dirty="0"/>
          </a:p>
        </p:txBody>
      </p:sp>
      <p:sp>
        <p:nvSpPr>
          <p:cNvPr id="59" name="Text 57"/>
          <p:cNvSpPr/>
          <p:nvPr/>
        </p:nvSpPr>
        <p:spPr>
          <a:xfrm>
            <a:off x="3789578" y="5577840"/>
            <a:ext cx="137160" cy="228600"/>
          </a:xfrm>
          <a:prstGeom prst="rect">
            <a:avLst/>
          </a:prstGeom>
          <a:noFill/>
          <a:ln/>
        </p:spPr>
        <p:txBody>
          <a:bodyPr wrap="square" rtlCol="0" anchor="ctr"/>
          <a:lstStyle/>
          <a:p>
            <a:pPr algn="r" indent="0" marL="0">
              <a:buNone/>
            </a:pPr>
            <a:r>
              <a:rPr lang="en-US" sz="1200" dirty="0">
                <a:solidFill>
                  <a:srgbClr val="D4A574"/>
                </a:solidFill>
                <a:latin typeface="Calibri" pitchFamily="34" charset="0"/>
                <a:ea typeface="Calibri" pitchFamily="34" charset="-122"/>
                <a:cs typeface="Calibri" pitchFamily="34" charset="-120"/>
              </a:rPr>
              <a:t>•</a:t>
            </a:r>
            <a:endParaRPr lang="en-US" sz="1200" dirty="0"/>
          </a:p>
        </p:txBody>
      </p:sp>
      <p:sp>
        <p:nvSpPr>
          <p:cNvPr id="60" name="Text 58"/>
          <p:cNvSpPr/>
          <p:nvPr/>
        </p:nvSpPr>
        <p:spPr>
          <a:xfrm>
            <a:off x="685800" y="5577840"/>
            <a:ext cx="3058058" cy="228600"/>
          </a:xfrm>
          <a:prstGeom prst="rect">
            <a:avLst/>
          </a:prstGeom>
          <a:noFill/>
          <a:ln/>
        </p:spPr>
        <p:txBody>
          <a:bodyPr wrap="square" rtlCol="0" anchor="ctr"/>
          <a:lstStyle/>
          <a:p>
            <a:pPr rtl="1" algn="r" indent="0" marL="0">
              <a:buNone/>
            </a:pPr>
            <a:r>
              <a:rPr lang="en-US" sz="1050" dirty="0">
                <a:solidFill>
                  <a:srgbClr val="1A1A1A"/>
                </a:solidFill>
                <a:latin typeface="Calibri" pitchFamily="34" charset="0"/>
                <a:ea typeface="Calibri" pitchFamily="34" charset="-122"/>
                <a:cs typeface="Calibri" pitchFamily="34" charset="-120"/>
              </a:rPr>
              <a:t>SLA 99.95% مع تعويضات</a:t>
            </a:r>
            <a:endParaRPr lang="en-US" sz="1050" dirty="0"/>
          </a:p>
        </p:txBody>
      </p:sp>
      <p:sp>
        <p:nvSpPr>
          <p:cNvPr id="61" name="Text 59"/>
          <p:cNvSpPr/>
          <p:nvPr/>
        </p:nvSpPr>
        <p:spPr>
          <a:xfrm>
            <a:off x="3789578" y="5806440"/>
            <a:ext cx="137160" cy="228600"/>
          </a:xfrm>
          <a:prstGeom prst="rect">
            <a:avLst/>
          </a:prstGeom>
          <a:noFill/>
          <a:ln/>
        </p:spPr>
        <p:txBody>
          <a:bodyPr wrap="square" rtlCol="0" anchor="ctr"/>
          <a:lstStyle/>
          <a:p>
            <a:pPr algn="r" indent="0" marL="0">
              <a:buNone/>
            </a:pPr>
            <a:r>
              <a:rPr lang="en-US" sz="1200" dirty="0">
                <a:solidFill>
                  <a:srgbClr val="D4A574"/>
                </a:solidFill>
                <a:latin typeface="Calibri" pitchFamily="34" charset="0"/>
                <a:ea typeface="Calibri" pitchFamily="34" charset="-122"/>
                <a:cs typeface="Calibri" pitchFamily="34" charset="-120"/>
              </a:rPr>
              <a:t>•</a:t>
            </a:r>
            <a:endParaRPr lang="en-US" sz="1200" dirty="0"/>
          </a:p>
        </p:txBody>
      </p:sp>
      <p:sp>
        <p:nvSpPr>
          <p:cNvPr id="62" name="Text 60"/>
          <p:cNvSpPr/>
          <p:nvPr/>
        </p:nvSpPr>
        <p:spPr>
          <a:xfrm>
            <a:off x="685800" y="5806440"/>
            <a:ext cx="3058058" cy="228600"/>
          </a:xfrm>
          <a:prstGeom prst="rect">
            <a:avLst/>
          </a:prstGeom>
          <a:noFill/>
          <a:ln/>
        </p:spPr>
        <p:txBody>
          <a:bodyPr wrap="square" rtlCol="0" anchor="ctr"/>
          <a:lstStyle/>
          <a:p>
            <a:pPr rtl="1" algn="r" indent="0" marL="0">
              <a:buNone/>
            </a:pPr>
            <a:r>
              <a:rPr lang="en-US" sz="1050" dirty="0">
                <a:solidFill>
                  <a:srgbClr val="1A1A1A"/>
                </a:solidFill>
                <a:latin typeface="Calibri" pitchFamily="34" charset="0"/>
                <a:ea typeface="Calibri" pitchFamily="34" charset="-122"/>
                <a:cs typeface="Calibri" pitchFamily="34" charset="-120"/>
              </a:rPr>
              <a:t>فرص غير محدودة</a:t>
            </a:r>
            <a:endParaRPr lang="en-US" sz="1050" dirty="0"/>
          </a:p>
        </p:txBody>
      </p:sp>
      <p:sp>
        <p:nvSpPr>
          <p:cNvPr id="63" name="Text 61"/>
          <p:cNvSpPr/>
          <p:nvPr/>
        </p:nvSpPr>
        <p:spPr>
          <a:xfrm>
            <a:off x="3789578" y="6035040"/>
            <a:ext cx="137160" cy="228600"/>
          </a:xfrm>
          <a:prstGeom prst="rect">
            <a:avLst/>
          </a:prstGeom>
          <a:noFill/>
          <a:ln/>
        </p:spPr>
        <p:txBody>
          <a:bodyPr wrap="square" rtlCol="0" anchor="ctr"/>
          <a:lstStyle/>
          <a:p>
            <a:pPr algn="r" indent="0" marL="0">
              <a:buNone/>
            </a:pPr>
            <a:r>
              <a:rPr lang="en-US" sz="1200" dirty="0">
                <a:solidFill>
                  <a:srgbClr val="D4A574"/>
                </a:solidFill>
                <a:latin typeface="Calibri" pitchFamily="34" charset="0"/>
                <a:ea typeface="Calibri" pitchFamily="34" charset="-122"/>
                <a:cs typeface="Calibri" pitchFamily="34" charset="-120"/>
              </a:rPr>
              <a:t>•</a:t>
            </a:r>
            <a:endParaRPr lang="en-US" sz="1200" dirty="0"/>
          </a:p>
        </p:txBody>
      </p:sp>
      <p:sp>
        <p:nvSpPr>
          <p:cNvPr id="64" name="Text 62"/>
          <p:cNvSpPr/>
          <p:nvPr/>
        </p:nvSpPr>
        <p:spPr>
          <a:xfrm>
            <a:off x="685800" y="6035040"/>
            <a:ext cx="3058058" cy="228600"/>
          </a:xfrm>
          <a:prstGeom prst="rect">
            <a:avLst/>
          </a:prstGeom>
          <a:noFill/>
          <a:ln/>
        </p:spPr>
        <p:txBody>
          <a:bodyPr wrap="square" rtlCol="0" anchor="ctr"/>
          <a:lstStyle/>
          <a:p>
            <a:pPr rtl="1" algn="r" indent="0" marL="0">
              <a:buNone/>
            </a:pPr>
            <a:r>
              <a:rPr lang="en-US" sz="1050" dirty="0">
                <a:solidFill>
                  <a:srgbClr val="1A1A1A"/>
                </a:solidFill>
                <a:latin typeface="Calibri" pitchFamily="34" charset="0"/>
                <a:ea typeface="Calibri" pitchFamily="34" charset="-122"/>
                <a:cs typeface="Calibri" pitchFamily="34" charset="-120"/>
              </a:rPr>
              <a:t>دعم مباشر من CEO</a:t>
            </a:r>
            <a:endParaRPr lang="en-US" sz="1050" dirty="0"/>
          </a:p>
        </p:txBody>
      </p:sp>
      <p:sp>
        <p:nvSpPr>
          <p:cNvPr id="65" name="Text 63"/>
          <p:cNvSpPr/>
          <p:nvPr/>
        </p:nvSpPr>
        <p:spPr>
          <a:xfrm>
            <a:off x="548640" y="6355080"/>
            <a:ext cx="11094415" cy="274320"/>
          </a:xfrm>
          <a:prstGeom prst="rect">
            <a:avLst/>
          </a:prstGeom>
          <a:noFill/>
          <a:ln/>
        </p:spPr>
        <p:txBody>
          <a:bodyPr wrap="square" rtlCol="0" anchor="ctr"/>
          <a:lstStyle/>
          <a:p>
            <a:pPr rtl="1" algn="r" indent="0" marL="0">
              <a:buNone/>
            </a:pPr>
            <a:r>
              <a:rPr lang="en-US" sz="1000" i="1" dirty="0">
                <a:solidFill>
                  <a:srgbClr val="55606E"/>
                </a:solidFill>
                <a:latin typeface="Calibri" pitchFamily="34" charset="0"/>
                <a:ea typeface="Calibri" pitchFamily="34" charset="-122"/>
                <a:cs typeface="Calibri" pitchFamily="34" charset="-120"/>
              </a:rPr>
              <a:t>العقود السنوية: خصم 15% · عقود 3 سنوات: خصم 25% · الأسعار لا تشمل ضريبة القيمة المضافة</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11734495" y="320040"/>
            <a:ext cx="73152" cy="411480"/>
          </a:xfrm>
          <a:prstGeom prst="rect">
            <a:avLst/>
          </a:prstGeom>
          <a:solidFill>
            <a:srgbClr val="D4A574"/>
          </a:solidFill>
          <a:ln/>
        </p:spPr>
      </p:sp>
      <p:sp>
        <p:nvSpPr>
          <p:cNvPr id="3" name="Text 1"/>
          <p:cNvSpPr/>
          <p:nvPr/>
        </p:nvSpPr>
        <p:spPr>
          <a:xfrm>
            <a:off x="8076895" y="274320"/>
            <a:ext cx="3566160" cy="365760"/>
          </a:xfrm>
          <a:prstGeom prst="rect">
            <a:avLst/>
          </a:prstGeom>
          <a:noFill/>
          <a:ln/>
        </p:spPr>
        <p:txBody>
          <a:bodyPr wrap="square" rtlCol="0" anchor="ctr"/>
          <a:lstStyle/>
          <a:p>
            <a:pPr rtl="1" algn="r" indent="0" marL="0">
              <a:buNone/>
            </a:pPr>
            <a:r>
              <a:rPr lang="en-US" sz="1200" b="1" dirty="0">
                <a:solidFill>
                  <a:srgbClr val="D4A574"/>
                </a:solidFill>
                <a:latin typeface="Calibri" pitchFamily="34" charset="0"/>
                <a:ea typeface="Calibri" pitchFamily="34" charset="-122"/>
                <a:cs typeface="Calibri" pitchFamily="34" charset="-120"/>
              </a:rPr>
              <a:t>عرض خاص</a:t>
            </a:r>
            <a:endParaRPr lang="en-US" sz="1200" dirty="0"/>
          </a:p>
        </p:txBody>
      </p:sp>
      <p:sp>
        <p:nvSpPr>
          <p:cNvPr id="4" name="Text 2"/>
          <p:cNvSpPr/>
          <p:nvPr/>
        </p:nvSpPr>
        <p:spPr>
          <a:xfrm>
            <a:off x="457200" y="6446520"/>
            <a:ext cx="2286000" cy="274320"/>
          </a:xfrm>
          <a:prstGeom prst="rect">
            <a:avLst/>
          </a:prstGeom>
          <a:noFill/>
          <a:ln/>
        </p:spPr>
        <p:txBody>
          <a:bodyPr wrap="square" rtlCol="0" anchor="ctr"/>
          <a:lstStyle/>
          <a:p>
            <a:pPr algn="l" indent="0" marL="0">
              <a:buNone/>
            </a:pPr>
            <a:r>
              <a:rPr lang="en-US" sz="900" dirty="0">
                <a:solidFill>
                  <a:srgbClr val="B9C2CD"/>
                </a:solidFill>
                <a:latin typeface="Calibri" pitchFamily="34" charset="0"/>
                <a:ea typeface="Calibri" pitchFamily="34" charset="-122"/>
                <a:cs typeface="Calibri" pitchFamily="34" charset="-120"/>
              </a:rPr>
              <a:t>Dealix · ديلكس</a:t>
            </a:r>
            <a:endParaRPr lang="en-US" sz="900" dirty="0"/>
          </a:p>
        </p:txBody>
      </p:sp>
      <p:sp>
        <p:nvSpPr>
          <p:cNvPr id="5" name="Text 3"/>
          <p:cNvSpPr/>
          <p:nvPr/>
        </p:nvSpPr>
        <p:spPr>
          <a:xfrm>
            <a:off x="11094415" y="6446520"/>
            <a:ext cx="640080" cy="274320"/>
          </a:xfrm>
          <a:prstGeom prst="rect">
            <a:avLst/>
          </a:prstGeom>
          <a:noFill/>
          <a:ln/>
        </p:spPr>
        <p:txBody>
          <a:bodyPr wrap="square" rtlCol="0" anchor="ctr"/>
          <a:lstStyle/>
          <a:p>
            <a:pPr algn="r" indent="0" marL="0">
              <a:buNone/>
            </a:pPr>
            <a:r>
              <a:rPr lang="en-US" sz="900" b="1" dirty="0">
                <a:solidFill>
                  <a:srgbClr val="B9C2CD"/>
                </a:solidFill>
                <a:latin typeface="Calibri" pitchFamily="34" charset="0"/>
                <a:ea typeface="Calibri" pitchFamily="34" charset="-122"/>
                <a:cs typeface="Calibri" pitchFamily="34" charset="-120"/>
              </a:rPr>
              <a:t>35</a:t>
            </a:r>
            <a:endParaRPr lang="en-US" sz="900" dirty="0"/>
          </a:p>
        </p:txBody>
      </p:sp>
      <p:sp>
        <p:nvSpPr>
          <p:cNvPr id="6" name="Text 4"/>
          <p:cNvSpPr/>
          <p:nvPr/>
        </p:nvSpPr>
        <p:spPr>
          <a:xfrm>
            <a:off x="548640" y="914400"/>
            <a:ext cx="11094415" cy="822960"/>
          </a:xfrm>
          <a:prstGeom prst="rect">
            <a:avLst/>
          </a:prstGeom>
          <a:noFill/>
          <a:ln/>
        </p:spPr>
        <p:txBody>
          <a:bodyPr wrap="square" rtlCol="0" anchor="ctr"/>
          <a:lstStyle/>
          <a:p>
            <a:pPr rtl="1" algn="r" indent="0" marL="0">
              <a:buNone/>
            </a:pPr>
            <a:r>
              <a:rPr lang="en-US" sz="3400" b="1" dirty="0">
                <a:solidFill>
                  <a:srgbClr val="F5F5F5"/>
                </a:solidFill>
                <a:latin typeface="Calibri" pitchFamily="34" charset="0"/>
                <a:ea typeface="Calibri" pitchFamily="34" charset="-122"/>
                <a:cs typeface="Calibri" pitchFamily="34" charset="-120"/>
              </a:rPr>
              <a:t>عرض خاص — Pilot 90 يوم</a:t>
            </a:r>
            <a:endParaRPr lang="en-US" sz="3400" dirty="0"/>
          </a:p>
        </p:txBody>
      </p:sp>
      <p:sp>
        <p:nvSpPr>
          <p:cNvPr id="7" name="Text 5"/>
          <p:cNvSpPr/>
          <p:nvPr/>
        </p:nvSpPr>
        <p:spPr>
          <a:xfrm>
            <a:off x="548640" y="1691640"/>
            <a:ext cx="11094415" cy="411480"/>
          </a:xfrm>
          <a:prstGeom prst="rect">
            <a:avLst/>
          </a:prstGeom>
          <a:noFill/>
          <a:ln/>
        </p:spPr>
        <p:txBody>
          <a:bodyPr wrap="square" rtlCol="0" anchor="ctr"/>
          <a:lstStyle/>
          <a:p>
            <a:pPr rtl="1" algn="r" indent="0" marL="0">
              <a:buNone/>
            </a:pPr>
            <a:r>
              <a:rPr lang="en-US" sz="1500" dirty="0">
                <a:solidFill>
                  <a:srgbClr val="B9C2CD"/>
                </a:solidFill>
                <a:latin typeface="Calibri" pitchFamily="34" charset="0"/>
                <a:ea typeface="Calibri" pitchFamily="34" charset="-122"/>
                <a:cs typeface="Calibri" pitchFamily="34" charset="-120"/>
              </a:rPr>
              <a:t>خصم 50% على الأشهر الثلاثة الأولى · SLA كامل · مراجعات شهرية مع المديرية التنفيذية</a:t>
            </a:r>
            <a:endParaRPr lang="en-US" sz="1500" dirty="0"/>
          </a:p>
        </p:txBody>
      </p:sp>
      <p:sp>
        <p:nvSpPr>
          <p:cNvPr id="8" name="Shape 6"/>
          <p:cNvSpPr/>
          <p:nvPr/>
        </p:nvSpPr>
        <p:spPr>
          <a:xfrm>
            <a:off x="1371600" y="2377440"/>
            <a:ext cx="9448495" cy="3474720"/>
          </a:xfrm>
          <a:prstGeom prst="rect">
            <a:avLst/>
          </a:prstGeom>
          <a:solidFill>
            <a:srgbClr val="13233F"/>
          </a:solidFill>
          <a:ln w="25400">
            <a:solidFill>
              <a:srgbClr val="D4A574"/>
            </a:solidFill>
            <a:prstDash val="solid"/>
          </a:ln>
        </p:spPr>
      </p:sp>
      <p:sp>
        <p:nvSpPr>
          <p:cNvPr id="9" name="Shape 7"/>
          <p:cNvSpPr/>
          <p:nvPr/>
        </p:nvSpPr>
        <p:spPr>
          <a:xfrm>
            <a:off x="1371600" y="2377440"/>
            <a:ext cx="9448495" cy="137160"/>
          </a:xfrm>
          <a:prstGeom prst="rect">
            <a:avLst/>
          </a:prstGeom>
          <a:solidFill>
            <a:srgbClr val="D4A574"/>
          </a:solidFill>
          <a:ln/>
        </p:spPr>
      </p:sp>
      <p:sp>
        <p:nvSpPr>
          <p:cNvPr id="10" name="Text 8"/>
          <p:cNvSpPr/>
          <p:nvPr/>
        </p:nvSpPr>
        <p:spPr>
          <a:xfrm>
            <a:off x="1371600" y="2606040"/>
            <a:ext cx="9448495" cy="365760"/>
          </a:xfrm>
          <a:prstGeom prst="rect">
            <a:avLst/>
          </a:prstGeom>
          <a:noFill/>
          <a:ln/>
        </p:spPr>
        <p:txBody>
          <a:bodyPr wrap="square" rtlCol="0" anchor="ctr"/>
          <a:lstStyle/>
          <a:p>
            <a:pPr rtl="1" algn="ctr" indent="0" marL="0">
              <a:buNone/>
            </a:pPr>
            <a:r>
              <a:rPr lang="en-US" sz="1200" b="1" dirty="0">
                <a:solidFill>
                  <a:srgbClr val="D4A574"/>
                </a:solidFill>
                <a:latin typeface="Calibri" pitchFamily="34" charset="0"/>
                <a:ea typeface="Calibri" pitchFamily="34" charset="-122"/>
                <a:cs typeface="Calibri" pitchFamily="34" charset="-120"/>
              </a:rPr>
              <a:t>عرض حصري</a:t>
            </a:r>
            <a:endParaRPr lang="en-US" sz="1200" dirty="0"/>
          </a:p>
        </p:txBody>
      </p:sp>
      <p:sp>
        <p:nvSpPr>
          <p:cNvPr id="11" name="Text 9"/>
          <p:cNvSpPr/>
          <p:nvPr/>
        </p:nvSpPr>
        <p:spPr>
          <a:xfrm>
            <a:off x="1371600" y="3017520"/>
            <a:ext cx="9448495" cy="1097280"/>
          </a:xfrm>
          <a:prstGeom prst="rect">
            <a:avLst/>
          </a:prstGeom>
          <a:noFill/>
          <a:ln/>
        </p:spPr>
        <p:txBody>
          <a:bodyPr wrap="square" rtlCol="0" anchor="ctr"/>
          <a:lstStyle/>
          <a:p>
            <a:pPr algn="ctr" indent="0" marL="0">
              <a:buNone/>
            </a:pPr>
            <a:r>
              <a:rPr lang="en-US" sz="7200" b="1" dirty="0">
                <a:solidFill>
                  <a:srgbClr val="F5F5F5"/>
                </a:solidFill>
                <a:latin typeface="Calibri" pitchFamily="34" charset="0"/>
                <a:ea typeface="Calibri" pitchFamily="34" charset="-122"/>
                <a:cs typeface="Calibri" pitchFamily="34" charset="-120"/>
              </a:rPr>
              <a:t>شروط تفضيلية</a:t>
            </a:r>
            <a:endParaRPr lang="en-US" sz="7200" dirty="0"/>
          </a:p>
        </p:txBody>
      </p:sp>
      <p:sp>
        <p:nvSpPr>
          <p:cNvPr id="12" name="Text 10"/>
          <p:cNvSpPr/>
          <p:nvPr/>
        </p:nvSpPr>
        <p:spPr>
          <a:xfrm>
            <a:off x="1371600" y="4114800"/>
            <a:ext cx="9448495" cy="365760"/>
          </a:xfrm>
          <a:prstGeom prst="rect">
            <a:avLst/>
          </a:prstGeom>
          <a:noFill/>
          <a:ln/>
        </p:spPr>
        <p:txBody>
          <a:bodyPr wrap="square" rtlCol="0" anchor="ctr"/>
          <a:lstStyle/>
          <a:p>
            <a:pPr rtl="1" algn="ctr" indent="0" marL="0">
              <a:buNone/>
            </a:pPr>
            <a:r>
              <a:rPr lang="en-US" sz="1600" dirty="0">
                <a:solidFill>
                  <a:srgbClr val="D4A574"/>
                </a:solidFill>
                <a:latin typeface="Calibri" pitchFamily="34" charset="0"/>
                <a:ea typeface="Calibri" pitchFamily="34" charset="-122"/>
                <a:cs typeface="Calibri" pitchFamily="34" charset="-120"/>
              </a:rPr>
              <a:t>لأول 3 أشهر — ضمن برنامج إطلاق Dealix</a:t>
            </a:r>
            <a:endParaRPr lang="en-US" sz="1600" dirty="0"/>
          </a:p>
        </p:txBody>
      </p:sp>
      <p:sp>
        <p:nvSpPr>
          <p:cNvPr id="13" name="Shape 11"/>
          <p:cNvSpPr/>
          <p:nvPr/>
        </p:nvSpPr>
        <p:spPr>
          <a:xfrm>
            <a:off x="5181448" y="4526280"/>
            <a:ext cx="1828800" cy="27432"/>
          </a:xfrm>
          <a:prstGeom prst="rect">
            <a:avLst/>
          </a:prstGeom>
          <a:solidFill>
            <a:srgbClr val="D4A574"/>
          </a:solidFill>
          <a:ln/>
        </p:spPr>
      </p:sp>
      <p:sp>
        <p:nvSpPr>
          <p:cNvPr id="14" name="Text 12"/>
          <p:cNvSpPr/>
          <p:nvPr/>
        </p:nvSpPr>
        <p:spPr>
          <a:xfrm>
            <a:off x="10088575" y="4709160"/>
            <a:ext cx="274320" cy="274320"/>
          </a:xfrm>
          <a:prstGeom prst="rect">
            <a:avLst/>
          </a:prstGeom>
          <a:noFill/>
          <a:ln/>
        </p:spPr>
        <p:txBody>
          <a:bodyPr wrap="square" rtlCol="0" anchor="ctr"/>
          <a:lstStyle/>
          <a:p>
            <a:pPr algn="ctr" indent="0" marL="0">
              <a:buNone/>
            </a:pPr>
            <a:r>
              <a:rPr lang="en-US" sz="1400" b="1" dirty="0">
                <a:solidFill>
                  <a:srgbClr val="D4A574"/>
                </a:solidFill>
                <a:latin typeface="Calibri" pitchFamily="34" charset="0"/>
                <a:ea typeface="Calibri" pitchFamily="34" charset="-122"/>
                <a:cs typeface="Calibri" pitchFamily="34" charset="-120"/>
              </a:rPr>
              <a:t>✓</a:t>
            </a:r>
            <a:endParaRPr lang="en-US" sz="1400" dirty="0"/>
          </a:p>
        </p:txBody>
      </p:sp>
      <p:sp>
        <p:nvSpPr>
          <p:cNvPr id="15" name="Text 13"/>
          <p:cNvSpPr/>
          <p:nvPr/>
        </p:nvSpPr>
        <p:spPr>
          <a:xfrm>
            <a:off x="1920240" y="4709160"/>
            <a:ext cx="7894015" cy="274320"/>
          </a:xfrm>
          <a:prstGeom prst="rect">
            <a:avLst/>
          </a:prstGeom>
          <a:noFill/>
          <a:ln/>
        </p:spPr>
        <p:txBody>
          <a:bodyPr wrap="square" rtlCol="0" anchor="ctr"/>
          <a:lstStyle/>
          <a:p>
            <a:pPr rtl="1" algn="r" indent="0" marL="0">
              <a:buNone/>
            </a:pPr>
            <a:r>
              <a:rPr lang="en-US" sz="1200" dirty="0">
                <a:solidFill>
                  <a:srgbClr val="F5F5F5"/>
                </a:solidFill>
                <a:latin typeface="Calibri" pitchFamily="34" charset="0"/>
                <a:ea typeface="Calibri" pitchFamily="34" charset="-122"/>
                <a:cs typeface="Calibri" pitchFamily="34" charset="-120"/>
              </a:rPr>
              <a:t>تطبيق كامل · تدريب · تكامل مع نظامين</a:t>
            </a:r>
            <a:endParaRPr lang="en-US" sz="1200" dirty="0"/>
          </a:p>
        </p:txBody>
      </p:sp>
      <p:sp>
        <p:nvSpPr>
          <p:cNvPr id="16" name="Text 14"/>
          <p:cNvSpPr/>
          <p:nvPr/>
        </p:nvSpPr>
        <p:spPr>
          <a:xfrm>
            <a:off x="10088575" y="4965192"/>
            <a:ext cx="274320" cy="274320"/>
          </a:xfrm>
          <a:prstGeom prst="rect">
            <a:avLst/>
          </a:prstGeom>
          <a:noFill/>
          <a:ln/>
        </p:spPr>
        <p:txBody>
          <a:bodyPr wrap="square" rtlCol="0" anchor="ctr"/>
          <a:lstStyle/>
          <a:p>
            <a:pPr algn="ctr" indent="0" marL="0">
              <a:buNone/>
            </a:pPr>
            <a:r>
              <a:rPr lang="en-US" sz="1400" b="1" dirty="0">
                <a:solidFill>
                  <a:srgbClr val="D4A574"/>
                </a:solidFill>
                <a:latin typeface="Calibri" pitchFamily="34" charset="0"/>
                <a:ea typeface="Calibri" pitchFamily="34" charset="-122"/>
                <a:cs typeface="Calibri" pitchFamily="34" charset="-120"/>
              </a:rPr>
              <a:t>✓</a:t>
            </a:r>
            <a:endParaRPr lang="en-US" sz="1400" dirty="0"/>
          </a:p>
        </p:txBody>
      </p:sp>
      <p:sp>
        <p:nvSpPr>
          <p:cNvPr id="17" name="Text 15"/>
          <p:cNvSpPr/>
          <p:nvPr/>
        </p:nvSpPr>
        <p:spPr>
          <a:xfrm>
            <a:off x="1920240" y="4965192"/>
            <a:ext cx="7894015" cy="274320"/>
          </a:xfrm>
          <a:prstGeom prst="rect">
            <a:avLst/>
          </a:prstGeom>
          <a:noFill/>
          <a:ln/>
        </p:spPr>
        <p:txBody>
          <a:bodyPr wrap="square" rtlCol="0" anchor="ctr"/>
          <a:lstStyle/>
          <a:p>
            <a:pPr rtl="1" algn="r" indent="0" marL="0">
              <a:buNone/>
            </a:pPr>
            <a:r>
              <a:rPr lang="en-US" sz="1200" dirty="0">
                <a:solidFill>
                  <a:srgbClr val="F5F5F5"/>
                </a:solidFill>
                <a:latin typeface="Calibri" pitchFamily="34" charset="0"/>
                <a:ea typeface="Calibri" pitchFamily="34" charset="-122"/>
                <a:cs typeface="Calibri" pitchFamily="34" charset="-120"/>
              </a:rPr>
              <a:t>استرداد 100% إن لم نحقّق الـ KPI المتّفق عليها</a:t>
            </a:r>
            <a:endParaRPr lang="en-US" sz="1200" dirty="0"/>
          </a:p>
        </p:txBody>
      </p:sp>
      <p:sp>
        <p:nvSpPr>
          <p:cNvPr id="18" name="Text 16"/>
          <p:cNvSpPr/>
          <p:nvPr/>
        </p:nvSpPr>
        <p:spPr>
          <a:xfrm>
            <a:off x="10088575" y="5221224"/>
            <a:ext cx="274320" cy="274320"/>
          </a:xfrm>
          <a:prstGeom prst="rect">
            <a:avLst/>
          </a:prstGeom>
          <a:noFill/>
          <a:ln/>
        </p:spPr>
        <p:txBody>
          <a:bodyPr wrap="square" rtlCol="0" anchor="ctr"/>
          <a:lstStyle/>
          <a:p>
            <a:pPr algn="ctr" indent="0" marL="0">
              <a:buNone/>
            </a:pPr>
            <a:r>
              <a:rPr lang="en-US" sz="1400" b="1" dirty="0">
                <a:solidFill>
                  <a:srgbClr val="D4A574"/>
                </a:solidFill>
                <a:latin typeface="Calibri" pitchFamily="34" charset="0"/>
                <a:ea typeface="Calibri" pitchFamily="34" charset="-122"/>
                <a:cs typeface="Calibri" pitchFamily="34" charset="-120"/>
              </a:rPr>
              <a:t>✓</a:t>
            </a:r>
            <a:endParaRPr lang="en-US" sz="1400" dirty="0"/>
          </a:p>
        </p:txBody>
      </p:sp>
      <p:sp>
        <p:nvSpPr>
          <p:cNvPr id="19" name="Text 17"/>
          <p:cNvSpPr/>
          <p:nvPr/>
        </p:nvSpPr>
        <p:spPr>
          <a:xfrm>
            <a:off x="1920240" y="5221224"/>
            <a:ext cx="7894015" cy="274320"/>
          </a:xfrm>
          <a:prstGeom prst="rect">
            <a:avLst/>
          </a:prstGeom>
          <a:noFill/>
          <a:ln/>
        </p:spPr>
        <p:txBody>
          <a:bodyPr wrap="square" rtlCol="0" anchor="ctr"/>
          <a:lstStyle/>
          <a:p>
            <a:pPr rtl="1" algn="r" indent="0" marL="0">
              <a:buNone/>
            </a:pPr>
            <a:r>
              <a:rPr lang="en-US" sz="1200" dirty="0">
                <a:solidFill>
                  <a:srgbClr val="F5F5F5"/>
                </a:solidFill>
                <a:latin typeface="Calibri" pitchFamily="34" charset="0"/>
                <a:ea typeface="Calibri" pitchFamily="34" charset="-122"/>
                <a:cs typeface="Calibri" pitchFamily="34" charset="-120"/>
              </a:rPr>
              <a:t>حضور شهري للمدير العام مع CEO ديلكس</a:t>
            </a:r>
            <a:endParaRPr lang="en-US" sz="1200" dirty="0"/>
          </a:p>
        </p:txBody>
      </p:sp>
      <p:sp>
        <p:nvSpPr>
          <p:cNvPr id="20" name="Text 18"/>
          <p:cNvSpPr/>
          <p:nvPr/>
        </p:nvSpPr>
        <p:spPr>
          <a:xfrm>
            <a:off x="10088575" y="5477256"/>
            <a:ext cx="274320" cy="274320"/>
          </a:xfrm>
          <a:prstGeom prst="rect">
            <a:avLst/>
          </a:prstGeom>
          <a:noFill/>
          <a:ln/>
        </p:spPr>
        <p:txBody>
          <a:bodyPr wrap="square" rtlCol="0" anchor="ctr"/>
          <a:lstStyle/>
          <a:p>
            <a:pPr algn="ctr" indent="0" marL="0">
              <a:buNone/>
            </a:pPr>
            <a:r>
              <a:rPr lang="en-US" sz="1400" b="1" dirty="0">
                <a:solidFill>
                  <a:srgbClr val="D4A574"/>
                </a:solidFill>
                <a:latin typeface="Calibri" pitchFamily="34" charset="0"/>
                <a:ea typeface="Calibri" pitchFamily="34" charset="-122"/>
                <a:cs typeface="Calibri" pitchFamily="34" charset="-120"/>
              </a:rPr>
              <a:t>✓</a:t>
            </a:r>
            <a:endParaRPr lang="en-US" sz="1400" dirty="0"/>
          </a:p>
        </p:txBody>
      </p:sp>
      <p:sp>
        <p:nvSpPr>
          <p:cNvPr id="21" name="Text 19"/>
          <p:cNvSpPr/>
          <p:nvPr/>
        </p:nvSpPr>
        <p:spPr>
          <a:xfrm>
            <a:off x="1920240" y="5477256"/>
            <a:ext cx="7894015" cy="274320"/>
          </a:xfrm>
          <a:prstGeom prst="rect">
            <a:avLst/>
          </a:prstGeom>
          <a:noFill/>
          <a:ln/>
        </p:spPr>
        <p:txBody>
          <a:bodyPr wrap="square" rtlCol="0" anchor="ctr"/>
          <a:lstStyle/>
          <a:p>
            <a:pPr rtl="1" algn="r" indent="0" marL="0">
              <a:buNone/>
            </a:pPr>
            <a:r>
              <a:rPr lang="en-US" sz="1200" dirty="0">
                <a:solidFill>
                  <a:srgbClr val="F5F5F5"/>
                </a:solidFill>
                <a:latin typeface="Calibri" pitchFamily="34" charset="0"/>
                <a:ea typeface="Calibri" pitchFamily="34" charset="-122"/>
                <a:cs typeface="Calibri" pitchFamily="34" charset="-120"/>
              </a:rPr>
              <a:t>خصم 20% على الاشتراك السنوي عند التحويل</a:t>
            </a:r>
            <a:endParaRPr lang="en-US" sz="1200" dirty="0"/>
          </a:p>
        </p:txBody>
      </p:sp>
      <p:sp>
        <p:nvSpPr>
          <p:cNvPr id="22" name="Text 20"/>
          <p:cNvSpPr/>
          <p:nvPr/>
        </p:nvSpPr>
        <p:spPr>
          <a:xfrm>
            <a:off x="548640" y="5989320"/>
            <a:ext cx="11094415" cy="274320"/>
          </a:xfrm>
          <a:prstGeom prst="rect">
            <a:avLst/>
          </a:prstGeom>
          <a:noFill/>
          <a:ln/>
        </p:spPr>
        <p:txBody>
          <a:bodyPr wrap="square" rtlCol="0" anchor="ctr"/>
          <a:lstStyle/>
          <a:p>
            <a:pPr rtl="1" algn="ctr" indent="0" marL="0">
              <a:buNone/>
            </a:pPr>
            <a:r>
              <a:rPr lang="en-US" sz="1200" i="1" dirty="0">
                <a:solidFill>
                  <a:srgbClr val="D4A574"/>
                </a:solidFill>
                <a:latin typeface="Georgia" pitchFamily="34" charset="0"/>
                <a:ea typeface="Georgia" pitchFamily="34" charset="-122"/>
                <a:cs typeface="Georgia" pitchFamily="34" charset="-120"/>
              </a:rPr>
              <a:t>سريان العرض: حتى 30 يونيو 2026 — للتنفيذيين فقط</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AF8F3"/>
        </a:solidFill>
      </p:bgPr>
    </p:bg>
    <p:spTree>
      <p:nvGrpSpPr>
        <p:cNvPr id="1" name=""/>
        <p:cNvGrpSpPr/>
        <p:nvPr/>
      </p:nvGrpSpPr>
      <p:grpSpPr>
        <a:xfrm>
          <a:off x="0" y="0"/>
          <a:ext cx="0" cy="0"/>
          <a:chOff x="0" y="0"/>
          <a:chExt cx="0" cy="0"/>
        </a:xfrm>
      </p:grpSpPr>
      <p:sp>
        <p:nvSpPr>
          <p:cNvPr id="2" name="Shape 0"/>
          <p:cNvSpPr/>
          <p:nvPr/>
        </p:nvSpPr>
        <p:spPr>
          <a:xfrm>
            <a:off x="11734495" y="320040"/>
            <a:ext cx="73152" cy="411480"/>
          </a:xfrm>
          <a:prstGeom prst="rect">
            <a:avLst/>
          </a:prstGeom>
          <a:solidFill>
            <a:srgbClr val="D4A574"/>
          </a:solidFill>
          <a:ln/>
        </p:spPr>
      </p:sp>
      <p:sp>
        <p:nvSpPr>
          <p:cNvPr id="3" name="Text 1"/>
          <p:cNvSpPr/>
          <p:nvPr/>
        </p:nvSpPr>
        <p:spPr>
          <a:xfrm>
            <a:off x="8076895" y="274320"/>
            <a:ext cx="3566160" cy="365760"/>
          </a:xfrm>
          <a:prstGeom prst="rect">
            <a:avLst/>
          </a:prstGeom>
          <a:noFill/>
          <a:ln/>
        </p:spPr>
        <p:txBody>
          <a:bodyPr wrap="square" rtlCol="0" anchor="ctr"/>
          <a:lstStyle/>
          <a:p>
            <a:pPr rtl="1" algn="r" indent="0" marL="0">
              <a:buNone/>
            </a:pPr>
            <a:r>
              <a:rPr lang="en-US" sz="1200" b="1" dirty="0">
                <a:solidFill>
                  <a:srgbClr val="55606E"/>
                </a:solidFill>
                <a:latin typeface="Calibri" pitchFamily="34" charset="0"/>
                <a:ea typeface="Calibri" pitchFamily="34" charset="-122"/>
                <a:cs typeface="Calibri" pitchFamily="34" charset="-120"/>
              </a:rPr>
              <a:t>SLA والدعم</a:t>
            </a:r>
            <a:endParaRPr lang="en-US" sz="1200" dirty="0"/>
          </a:p>
        </p:txBody>
      </p:sp>
      <p:sp>
        <p:nvSpPr>
          <p:cNvPr id="4" name="Text 2"/>
          <p:cNvSpPr/>
          <p:nvPr/>
        </p:nvSpPr>
        <p:spPr>
          <a:xfrm>
            <a:off x="457200" y="6446520"/>
            <a:ext cx="2286000" cy="274320"/>
          </a:xfrm>
          <a:prstGeom prst="rect">
            <a:avLst/>
          </a:prstGeom>
          <a:noFill/>
          <a:ln/>
        </p:spPr>
        <p:txBody>
          <a:bodyPr wrap="square" rtlCol="0" anchor="ctr"/>
          <a:lstStyle/>
          <a:p>
            <a:pPr algn="l" indent="0" marL="0">
              <a:buNone/>
            </a:pPr>
            <a:r>
              <a:rPr lang="en-US" sz="900" dirty="0">
                <a:solidFill>
                  <a:srgbClr val="8B95A3"/>
                </a:solidFill>
                <a:latin typeface="Calibri" pitchFamily="34" charset="0"/>
                <a:ea typeface="Calibri" pitchFamily="34" charset="-122"/>
                <a:cs typeface="Calibri" pitchFamily="34" charset="-120"/>
              </a:rPr>
              <a:t>Dealix · ديلكس</a:t>
            </a:r>
            <a:endParaRPr lang="en-US" sz="900" dirty="0"/>
          </a:p>
        </p:txBody>
      </p:sp>
      <p:sp>
        <p:nvSpPr>
          <p:cNvPr id="5" name="Text 3"/>
          <p:cNvSpPr/>
          <p:nvPr/>
        </p:nvSpPr>
        <p:spPr>
          <a:xfrm>
            <a:off x="11094415" y="6446520"/>
            <a:ext cx="640080" cy="274320"/>
          </a:xfrm>
          <a:prstGeom prst="rect">
            <a:avLst/>
          </a:prstGeom>
          <a:noFill/>
          <a:ln/>
        </p:spPr>
        <p:txBody>
          <a:bodyPr wrap="square" rtlCol="0" anchor="ctr"/>
          <a:lstStyle/>
          <a:p>
            <a:pPr algn="r" indent="0" marL="0">
              <a:buNone/>
            </a:pPr>
            <a:r>
              <a:rPr lang="en-US" sz="900" b="1" dirty="0">
                <a:solidFill>
                  <a:srgbClr val="8B95A3"/>
                </a:solidFill>
                <a:latin typeface="Calibri" pitchFamily="34" charset="0"/>
                <a:ea typeface="Calibri" pitchFamily="34" charset="-122"/>
                <a:cs typeface="Calibri" pitchFamily="34" charset="-120"/>
              </a:rPr>
              <a:t>36</a:t>
            </a:r>
            <a:endParaRPr lang="en-US" sz="900" dirty="0"/>
          </a:p>
        </p:txBody>
      </p:sp>
      <p:sp>
        <p:nvSpPr>
          <p:cNvPr id="6" name="Text 4"/>
          <p:cNvSpPr/>
          <p:nvPr/>
        </p:nvSpPr>
        <p:spPr>
          <a:xfrm>
            <a:off x="548640" y="914400"/>
            <a:ext cx="11094415" cy="822960"/>
          </a:xfrm>
          <a:prstGeom prst="rect">
            <a:avLst/>
          </a:prstGeom>
          <a:noFill/>
          <a:ln/>
        </p:spPr>
        <p:txBody>
          <a:bodyPr wrap="square" rtlCol="0" anchor="ctr"/>
          <a:lstStyle/>
          <a:p>
            <a:pPr rtl="1" algn="r" indent="0" marL="0">
              <a:buNone/>
            </a:pPr>
            <a:r>
              <a:rPr lang="en-US" sz="3400" b="1" dirty="0">
                <a:solidFill>
                  <a:srgbClr val="0A1628"/>
                </a:solidFill>
                <a:latin typeface="Calibri" pitchFamily="34" charset="0"/>
                <a:ea typeface="Calibri" pitchFamily="34" charset="-122"/>
                <a:cs typeface="Calibri" pitchFamily="34" charset="-120"/>
              </a:rPr>
              <a:t>اتفاقية مستوى الخدمة والدعم</a:t>
            </a:r>
            <a:endParaRPr lang="en-US" sz="3400" dirty="0"/>
          </a:p>
        </p:txBody>
      </p:sp>
      <p:sp>
        <p:nvSpPr>
          <p:cNvPr id="7" name="Text 5"/>
          <p:cNvSpPr/>
          <p:nvPr/>
        </p:nvSpPr>
        <p:spPr>
          <a:xfrm>
            <a:off x="548640" y="1691640"/>
            <a:ext cx="11094415" cy="411480"/>
          </a:xfrm>
          <a:prstGeom prst="rect">
            <a:avLst/>
          </a:prstGeom>
          <a:noFill/>
          <a:ln/>
        </p:spPr>
        <p:txBody>
          <a:bodyPr wrap="square" rtlCol="0" anchor="ctr"/>
          <a:lstStyle/>
          <a:p>
            <a:pPr rtl="1" algn="r" indent="0" marL="0">
              <a:buNone/>
            </a:pPr>
            <a:r>
              <a:rPr lang="en-US" sz="1500" dirty="0">
                <a:solidFill>
                  <a:srgbClr val="55606E"/>
                </a:solidFill>
                <a:latin typeface="Calibri" pitchFamily="34" charset="0"/>
                <a:ea typeface="Calibri" pitchFamily="34" charset="-122"/>
                <a:cs typeface="Calibri" pitchFamily="34" charset="-120"/>
              </a:rPr>
              <a:t>التزامات موثّقة في العقد — ليست وعوداً تسويقية</a:t>
            </a:r>
            <a:endParaRPr lang="en-US" sz="1500" dirty="0"/>
          </a:p>
        </p:txBody>
      </p:sp>
      <p:sp>
        <p:nvSpPr>
          <p:cNvPr id="8" name="Shape 6"/>
          <p:cNvSpPr/>
          <p:nvPr/>
        </p:nvSpPr>
        <p:spPr>
          <a:xfrm>
            <a:off x="8127797" y="2331720"/>
            <a:ext cx="3515258" cy="1783080"/>
          </a:xfrm>
          <a:prstGeom prst="rect">
            <a:avLst/>
          </a:prstGeom>
          <a:solidFill>
            <a:srgbClr val="FFFFFF"/>
          </a:solidFill>
          <a:ln w="12700">
            <a:solidFill>
              <a:srgbClr val="E8E3D6"/>
            </a:solidFill>
            <a:prstDash val="solid"/>
          </a:ln>
        </p:spPr>
      </p:sp>
      <p:sp>
        <p:nvSpPr>
          <p:cNvPr id="9" name="Shape 7"/>
          <p:cNvSpPr/>
          <p:nvPr/>
        </p:nvSpPr>
        <p:spPr>
          <a:xfrm>
            <a:off x="8127797" y="2331720"/>
            <a:ext cx="73152" cy="1783080"/>
          </a:xfrm>
          <a:prstGeom prst="rect">
            <a:avLst/>
          </a:prstGeom>
          <a:solidFill>
            <a:srgbClr val="D4A574"/>
          </a:solidFill>
          <a:ln/>
        </p:spPr>
      </p:sp>
      <p:sp>
        <p:nvSpPr>
          <p:cNvPr id="10" name="Text 8"/>
          <p:cNvSpPr/>
          <p:nvPr/>
        </p:nvSpPr>
        <p:spPr>
          <a:xfrm>
            <a:off x="8310677" y="2514600"/>
            <a:ext cx="3149498" cy="594360"/>
          </a:xfrm>
          <a:prstGeom prst="rect">
            <a:avLst/>
          </a:prstGeom>
          <a:noFill/>
          <a:ln/>
        </p:spPr>
        <p:txBody>
          <a:bodyPr wrap="square" rtlCol="0" anchor="ctr"/>
          <a:lstStyle/>
          <a:p>
            <a:pPr rtl="1" algn="r" indent="0" marL="0">
              <a:buNone/>
            </a:pPr>
            <a:r>
              <a:rPr lang="en-US" sz="2800" b="1" dirty="0">
                <a:solidFill>
                  <a:srgbClr val="0A1628"/>
                </a:solidFill>
                <a:latin typeface="Calibri" pitchFamily="34" charset="0"/>
                <a:ea typeface="Calibri" pitchFamily="34" charset="-122"/>
                <a:cs typeface="Calibri" pitchFamily="34" charset="-120"/>
              </a:rPr>
              <a:t>99.9%</a:t>
            </a:r>
            <a:endParaRPr lang="en-US" sz="2800" dirty="0"/>
          </a:p>
        </p:txBody>
      </p:sp>
      <p:sp>
        <p:nvSpPr>
          <p:cNvPr id="11" name="Text 9"/>
          <p:cNvSpPr/>
          <p:nvPr/>
        </p:nvSpPr>
        <p:spPr>
          <a:xfrm>
            <a:off x="8310677" y="3154680"/>
            <a:ext cx="3149498" cy="365760"/>
          </a:xfrm>
          <a:prstGeom prst="rect">
            <a:avLst/>
          </a:prstGeom>
          <a:noFill/>
          <a:ln/>
        </p:spPr>
        <p:txBody>
          <a:bodyPr wrap="square" rtlCol="0" anchor="ctr"/>
          <a:lstStyle/>
          <a:p>
            <a:pPr rtl="1" algn="r" indent="0" marL="0">
              <a:buNone/>
            </a:pPr>
            <a:r>
              <a:rPr lang="en-US" sz="1300" b="1" dirty="0">
                <a:solidFill>
                  <a:srgbClr val="D4A574"/>
                </a:solidFill>
                <a:latin typeface="Calibri" pitchFamily="34" charset="0"/>
                <a:ea typeface="Calibri" pitchFamily="34" charset="-122"/>
                <a:cs typeface="Calibri" pitchFamily="34" charset="-120"/>
              </a:rPr>
              <a:t>زمن التشغيل</a:t>
            </a:r>
            <a:endParaRPr lang="en-US" sz="1300" dirty="0"/>
          </a:p>
        </p:txBody>
      </p:sp>
      <p:sp>
        <p:nvSpPr>
          <p:cNvPr id="12" name="Text 10"/>
          <p:cNvSpPr/>
          <p:nvPr/>
        </p:nvSpPr>
        <p:spPr>
          <a:xfrm>
            <a:off x="8310677" y="3566160"/>
            <a:ext cx="3149498" cy="502920"/>
          </a:xfrm>
          <a:prstGeom prst="rect">
            <a:avLst/>
          </a:prstGeom>
          <a:noFill/>
          <a:ln/>
        </p:spPr>
        <p:txBody>
          <a:bodyPr wrap="square" rtlCol="0" anchor="t"/>
          <a:lstStyle/>
          <a:p>
            <a:pPr rtl="1" algn="r" indent="0" marL="0">
              <a:buNone/>
            </a:pPr>
            <a:r>
              <a:rPr lang="en-US" sz="1050" dirty="0">
                <a:solidFill>
                  <a:srgbClr val="55606E"/>
                </a:solidFill>
                <a:latin typeface="Calibri" pitchFamily="34" charset="0"/>
                <a:ea typeface="Calibri" pitchFamily="34" charset="-122"/>
                <a:cs typeface="Calibri" pitchFamily="34" charset="-120"/>
              </a:rPr>
              <a:t>أقل من 8.7 ساعة تعطّل في السنة · تعويض مالي عن كل ساعة إضافية</a:t>
            </a:r>
            <a:endParaRPr lang="en-US" sz="1050" dirty="0"/>
          </a:p>
        </p:txBody>
      </p:sp>
      <p:sp>
        <p:nvSpPr>
          <p:cNvPr id="13" name="Shape 11"/>
          <p:cNvSpPr/>
          <p:nvPr/>
        </p:nvSpPr>
        <p:spPr>
          <a:xfrm>
            <a:off x="4338218" y="2331720"/>
            <a:ext cx="3515258" cy="1783080"/>
          </a:xfrm>
          <a:prstGeom prst="rect">
            <a:avLst/>
          </a:prstGeom>
          <a:solidFill>
            <a:srgbClr val="FFFFFF"/>
          </a:solidFill>
          <a:ln w="12700">
            <a:solidFill>
              <a:srgbClr val="E8E3D6"/>
            </a:solidFill>
            <a:prstDash val="solid"/>
          </a:ln>
        </p:spPr>
      </p:sp>
      <p:sp>
        <p:nvSpPr>
          <p:cNvPr id="14" name="Shape 12"/>
          <p:cNvSpPr/>
          <p:nvPr/>
        </p:nvSpPr>
        <p:spPr>
          <a:xfrm>
            <a:off x="4338218" y="2331720"/>
            <a:ext cx="73152" cy="1783080"/>
          </a:xfrm>
          <a:prstGeom prst="rect">
            <a:avLst/>
          </a:prstGeom>
          <a:solidFill>
            <a:srgbClr val="D4A574"/>
          </a:solidFill>
          <a:ln/>
        </p:spPr>
      </p:sp>
      <p:sp>
        <p:nvSpPr>
          <p:cNvPr id="15" name="Text 13"/>
          <p:cNvSpPr/>
          <p:nvPr/>
        </p:nvSpPr>
        <p:spPr>
          <a:xfrm>
            <a:off x="4521098" y="2514600"/>
            <a:ext cx="3149498" cy="594360"/>
          </a:xfrm>
          <a:prstGeom prst="rect">
            <a:avLst/>
          </a:prstGeom>
          <a:noFill/>
          <a:ln/>
        </p:spPr>
        <p:txBody>
          <a:bodyPr wrap="square" rtlCol="0" anchor="ctr"/>
          <a:lstStyle/>
          <a:p>
            <a:pPr rtl="1" algn="r" indent="0" marL="0">
              <a:buNone/>
            </a:pPr>
            <a:r>
              <a:rPr lang="en-US" sz="2800" b="1" dirty="0">
                <a:solidFill>
                  <a:srgbClr val="0A1628"/>
                </a:solidFill>
                <a:latin typeface="Calibri" pitchFamily="34" charset="0"/>
                <a:ea typeface="Calibri" pitchFamily="34" charset="-122"/>
                <a:cs typeface="Calibri" pitchFamily="34" charset="-120"/>
              </a:rPr>
              <a:t>&lt;2 ساعة</a:t>
            </a:r>
            <a:endParaRPr lang="en-US" sz="2800" dirty="0"/>
          </a:p>
        </p:txBody>
      </p:sp>
      <p:sp>
        <p:nvSpPr>
          <p:cNvPr id="16" name="Text 14"/>
          <p:cNvSpPr/>
          <p:nvPr/>
        </p:nvSpPr>
        <p:spPr>
          <a:xfrm>
            <a:off x="4521098" y="3154680"/>
            <a:ext cx="3149498" cy="365760"/>
          </a:xfrm>
          <a:prstGeom prst="rect">
            <a:avLst/>
          </a:prstGeom>
          <a:noFill/>
          <a:ln/>
        </p:spPr>
        <p:txBody>
          <a:bodyPr wrap="square" rtlCol="0" anchor="ctr"/>
          <a:lstStyle/>
          <a:p>
            <a:pPr rtl="1" algn="r" indent="0" marL="0">
              <a:buNone/>
            </a:pPr>
            <a:r>
              <a:rPr lang="en-US" sz="1300" b="1" dirty="0">
                <a:solidFill>
                  <a:srgbClr val="D4A574"/>
                </a:solidFill>
                <a:latin typeface="Calibri" pitchFamily="34" charset="0"/>
                <a:ea typeface="Calibri" pitchFamily="34" charset="-122"/>
                <a:cs typeface="Calibri" pitchFamily="34" charset="-120"/>
              </a:rPr>
              <a:t>زمن الاستجابة للحوادث الحرجة</a:t>
            </a:r>
            <a:endParaRPr lang="en-US" sz="1300" dirty="0"/>
          </a:p>
        </p:txBody>
      </p:sp>
      <p:sp>
        <p:nvSpPr>
          <p:cNvPr id="17" name="Text 15"/>
          <p:cNvSpPr/>
          <p:nvPr/>
        </p:nvSpPr>
        <p:spPr>
          <a:xfrm>
            <a:off x="4521098" y="3566160"/>
            <a:ext cx="3149498" cy="502920"/>
          </a:xfrm>
          <a:prstGeom prst="rect">
            <a:avLst/>
          </a:prstGeom>
          <a:noFill/>
          <a:ln/>
        </p:spPr>
        <p:txBody>
          <a:bodyPr wrap="square" rtlCol="0" anchor="t"/>
          <a:lstStyle/>
          <a:p>
            <a:pPr rtl="1" algn="r" indent="0" marL="0">
              <a:buNone/>
            </a:pPr>
            <a:r>
              <a:rPr lang="en-US" sz="1050" dirty="0">
                <a:solidFill>
                  <a:srgbClr val="55606E"/>
                </a:solidFill>
                <a:latin typeface="Calibri" pitchFamily="34" charset="0"/>
                <a:ea typeface="Calibri" pitchFamily="34" charset="-122"/>
                <a:cs typeface="Calibri" pitchFamily="34" charset="-120"/>
              </a:rPr>
              <a:t>مهندس معيّن فوراً · تصعيد للـ VP Engineering في ديلكس</a:t>
            </a:r>
            <a:endParaRPr lang="en-US" sz="1050" dirty="0"/>
          </a:p>
        </p:txBody>
      </p:sp>
      <p:sp>
        <p:nvSpPr>
          <p:cNvPr id="18" name="Shape 16"/>
          <p:cNvSpPr/>
          <p:nvPr/>
        </p:nvSpPr>
        <p:spPr>
          <a:xfrm>
            <a:off x="548640" y="2331720"/>
            <a:ext cx="3515258" cy="1783080"/>
          </a:xfrm>
          <a:prstGeom prst="rect">
            <a:avLst/>
          </a:prstGeom>
          <a:solidFill>
            <a:srgbClr val="FFFFFF"/>
          </a:solidFill>
          <a:ln w="12700">
            <a:solidFill>
              <a:srgbClr val="E8E3D6"/>
            </a:solidFill>
            <a:prstDash val="solid"/>
          </a:ln>
        </p:spPr>
      </p:sp>
      <p:sp>
        <p:nvSpPr>
          <p:cNvPr id="19" name="Shape 17"/>
          <p:cNvSpPr/>
          <p:nvPr/>
        </p:nvSpPr>
        <p:spPr>
          <a:xfrm>
            <a:off x="548640" y="2331720"/>
            <a:ext cx="73152" cy="1783080"/>
          </a:xfrm>
          <a:prstGeom prst="rect">
            <a:avLst/>
          </a:prstGeom>
          <a:solidFill>
            <a:srgbClr val="D4A574"/>
          </a:solidFill>
          <a:ln/>
        </p:spPr>
      </p:sp>
      <p:sp>
        <p:nvSpPr>
          <p:cNvPr id="20" name="Text 18"/>
          <p:cNvSpPr/>
          <p:nvPr/>
        </p:nvSpPr>
        <p:spPr>
          <a:xfrm>
            <a:off x="731520" y="2514600"/>
            <a:ext cx="3149498" cy="594360"/>
          </a:xfrm>
          <a:prstGeom prst="rect">
            <a:avLst/>
          </a:prstGeom>
          <a:noFill/>
          <a:ln/>
        </p:spPr>
        <p:txBody>
          <a:bodyPr wrap="square" rtlCol="0" anchor="ctr"/>
          <a:lstStyle/>
          <a:p>
            <a:pPr rtl="1" algn="r" indent="0" marL="0">
              <a:buNone/>
            </a:pPr>
            <a:r>
              <a:rPr lang="en-US" sz="2800" b="1" dirty="0">
                <a:solidFill>
                  <a:srgbClr val="0A1628"/>
                </a:solidFill>
                <a:latin typeface="Calibri" pitchFamily="34" charset="0"/>
                <a:ea typeface="Calibri" pitchFamily="34" charset="-122"/>
                <a:cs typeface="Calibri" pitchFamily="34" charset="-120"/>
              </a:rPr>
              <a:t>أقل من 10 دقائق</a:t>
            </a:r>
            <a:endParaRPr lang="en-US" sz="2800" dirty="0"/>
          </a:p>
        </p:txBody>
      </p:sp>
      <p:sp>
        <p:nvSpPr>
          <p:cNvPr id="21" name="Text 19"/>
          <p:cNvSpPr/>
          <p:nvPr/>
        </p:nvSpPr>
        <p:spPr>
          <a:xfrm>
            <a:off x="731520" y="3154680"/>
            <a:ext cx="3149498" cy="365760"/>
          </a:xfrm>
          <a:prstGeom prst="rect">
            <a:avLst/>
          </a:prstGeom>
          <a:noFill/>
          <a:ln/>
        </p:spPr>
        <p:txBody>
          <a:bodyPr wrap="square" rtlCol="0" anchor="ctr"/>
          <a:lstStyle/>
          <a:p>
            <a:pPr rtl="1" algn="r" indent="0" marL="0">
              <a:buNone/>
            </a:pPr>
            <a:r>
              <a:rPr lang="en-US" sz="1300" b="1" dirty="0">
                <a:solidFill>
                  <a:srgbClr val="D4A574"/>
                </a:solidFill>
                <a:latin typeface="Calibri" pitchFamily="34" charset="0"/>
                <a:ea typeface="Calibri" pitchFamily="34" charset="-122"/>
                <a:cs typeface="Calibri" pitchFamily="34" charset="-120"/>
              </a:rPr>
              <a:t>زمن استجابة الدعم العربي</a:t>
            </a:r>
            <a:endParaRPr lang="en-US" sz="1300" dirty="0"/>
          </a:p>
        </p:txBody>
      </p:sp>
      <p:sp>
        <p:nvSpPr>
          <p:cNvPr id="22" name="Text 20"/>
          <p:cNvSpPr/>
          <p:nvPr/>
        </p:nvSpPr>
        <p:spPr>
          <a:xfrm>
            <a:off x="731520" y="3566160"/>
            <a:ext cx="3149498" cy="502920"/>
          </a:xfrm>
          <a:prstGeom prst="rect">
            <a:avLst/>
          </a:prstGeom>
          <a:noFill/>
          <a:ln/>
        </p:spPr>
        <p:txBody>
          <a:bodyPr wrap="square" rtlCol="0" anchor="t"/>
          <a:lstStyle/>
          <a:p>
            <a:pPr rtl="1" algn="r" indent="0" marL="0">
              <a:buNone/>
            </a:pPr>
            <a:r>
              <a:rPr lang="en-US" sz="1050" dirty="0">
                <a:solidFill>
                  <a:srgbClr val="55606E"/>
                </a:solidFill>
                <a:latin typeface="Calibri" pitchFamily="34" charset="0"/>
                <a:ea typeface="Calibri" pitchFamily="34" charset="-122"/>
                <a:cs typeface="Calibri" pitchFamily="34" charset="-120"/>
              </a:rPr>
              <a:t>خدمة عربية 24/7 · WhatsApp · Email · هاتف مباشر</a:t>
            </a:r>
            <a:endParaRPr lang="en-US" sz="1050" dirty="0"/>
          </a:p>
        </p:txBody>
      </p:sp>
      <p:sp>
        <p:nvSpPr>
          <p:cNvPr id="23" name="Shape 21"/>
          <p:cNvSpPr/>
          <p:nvPr/>
        </p:nvSpPr>
        <p:spPr>
          <a:xfrm>
            <a:off x="8127797" y="4343400"/>
            <a:ext cx="3515258" cy="1783080"/>
          </a:xfrm>
          <a:prstGeom prst="rect">
            <a:avLst/>
          </a:prstGeom>
          <a:solidFill>
            <a:srgbClr val="FFFFFF"/>
          </a:solidFill>
          <a:ln w="12700">
            <a:solidFill>
              <a:srgbClr val="E8E3D6"/>
            </a:solidFill>
            <a:prstDash val="solid"/>
          </a:ln>
        </p:spPr>
      </p:sp>
      <p:sp>
        <p:nvSpPr>
          <p:cNvPr id="24" name="Shape 22"/>
          <p:cNvSpPr/>
          <p:nvPr/>
        </p:nvSpPr>
        <p:spPr>
          <a:xfrm>
            <a:off x="8127797" y="4343400"/>
            <a:ext cx="73152" cy="1783080"/>
          </a:xfrm>
          <a:prstGeom prst="rect">
            <a:avLst/>
          </a:prstGeom>
          <a:solidFill>
            <a:srgbClr val="D4A574"/>
          </a:solidFill>
          <a:ln/>
        </p:spPr>
      </p:sp>
      <p:sp>
        <p:nvSpPr>
          <p:cNvPr id="25" name="Text 23"/>
          <p:cNvSpPr/>
          <p:nvPr/>
        </p:nvSpPr>
        <p:spPr>
          <a:xfrm>
            <a:off x="8310677" y="4526280"/>
            <a:ext cx="3149498" cy="594360"/>
          </a:xfrm>
          <a:prstGeom prst="rect">
            <a:avLst/>
          </a:prstGeom>
          <a:noFill/>
          <a:ln/>
        </p:spPr>
        <p:txBody>
          <a:bodyPr wrap="square" rtlCol="0" anchor="ctr"/>
          <a:lstStyle/>
          <a:p>
            <a:pPr rtl="1" algn="r" indent="0" marL="0">
              <a:buNone/>
            </a:pPr>
            <a:r>
              <a:rPr lang="en-US" sz="2800" b="1" dirty="0">
                <a:solidFill>
                  <a:srgbClr val="0A1628"/>
                </a:solidFill>
                <a:latin typeface="Calibri" pitchFamily="34" charset="0"/>
                <a:ea typeface="Calibri" pitchFamily="34" charset="-122"/>
                <a:cs typeface="Calibri" pitchFamily="34" charset="-120"/>
              </a:rPr>
              <a:t>ربع سنوي</a:t>
            </a:r>
            <a:endParaRPr lang="en-US" sz="2800" dirty="0"/>
          </a:p>
        </p:txBody>
      </p:sp>
      <p:sp>
        <p:nvSpPr>
          <p:cNvPr id="26" name="Text 24"/>
          <p:cNvSpPr/>
          <p:nvPr/>
        </p:nvSpPr>
        <p:spPr>
          <a:xfrm>
            <a:off x="8310677" y="5166360"/>
            <a:ext cx="3149498" cy="365760"/>
          </a:xfrm>
          <a:prstGeom prst="rect">
            <a:avLst/>
          </a:prstGeom>
          <a:noFill/>
          <a:ln/>
        </p:spPr>
        <p:txBody>
          <a:bodyPr wrap="square" rtlCol="0" anchor="ctr"/>
          <a:lstStyle/>
          <a:p>
            <a:pPr rtl="1" algn="r" indent="0" marL="0">
              <a:buNone/>
            </a:pPr>
            <a:r>
              <a:rPr lang="en-US" sz="1300" b="1" dirty="0">
                <a:solidFill>
                  <a:srgbClr val="D4A574"/>
                </a:solidFill>
                <a:latin typeface="Calibri" pitchFamily="34" charset="0"/>
                <a:ea typeface="Calibri" pitchFamily="34" charset="-122"/>
                <a:cs typeface="Calibri" pitchFamily="34" charset="-120"/>
              </a:rPr>
              <a:t>مراجعة تنفيذية</a:t>
            </a:r>
            <a:endParaRPr lang="en-US" sz="1300" dirty="0"/>
          </a:p>
        </p:txBody>
      </p:sp>
      <p:sp>
        <p:nvSpPr>
          <p:cNvPr id="27" name="Text 25"/>
          <p:cNvSpPr/>
          <p:nvPr/>
        </p:nvSpPr>
        <p:spPr>
          <a:xfrm>
            <a:off x="8310677" y="5577840"/>
            <a:ext cx="3149498" cy="502920"/>
          </a:xfrm>
          <a:prstGeom prst="rect">
            <a:avLst/>
          </a:prstGeom>
          <a:noFill/>
          <a:ln/>
        </p:spPr>
        <p:txBody>
          <a:bodyPr wrap="square" rtlCol="0" anchor="t"/>
          <a:lstStyle/>
          <a:p>
            <a:pPr rtl="1" algn="r" indent="0" marL="0">
              <a:buNone/>
            </a:pPr>
            <a:r>
              <a:rPr lang="en-US" sz="1050" dirty="0">
                <a:solidFill>
                  <a:srgbClr val="55606E"/>
                </a:solidFill>
                <a:latin typeface="Calibri" pitchFamily="34" charset="0"/>
                <a:ea typeface="Calibri" pitchFamily="34" charset="-122"/>
                <a:cs typeface="Calibri" pitchFamily="34" charset="-120"/>
              </a:rPr>
              <a:t>CEO ديلكس + CEO شركتكم · مراجعة الأداء والـ Roadmap</a:t>
            </a:r>
            <a:endParaRPr lang="en-US" sz="1050" dirty="0"/>
          </a:p>
        </p:txBody>
      </p:sp>
      <p:sp>
        <p:nvSpPr>
          <p:cNvPr id="28" name="Shape 26"/>
          <p:cNvSpPr/>
          <p:nvPr/>
        </p:nvSpPr>
        <p:spPr>
          <a:xfrm>
            <a:off x="4338218" y="4343400"/>
            <a:ext cx="3515258" cy="1783080"/>
          </a:xfrm>
          <a:prstGeom prst="rect">
            <a:avLst/>
          </a:prstGeom>
          <a:solidFill>
            <a:srgbClr val="FFFFFF"/>
          </a:solidFill>
          <a:ln w="12700">
            <a:solidFill>
              <a:srgbClr val="E8E3D6"/>
            </a:solidFill>
            <a:prstDash val="solid"/>
          </a:ln>
        </p:spPr>
      </p:sp>
      <p:sp>
        <p:nvSpPr>
          <p:cNvPr id="29" name="Shape 27"/>
          <p:cNvSpPr/>
          <p:nvPr/>
        </p:nvSpPr>
        <p:spPr>
          <a:xfrm>
            <a:off x="4338218" y="4343400"/>
            <a:ext cx="73152" cy="1783080"/>
          </a:xfrm>
          <a:prstGeom prst="rect">
            <a:avLst/>
          </a:prstGeom>
          <a:solidFill>
            <a:srgbClr val="D4A574"/>
          </a:solidFill>
          <a:ln/>
        </p:spPr>
      </p:sp>
      <p:sp>
        <p:nvSpPr>
          <p:cNvPr id="30" name="Text 28"/>
          <p:cNvSpPr/>
          <p:nvPr/>
        </p:nvSpPr>
        <p:spPr>
          <a:xfrm>
            <a:off x="4521098" y="4526280"/>
            <a:ext cx="3149498" cy="594360"/>
          </a:xfrm>
          <a:prstGeom prst="rect">
            <a:avLst/>
          </a:prstGeom>
          <a:noFill/>
          <a:ln/>
        </p:spPr>
        <p:txBody>
          <a:bodyPr wrap="square" rtlCol="0" anchor="ctr"/>
          <a:lstStyle/>
          <a:p>
            <a:pPr rtl="1" algn="r" indent="0" marL="0">
              <a:buNone/>
            </a:pPr>
            <a:r>
              <a:rPr lang="en-US" sz="2800" b="1" dirty="0">
                <a:solidFill>
                  <a:srgbClr val="0A1628"/>
                </a:solidFill>
                <a:latin typeface="Calibri" pitchFamily="34" charset="0"/>
                <a:ea typeface="Calibri" pitchFamily="34" charset="-122"/>
                <a:cs typeface="Calibri" pitchFamily="34" charset="-120"/>
              </a:rPr>
              <a:t>&lt;4 أسابيع</a:t>
            </a:r>
            <a:endParaRPr lang="en-US" sz="2800" dirty="0"/>
          </a:p>
        </p:txBody>
      </p:sp>
      <p:sp>
        <p:nvSpPr>
          <p:cNvPr id="31" name="Text 29"/>
          <p:cNvSpPr/>
          <p:nvPr/>
        </p:nvSpPr>
        <p:spPr>
          <a:xfrm>
            <a:off x="4521098" y="5166360"/>
            <a:ext cx="3149498" cy="365760"/>
          </a:xfrm>
          <a:prstGeom prst="rect">
            <a:avLst/>
          </a:prstGeom>
          <a:noFill/>
          <a:ln/>
        </p:spPr>
        <p:txBody>
          <a:bodyPr wrap="square" rtlCol="0" anchor="ctr"/>
          <a:lstStyle/>
          <a:p>
            <a:pPr rtl="1" algn="r" indent="0" marL="0">
              <a:buNone/>
            </a:pPr>
            <a:r>
              <a:rPr lang="en-US" sz="1300" b="1" dirty="0">
                <a:solidFill>
                  <a:srgbClr val="D4A574"/>
                </a:solidFill>
                <a:latin typeface="Calibri" pitchFamily="34" charset="0"/>
                <a:ea typeface="Calibri" pitchFamily="34" charset="-122"/>
                <a:cs typeface="Calibri" pitchFamily="34" charset="-120"/>
              </a:rPr>
              <a:t>تنفيذ الميزات المخصّصة</a:t>
            </a:r>
            <a:endParaRPr lang="en-US" sz="1300" dirty="0"/>
          </a:p>
        </p:txBody>
      </p:sp>
      <p:sp>
        <p:nvSpPr>
          <p:cNvPr id="32" name="Text 30"/>
          <p:cNvSpPr/>
          <p:nvPr/>
        </p:nvSpPr>
        <p:spPr>
          <a:xfrm>
            <a:off x="4521098" y="5577840"/>
            <a:ext cx="3149498" cy="502920"/>
          </a:xfrm>
          <a:prstGeom prst="rect">
            <a:avLst/>
          </a:prstGeom>
          <a:noFill/>
          <a:ln/>
        </p:spPr>
        <p:txBody>
          <a:bodyPr wrap="square" rtlCol="0" anchor="t"/>
          <a:lstStyle/>
          <a:p>
            <a:pPr rtl="1" algn="r" indent="0" marL="0">
              <a:buNone/>
            </a:pPr>
            <a:r>
              <a:rPr lang="en-US" sz="1050" dirty="0">
                <a:solidFill>
                  <a:srgbClr val="55606E"/>
                </a:solidFill>
                <a:latin typeface="Calibri" pitchFamily="34" charset="0"/>
                <a:ea typeface="Calibri" pitchFamily="34" charset="-122"/>
                <a:cs typeface="Calibri" pitchFamily="34" charset="-120"/>
              </a:rPr>
              <a:t>أي طلب ميزة في الـ Roadmap يُنفّذ خلال شهر · توثيق كامل</a:t>
            </a:r>
            <a:endParaRPr lang="en-US" sz="1050" dirty="0"/>
          </a:p>
        </p:txBody>
      </p:sp>
      <p:sp>
        <p:nvSpPr>
          <p:cNvPr id="33" name="Shape 31"/>
          <p:cNvSpPr/>
          <p:nvPr/>
        </p:nvSpPr>
        <p:spPr>
          <a:xfrm>
            <a:off x="548640" y="4343400"/>
            <a:ext cx="3515258" cy="1783080"/>
          </a:xfrm>
          <a:prstGeom prst="rect">
            <a:avLst/>
          </a:prstGeom>
          <a:solidFill>
            <a:srgbClr val="FFFFFF"/>
          </a:solidFill>
          <a:ln w="12700">
            <a:solidFill>
              <a:srgbClr val="E8E3D6"/>
            </a:solidFill>
            <a:prstDash val="solid"/>
          </a:ln>
        </p:spPr>
      </p:sp>
      <p:sp>
        <p:nvSpPr>
          <p:cNvPr id="34" name="Shape 32"/>
          <p:cNvSpPr/>
          <p:nvPr/>
        </p:nvSpPr>
        <p:spPr>
          <a:xfrm>
            <a:off x="548640" y="4343400"/>
            <a:ext cx="73152" cy="1783080"/>
          </a:xfrm>
          <a:prstGeom prst="rect">
            <a:avLst/>
          </a:prstGeom>
          <a:solidFill>
            <a:srgbClr val="D4A574"/>
          </a:solidFill>
          <a:ln/>
        </p:spPr>
      </p:sp>
      <p:sp>
        <p:nvSpPr>
          <p:cNvPr id="35" name="Text 33"/>
          <p:cNvSpPr/>
          <p:nvPr/>
        </p:nvSpPr>
        <p:spPr>
          <a:xfrm>
            <a:off x="731520" y="4526280"/>
            <a:ext cx="3149498" cy="594360"/>
          </a:xfrm>
          <a:prstGeom prst="rect">
            <a:avLst/>
          </a:prstGeom>
          <a:noFill/>
          <a:ln/>
        </p:spPr>
        <p:txBody>
          <a:bodyPr wrap="square" rtlCol="0" anchor="ctr"/>
          <a:lstStyle/>
          <a:p>
            <a:pPr rtl="1" algn="r" indent="0" marL="0">
              <a:buNone/>
            </a:pPr>
            <a:r>
              <a:rPr lang="en-US" sz="2800" b="1" dirty="0">
                <a:solidFill>
                  <a:srgbClr val="0A1628"/>
                </a:solidFill>
                <a:latin typeface="Calibri" pitchFamily="34" charset="0"/>
                <a:ea typeface="Calibri" pitchFamily="34" charset="-122"/>
                <a:cs typeface="Calibri" pitchFamily="34" charset="-120"/>
              </a:rPr>
              <a:t>95%</a:t>
            </a:r>
            <a:endParaRPr lang="en-US" sz="2800" dirty="0"/>
          </a:p>
        </p:txBody>
      </p:sp>
      <p:sp>
        <p:nvSpPr>
          <p:cNvPr id="36" name="Text 34"/>
          <p:cNvSpPr/>
          <p:nvPr/>
        </p:nvSpPr>
        <p:spPr>
          <a:xfrm>
            <a:off x="731520" y="5166360"/>
            <a:ext cx="3149498" cy="365760"/>
          </a:xfrm>
          <a:prstGeom prst="rect">
            <a:avLst/>
          </a:prstGeom>
          <a:noFill/>
          <a:ln/>
        </p:spPr>
        <p:txBody>
          <a:bodyPr wrap="square" rtlCol="0" anchor="ctr"/>
          <a:lstStyle/>
          <a:p>
            <a:pPr rtl="1" algn="r" indent="0" marL="0">
              <a:buNone/>
            </a:pPr>
            <a:r>
              <a:rPr lang="en-US" sz="1300" b="1" dirty="0">
                <a:solidFill>
                  <a:srgbClr val="D4A574"/>
                </a:solidFill>
                <a:latin typeface="Calibri" pitchFamily="34" charset="0"/>
                <a:ea typeface="Calibri" pitchFamily="34" charset="-122"/>
                <a:cs typeface="Calibri" pitchFamily="34" charset="-120"/>
              </a:rPr>
              <a:t>معدّل رضا العملاء</a:t>
            </a:r>
            <a:endParaRPr lang="en-US" sz="1300" dirty="0"/>
          </a:p>
        </p:txBody>
      </p:sp>
      <p:sp>
        <p:nvSpPr>
          <p:cNvPr id="37" name="Text 35"/>
          <p:cNvSpPr/>
          <p:nvPr/>
        </p:nvSpPr>
        <p:spPr>
          <a:xfrm>
            <a:off x="731520" y="5577840"/>
            <a:ext cx="3149498" cy="502920"/>
          </a:xfrm>
          <a:prstGeom prst="rect">
            <a:avLst/>
          </a:prstGeom>
          <a:noFill/>
          <a:ln/>
        </p:spPr>
        <p:txBody>
          <a:bodyPr wrap="square" rtlCol="0" anchor="t"/>
          <a:lstStyle/>
          <a:p>
            <a:pPr rtl="1" algn="r" indent="0" marL="0">
              <a:buNone/>
            </a:pPr>
            <a:r>
              <a:rPr lang="en-US" sz="1050" dirty="0">
                <a:solidFill>
                  <a:srgbClr val="55606E"/>
                </a:solidFill>
                <a:latin typeface="Calibri" pitchFamily="34" charset="0"/>
                <a:ea typeface="Calibri" pitchFamily="34" charset="-122"/>
                <a:cs typeface="Calibri" pitchFamily="34" charset="-120"/>
              </a:rPr>
              <a:t>قياس ربع سنوي · إذا نزل عن 90% نُقدّم خطة تصحيح ملزمة</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AF8F3"/>
        </a:solidFill>
      </p:bgPr>
    </p:bg>
    <p:spTree>
      <p:nvGrpSpPr>
        <p:cNvPr id="1" name=""/>
        <p:cNvGrpSpPr/>
        <p:nvPr/>
      </p:nvGrpSpPr>
      <p:grpSpPr>
        <a:xfrm>
          <a:off x="0" y="0"/>
          <a:ext cx="0" cy="0"/>
          <a:chOff x="0" y="0"/>
          <a:chExt cx="0" cy="0"/>
        </a:xfrm>
      </p:grpSpPr>
      <p:sp>
        <p:nvSpPr>
          <p:cNvPr id="2" name="Shape 0"/>
          <p:cNvSpPr/>
          <p:nvPr/>
        </p:nvSpPr>
        <p:spPr>
          <a:xfrm>
            <a:off x="11734495" y="320040"/>
            <a:ext cx="73152" cy="411480"/>
          </a:xfrm>
          <a:prstGeom prst="rect">
            <a:avLst/>
          </a:prstGeom>
          <a:solidFill>
            <a:srgbClr val="D4A574"/>
          </a:solidFill>
          <a:ln/>
        </p:spPr>
      </p:sp>
      <p:sp>
        <p:nvSpPr>
          <p:cNvPr id="3" name="Text 1"/>
          <p:cNvSpPr/>
          <p:nvPr/>
        </p:nvSpPr>
        <p:spPr>
          <a:xfrm>
            <a:off x="8076895" y="274320"/>
            <a:ext cx="3566160" cy="365760"/>
          </a:xfrm>
          <a:prstGeom prst="rect">
            <a:avLst/>
          </a:prstGeom>
          <a:noFill/>
          <a:ln/>
        </p:spPr>
        <p:txBody>
          <a:bodyPr wrap="square" rtlCol="0" anchor="ctr"/>
          <a:lstStyle/>
          <a:p>
            <a:pPr rtl="1" algn="r" indent="0" marL="0">
              <a:buNone/>
            </a:pPr>
            <a:r>
              <a:rPr lang="en-US" sz="1200" b="1" dirty="0">
                <a:solidFill>
                  <a:srgbClr val="55606E"/>
                </a:solidFill>
                <a:latin typeface="Calibri" pitchFamily="34" charset="0"/>
                <a:ea typeface="Calibri" pitchFamily="34" charset="-122"/>
                <a:cs typeface="Calibri" pitchFamily="34" charset="-120"/>
              </a:rPr>
              <a:t>المقارنة التنافسية</a:t>
            </a:r>
            <a:endParaRPr lang="en-US" sz="1200" dirty="0"/>
          </a:p>
        </p:txBody>
      </p:sp>
      <p:sp>
        <p:nvSpPr>
          <p:cNvPr id="4" name="Text 2"/>
          <p:cNvSpPr/>
          <p:nvPr/>
        </p:nvSpPr>
        <p:spPr>
          <a:xfrm>
            <a:off x="457200" y="6446520"/>
            <a:ext cx="2286000" cy="274320"/>
          </a:xfrm>
          <a:prstGeom prst="rect">
            <a:avLst/>
          </a:prstGeom>
          <a:noFill/>
          <a:ln/>
        </p:spPr>
        <p:txBody>
          <a:bodyPr wrap="square" rtlCol="0" anchor="ctr"/>
          <a:lstStyle/>
          <a:p>
            <a:pPr algn="l" indent="0" marL="0">
              <a:buNone/>
            </a:pPr>
            <a:r>
              <a:rPr lang="en-US" sz="900" dirty="0">
                <a:solidFill>
                  <a:srgbClr val="8B95A3"/>
                </a:solidFill>
                <a:latin typeface="Calibri" pitchFamily="34" charset="0"/>
                <a:ea typeface="Calibri" pitchFamily="34" charset="-122"/>
                <a:cs typeface="Calibri" pitchFamily="34" charset="-120"/>
              </a:rPr>
              <a:t>Dealix · ديلكس</a:t>
            </a:r>
            <a:endParaRPr lang="en-US" sz="900" dirty="0"/>
          </a:p>
        </p:txBody>
      </p:sp>
      <p:sp>
        <p:nvSpPr>
          <p:cNvPr id="5" name="Text 3"/>
          <p:cNvSpPr/>
          <p:nvPr/>
        </p:nvSpPr>
        <p:spPr>
          <a:xfrm>
            <a:off x="11094415" y="6446520"/>
            <a:ext cx="640080" cy="274320"/>
          </a:xfrm>
          <a:prstGeom prst="rect">
            <a:avLst/>
          </a:prstGeom>
          <a:noFill/>
          <a:ln/>
        </p:spPr>
        <p:txBody>
          <a:bodyPr wrap="square" rtlCol="0" anchor="ctr"/>
          <a:lstStyle/>
          <a:p>
            <a:pPr algn="r" indent="0" marL="0">
              <a:buNone/>
            </a:pPr>
            <a:r>
              <a:rPr lang="en-US" sz="900" b="1" dirty="0">
                <a:solidFill>
                  <a:srgbClr val="8B95A3"/>
                </a:solidFill>
                <a:latin typeface="Calibri" pitchFamily="34" charset="0"/>
                <a:ea typeface="Calibri" pitchFamily="34" charset="-122"/>
                <a:cs typeface="Calibri" pitchFamily="34" charset="-120"/>
              </a:rPr>
              <a:t>37</a:t>
            </a:r>
            <a:endParaRPr lang="en-US" sz="900" dirty="0"/>
          </a:p>
        </p:txBody>
      </p:sp>
      <p:sp>
        <p:nvSpPr>
          <p:cNvPr id="6" name="Text 4"/>
          <p:cNvSpPr/>
          <p:nvPr/>
        </p:nvSpPr>
        <p:spPr>
          <a:xfrm>
            <a:off x="548640" y="914400"/>
            <a:ext cx="11094415" cy="822960"/>
          </a:xfrm>
          <a:prstGeom prst="rect">
            <a:avLst/>
          </a:prstGeom>
          <a:noFill/>
          <a:ln/>
        </p:spPr>
        <p:txBody>
          <a:bodyPr wrap="square" rtlCol="0" anchor="ctr"/>
          <a:lstStyle/>
          <a:p>
            <a:pPr rtl="1" algn="r" indent="0" marL="0">
              <a:buNone/>
            </a:pPr>
            <a:r>
              <a:rPr lang="en-US" sz="3400" b="1" dirty="0">
                <a:solidFill>
                  <a:srgbClr val="0A1628"/>
                </a:solidFill>
                <a:latin typeface="Calibri" pitchFamily="34" charset="0"/>
                <a:ea typeface="Calibri" pitchFamily="34" charset="-122"/>
                <a:cs typeface="Calibri" pitchFamily="34" charset="-120"/>
              </a:rPr>
              <a:t>لماذا ديلكس على البدائل</a:t>
            </a:r>
            <a:endParaRPr lang="en-US" sz="3400" dirty="0"/>
          </a:p>
        </p:txBody>
      </p:sp>
      <p:sp>
        <p:nvSpPr>
          <p:cNvPr id="7" name="Text 5"/>
          <p:cNvSpPr/>
          <p:nvPr/>
        </p:nvSpPr>
        <p:spPr>
          <a:xfrm>
            <a:off x="548640" y="1691640"/>
            <a:ext cx="11094415" cy="411480"/>
          </a:xfrm>
          <a:prstGeom prst="rect">
            <a:avLst/>
          </a:prstGeom>
          <a:noFill/>
          <a:ln/>
        </p:spPr>
        <p:txBody>
          <a:bodyPr wrap="square" rtlCol="0" anchor="ctr"/>
          <a:lstStyle/>
          <a:p>
            <a:pPr rtl="1" algn="r" indent="0" marL="0">
              <a:buNone/>
            </a:pPr>
            <a:r>
              <a:rPr lang="en-US" sz="1500" dirty="0">
                <a:solidFill>
                  <a:srgbClr val="55606E"/>
                </a:solidFill>
                <a:latin typeface="Calibri" pitchFamily="34" charset="0"/>
                <a:ea typeface="Calibri" pitchFamily="34" charset="-122"/>
                <a:cs typeface="Calibri" pitchFamily="34" charset="-120"/>
              </a:rPr>
              <a:t>ديلكس مقابل Salesforce مقابل HubSpot مقابل الحل الداخلي — بالأرقام</a:t>
            </a:r>
            <a:endParaRPr lang="en-US" sz="1500" dirty="0"/>
          </a:p>
        </p:txBody>
      </p:sp>
      <p:sp>
        <p:nvSpPr>
          <p:cNvPr id="8" name="Shape 6"/>
          <p:cNvSpPr/>
          <p:nvPr/>
        </p:nvSpPr>
        <p:spPr>
          <a:xfrm>
            <a:off x="548640" y="2240280"/>
            <a:ext cx="11094415" cy="457200"/>
          </a:xfrm>
          <a:prstGeom prst="rect">
            <a:avLst/>
          </a:prstGeom>
          <a:solidFill>
            <a:srgbClr val="0A1628"/>
          </a:solidFill>
          <a:ln/>
        </p:spPr>
      </p:sp>
      <p:sp>
        <p:nvSpPr>
          <p:cNvPr id="9" name="Text 7"/>
          <p:cNvSpPr/>
          <p:nvPr/>
        </p:nvSpPr>
        <p:spPr>
          <a:xfrm>
            <a:off x="8442655" y="2240280"/>
            <a:ext cx="3200400" cy="457200"/>
          </a:xfrm>
          <a:prstGeom prst="rect">
            <a:avLst/>
          </a:prstGeom>
          <a:noFill/>
          <a:ln/>
        </p:spPr>
        <p:txBody>
          <a:bodyPr wrap="square" rtlCol="0" anchor="ctr"/>
          <a:lstStyle/>
          <a:p>
            <a:pPr rtl="1" algn="r" indent="0" marL="0">
              <a:buNone/>
            </a:pPr>
            <a:r>
              <a:rPr lang="en-US" sz="1200" b="1" dirty="0">
                <a:solidFill>
                  <a:srgbClr val="FFFFFF"/>
                </a:solidFill>
                <a:latin typeface="Calibri" pitchFamily="34" charset="0"/>
                <a:ea typeface="Calibri" pitchFamily="34" charset="-122"/>
                <a:cs typeface="Calibri" pitchFamily="34" charset="-120"/>
              </a:rPr>
              <a:t>البُعد</a:t>
            </a:r>
            <a:endParaRPr lang="en-US" sz="1200" dirty="0"/>
          </a:p>
        </p:txBody>
      </p:sp>
      <p:sp>
        <p:nvSpPr>
          <p:cNvPr id="10" name="Text 8"/>
          <p:cNvSpPr/>
          <p:nvPr/>
        </p:nvSpPr>
        <p:spPr>
          <a:xfrm>
            <a:off x="6522415" y="2240280"/>
            <a:ext cx="192024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الحل الداخلي</a:t>
            </a:r>
            <a:endParaRPr lang="en-US" sz="1200" dirty="0"/>
          </a:p>
        </p:txBody>
      </p:sp>
      <p:sp>
        <p:nvSpPr>
          <p:cNvPr id="11" name="Text 9"/>
          <p:cNvSpPr/>
          <p:nvPr/>
        </p:nvSpPr>
        <p:spPr>
          <a:xfrm>
            <a:off x="4602175" y="2240280"/>
            <a:ext cx="192024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HubSpot</a:t>
            </a:r>
            <a:endParaRPr lang="en-US" sz="1200" dirty="0"/>
          </a:p>
        </p:txBody>
      </p:sp>
      <p:sp>
        <p:nvSpPr>
          <p:cNvPr id="12" name="Text 10"/>
          <p:cNvSpPr/>
          <p:nvPr/>
        </p:nvSpPr>
        <p:spPr>
          <a:xfrm>
            <a:off x="2681935" y="2240280"/>
            <a:ext cx="192024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Salesforce</a:t>
            </a:r>
            <a:endParaRPr lang="en-US" sz="1200" dirty="0"/>
          </a:p>
        </p:txBody>
      </p:sp>
      <p:sp>
        <p:nvSpPr>
          <p:cNvPr id="13" name="Text 11"/>
          <p:cNvSpPr/>
          <p:nvPr/>
        </p:nvSpPr>
        <p:spPr>
          <a:xfrm>
            <a:off x="551383" y="2240280"/>
            <a:ext cx="2130552" cy="457200"/>
          </a:xfrm>
          <a:prstGeom prst="rect">
            <a:avLst/>
          </a:prstGeom>
          <a:noFill/>
          <a:ln/>
        </p:spPr>
        <p:txBody>
          <a:bodyPr wrap="square" rtlCol="0" anchor="ctr"/>
          <a:lstStyle/>
          <a:p>
            <a:pPr algn="ctr" indent="0" marL="0">
              <a:buNone/>
            </a:pPr>
            <a:r>
              <a:rPr lang="en-US" sz="1200" b="1" dirty="0">
                <a:solidFill>
                  <a:srgbClr val="D4A574"/>
                </a:solidFill>
                <a:latin typeface="Calibri" pitchFamily="34" charset="0"/>
                <a:ea typeface="Calibri" pitchFamily="34" charset="-122"/>
                <a:cs typeface="Calibri" pitchFamily="34" charset="-120"/>
              </a:rPr>
              <a:t>Dealix</a:t>
            </a:r>
            <a:endParaRPr lang="en-US" sz="1200" dirty="0"/>
          </a:p>
        </p:txBody>
      </p:sp>
      <p:sp>
        <p:nvSpPr>
          <p:cNvPr id="14" name="Shape 12"/>
          <p:cNvSpPr/>
          <p:nvPr/>
        </p:nvSpPr>
        <p:spPr>
          <a:xfrm>
            <a:off x="548640" y="2697480"/>
            <a:ext cx="11094415" cy="365760"/>
          </a:xfrm>
          <a:prstGeom prst="rect">
            <a:avLst/>
          </a:prstGeom>
          <a:solidFill>
            <a:srgbClr val="FFFFFF"/>
          </a:solidFill>
          <a:ln w="6350">
            <a:solidFill>
              <a:srgbClr val="E8E3D6"/>
            </a:solidFill>
            <a:prstDash val="solid"/>
          </a:ln>
        </p:spPr>
      </p:sp>
      <p:sp>
        <p:nvSpPr>
          <p:cNvPr id="15" name="Text 13"/>
          <p:cNvSpPr/>
          <p:nvPr/>
        </p:nvSpPr>
        <p:spPr>
          <a:xfrm>
            <a:off x="8488375" y="2697480"/>
            <a:ext cx="3108960" cy="365760"/>
          </a:xfrm>
          <a:prstGeom prst="rect">
            <a:avLst/>
          </a:prstGeom>
          <a:noFill/>
          <a:ln/>
        </p:spPr>
        <p:txBody>
          <a:bodyPr wrap="square" rtlCol="0" anchor="ctr"/>
          <a:lstStyle/>
          <a:p>
            <a:pPr rtl="1" algn="r" indent="0" marL="0">
              <a:buNone/>
            </a:pPr>
            <a:r>
              <a:rPr lang="en-US" sz="1050" b="1" dirty="0">
                <a:solidFill>
                  <a:srgbClr val="1A1A1A"/>
                </a:solidFill>
                <a:latin typeface="Calibri" pitchFamily="34" charset="0"/>
                <a:ea typeface="Calibri" pitchFamily="34" charset="-122"/>
                <a:cs typeface="Calibri" pitchFamily="34" charset="-120"/>
              </a:rPr>
              <a:t>زمن التطبيق</a:t>
            </a:r>
            <a:endParaRPr lang="en-US" sz="1050" dirty="0"/>
          </a:p>
        </p:txBody>
      </p:sp>
      <p:sp>
        <p:nvSpPr>
          <p:cNvPr id="16" name="Text 14"/>
          <p:cNvSpPr/>
          <p:nvPr/>
        </p:nvSpPr>
        <p:spPr>
          <a:xfrm>
            <a:off x="6568135" y="2697480"/>
            <a:ext cx="1828800" cy="365760"/>
          </a:xfrm>
          <a:prstGeom prst="rect">
            <a:avLst/>
          </a:prstGeom>
          <a:noFill/>
          <a:ln/>
        </p:spPr>
        <p:txBody>
          <a:bodyPr wrap="square" rtlCol="0" anchor="ctr"/>
          <a:lstStyle/>
          <a:p>
            <a:pPr algn="ctr" indent="0" marL="0">
              <a:buNone/>
            </a:pPr>
            <a:r>
              <a:rPr lang="en-US" sz="1050" dirty="0">
                <a:solidFill>
                  <a:srgbClr val="1A1A1A"/>
                </a:solidFill>
                <a:latin typeface="Calibri" pitchFamily="34" charset="0"/>
                <a:ea typeface="Calibri" pitchFamily="34" charset="-122"/>
                <a:cs typeface="Calibri" pitchFamily="34" charset="-120"/>
              </a:rPr>
              <a:t>12-18 شهر</a:t>
            </a:r>
            <a:endParaRPr lang="en-US" sz="1050" dirty="0"/>
          </a:p>
        </p:txBody>
      </p:sp>
      <p:sp>
        <p:nvSpPr>
          <p:cNvPr id="17" name="Text 15"/>
          <p:cNvSpPr/>
          <p:nvPr/>
        </p:nvSpPr>
        <p:spPr>
          <a:xfrm>
            <a:off x="4647895" y="2697480"/>
            <a:ext cx="1828800" cy="365760"/>
          </a:xfrm>
          <a:prstGeom prst="rect">
            <a:avLst/>
          </a:prstGeom>
          <a:noFill/>
          <a:ln/>
        </p:spPr>
        <p:txBody>
          <a:bodyPr wrap="square" rtlCol="0" anchor="ctr"/>
          <a:lstStyle/>
          <a:p>
            <a:pPr algn="ctr" indent="0" marL="0">
              <a:buNone/>
            </a:pPr>
            <a:r>
              <a:rPr lang="en-US" sz="1050" dirty="0">
                <a:solidFill>
                  <a:srgbClr val="1A1A1A"/>
                </a:solidFill>
                <a:latin typeface="Calibri" pitchFamily="34" charset="0"/>
                <a:ea typeface="Calibri" pitchFamily="34" charset="-122"/>
                <a:cs typeface="Calibri" pitchFamily="34" charset="-120"/>
              </a:rPr>
              <a:t>3-5 شهر</a:t>
            </a:r>
            <a:endParaRPr lang="en-US" sz="1050" dirty="0"/>
          </a:p>
        </p:txBody>
      </p:sp>
      <p:sp>
        <p:nvSpPr>
          <p:cNvPr id="18" name="Text 16"/>
          <p:cNvSpPr/>
          <p:nvPr/>
        </p:nvSpPr>
        <p:spPr>
          <a:xfrm>
            <a:off x="2727655" y="2697480"/>
            <a:ext cx="1828800" cy="365760"/>
          </a:xfrm>
          <a:prstGeom prst="rect">
            <a:avLst/>
          </a:prstGeom>
          <a:noFill/>
          <a:ln/>
        </p:spPr>
        <p:txBody>
          <a:bodyPr wrap="square" rtlCol="0" anchor="ctr"/>
          <a:lstStyle/>
          <a:p>
            <a:pPr algn="ctr" indent="0" marL="0">
              <a:buNone/>
            </a:pPr>
            <a:r>
              <a:rPr lang="en-US" sz="1050" dirty="0">
                <a:solidFill>
                  <a:srgbClr val="1A1A1A"/>
                </a:solidFill>
                <a:latin typeface="Calibri" pitchFamily="34" charset="0"/>
                <a:ea typeface="Calibri" pitchFamily="34" charset="-122"/>
                <a:cs typeface="Calibri" pitchFamily="34" charset="-120"/>
              </a:rPr>
              <a:t>6-9 شهر</a:t>
            </a:r>
            <a:endParaRPr lang="en-US" sz="1050" dirty="0"/>
          </a:p>
        </p:txBody>
      </p:sp>
      <p:sp>
        <p:nvSpPr>
          <p:cNvPr id="19" name="Text 17"/>
          <p:cNvSpPr/>
          <p:nvPr/>
        </p:nvSpPr>
        <p:spPr>
          <a:xfrm>
            <a:off x="597103" y="2697480"/>
            <a:ext cx="2039112" cy="365760"/>
          </a:xfrm>
          <a:prstGeom prst="rect">
            <a:avLst/>
          </a:prstGeom>
          <a:noFill/>
          <a:ln/>
        </p:spPr>
        <p:txBody>
          <a:bodyPr wrap="square" rtlCol="0" anchor="ctr"/>
          <a:lstStyle/>
          <a:p>
            <a:pPr algn="ctr" indent="0" marL="0">
              <a:buNone/>
            </a:pPr>
            <a:r>
              <a:rPr lang="en-US" sz="1050" b="1" dirty="0">
                <a:solidFill>
                  <a:srgbClr val="0A1628"/>
                </a:solidFill>
                <a:latin typeface="Calibri" pitchFamily="34" charset="0"/>
                <a:ea typeface="Calibri" pitchFamily="34" charset="-122"/>
                <a:cs typeface="Calibri" pitchFamily="34" charset="-120"/>
              </a:rPr>
              <a:t>4-8 أسبوع</a:t>
            </a:r>
            <a:endParaRPr lang="en-US" sz="1050" dirty="0"/>
          </a:p>
        </p:txBody>
      </p:sp>
      <p:sp>
        <p:nvSpPr>
          <p:cNvPr id="20" name="Shape 18"/>
          <p:cNvSpPr/>
          <p:nvPr/>
        </p:nvSpPr>
        <p:spPr>
          <a:xfrm>
            <a:off x="548640" y="3063240"/>
            <a:ext cx="11094415" cy="365760"/>
          </a:xfrm>
          <a:prstGeom prst="rect">
            <a:avLst/>
          </a:prstGeom>
          <a:solidFill>
            <a:srgbClr val="F2EEE4"/>
          </a:solidFill>
          <a:ln w="6350">
            <a:solidFill>
              <a:srgbClr val="E8E3D6"/>
            </a:solidFill>
            <a:prstDash val="solid"/>
          </a:ln>
        </p:spPr>
      </p:sp>
      <p:sp>
        <p:nvSpPr>
          <p:cNvPr id="21" name="Text 19"/>
          <p:cNvSpPr/>
          <p:nvPr/>
        </p:nvSpPr>
        <p:spPr>
          <a:xfrm>
            <a:off x="8488375" y="3063240"/>
            <a:ext cx="3108960" cy="365760"/>
          </a:xfrm>
          <a:prstGeom prst="rect">
            <a:avLst/>
          </a:prstGeom>
          <a:noFill/>
          <a:ln/>
        </p:spPr>
        <p:txBody>
          <a:bodyPr wrap="square" rtlCol="0" anchor="ctr"/>
          <a:lstStyle/>
          <a:p>
            <a:pPr rtl="1" algn="r" indent="0" marL="0">
              <a:buNone/>
            </a:pPr>
            <a:r>
              <a:rPr lang="en-US" sz="1050" b="1" dirty="0">
                <a:solidFill>
                  <a:srgbClr val="1A1A1A"/>
                </a:solidFill>
                <a:latin typeface="Calibri" pitchFamily="34" charset="0"/>
                <a:ea typeface="Calibri" pitchFamily="34" charset="-122"/>
                <a:cs typeface="Calibri" pitchFamily="34" charset="-120"/>
              </a:rPr>
              <a:t>مستوى الاستثمار في السنة الأولى</a:t>
            </a:r>
            <a:endParaRPr lang="en-US" sz="1050" dirty="0"/>
          </a:p>
        </p:txBody>
      </p:sp>
      <p:sp>
        <p:nvSpPr>
          <p:cNvPr id="22" name="Text 20"/>
          <p:cNvSpPr/>
          <p:nvPr/>
        </p:nvSpPr>
        <p:spPr>
          <a:xfrm>
            <a:off x="6568135" y="3063240"/>
            <a:ext cx="1828800" cy="365760"/>
          </a:xfrm>
          <a:prstGeom prst="rect">
            <a:avLst/>
          </a:prstGeom>
          <a:noFill/>
          <a:ln/>
        </p:spPr>
        <p:txBody>
          <a:bodyPr wrap="square" rtlCol="0" anchor="ctr"/>
          <a:lstStyle/>
          <a:p>
            <a:pPr algn="ctr" indent="0" marL="0">
              <a:buNone/>
            </a:pPr>
            <a:r>
              <a:rPr lang="en-US" sz="1050" dirty="0">
                <a:solidFill>
                  <a:srgbClr val="1A1A1A"/>
                </a:solidFill>
                <a:latin typeface="Calibri" pitchFamily="34" charset="0"/>
                <a:ea typeface="Calibri" pitchFamily="34" charset="-122"/>
                <a:cs typeface="Calibri" pitchFamily="34" charset="-120"/>
              </a:rPr>
              <a:t>مرتفع جداً</a:t>
            </a:r>
            <a:endParaRPr lang="en-US" sz="1050" dirty="0"/>
          </a:p>
        </p:txBody>
      </p:sp>
      <p:sp>
        <p:nvSpPr>
          <p:cNvPr id="23" name="Text 21"/>
          <p:cNvSpPr/>
          <p:nvPr/>
        </p:nvSpPr>
        <p:spPr>
          <a:xfrm>
            <a:off x="4647895" y="3063240"/>
            <a:ext cx="1828800" cy="365760"/>
          </a:xfrm>
          <a:prstGeom prst="rect">
            <a:avLst/>
          </a:prstGeom>
          <a:noFill/>
          <a:ln/>
        </p:spPr>
        <p:txBody>
          <a:bodyPr wrap="square" rtlCol="0" anchor="ctr"/>
          <a:lstStyle/>
          <a:p>
            <a:pPr algn="ctr" indent="0" marL="0">
              <a:buNone/>
            </a:pPr>
            <a:r>
              <a:rPr lang="en-US" sz="1050" dirty="0">
                <a:solidFill>
                  <a:srgbClr val="1A1A1A"/>
                </a:solidFill>
                <a:latin typeface="Calibri" pitchFamily="34" charset="0"/>
                <a:ea typeface="Calibri" pitchFamily="34" charset="-122"/>
                <a:cs typeface="Calibri" pitchFamily="34" charset="-120"/>
              </a:rPr>
              <a:t>منخفض</a:t>
            </a:r>
            <a:endParaRPr lang="en-US" sz="1050" dirty="0"/>
          </a:p>
        </p:txBody>
      </p:sp>
      <p:sp>
        <p:nvSpPr>
          <p:cNvPr id="24" name="Text 22"/>
          <p:cNvSpPr/>
          <p:nvPr/>
        </p:nvSpPr>
        <p:spPr>
          <a:xfrm>
            <a:off x="2727655" y="3063240"/>
            <a:ext cx="1828800" cy="365760"/>
          </a:xfrm>
          <a:prstGeom prst="rect">
            <a:avLst/>
          </a:prstGeom>
          <a:noFill/>
          <a:ln/>
        </p:spPr>
        <p:txBody>
          <a:bodyPr wrap="square" rtlCol="0" anchor="ctr"/>
          <a:lstStyle/>
          <a:p>
            <a:pPr algn="ctr" indent="0" marL="0">
              <a:buNone/>
            </a:pPr>
            <a:r>
              <a:rPr lang="en-US" sz="1050" dirty="0">
                <a:solidFill>
                  <a:srgbClr val="1A1A1A"/>
                </a:solidFill>
                <a:latin typeface="Calibri" pitchFamily="34" charset="0"/>
                <a:ea typeface="Calibri" pitchFamily="34" charset="-122"/>
                <a:cs typeface="Calibri" pitchFamily="34" charset="-120"/>
              </a:rPr>
              <a:t>متوسط</a:t>
            </a:r>
            <a:endParaRPr lang="en-US" sz="1050" dirty="0"/>
          </a:p>
        </p:txBody>
      </p:sp>
      <p:sp>
        <p:nvSpPr>
          <p:cNvPr id="25" name="Text 23"/>
          <p:cNvSpPr/>
          <p:nvPr/>
        </p:nvSpPr>
        <p:spPr>
          <a:xfrm>
            <a:off x="597103" y="3063240"/>
            <a:ext cx="2039112" cy="365760"/>
          </a:xfrm>
          <a:prstGeom prst="rect">
            <a:avLst/>
          </a:prstGeom>
          <a:noFill/>
          <a:ln/>
        </p:spPr>
        <p:txBody>
          <a:bodyPr wrap="square" rtlCol="0" anchor="ctr"/>
          <a:lstStyle/>
          <a:p>
            <a:pPr algn="ctr" indent="0" marL="0">
              <a:buNone/>
            </a:pPr>
            <a:r>
              <a:rPr lang="en-US" sz="1050" b="1" dirty="0">
                <a:solidFill>
                  <a:srgbClr val="0A1628"/>
                </a:solidFill>
                <a:latin typeface="Calibri" pitchFamily="34" charset="0"/>
                <a:ea typeface="Calibri" pitchFamily="34" charset="-122"/>
                <a:cs typeface="Calibri" pitchFamily="34" charset="-120"/>
              </a:rPr>
              <a:t>متوسط</a:t>
            </a:r>
            <a:endParaRPr lang="en-US" sz="1050" dirty="0"/>
          </a:p>
        </p:txBody>
      </p:sp>
      <p:sp>
        <p:nvSpPr>
          <p:cNvPr id="26" name="Shape 24"/>
          <p:cNvSpPr/>
          <p:nvPr/>
        </p:nvSpPr>
        <p:spPr>
          <a:xfrm>
            <a:off x="548640" y="3429000"/>
            <a:ext cx="11094415" cy="365760"/>
          </a:xfrm>
          <a:prstGeom prst="rect">
            <a:avLst/>
          </a:prstGeom>
          <a:solidFill>
            <a:srgbClr val="FFFFFF"/>
          </a:solidFill>
          <a:ln w="6350">
            <a:solidFill>
              <a:srgbClr val="E8E3D6"/>
            </a:solidFill>
            <a:prstDash val="solid"/>
          </a:ln>
        </p:spPr>
      </p:sp>
      <p:sp>
        <p:nvSpPr>
          <p:cNvPr id="27" name="Text 25"/>
          <p:cNvSpPr/>
          <p:nvPr/>
        </p:nvSpPr>
        <p:spPr>
          <a:xfrm>
            <a:off x="8488375" y="3429000"/>
            <a:ext cx="3108960" cy="365760"/>
          </a:xfrm>
          <a:prstGeom prst="rect">
            <a:avLst/>
          </a:prstGeom>
          <a:noFill/>
          <a:ln/>
        </p:spPr>
        <p:txBody>
          <a:bodyPr wrap="square" rtlCol="0" anchor="ctr"/>
          <a:lstStyle/>
          <a:p>
            <a:pPr rtl="1" algn="r" indent="0" marL="0">
              <a:buNone/>
            </a:pPr>
            <a:r>
              <a:rPr lang="en-US" sz="1050" b="1" dirty="0">
                <a:solidFill>
                  <a:srgbClr val="1A1A1A"/>
                </a:solidFill>
                <a:latin typeface="Calibri" pitchFamily="34" charset="0"/>
                <a:ea typeface="Calibri" pitchFamily="34" charset="-122"/>
                <a:cs typeface="Calibri" pitchFamily="34" charset="-120"/>
              </a:rPr>
              <a:t>العربية RTL أصلي</a:t>
            </a:r>
            <a:endParaRPr lang="en-US" sz="1050" dirty="0"/>
          </a:p>
        </p:txBody>
      </p:sp>
      <p:sp>
        <p:nvSpPr>
          <p:cNvPr id="28" name="Text 26"/>
          <p:cNvSpPr/>
          <p:nvPr/>
        </p:nvSpPr>
        <p:spPr>
          <a:xfrm>
            <a:off x="6568135" y="3429000"/>
            <a:ext cx="1828800" cy="365760"/>
          </a:xfrm>
          <a:prstGeom prst="rect">
            <a:avLst/>
          </a:prstGeom>
          <a:noFill/>
          <a:ln/>
        </p:spPr>
        <p:txBody>
          <a:bodyPr wrap="square" rtlCol="0" anchor="ctr"/>
          <a:lstStyle/>
          <a:p>
            <a:pPr algn="ctr" indent="0" marL="0">
              <a:buNone/>
            </a:pPr>
            <a:r>
              <a:rPr lang="en-US" sz="1050" dirty="0">
                <a:solidFill>
                  <a:srgbClr val="1A1A1A"/>
                </a:solidFill>
                <a:latin typeface="Calibri" pitchFamily="34" charset="0"/>
                <a:ea typeface="Calibri" pitchFamily="34" charset="-122"/>
                <a:cs typeface="Calibri" pitchFamily="34" charset="-120"/>
              </a:rPr>
              <a:t>حسب الفريق</a:t>
            </a:r>
            <a:endParaRPr lang="en-US" sz="1050" dirty="0"/>
          </a:p>
        </p:txBody>
      </p:sp>
      <p:sp>
        <p:nvSpPr>
          <p:cNvPr id="29" name="Text 27"/>
          <p:cNvSpPr/>
          <p:nvPr/>
        </p:nvSpPr>
        <p:spPr>
          <a:xfrm>
            <a:off x="4647895" y="3429000"/>
            <a:ext cx="1828800" cy="365760"/>
          </a:xfrm>
          <a:prstGeom prst="rect">
            <a:avLst/>
          </a:prstGeom>
          <a:noFill/>
          <a:ln/>
        </p:spPr>
        <p:txBody>
          <a:bodyPr wrap="square" rtlCol="0" anchor="ctr"/>
          <a:lstStyle/>
          <a:p>
            <a:pPr algn="ctr" indent="0" marL="0">
              <a:buNone/>
            </a:pPr>
            <a:r>
              <a:rPr lang="en-US" sz="1050" dirty="0">
                <a:solidFill>
                  <a:srgbClr val="1A1A1A"/>
                </a:solidFill>
                <a:latin typeface="Calibri" pitchFamily="34" charset="0"/>
                <a:ea typeface="Calibri" pitchFamily="34" charset="-122"/>
                <a:cs typeface="Calibri" pitchFamily="34" charset="-120"/>
              </a:rPr>
              <a:t>ترجمة</a:t>
            </a:r>
            <a:endParaRPr lang="en-US" sz="1050" dirty="0"/>
          </a:p>
        </p:txBody>
      </p:sp>
      <p:sp>
        <p:nvSpPr>
          <p:cNvPr id="30" name="Text 28"/>
          <p:cNvSpPr/>
          <p:nvPr/>
        </p:nvSpPr>
        <p:spPr>
          <a:xfrm>
            <a:off x="2727655" y="3429000"/>
            <a:ext cx="1828800" cy="365760"/>
          </a:xfrm>
          <a:prstGeom prst="rect">
            <a:avLst/>
          </a:prstGeom>
          <a:noFill/>
          <a:ln/>
        </p:spPr>
        <p:txBody>
          <a:bodyPr wrap="square" rtlCol="0" anchor="ctr"/>
          <a:lstStyle/>
          <a:p>
            <a:pPr algn="ctr" indent="0" marL="0">
              <a:buNone/>
            </a:pPr>
            <a:r>
              <a:rPr lang="en-US" sz="1050" dirty="0">
                <a:solidFill>
                  <a:srgbClr val="1A1A1A"/>
                </a:solidFill>
                <a:latin typeface="Calibri" pitchFamily="34" charset="0"/>
                <a:ea typeface="Calibri" pitchFamily="34" charset="-122"/>
                <a:cs typeface="Calibri" pitchFamily="34" charset="-120"/>
              </a:rPr>
              <a:t>ترجمة</a:t>
            </a:r>
            <a:endParaRPr lang="en-US" sz="1050" dirty="0"/>
          </a:p>
        </p:txBody>
      </p:sp>
      <p:sp>
        <p:nvSpPr>
          <p:cNvPr id="31" name="Text 29"/>
          <p:cNvSpPr/>
          <p:nvPr/>
        </p:nvSpPr>
        <p:spPr>
          <a:xfrm>
            <a:off x="597103" y="3429000"/>
            <a:ext cx="2039112" cy="365760"/>
          </a:xfrm>
          <a:prstGeom prst="rect">
            <a:avLst/>
          </a:prstGeom>
          <a:noFill/>
          <a:ln/>
        </p:spPr>
        <p:txBody>
          <a:bodyPr wrap="square" rtlCol="0" anchor="ctr"/>
          <a:lstStyle/>
          <a:p>
            <a:pPr algn="ctr" indent="0" marL="0">
              <a:buNone/>
            </a:pPr>
            <a:r>
              <a:rPr lang="en-US" sz="1050" b="1" dirty="0">
                <a:solidFill>
                  <a:srgbClr val="0A1628"/>
                </a:solidFill>
                <a:latin typeface="Calibri" pitchFamily="34" charset="0"/>
                <a:ea typeface="Calibri" pitchFamily="34" charset="-122"/>
                <a:cs typeface="Calibri" pitchFamily="34" charset="-120"/>
              </a:rPr>
              <a:t>أصلي</a:t>
            </a:r>
            <a:endParaRPr lang="en-US" sz="1050" dirty="0"/>
          </a:p>
        </p:txBody>
      </p:sp>
      <p:sp>
        <p:nvSpPr>
          <p:cNvPr id="32" name="Shape 30"/>
          <p:cNvSpPr/>
          <p:nvPr/>
        </p:nvSpPr>
        <p:spPr>
          <a:xfrm>
            <a:off x="548640" y="3794760"/>
            <a:ext cx="11094415" cy="365760"/>
          </a:xfrm>
          <a:prstGeom prst="rect">
            <a:avLst/>
          </a:prstGeom>
          <a:solidFill>
            <a:srgbClr val="F2EEE4"/>
          </a:solidFill>
          <a:ln w="6350">
            <a:solidFill>
              <a:srgbClr val="E8E3D6"/>
            </a:solidFill>
            <a:prstDash val="solid"/>
          </a:ln>
        </p:spPr>
      </p:sp>
      <p:sp>
        <p:nvSpPr>
          <p:cNvPr id="33" name="Text 31"/>
          <p:cNvSpPr/>
          <p:nvPr/>
        </p:nvSpPr>
        <p:spPr>
          <a:xfrm>
            <a:off x="8488375" y="3794760"/>
            <a:ext cx="3108960" cy="365760"/>
          </a:xfrm>
          <a:prstGeom prst="rect">
            <a:avLst/>
          </a:prstGeom>
          <a:noFill/>
          <a:ln/>
        </p:spPr>
        <p:txBody>
          <a:bodyPr wrap="square" rtlCol="0" anchor="ctr"/>
          <a:lstStyle/>
          <a:p>
            <a:pPr rtl="1" algn="r" indent="0" marL="0">
              <a:buNone/>
            </a:pPr>
            <a:r>
              <a:rPr lang="en-US" sz="1050" b="1" dirty="0">
                <a:solidFill>
                  <a:srgbClr val="1A1A1A"/>
                </a:solidFill>
                <a:latin typeface="Calibri" pitchFamily="34" charset="0"/>
                <a:ea typeface="Calibri" pitchFamily="34" charset="-122"/>
                <a:cs typeface="Calibri" pitchFamily="34" charset="-120"/>
              </a:rPr>
              <a:t>WhatsApp Business API</a:t>
            </a:r>
            <a:endParaRPr lang="en-US" sz="1050" dirty="0"/>
          </a:p>
        </p:txBody>
      </p:sp>
      <p:sp>
        <p:nvSpPr>
          <p:cNvPr id="34" name="Text 32"/>
          <p:cNvSpPr/>
          <p:nvPr/>
        </p:nvSpPr>
        <p:spPr>
          <a:xfrm>
            <a:off x="6568135" y="3794760"/>
            <a:ext cx="1828800" cy="365760"/>
          </a:xfrm>
          <a:prstGeom prst="rect">
            <a:avLst/>
          </a:prstGeom>
          <a:noFill/>
          <a:ln/>
        </p:spPr>
        <p:txBody>
          <a:bodyPr wrap="square" rtlCol="0" anchor="ctr"/>
          <a:lstStyle/>
          <a:p>
            <a:pPr algn="ctr" indent="0" marL="0">
              <a:buNone/>
            </a:pPr>
            <a:r>
              <a:rPr lang="en-US" sz="1050" dirty="0">
                <a:solidFill>
                  <a:srgbClr val="1A1A1A"/>
                </a:solidFill>
                <a:latin typeface="Calibri" pitchFamily="34" charset="0"/>
                <a:ea typeface="Calibri" pitchFamily="34" charset="-122"/>
                <a:cs typeface="Calibri" pitchFamily="34" charset="-120"/>
              </a:rPr>
              <a:t>بناء ذاتي</a:t>
            </a:r>
            <a:endParaRPr lang="en-US" sz="1050" dirty="0"/>
          </a:p>
        </p:txBody>
      </p:sp>
      <p:sp>
        <p:nvSpPr>
          <p:cNvPr id="35" name="Text 33"/>
          <p:cNvSpPr/>
          <p:nvPr/>
        </p:nvSpPr>
        <p:spPr>
          <a:xfrm>
            <a:off x="4647895" y="3794760"/>
            <a:ext cx="1828800" cy="365760"/>
          </a:xfrm>
          <a:prstGeom prst="rect">
            <a:avLst/>
          </a:prstGeom>
          <a:noFill/>
          <a:ln/>
        </p:spPr>
        <p:txBody>
          <a:bodyPr wrap="square" rtlCol="0" anchor="ctr"/>
          <a:lstStyle/>
          <a:p>
            <a:pPr algn="ctr" indent="0" marL="0">
              <a:buNone/>
            </a:pPr>
            <a:r>
              <a:rPr lang="en-US" sz="1050" dirty="0">
                <a:solidFill>
                  <a:srgbClr val="1A1A1A"/>
                </a:solidFill>
                <a:latin typeface="Calibri" pitchFamily="34" charset="0"/>
                <a:ea typeface="Calibri" pitchFamily="34" charset="-122"/>
                <a:cs typeface="Calibri" pitchFamily="34" charset="-120"/>
              </a:rPr>
              <a:t>وسيط</a:t>
            </a:r>
            <a:endParaRPr lang="en-US" sz="1050" dirty="0"/>
          </a:p>
        </p:txBody>
      </p:sp>
      <p:sp>
        <p:nvSpPr>
          <p:cNvPr id="36" name="Text 34"/>
          <p:cNvSpPr/>
          <p:nvPr/>
        </p:nvSpPr>
        <p:spPr>
          <a:xfrm>
            <a:off x="2727655" y="3794760"/>
            <a:ext cx="1828800" cy="365760"/>
          </a:xfrm>
          <a:prstGeom prst="rect">
            <a:avLst/>
          </a:prstGeom>
          <a:noFill/>
          <a:ln/>
        </p:spPr>
        <p:txBody>
          <a:bodyPr wrap="square" rtlCol="0" anchor="ctr"/>
          <a:lstStyle/>
          <a:p>
            <a:pPr algn="ctr" indent="0" marL="0">
              <a:buNone/>
            </a:pPr>
            <a:r>
              <a:rPr lang="en-US" sz="1050" dirty="0">
                <a:solidFill>
                  <a:srgbClr val="1A1A1A"/>
                </a:solidFill>
                <a:latin typeface="Calibri" pitchFamily="34" charset="0"/>
                <a:ea typeface="Calibri" pitchFamily="34" charset="-122"/>
                <a:cs typeface="Calibri" pitchFamily="34" charset="-120"/>
              </a:rPr>
              <a:t>وسيط</a:t>
            </a:r>
            <a:endParaRPr lang="en-US" sz="1050" dirty="0"/>
          </a:p>
        </p:txBody>
      </p:sp>
      <p:sp>
        <p:nvSpPr>
          <p:cNvPr id="37" name="Text 35"/>
          <p:cNvSpPr/>
          <p:nvPr/>
        </p:nvSpPr>
        <p:spPr>
          <a:xfrm>
            <a:off x="597103" y="3794760"/>
            <a:ext cx="2039112" cy="365760"/>
          </a:xfrm>
          <a:prstGeom prst="rect">
            <a:avLst/>
          </a:prstGeom>
          <a:noFill/>
          <a:ln/>
        </p:spPr>
        <p:txBody>
          <a:bodyPr wrap="square" rtlCol="0" anchor="ctr"/>
          <a:lstStyle/>
          <a:p>
            <a:pPr algn="ctr" indent="0" marL="0">
              <a:buNone/>
            </a:pPr>
            <a:r>
              <a:rPr lang="en-US" sz="1050" b="1" dirty="0">
                <a:solidFill>
                  <a:srgbClr val="0A1628"/>
                </a:solidFill>
                <a:latin typeface="Calibri" pitchFamily="34" charset="0"/>
                <a:ea typeface="Calibri" pitchFamily="34" charset="-122"/>
                <a:cs typeface="Calibri" pitchFamily="34" charset="-120"/>
              </a:rPr>
              <a:t>مدمج</a:t>
            </a:r>
            <a:endParaRPr lang="en-US" sz="1050" dirty="0"/>
          </a:p>
        </p:txBody>
      </p:sp>
      <p:sp>
        <p:nvSpPr>
          <p:cNvPr id="38" name="Shape 36"/>
          <p:cNvSpPr/>
          <p:nvPr/>
        </p:nvSpPr>
        <p:spPr>
          <a:xfrm>
            <a:off x="548640" y="4160520"/>
            <a:ext cx="11094415" cy="365760"/>
          </a:xfrm>
          <a:prstGeom prst="rect">
            <a:avLst/>
          </a:prstGeom>
          <a:solidFill>
            <a:srgbClr val="FFFFFF"/>
          </a:solidFill>
          <a:ln w="6350">
            <a:solidFill>
              <a:srgbClr val="E8E3D6"/>
            </a:solidFill>
            <a:prstDash val="solid"/>
          </a:ln>
        </p:spPr>
      </p:sp>
      <p:sp>
        <p:nvSpPr>
          <p:cNvPr id="39" name="Text 37"/>
          <p:cNvSpPr/>
          <p:nvPr/>
        </p:nvSpPr>
        <p:spPr>
          <a:xfrm>
            <a:off x="8488375" y="4160520"/>
            <a:ext cx="3108960" cy="365760"/>
          </a:xfrm>
          <a:prstGeom prst="rect">
            <a:avLst/>
          </a:prstGeom>
          <a:noFill/>
          <a:ln/>
        </p:spPr>
        <p:txBody>
          <a:bodyPr wrap="square" rtlCol="0" anchor="ctr"/>
          <a:lstStyle/>
          <a:p>
            <a:pPr rtl="1" algn="r" indent="0" marL="0">
              <a:buNone/>
            </a:pPr>
            <a:r>
              <a:rPr lang="en-US" sz="1050" b="1" dirty="0">
                <a:solidFill>
                  <a:srgbClr val="1A1A1A"/>
                </a:solidFill>
                <a:latin typeface="Calibri" pitchFamily="34" charset="0"/>
                <a:ea typeface="Calibri" pitchFamily="34" charset="-122"/>
                <a:cs typeface="Calibri" pitchFamily="34" charset="-120"/>
              </a:rPr>
              <a:t>AI عربي للتفاوض</a:t>
            </a:r>
            <a:endParaRPr lang="en-US" sz="1050" dirty="0"/>
          </a:p>
        </p:txBody>
      </p:sp>
      <p:sp>
        <p:nvSpPr>
          <p:cNvPr id="40" name="Text 38"/>
          <p:cNvSpPr/>
          <p:nvPr/>
        </p:nvSpPr>
        <p:spPr>
          <a:xfrm>
            <a:off x="6568135" y="4160520"/>
            <a:ext cx="1828800" cy="365760"/>
          </a:xfrm>
          <a:prstGeom prst="rect">
            <a:avLst/>
          </a:prstGeom>
          <a:noFill/>
          <a:ln/>
        </p:spPr>
        <p:txBody>
          <a:bodyPr wrap="square" rtlCol="0" anchor="ctr"/>
          <a:lstStyle/>
          <a:p>
            <a:pPr algn="ctr" indent="0" marL="0">
              <a:buNone/>
            </a:pPr>
            <a:r>
              <a:rPr lang="en-US" sz="1050" dirty="0">
                <a:solidFill>
                  <a:srgbClr val="1A1A1A"/>
                </a:solidFill>
                <a:latin typeface="Calibri" pitchFamily="34" charset="0"/>
                <a:ea typeface="Calibri" pitchFamily="34" charset="-122"/>
                <a:cs typeface="Calibri" pitchFamily="34" charset="-120"/>
              </a:rPr>
              <a:t>لا</a:t>
            </a:r>
            <a:endParaRPr lang="en-US" sz="1050" dirty="0"/>
          </a:p>
        </p:txBody>
      </p:sp>
      <p:sp>
        <p:nvSpPr>
          <p:cNvPr id="41" name="Text 39"/>
          <p:cNvSpPr/>
          <p:nvPr/>
        </p:nvSpPr>
        <p:spPr>
          <a:xfrm>
            <a:off x="4647895" y="4160520"/>
            <a:ext cx="1828800" cy="365760"/>
          </a:xfrm>
          <a:prstGeom prst="rect">
            <a:avLst/>
          </a:prstGeom>
          <a:noFill/>
          <a:ln/>
        </p:spPr>
        <p:txBody>
          <a:bodyPr wrap="square" rtlCol="0" anchor="ctr"/>
          <a:lstStyle/>
          <a:p>
            <a:pPr algn="ctr" indent="0" marL="0">
              <a:buNone/>
            </a:pPr>
            <a:r>
              <a:rPr lang="en-US" sz="1050" dirty="0">
                <a:solidFill>
                  <a:srgbClr val="1A1A1A"/>
                </a:solidFill>
                <a:latin typeface="Calibri" pitchFamily="34" charset="0"/>
                <a:ea typeface="Calibri" pitchFamily="34" charset="-122"/>
                <a:cs typeface="Calibri" pitchFamily="34" charset="-120"/>
              </a:rPr>
              <a:t>عام</a:t>
            </a:r>
            <a:endParaRPr lang="en-US" sz="1050" dirty="0"/>
          </a:p>
        </p:txBody>
      </p:sp>
      <p:sp>
        <p:nvSpPr>
          <p:cNvPr id="42" name="Text 40"/>
          <p:cNvSpPr/>
          <p:nvPr/>
        </p:nvSpPr>
        <p:spPr>
          <a:xfrm>
            <a:off x="2727655" y="4160520"/>
            <a:ext cx="1828800" cy="365760"/>
          </a:xfrm>
          <a:prstGeom prst="rect">
            <a:avLst/>
          </a:prstGeom>
          <a:noFill/>
          <a:ln/>
        </p:spPr>
        <p:txBody>
          <a:bodyPr wrap="square" rtlCol="0" anchor="ctr"/>
          <a:lstStyle/>
          <a:p>
            <a:pPr algn="ctr" indent="0" marL="0">
              <a:buNone/>
            </a:pPr>
            <a:r>
              <a:rPr lang="en-US" sz="1050" dirty="0">
                <a:solidFill>
                  <a:srgbClr val="1A1A1A"/>
                </a:solidFill>
                <a:latin typeface="Calibri" pitchFamily="34" charset="0"/>
                <a:ea typeface="Calibri" pitchFamily="34" charset="-122"/>
                <a:cs typeface="Calibri" pitchFamily="34" charset="-120"/>
              </a:rPr>
              <a:t>عام</a:t>
            </a:r>
            <a:endParaRPr lang="en-US" sz="1050" dirty="0"/>
          </a:p>
        </p:txBody>
      </p:sp>
      <p:sp>
        <p:nvSpPr>
          <p:cNvPr id="43" name="Text 41"/>
          <p:cNvSpPr/>
          <p:nvPr/>
        </p:nvSpPr>
        <p:spPr>
          <a:xfrm>
            <a:off x="597103" y="4160520"/>
            <a:ext cx="2039112" cy="365760"/>
          </a:xfrm>
          <a:prstGeom prst="rect">
            <a:avLst/>
          </a:prstGeom>
          <a:noFill/>
          <a:ln/>
        </p:spPr>
        <p:txBody>
          <a:bodyPr wrap="square" rtlCol="0" anchor="ctr"/>
          <a:lstStyle/>
          <a:p>
            <a:pPr algn="ctr" indent="0" marL="0">
              <a:buNone/>
            </a:pPr>
            <a:r>
              <a:rPr lang="en-US" sz="1050" b="1" dirty="0">
                <a:solidFill>
                  <a:srgbClr val="0A1628"/>
                </a:solidFill>
                <a:latin typeface="Calibri" pitchFamily="34" charset="0"/>
                <a:ea typeface="Calibri" pitchFamily="34" charset="-122"/>
                <a:cs typeface="Calibri" pitchFamily="34" charset="-120"/>
              </a:rPr>
              <a:t>لهجة سعودية</a:t>
            </a:r>
            <a:endParaRPr lang="en-US" sz="1050" dirty="0"/>
          </a:p>
        </p:txBody>
      </p:sp>
      <p:sp>
        <p:nvSpPr>
          <p:cNvPr id="44" name="Shape 42"/>
          <p:cNvSpPr/>
          <p:nvPr/>
        </p:nvSpPr>
        <p:spPr>
          <a:xfrm>
            <a:off x="548640" y="4526280"/>
            <a:ext cx="11094415" cy="365760"/>
          </a:xfrm>
          <a:prstGeom prst="rect">
            <a:avLst/>
          </a:prstGeom>
          <a:solidFill>
            <a:srgbClr val="F2EEE4"/>
          </a:solidFill>
          <a:ln w="6350">
            <a:solidFill>
              <a:srgbClr val="E8E3D6"/>
            </a:solidFill>
            <a:prstDash val="solid"/>
          </a:ln>
        </p:spPr>
      </p:sp>
      <p:sp>
        <p:nvSpPr>
          <p:cNvPr id="45" name="Text 43"/>
          <p:cNvSpPr/>
          <p:nvPr/>
        </p:nvSpPr>
        <p:spPr>
          <a:xfrm>
            <a:off x="8488375" y="4526280"/>
            <a:ext cx="3108960" cy="365760"/>
          </a:xfrm>
          <a:prstGeom prst="rect">
            <a:avLst/>
          </a:prstGeom>
          <a:noFill/>
          <a:ln/>
        </p:spPr>
        <p:txBody>
          <a:bodyPr wrap="square" rtlCol="0" anchor="ctr"/>
          <a:lstStyle/>
          <a:p>
            <a:pPr rtl="1" algn="r" indent="0" marL="0">
              <a:buNone/>
            </a:pPr>
            <a:r>
              <a:rPr lang="en-US" sz="1050" b="1" dirty="0">
                <a:solidFill>
                  <a:srgbClr val="1A1A1A"/>
                </a:solidFill>
                <a:latin typeface="Calibri" pitchFamily="34" charset="0"/>
                <a:ea typeface="Calibri" pitchFamily="34" charset="-122"/>
                <a:cs typeface="Calibri" pitchFamily="34" charset="-120"/>
              </a:rPr>
              <a:t>أتمتة التندرات والـ RFP</a:t>
            </a:r>
            <a:endParaRPr lang="en-US" sz="1050" dirty="0"/>
          </a:p>
        </p:txBody>
      </p:sp>
      <p:sp>
        <p:nvSpPr>
          <p:cNvPr id="46" name="Text 44"/>
          <p:cNvSpPr/>
          <p:nvPr/>
        </p:nvSpPr>
        <p:spPr>
          <a:xfrm>
            <a:off x="6568135" y="4526280"/>
            <a:ext cx="1828800" cy="365760"/>
          </a:xfrm>
          <a:prstGeom prst="rect">
            <a:avLst/>
          </a:prstGeom>
          <a:noFill/>
          <a:ln/>
        </p:spPr>
        <p:txBody>
          <a:bodyPr wrap="square" rtlCol="0" anchor="ctr"/>
          <a:lstStyle/>
          <a:p>
            <a:pPr algn="ctr" indent="0" marL="0">
              <a:buNone/>
            </a:pPr>
            <a:r>
              <a:rPr lang="en-US" sz="1050" dirty="0">
                <a:solidFill>
                  <a:srgbClr val="1A1A1A"/>
                </a:solidFill>
                <a:latin typeface="Calibri" pitchFamily="34" charset="0"/>
                <a:ea typeface="Calibri" pitchFamily="34" charset="-122"/>
                <a:cs typeface="Calibri" pitchFamily="34" charset="-120"/>
              </a:rPr>
              <a:t>لا</a:t>
            </a:r>
            <a:endParaRPr lang="en-US" sz="1050" dirty="0"/>
          </a:p>
        </p:txBody>
      </p:sp>
      <p:sp>
        <p:nvSpPr>
          <p:cNvPr id="47" name="Text 45"/>
          <p:cNvSpPr/>
          <p:nvPr/>
        </p:nvSpPr>
        <p:spPr>
          <a:xfrm>
            <a:off x="4647895" y="4526280"/>
            <a:ext cx="1828800" cy="365760"/>
          </a:xfrm>
          <a:prstGeom prst="rect">
            <a:avLst/>
          </a:prstGeom>
          <a:noFill/>
          <a:ln/>
        </p:spPr>
        <p:txBody>
          <a:bodyPr wrap="square" rtlCol="0" anchor="ctr"/>
          <a:lstStyle/>
          <a:p>
            <a:pPr algn="ctr" indent="0" marL="0">
              <a:buNone/>
            </a:pPr>
            <a:r>
              <a:rPr lang="en-US" sz="1050" dirty="0">
                <a:solidFill>
                  <a:srgbClr val="1A1A1A"/>
                </a:solidFill>
                <a:latin typeface="Calibri" pitchFamily="34" charset="0"/>
                <a:ea typeface="Calibri" pitchFamily="34" charset="-122"/>
                <a:cs typeface="Calibri" pitchFamily="34" charset="-120"/>
              </a:rPr>
              <a:t>لا</a:t>
            </a:r>
            <a:endParaRPr lang="en-US" sz="1050" dirty="0"/>
          </a:p>
        </p:txBody>
      </p:sp>
      <p:sp>
        <p:nvSpPr>
          <p:cNvPr id="48" name="Text 46"/>
          <p:cNvSpPr/>
          <p:nvPr/>
        </p:nvSpPr>
        <p:spPr>
          <a:xfrm>
            <a:off x="2727655" y="4526280"/>
            <a:ext cx="1828800" cy="365760"/>
          </a:xfrm>
          <a:prstGeom prst="rect">
            <a:avLst/>
          </a:prstGeom>
          <a:noFill/>
          <a:ln/>
        </p:spPr>
        <p:txBody>
          <a:bodyPr wrap="square" rtlCol="0" anchor="ctr"/>
          <a:lstStyle/>
          <a:p>
            <a:pPr algn="ctr" indent="0" marL="0">
              <a:buNone/>
            </a:pPr>
            <a:r>
              <a:rPr lang="en-US" sz="1050" dirty="0">
                <a:solidFill>
                  <a:srgbClr val="1A1A1A"/>
                </a:solidFill>
                <a:latin typeface="Calibri" pitchFamily="34" charset="0"/>
                <a:ea typeface="Calibri" pitchFamily="34" charset="-122"/>
                <a:cs typeface="Calibri" pitchFamily="34" charset="-120"/>
              </a:rPr>
              <a:t>إضافة</a:t>
            </a:r>
            <a:endParaRPr lang="en-US" sz="1050" dirty="0"/>
          </a:p>
        </p:txBody>
      </p:sp>
      <p:sp>
        <p:nvSpPr>
          <p:cNvPr id="49" name="Text 47"/>
          <p:cNvSpPr/>
          <p:nvPr/>
        </p:nvSpPr>
        <p:spPr>
          <a:xfrm>
            <a:off x="597103" y="4526280"/>
            <a:ext cx="2039112" cy="365760"/>
          </a:xfrm>
          <a:prstGeom prst="rect">
            <a:avLst/>
          </a:prstGeom>
          <a:noFill/>
          <a:ln/>
        </p:spPr>
        <p:txBody>
          <a:bodyPr wrap="square" rtlCol="0" anchor="ctr"/>
          <a:lstStyle/>
          <a:p>
            <a:pPr algn="ctr" indent="0" marL="0">
              <a:buNone/>
            </a:pPr>
            <a:r>
              <a:rPr lang="en-US" sz="1050" b="1" dirty="0">
                <a:solidFill>
                  <a:srgbClr val="0A1628"/>
                </a:solidFill>
                <a:latin typeface="Calibri" pitchFamily="34" charset="0"/>
                <a:ea typeface="Calibri" pitchFamily="34" charset="-122"/>
                <a:cs typeface="Calibri" pitchFamily="34" charset="-120"/>
              </a:rPr>
              <a:t>أساسي</a:t>
            </a:r>
            <a:endParaRPr lang="en-US" sz="1050" dirty="0"/>
          </a:p>
        </p:txBody>
      </p:sp>
      <p:sp>
        <p:nvSpPr>
          <p:cNvPr id="50" name="Shape 48"/>
          <p:cNvSpPr/>
          <p:nvPr/>
        </p:nvSpPr>
        <p:spPr>
          <a:xfrm>
            <a:off x="548640" y="4892040"/>
            <a:ext cx="11094415" cy="365760"/>
          </a:xfrm>
          <a:prstGeom prst="rect">
            <a:avLst/>
          </a:prstGeom>
          <a:solidFill>
            <a:srgbClr val="FFFFFF"/>
          </a:solidFill>
          <a:ln w="6350">
            <a:solidFill>
              <a:srgbClr val="E8E3D6"/>
            </a:solidFill>
            <a:prstDash val="solid"/>
          </a:ln>
        </p:spPr>
      </p:sp>
      <p:sp>
        <p:nvSpPr>
          <p:cNvPr id="51" name="Text 49"/>
          <p:cNvSpPr/>
          <p:nvPr/>
        </p:nvSpPr>
        <p:spPr>
          <a:xfrm>
            <a:off x="8488375" y="4892040"/>
            <a:ext cx="3108960" cy="365760"/>
          </a:xfrm>
          <a:prstGeom prst="rect">
            <a:avLst/>
          </a:prstGeom>
          <a:noFill/>
          <a:ln/>
        </p:spPr>
        <p:txBody>
          <a:bodyPr wrap="square" rtlCol="0" anchor="ctr"/>
          <a:lstStyle/>
          <a:p>
            <a:pPr rtl="1" algn="r" indent="0" marL="0">
              <a:buNone/>
            </a:pPr>
            <a:r>
              <a:rPr lang="en-US" sz="1050" b="1" dirty="0">
                <a:solidFill>
                  <a:srgbClr val="1A1A1A"/>
                </a:solidFill>
                <a:latin typeface="Calibri" pitchFamily="34" charset="0"/>
                <a:ea typeface="Calibri" pitchFamily="34" charset="-122"/>
                <a:cs typeface="Calibri" pitchFamily="34" charset="-120"/>
              </a:rPr>
              <a:t>PDPL / ZATCA / SAMA</a:t>
            </a:r>
            <a:endParaRPr lang="en-US" sz="1050" dirty="0"/>
          </a:p>
        </p:txBody>
      </p:sp>
      <p:sp>
        <p:nvSpPr>
          <p:cNvPr id="52" name="Text 50"/>
          <p:cNvSpPr/>
          <p:nvPr/>
        </p:nvSpPr>
        <p:spPr>
          <a:xfrm>
            <a:off x="6568135" y="4892040"/>
            <a:ext cx="1828800" cy="365760"/>
          </a:xfrm>
          <a:prstGeom prst="rect">
            <a:avLst/>
          </a:prstGeom>
          <a:noFill/>
          <a:ln/>
        </p:spPr>
        <p:txBody>
          <a:bodyPr wrap="square" rtlCol="0" anchor="ctr"/>
          <a:lstStyle/>
          <a:p>
            <a:pPr algn="ctr" indent="0" marL="0">
              <a:buNone/>
            </a:pPr>
            <a:r>
              <a:rPr lang="en-US" sz="1050" dirty="0">
                <a:solidFill>
                  <a:srgbClr val="1A1A1A"/>
                </a:solidFill>
                <a:latin typeface="Calibri" pitchFamily="34" charset="0"/>
                <a:ea typeface="Calibri" pitchFamily="34" charset="-122"/>
                <a:cs typeface="Calibri" pitchFamily="34" charset="-120"/>
              </a:rPr>
              <a:t>مسؤوليتكم</a:t>
            </a:r>
            <a:endParaRPr lang="en-US" sz="1050" dirty="0"/>
          </a:p>
        </p:txBody>
      </p:sp>
      <p:sp>
        <p:nvSpPr>
          <p:cNvPr id="53" name="Text 51"/>
          <p:cNvSpPr/>
          <p:nvPr/>
        </p:nvSpPr>
        <p:spPr>
          <a:xfrm>
            <a:off x="4647895" y="4892040"/>
            <a:ext cx="1828800" cy="365760"/>
          </a:xfrm>
          <a:prstGeom prst="rect">
            <a:avLst/>
          </a:prstGeom>
          <a:noFill/>
          <a:ln/>
        </p:spPr>
        <p:txBody>
          <a:bodyPr wrap="square" rtlCol="0" anchor="ctr"/>
          <a:lstStyle/>
          <a:p>
            <a:pPr algn="ctr" indent="0" marL="0">
              <a:buNone/>
            </a:pPr>
            <a:r>
              <a:rPr lang="en-US" sz="1050" dirty="0">
                <a:solidFill>
                  <a:srgbClr val="1A1A1A"/>
                </a:solidFill>
                <a:latin typeface="Calibri" pitchFamily="34" charset="0"/>
                <a:ea typeface="Calibri" pitchFamily="34" charset="-122"/>
                <a:cs typeface="Calibri" pitchFamily="34" charset="-120"/>
              </a:rPr>
              <a:t>إضافة</a:t>
            </a:r>
            <a:endParaRPr lang="en-US" sz="1050" dirty="0"/>
          </a:p>
        </p:txBody>
      </p:sp>
      <p:sp>
        <p:nvSpPr>
          <p:cNvPr id="54" name="Text 52"/>
          <p:cNvSpPr/>
          <p:nvPr/>
        </p:nvSpPr>
        <p:spPr>
          <a:xfrm>
            <a:off x="2727655" y="4892040"/>
            <a:ext cx="1828800" cy="365760"/>
          </a:xfrm>
          <a:prstGeom prst="rect">
            <a:avLst/>
          </a:prstGeom>
          <a:noFill/>
          <a:ln/>
        </p:spPr>
        <p:txBody>
          <a:bodyPr wrap="square" rtlCol="0" anchor="ctr"/>
          <a:lstStyle/>
          <a:p>
            <a:pPr algn="ctr" indent="0" marL="0">
              <a:buNone/>
            </a:pPr>
            <a:r>
              <a:rPr lang="en-US" sz="1050" dirty="0">
                <a:solidFill>
                  <a:srgbClr val="1A1A1A"/>
                </a:solidFill>
                <a:latin typeface="Calibri" pitchFamily="34" charset="0"/>
                <a:ea typeface="Calibri" pitchFamily="34" charset="-122"/>
                <a:cs typeface="Calibri" pitchFamily="34" charset="-120"/>
              </a:rPr>
              <a:t>إضافة</a:t>
            </a:r>
            <a:endParaRPr lang="en-US" sz="1050" dirty="0"/>
          </a:p>
        </p:txBody>
      </p:sp>
      <p:sp>
        <p:nvSpPr>
          <p:cNvPr id="55" name="Text 53"/>
          <p:cNvSpPr/>
          <p:nvPr/>
        </p:nvSpPr>
        <p:spPr>
          <a:xfrm>
            <a:off x="597103" y="4892040"/>
            <a:ext cx="2039112" cy="365760"/>
          </a:xfrm>
          <a:prstGeom prst="rect">
            <a:avLst/>
          </a:prstGeom>
          <a:noFill/>
          <a:ln/>
        </p:spPr>
        <p:txBody>
          <a:bodyPr wrap="square" rtlCol="0" anchor="ctr"/>
          <a:lstStyle/>
          <a:p>
            <a:pPr algn="ctr" indent="0" marL="0">
              <a:buNone/>
            </a:pPr>
            <a:r>
              <a:rPr lang="en-US" sz="1050" b="1" dirty="0">
                <a:solidFill>
                  <a:srgbClr val="0A1628"/>
                </a:solidFill>
                <a:latin typeface="Calibri" pitchFamily="34" charset="0"/>
                <a:ea typeface="Calibri" pitchFamily="34" charset="-122"/>
                <a:cs typeface="Calibri" pitchFamily="34" charset="-120"/>
              </a:rPr>
              <a:t>مصمّم</a:t>
            </a:r>
            <a:endParaRPr lang="en-US" sz="1050" dirty="0"/>
          </a:p>
        </p:txBody>
      </p:sp>
      <p:sp>
        <p:nvSpPr>
          <p:cNvPr id="56" name="Shape 54"/>
          <p:cNvSpPr/>
          <p:nvPr/>
        </p:nvSpPr>
        <p:spPr>
          <a:xfrm>
            <a:off x="548640" y="5257800"/>
            <a:ext cx="11094415" cy="365760"/>
          </a:xfrm>
          <a:prstGeom prst="rect">
            <a:avLst/>
          </a:prstGeom>
          <a:solidFill>
            <a:srgbClr val="F2EEE4"/>
          </a:solidFill>
          <a:ln w="6350">
            <a:solidFill>
              <a:srgbClr val="E8E3D6"/>
            </a:solidFill>
            <a:prstDash val="solid"/>
          </a:ln>
        </p:spPr>
      </p:sp>
      <p:sp>
        <p:nvSpPr>
          <p:cNvPr id="57" name="Text 55"/>
          <p:cNvSpPr/>
          <p:nvPr/>
        </p:nvSpPr>
        <p:spPr>
          <a:xfrm>
            <a:off x="8488375" y="5257800"/>
            <a:ext cx="3108960" cy="365760"/>
          </a:xfrm>
          <a:prstGeom prst="rect">
            <a:avLst/>
          </a:prstGeom>
          <a:noFill/>
          <a:ln/>
        </p:spPr>
        <p:txBody>
          <a:bodyPr wrap="square" rtlCol="0" anchor="ctr"/>
          <a:lstStyle/>
          <a:p>
            <a:pPr rtl="1" algn="r" indent="0" marL="0">
              <a:buNone/>
            </a:pPr>
            <a:r>
              <a:rPr lang="en-US" sz="1050" b="1" dirty="0">
                <a:solidFill>
                  <a:srgbClr val="1A1A1A"/>
                </a:solidFill>
                <a:latin typeface="Calibri" pitchFamily="34" charset="0"/>
                <a:ea typeface="Calibri" pitchFamily="34" charset="-122"/>
                <a:cs typeface="Calibri" pitchFamily="34" charset="-120"/>
              </a:rPr>
              <a:t>دعم بالعربية 24/7</a:t>
            </a:r>
            <a:endParaRPr lang="en-US" sz="1050" dirty="0"/>
          </a:p>
        </p:txBody>
      </p:sp>
      <p:sp>
        <p:nvSpPr>
          <p:cNvPr id="58" name="Text 56"/>
          <p:cNvSpPr/>
          <p:nvPr/>
        </p:nvSpPr>
        <p:spPr>
          <a:xfrm>
            <a:off x="6568135" y="5257800"/>
            <a:ext cx="1828800" cy="365760"/>
          </a:xfrm>
          <a:prstGeom prst="rect">
            <a:avLst/>
          </a:prstGeom>
          <a:noFill/>
          <a:ln/>
        </p:spPr>
        <p:txBody>
          <a:bodyPr wrap="square" rtlCol="0" anchor="ctr"/>
          <a:lstStyle/>
          <a:p>
            <a:pPr algn="ctr" indent="0" marL="0">
              <a:buNone/>
            </a:pPr>
            <a:r>
              <a:rPr lang="en-US" sz="1050" dirty="0">
                <a:solidFill>
                  <a:srgbClr val="1A1A1A"/>
                </a:solidFill>
                <a:latin typeface="Calibri" pitchFamily="34" charset="0"/>
                <a:ea typeface="Calibri" pitchFamily="34" charset="-122"/>
                <a:cs typeface="Calibri" pitchFamily="34" charset="-120"/>
              </a:rPr>
              <a:t>لا</a:t>
            </a:r>
            <a:endParaRPr lang="en-US" sz="1050" dirty="0"/>
          </a:p>
        </p:txBody>
      </p:sp>
      <p:sp>
        <p:nvSpPr>
          <p:cNvPr id="59" name="Text 57"/>
          <p:cNvSpPr/>
          <p:nvPr/>
        </p:nvSpPr>
        <p:spPr>
          <a:xfrm>
            <a:off x="4647895" y="5257800"/>
            <a:ext cx="1828800" cy="365760"/>
          </a:xfrm>
          <a:prstGeom prst="rect">
            <a:avLst/>
          </a:prstGeom>
          <a:noFill/>
          <a:ln/>
        </p:spPr>
        <p:txBody>
          <a:bodyPr wrap="square" rtlCol="0" anchor="ctr"/>
          <a:lstStyle/>
          <a:p>
            <a:pPr algn="ctr" indent="0" marL="0">
              <a:buNone/>
            </a:pPr>
            <a:r>
              <a:rPr lang="en-US" sz="1050" dirty="0">
                <a:solidFill>
                  <a:srgbClr val="1A1A1A"/>
                </a:solidFill>
                <a:latin typeface="Calibri" pitchFamily="34" charset="0"/>
                <a:ea typeface="Calibri" pitchFamily="34" charset="-122"/>
                <a:cs typeface="Calibri" pitchFamily="34" charset="-120"/>
              </a:rPr>
              <a:t>لا</a:t>
            </a:r>
            <a:endParaRPr lang="en-US" sz="1050" dirty="0"/>
          </a:p>
        </p:txBody>
      </p:sp>
      <p:sp>
        <p:nvSpPr>
          <p:cNvPr id="60" name="Text 58"/>
          <p:cNvSpPr/>
          <p:nvPr/>
        </p:nvSpPr>
        <p:spPr>
          <a:xfrm>
            <a:off x="2727655" y="5257800"/>
            <a:ext cx="1828800" cy="365760"/>
          </a:xfrm>
          <a:prstGeom prst="rect">
            <a:avLst/>
          </a:prstGeom>
          <a:noFill/>
          <a:ln/>
        </p:spPr>
        <p:txBody>
          <a:bodyPr wrap="square" rtlCol="0" anchor="ctr"/>
          <a:lstStyle/>
          <a:p>
            <a:pPr algn="ctr" indent="0" marL="0">
              <a:buNone/>
            </a:pPr>
            <a:r>
              <a:rPr lang="en-US" sz="1050" dirty="0">
                <a:solidFill>
                  <a:srgbClr val="1A1A1A"/>
                </a:solidFill>
                <a:latin typeface="Calibri" pitchFamily="34" charset="0"/>
                <a:ea typeface="Calibri" pitchFamily="34" charset="-122"/>
                <a:cs typeface="Calibri" pitchFamily="34" charset="-120"/>
              </a:rPr>
              <a:t>مقابل</a:t>
            </a:r>
            <a:endParaRPr lang="en-US" sz="1050" dirty="0"/>
          </a:p>
        </p:txBody>
      </p:sp>
      <p:sp>
        <p:nvSpPr>
          <p:cNvPr id="61" name="Text 59"/>
          <p:cNvSpPr/>
          <p:nvPr/>
        </p:nvSpPr>
        <p:spPr>
          <a:xfrm>
            <a:off x="597103" y="5257800"/>
            <a:ext cx="2039112" cy="365760"/>
          </a:xfrm>
          <a:prstGeom prst="rect">
            <a:avLst/>
          </a:prstGeom>
          <a:noFill/>
          <a:ln/>
        </p:spPr>
        <p:txBody>
          <a:bodyPr wrap="square" rtlCol="0" anchor="ctr"/>
          <a:lstStyle/>
          <a:p>
            <a:pPr algn="ctr" indent="0" marL="0">
              <a:buNone/>
            </a:pPr>
            <a:r>
              <a:rPr lang="en-US" sz="1050" b="1" dirty="0">
                <a:solidFill>
                  <a:srgbClr val="0A1628"/>
                </a:solidFill>
                <a:latin typeface="Calibri" pitchFamily="34" charset="0"/>
                <a:ea typeface="Calibri" pitchFamily="34" charset="-122"/>
                <a:cs typeface="Calibri" pitchFamily="34" charset="-120"/>
              </a:rPr>
              <a:t>مشمول</a:t>
            </a:r>
            <a:endParaRPr lang="en-US" sz="1050" dirty="0"/>
          </a:p>
        </p:txBody>
      </p:sp>
      <p:sp>
        <p:nvSpPr>
          <p:cNvPr id="62" name="Shape 60"/>
          <p:cNvSpPr/>
          <p:nvPr/>
        </p:nvSpPr>
        <p:spPr>
          <a:xfrm>
            <a:off x="548640" y="5623560"/>
            <a:ext cx="11094415" cy="365760"/>
          </a:xfrm>
          <a:prstGeom prst="rect">
            <a:avLst/>
          </a:prstGeom>
          <a:solidFill>
            <a:srgbClr val="FFFFFF"/>
          </a:solidFill>
          <a:ln w="6350">
            <a:solidFill>
              <a:srgbClr val="E8E3D6"/>
            </a:solidFill>
            <a:prstDash val="solid"/>
          </a:ln>
        </p:spPr>
      </p:sp>
      <p:sp>
        <p:nvSpPr>
          <p:cNvPr id="63" name="Text 61"/>
          <p:cNvSpPr/>
          <p:nvPr/>
        </p:nvSpPr>
        <p:spPr>
          <a:xfrm>
            <a:off x="8488375" y="5623560"/>
            <a:ext cx="3108960" cy="365760"/>
          </a:xfrm>
          <a:prstGeom prst="rect">
            <a:avLst/>
          </a:prstGeom>
          <a:noFill/>
          <a:ln/>
        </p:spPr>
        <p:txBody>
          <a:bodyPr wrap="square" rtlCol="0" anchor="ctr"/>
          <a:lstStyle/>
          <a:p>
            <a:pPr rtl="1" algn="r" indent="0" marL="0">
              <a:buNone/>
            </a:pPr>
            <a:r>
              <a:rPr lang="en-US" sz="1050" b="1" dirty="0">
                <a:solidFill>
                  <a:srgbClr val="1A1A1A"/>
                </a:solidFill>
                <a:latin typeface="Calibri" pitchFamily="34" charset="0"/>
                <a:ea typeface="Calibri" pitchFamily="34" charset="-122"/>
                <a:cs typeface="Calibri" pitchFamily="34" charset="-120"/>
              </a:rPr>
              <a:t>مخاطر الفشل</a:t>
            </a:r>
            <a:endParaRPr lang="en-US" sz="1050" dirty="0"/>
          </a:p>
        </p:txBody>
      </p:sp>
      <p:sp>
        <p:nvSpPr>
          <p:cNvPr id="64" name="Text 62"/>
          <p:cNvSpPr/>
          <p:nvPr/>
        </p:nvSpPr>
        <p:spPr>
          <a:xfrm>
            <a:off x="6568135" y="5623560"/>
            <a:ext cx="1828800" cy="365760"/>
          </a:xfrm>
          <a:prstGeom prst="rect">
            <a:avLst/>
          </a:prstGeom>
          <a:noFill/>
          <a:ln/>
        </p:spPr>
        <p:txBody>
          <a:bodyPr wrap="square" rtlCol="0" anchor="ctr"/>
          <a:lstStyle/>
          <a:p>
            <a:pPr algn="ctr" indent="0" marL="0">
              <a:buNone/>
            </a:pPr>
            <a:r>
              <a:rPr lang="en-US" sz="1050" dirty="0">
                <a:solidFill>
                  <a:srgbClr val="1A1A1A"/>
                </a:solidFill>
                <a:latin typeface="Calibri" pitchFamily="34" charset="0"/>
                <a:ea typeface="Calibri" pitchFamily="34" charset="-122"/>
                <a:cs typeface="Calibri" pitchFamily="34" charset="-120"/>
              </a:rPr>
              <a:t>عالية</a:t>
            </a:r>
            <a:endParaRPr lang="en-US" sz="1050" dirty="0"/>
          </a:p>
        </p:txBody>
      </p:sp>
      <p:sp>
        <p:nvSpPr>
          <p:cNvPr id="65" name="Text 63"/>
          <p:cNvSpPr/>
          <p:nvPr/>
        </p:nvSpPr>
        <p:spPr>
          <a:xfrm>
            <a:off x="4647895" y="5623560"/>
            <a:ext cx="1828800" cy="365760"/>
          </a:xfrm>
          <a:prstGeom prst="rect">
            <a:avLst/>
          </a:prstGeom>
          <a:noFill/>
          <a:ln/>
        </p:spPr>
        <p:txBody>
          <a:bodyPr wrap="square" rtlCol="0" anchor="ctr"/>
          <a:lstStyle/>
          <a:p>
            <a:pPr algn="ctr" indent="0" marL="0">
              <a:buNone/>
            </a:pPr>
            <a:r>
              <a:rPr lang="en-US" sz="1050" dirty="0">
                <a:solidFill>
                  <a:srgbClr val="1A1A1A"/>
                </a:solidFill>
                <a:latin typeface="Calibri" pitchFamily="34" charset="0"/>
                <a:ea typeface="Calibri" pitchFamily="34" charset="-122"/>
                <a:cs typeface="Calibri" pitchFamily="34" charset="-120"/>
              </a:rPr>
              <a:t>متوسطة</a:t>
            </a:r>
            <a:endParaRPr lang="en-US" sz="1050" dirty="0"/>
          </a:p>
        </p:txBody>
      </p:sp>
      <p:sp>
        <p:nvSpPr>
          <p:cNvPr id="66" name="Text 64"/>
          <p:cNvSpPr/>
          <p:nvPr/>
        </p:nvSpPr>
        <p:spPr>
          <a:xfrm>
            <a:off x="2727655" y="5623560"/>
            <a:ext cx="1828800" cy="365760"/>
          </a:xfrm>
          <a:prstGeom prst="rect">
            <a:avLst/>
          </a:prstGeom>
          <a:noFill/>
          <a:ln/>
        </p:spPr>
        <p:txBody>
          <a:bodyPr wrap="square" rtlCol="0" anchor="ctr"/>
          <a:lstStyle/>
          <a:p>
            <a:pPr algn="ctr" indent="0" marL="0">
              <a:buNone/>
            </a:pPr>
            <a:r>
              <a:rPr lang="en-US" sz="1050" dirty="0">
                <a:solidFill>
                  <a:srgbClr val="1A1A1A"/>
                </a:solidFill>
                <a:latin typeface="Calibri" pitchFamily="34" charset="0"/>
                <a:ea typeface="Calibri" pitchFamily="34" charset="-122"/>
                <a:cs typeface="Calibri" pitchFamily="34" charset="-120"/>
              </a:rPr>
              <a:t>متوسطة</a:t>
            </a:r>
            <a:endParaRPr lang="en-US" sz="1050" dirty="0"/>
          </a:p>
        </p:txBody>
      </p:sp>
      <p:sp>
        <p:nvSpPr>
          <p:cNvPr id="67" name="Text 65"/>
          <p:cNvSpPr/>
          <p:nvPr/>
        </p:nvSpPr>
        <p:spPr>
          <a:xfrm>
            <a:off x="597103" y="5623560"/>
            <a:ext cx="2039112" cy="365760"/>
          </a:xfrm>
          <a:prstGeom prst="rect">
            <a:avLst/>
          </a:prstGeom>
          <a:noFill/>
          <a:ln/>
        </p:spPr>
        <p:txBody>
          <a:bodyPr wrap="square" rtlCol="0" anchor="ctr"/>
          <a:lstStyle/>
          <a:p>
            <a:pPr algn="ctr" indent="0" marL="0">
              <a:buNone/>
            </a:pPr>
            <a:r>
              <a:rPr lang="en-US" sz="1050" b="1" dirty="0">
                <a:solidFill>
                  <a:srgbClr val="0A1628"/>
                </a:solidFill>
                <a:latin typeface="Calibri" pitchFamily="34" charset="0"/>
                <a:ea typeface="Calibri" pitchFamily="34" charset="-122"/>
                <a:cs typeface="Calibri" pitchFamily="34" charset="-120"/>
              </a:rPr>
              <a:t>منخفضة (استرداد)</a:t>
            </a:r>
            <a:endParaRPr lang="en-US" sz="1050" dirty="0"/>
          </a:p>
        </p:txBody>
      </p:sp>
      <p:sp>
        <p:nvSpPr>
          <p:cNvPr id="68" name="Shape 66"/>
          <p:cNvSpPr/>
          <p:nvPr/>
        </p:nvSpPr>
        <p:spPr>
          <a:xfrm>
            <a:off x="548640" y="2240280"/>
            <a:ext cx="2130552" cy="3749040"/>
          </a:xfrm>
          <a:prstGeom prst="rect">
            <a:avLst/>
          </a:prstGeom>
          <a:solidFill>
            <a:srgbClr val="FFFFFF">
              <a:alpha val="0"/>
            </a:srgbClr>
          </a:solidFill>
          <a:ln w="25400">
            <a:solidFill>
              <a:srgbClr val="D4A574"/>
            </a:solidFill>
            <a:prstDash val="solid"/>
          </a:ln>
        </p:spPr>
      </p:sp>
      <p:sp>
        <p:nvSpPr>
          <p:cNvPr id="69" name="Text 67"/>
          <p:cNvSpPr/>
          <p:nvPr/>
        </p:nvSpPr>
        <p:spPr>
          <a:xfrm>
            <a:off x="548640" y="6126480"/>
            <a:ext cx="11094415" cy="320040"/>
          </a:xfrm>
          <a:prstGeom prst="rect">
            <a:avLst/>
          </a:prstGeom>
          <a:noFill/>
          <a:ln/>
        </p:spPr>
        <p:txBody>
          <a:bodyPr wrap="square" rtlCol="0" anchor="ctr"/>
          <a:lstStyle/>
          <a:p>
            <a:pPr rtl="1" algn="r" indent="0" marL="0">
              <a:buNone/>
            </a:pPr>
            <a:r>
              <a:rPr lang="en-US" sz="1200" i="1" dirty="0">
                <a:solidFill>
                  <a:srgbClr val="55606E"/>
                </a:solidFill>
                <a:latin typeface="Georgia" pitchFamily="34" charset="0"/>
                <a:ea typeface="Georgia" pitchFamily="34" charset="-122"/>
                <a:cs typeface="Georgia" pitchFamily="34" charset="-120"/>
              </a:rPr>
              <a:t>ليست كل مقارنة في صالحنا — لكن في البُعد الأهم (قطاع اللوجستيات السعودي)، ديلكس لا يُقارن</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AF8F3"/>
        </a:solidFill>
      </p:bgPr>
    </p:bg>
    <p:spTree>
      <p:nvGrpSpPr>
        <p:cNvPr id="1" name=""/>
        <p:cNvGrpSpPr/>
        <p:nvPr/>
      </p:nvGrpSpPr>
      <p:grpSpPr>
        <a:xfrm>
          <a:off x="0" y="0"/>
          <a:ext cx="0" cy="0"/>
          <a:chOff x="0" y="0"/>
          <a:chExt cx="0" cy="0"/>
        </a:xfrm>
      </p:grpSpPr>
      <p:sp>
        <p:nvSpPr>
          <p:cNvPr id="2" name="Shape 0"/>
          <p:cNvSpPr/>
          <p:nvPr/>
        </p:nvSpPr>
        <p:spPr>
          <a:xfrm>
            <a:off x="11734495" y="320040"/>
            <a:ext cx="73152" cy="411480"/>
          </a:xfrm>
          <a:prstGeom prst="rect">
            <a:avLst/>
          </a:prstGeom>
          <a:solidFill>
            <a:srgbClr val="D4A574"/>
          </a:solidFill>
          <a:ln/>
        </p:spPr>
      </p:sp>
      <p:sp>
        <p:nvSpPr>
          <p:cNvPr id="3" name="Text 1"/>
          <p:cNvSpPr/>
          <p:nvPr/>
        </p:nvSpPr>
        <p:spPr>
          <a:xfrm>
            <a:off x="8076895" y="274320"/>
            <a:ext cx="3566160" cy="365760"/>
          </a:xfrm>
          <a:prstGeom prst="rect">
            <a:avLst/>
          </a:prstGeom>
          <a:noFill/>
          <a:ln/>
        </p:spPr>
        <p:txBody>
          <a:bodyPr wrap="square" rtlCol="0" anchor="ctr"/>
          <a:lstStyle/>
          <a:p>
            <a:pPr rtl="1" algn="r" indent="0" marL="0">
              <a:buNone/>
            </a:pPr>
            <a:r>
              <a:rPr lang="en-US" sz="1200" b="1" dirty="0">
                <a:solidFill>
                  <a:srgbClr val="55606E"/>
                </a:solidFill>
                <a:latin typeface="Calibri" pitchFamily="34" charset="0"/>
                <a:ea typeface="Calibri" pitchFamily="34" charset="-122"/>
                <a:cs typeface="Calibri" pitchFamily="34" charset="-120"/>
              </a:rPr>
              <a:t>المخاطر</a:t>
            </a:r>
            <a:endParaRPr lang="en-US" sz="1200" dirty="0"/>
          </a:p>
        </p:txBody>
      </p:sp>
      <p:sp>
        <p:nvSpPr>
          <p:cNvPr id="4" name="Text 2"/>
          <p:cNvSpPr/>
          <p:nvPr/>
        </p:nvSpPr>
        <p:spPr>
          <a:xfrm>
            <a:off x="457200" y="6446520"/>
            <a:ext cx="2286000" cy="274320"/>
          </a:xfrm>
          <a:prstGeom prst="rect">
            <a:avLst/>
          </a:prstGeom>
          <a:noFill/>
          <a:ln/>
        </p:spPr>
        <p:txBody>
          <a:bodyPr wrap="square" rtlCol="0" anchor="ctr"/>
          <a:lstStyle/>
          <a:p>
            <a:pPr algn="l" indent="0" marL="0">
              <a:buNone/>
            </a:pPr>
            <a:r>
              <a:rPr lang="en-US" sz="900" dirty="0">
                <a:solidFill>
                  <a:srgbClr val="8B95A3"/>
                </a:solidFill>
                <a:latin typeface="Calibri" pitchFamily="34" charset="0"/>
                <a:ea typeface="Calibri" pitchFamily="34" charset="-122"/>
                <a:cs typeface="Calibri" pitchFamily="34" charset="-120"/>
              </a:rPr>
              <a:t>Dealix · ديلكس</a:t>
            </a:r>
            <a:endParaRPr lang="en-US" sz="900" dirty="0"/>
          </a:p>
        </p:txBody>
      </p:sp>
      <p:sp>
        <p:nvSpPr>
          <p:cNvPr id="5" name="Text 3"/>
          <p:cNvSpPr/>
          <p:nvPr/>
        </p:nvSpPr>
        <p:spPr>
          <a:xfrm>
            <a:off x="11094415" y="6446520"/>
            <a:ext cx="640080" cy="274320"/>
          </a:xfrm>
          <a:prstGeom prst="rect">
            <a:avLst/>
          </a:prstGeom>
          <a:noFill/>
          <a:ln/>
        </p:spPr>
        <p:txBody>
          <a:bodyPr wrap="square" rtlCol="0" anchor="ctr"/>
          <a:lstStyle/>
          <a:p>
            <a:pPr algn="r" indent="0" marL="0">
              <a:buNone/>
            </a:pPr>
            <a:r>
              <a:rPr lang="en-US" sz="900" b="1" dirty="0">
                <a:solidFill>
                  <a:srgbClr val="8B95A3"/>
                </a:solidFill>
                <a:latin typeface="Calibri" pitchFamily="34" charset="0"/>
                <a:ea typeface="Calibri" pitchFamily="34" charset="-122"/>
                <a:cs typeface="Calibri" pitchFamily="34" charset="-120"/>
              </a:rPr>
              <a:t>38</a:t>
            </a:r>
            <a:endParaRPr lang="en-US" sz="900" dirty="0"/>
          </a:p>
        </p:txBody>
      </p:sp>
      <p:sp>
        <p:nvSpPr>
          <p:cNvPr id="6" name="Text 4"/>
          <p:cNvSpPr/>
          <p:nvPr/>
        </p:nvSpPr>
        <p:spPr>
          <a:xfrm>
            <a:off x="548640" y="914400"/>
            <a:ext cx="11094415" cy="822960"/>
          </a:xfrm>
          <a:prstGeom prst="rect">
            <a:avLst/>
          </a:prstGeom>
          <a:noFill/>
          <a:ln/>
        </p:spPr>
        <p:txBody>
          <a:bodyPr wrap="square" rtlCol="0" anchor="ctr"/>
          <a:lstStyle/>
          <a:p>
            <a:pPr rtl="1" algn="r" indent="0" marL="0">
              <a:buNone/>
            </a:pPr>
            <a:r>
              <a:rPr lang="en-US" sz="3400" b="1" dirty="0">
                <a:solidFill>
                  <a:srgbClr val="0A1628"/>
                </a:solidFill>
                <a:latin typeface="Calibri" pitchFamily="34" charset="0"/>
                <a:ea typeface="Calibri" pitchFamily="34" charset="-122"/>
                <a:cs typeface="Calibri" pitchFamily="34" charset="-120"/>
              </a:rPr>
              <a:t>المخاطر وكيف نعالجها</a:t>
            </a:r>
            <a:endParaRPr lang="en-US" sz="3400" dirty="0"/>
          </a:p>
        </p:txBody>
      </p:sp>
      <p:sp>
        <p:nvSpPr>
          <p:cNvPr id="7" name="Text 5"/>
          <p:cNvSpPr/>
          <p:nvPr/>
        </p:nvSpPr>
        <p:spPr>
          <a:xfrm>
            <a:off x="548640" y="1691640"/>
            <a:ext cx="11094415" cy="411480"/>
          </a:xfrm>
          <a:prstGeom prst="rect">
            <a:avLst/>
          </a:prstGeom>
          <a:noFill/>
          <a:ln/>
        </p:spPr>
        <p:txBody>
          <a:bodyPr wrap="square" rtlCol="0" anchor="ctr"/>
          <a:lstStyle/>
          <a:p>
            <a:pPr rtl="1" algn="r" indent="0" marL="0">
              <a:buNone/>
            </a:pPr>
            <a:r>
              <a:rPr lang="en-US" sz="1500" dirty="0">
                <a:solidFill>
                  <a:srgbClr val="55606E"/>
                </a:solidFill>
                <a:latin typeface="Calibri" pitchFamily="34" charset="0"/>
                <a:ea typeface="Calibri" pitchFamily="34" charset="-122"/>
                <a:cs typeface="Calibri" pitchFamily="34" charset="-120"/>
              </a:rPr>
              <a:t>الشفافية الكاملة — المخاطر التي قد تراودكم والجواب عليها</a:t>
            </a:r>
            <a:endParaRPr lang="en-US" sz="1500" dirty="0"/>
          </a:p>
        </p:txBody>
      </p:sp>
      <p:sp>
        <p:nvSpPr>
          <p:cNvPr id="8" name="Shape 6"/>
          <p:cNvSpPr/>
          <p:nvPr/>
        </p:nvSpPr>
        <p:spPr>
          <a:xfrm>
            <a:off x="548640" y="2194560"/>
            <a:ext cx="11094415" cy="658368"/>
          </a:xfrm>
          <a:prstGeom prst="rect">
            <a:avLst/>
          </a:prstGeom>
          <a:solidFill>
            <a:srgbClr val="FFFFFF"/>
          </a:solidFill>
          <a:ln w="12700">
            <a:solidFill>
              <a:srgbClr val="E8E3D6"/>
            </a:solidFill>
            <a:prstDash val="solid"/>
          </a:ln>
        </p:spPr>
      </p:sp>
      <p:sp>
        <p:nvSpPr>
          <p:cNvPr id="9" name="Shape 7"/>
          <p:cNvSpPr/>
          <p:nvPr/>
        </p:nvSpPr>
        <p:spPr>
          <a:xfrm>
            <a:off x="548640" y="2194560"/>
            <a:ext cx="4114800" cy="658368"/>
          </a:xfrm>
          <a:prstGeom prst="rect">
            <a:avLst/>
          </a:prstGeom>
          <a:solidFill>
            <a:srgbClr val="FAF8F3"/>
          </a:solidFill>
          <a:ln/>
        </p:spPr>
      </p:sp>
      <p:sp>
        <p:nvSpPr>
          <p:cNvPr id="10" name="Text 8"/>
          <p:cNvSpPr/>
          <p:nvPr/>
        </p:nvSpPr>
        <p:spPr>
          <a:xfrm>
            <a:off x="685800" y="2194560"/>
            <a:ext cx="3931920" cy="658368"/>
          </a:xfrm>
          <a:prstGeom prst="rect">
            <a:avLst/>
          </a:prstGeom>
          <a:noFill/>
          <a:ln/>
        </p:spPr>
        <p:txBody>
          <a:bodyPr wrap="square" rtlCol="0" anchor="ctr"/>
          <a:lstStyle/>
          <a:p>
            <a:pPr rtl="1" algn="r" indent="0" marL="0">
              <a:buNone/>
            </a:pPr>
            <a:r>
              <a:rPr lang="en-US" sz="1200" b="1" i="1" dirty="0">
                <a:solidFill>
                  <a:srgbClr val="0A1628"/>
                </a:solidFill>
                <a:latin typeface="Georgia" pitchFamily="34" charset="0"/>
                <a:ea typeface="Georgia" pitchFamily="34" charset="-122"/>
                <a:cs typeface="Georgia" pitchFamily="34" charset="-120"/>
              </a:rPr>
              <a:t>"ماذا لو لم يتبنّاها فريق المبيعات؟"</a:t>
            </a:r>
            <a:endParaRPr lang="en-US" sz="1200" dirty="0"/>
          </a:p>
        </p:txBody>
      </p:sp>
      <p:sp>
        <p:nvSpPr>
          <p:cNvPr id="11" name="Text 9"/>
          <p:cNvSpPr/>
          <p:nvPr/>
        </p:nvSpPr>
        <p:spPr>
          <a:xfrm>
            <a:off x="4754880" y="2240280"/>
            <a:ext cx="6751015" cy="566928"/>
          </a:xfrm>
          <a:prstGeom prst="rect">
            <a:avLst/>
          </a:prstGeom>
          <a:noFill/>
          <a:ln/>
        </p:spPr>
        <p:txBody>
          <a:bodyPr wrap="square" rtlCol="0" anchor="ctr"/>
          <a:lstStyle/>
          <a:p>
            <a:pPr rtl="1" algn="r" indent="0" marL="0">
              <a:buNone/>
            </a:pPr>
            <a:r>
              <a:rPr lang="en-US" sz="1050" dirty="0">
                <a:solidFill>
                  <a:srgbClr val="1A1A1A"/>
                </a:solidFill>
                <a:latin typeface="Calibri" pitchFamily="34" charset="0"/>
                <a:ea typeface="Calibri" pitchFamily="34" charset="-122"/>
                <a:cs typeface="Calibri" pitchFamily="34" charset="-120"/>
              </a:rPr>
              <a:t>تدريب إلزامي 40 ساعة · متابعة اعتماد أسبوعية · بطاقة أداء شخصية · حوافز ترتبط بالاستخدام · نسبة تبنّي خلال 60 يوم &gt; 90% في 14 تطبيقاً سابقاً</a:t>
            </a:r>
            <a:endParaRPr lang="en-US" sz="1050" dirty="0"/>
          </a:p>
        </p:txBody>
      </p:sp>
      <p:sp>
        <p:nvSpPr>
          <p:cNvPr id="12" name="Shape 10"/>
          <p:cNvSpPr/>
          <p:nvPr/>
        </p:nvSpPr>
        <p:spPr>
          <a:xfrm>
            <a:off x="4663440" y="2194560"/>
            <a:ext cx="27432" cy="658368"/>
          </a:xfrm>
          <a:prstGeom prst="rect">
            <a:avLst/>
          </a:prstGeom>
          <a:solidFill>
            <a:srgbClr val="D4A574"/>
          </a:solidFill>
          <a:ln/>
        </p:spPr>
      </p:sp>
      <p:sp>
        <p:nvSpPr>
          <p:cNvPr id="13" name="Shape 11"/>
          <p:cNvSpPr/>
          <p:nvPr/>
        </p:nvSpPr>
        <p:spPr>
          <a:xfrm>
            <a:off x="548640" y="2880360"/>
            <a:ext cx="11094415" cy="658368"/>
          </a:xfrm>
          <a:prstGeom prst="rect">
            <a:avLst/>
          </a:prstGeom>
          <a:solidFill>
            <a:srgbClr val="FFFFFF"/>
          </a:solidFill>
          <a:ln w="12700">
            <a:solidFill>
              <a:srgbClr val="E8E3D6"/>
            </a:solidFill>
            <a:prstDash val="solid"/>
          </a:ln>
        </p:spPr>
      </p:sp>
      <p:sp>
        <p:nvSpPr>
          <p:cNvPr id="14" name="Shape 12"/>
          <p:cNvSpPr/>
          <p:nvPr/>
        </p:nvSpPr>
        <p:spPr>
          <a:xfrm>
            <a:off x="548640" y="2880360"/>
            <a:ext cx="4114800" cy="658368"/>
          </a:xfrm>
          <a:prstGeom prst="rect">
            <a:avLst/>
          </a:prstGeom>
          <a:solidFill>
            <a:srgbClr val="FAF8F3"/>
          </a:solidFill>
          <a:ln/>
        </p:spPr>
      </p:sp>
      <p:sp>
        <p:nvSpPr>
          <p:cNvPr id="15" name="Text 13"/>
          <p:cNvSpPr/>
          <p:nvPr/>
        </p:nvSpPr>
        <p:spPr>
          <a:xfrm>
            <a:off x="685800" y="2880360"/>
            <a:ext cx="3931920" cy="658368"/>
          </a:xfrm>
          <a:prstGeom prst="rect">
            <a:avLst/>
          </a:prstGeom>
          <a:noFill/>
          <a:ln/>
        </p:spPr>
        <p:txBody>
          <a:bodyPr wrap="square" rtlCol="0" anchor="ctr"/>
          <a:lstStyle/>
          <a:p>
            <a:pPr rtl="1" algn="r" indent="0" marL="0">
              <a:buNone/>
            </a:pPr>
            <a:r>
              <a:rPr lang="en-US" sz="1200" b="1" i="1" dirty="0">
                <a:solidFill>
                  <a:srgbClr val="0A1628"/>
                </a:solidFill>
                <a:latin typeface="Georgia" pitchFamily="34" charset="0"/>
                <a:ea typeface="Georgia" pitchFamily="34" charset="-122"/>
                <a:cs typeface="Georgia" pitchFamily="34" charset="-120"/>
              </a:rPr>
              <a:t>"ماذا لو خسرنا بياناتنا؟"</a:t>
            </a:r>
            <a:endParaRPr lang="en-US" sz="1200" dirty="0"/>
          </a:p>
        </p:txBody>
      </p:sp>
      <p:sp>
        <p:nvSpPr>
          <p:cNvPr id="16" name="Text 14"/>
          <p:cNvSpPr/>
          <p:nvPr/>
        </p:nvSpPr>
        <p:spPr>
          <a:xfrm>
            <a:off x="4754880" y="2926080"/>
            <a:ext cx="6751015" cy="566928"/>
          </a:xfrm>
          <a:prstGeom prst="rect">
            <a:avLst/>
          </a:prstGeom>
          <a:noFill/>
          <a:ln/>
        </p:spPr>
        <p:txBody>
          <a:bodyPr wrap="square" rtlCol="0" anchor="ctr"/>
          <a:lstStyle/>
          <a:p>
            <a:pPr rtl="1" algn="r" indent="0" marL="0">
              <a:buNone/>
            </a:pPr>
            <a:r>
              <a:rPr lang="en-US" sz="1050" dirty="0">
                <a:solidFill>
                  <a:srgbClr val="1A1A1A"/>
                </a:solidFill>
                <a:latin typeface="Calibri" pitchFamily="34" charset="0"/>
                <a:ea typeface="Calibri" pitchFamily="34" charset="-122"/>
                <a:cs typeface="Calibri" pitchFamily="34" charset="-120"/>
              </a:rPr>
              <a:t>نسخ احتياطية آلية كل ساعة · استعادة في &lt;30 دقيقة · اختبارات شهرية · DR Site في منطقة جغرافية مختلفة · أنتم تملكون البيانات، لا نحن</a:t>
            </a:r>
            <a:endParaRPr lang="en-US" sz="1050" dirty="0"/>
          </a:p>
        </p:txBody>
      </p:sp>
      <p:sp>
        <p:nvSpPr>
          <p:cNvPr id="17" name="Shape 15"/>
          <p:cNvSpPr/>
          <p:nvPr/>
        </p:nvSpPr>
        <p:spPr>
          <a:xfrm>
            <a:off x="4663440" y="2880360"/>
            <a:ext cx="27432" cy="658368"/>
          </a:xfrm>
          <a:prstGeom prst="rect">
            <a:avLst/>
          </a:prstGeom>
          <a:solidFill>
            <a:srgbClr val="D4A574"/>
          </a:solidFill>
          <a:ln/>
        </p:spPr>
      </p:sp>
      <p:sp>
        <p:nvSpPr>
          <p:cNvPr id="18" name="Shape 16"/>
          <p:cNvSpPr/>
          <p:nvPr/>
        </p:nvSpPr>
        <p:spPr>
          <a:xfrm>
            <a:off x="548640" y="3566160"/>
            <a:ext cx="11094415" cy="658368"/>
          </a:xfrm>
          <a:prstGeom prst="rect">
            <a:avLst/>
          </a:prstGeom>
          <a:solidFill>
            <a:srgbClr val="FFFFFF"/>
          </a:solidFill>
          <a:ln w="12700">
            <a:solidFill>
              <a:srgbClr val="E8E3D6"/>
            </a:solidFill>
            <a:prstDash val="solid"/>
          </a:ln>
        </p:spPr>
      </p:sp>
      <p:sp>
        <p:nvSpPr>
          <p:cNvPr id="19" name="Shape 17"/>
          <p:cNvSpPr/>
          <p:nvPr/>
        </p:nvSpPr>
        <p:spPr>
          <a:xfrm>
            <a:off x="548640" y="3566160"/>
            <a:ext cx="4114800" cy="658368"/>
          </a:xfrm>
          <a:prstGeom prst="rect">
            <a:avLst/>
          </a:prstGeom>
          <a:solidFill>
            <a:srgbClr val="FAF8F3"/>
          </a:solidFill>
          <a:ln/>
        </p:spPr>
      </p:sp>
      <p:sp>
        <p:nvSpPr>
          <p:cNvPr id="20" name="Text 18"/>
          <p:cNvSpPr/>
          <p:nvPr/>
        </p:nvSpPr>
        <p:spPr>
          <a:xfrm>
            <a:off x="685800" y="3566160"/>
            <a:ext cx="3931920" cy="658368"/>
          </a:xfrm>
          <a:prstGeom prst="rect">
            <a:avLst/>
          </a:prstGeom>
          <a:noFill/>
          <a:ln/>
        </p:spPr>
        <p:txBody>
          <a:bodyPr wrap="square" rtlCol="0" anchor="ctr"/>
          <a:lstStyle/>
          <a:p>
            <a:pPr rtl="1" algn="r" indent="0" marL="0">
              <a:buNone/>
            </a:pPr>
            <a:r>
              <a:rPr lang="en-US" sz="1200" b="1" i="1" dirty="0">
                <a:solidFill>
                  <a:srgbClr val="0A1628"/>
                </a:solidFill>
                <a:latin typeface="Georgia" pitchFamily="34" charset="0"/>
                <a:ea typeface="Georgia" pitchFamily="34" charset="-122"/>
                <a:cs typeface="Georgia" pitchFamily="34" charset="-120"/>
              </a:rPr>
              <a:t>"ماذا لو تعطّلت المنصة أثناء يوم مناقصة كبرى؟"</a:t>
            </a:r>
            <a:endParaRPr lang="en-US" sz="1200" dirty="0"/>
          </a:p>
        </p:txBody>
      </p:sp>
      <p:sp>
        <p:nvSpPr>
          <p:cNvPr id="21" name="Text 19"/>
          <p:cNvSpPr/>
          <p:nvPr/>
        </p:nvSpPr>
        <p:spPr>
          <a:xfrm>
            <a:off x="4754880" y="3611880"/>
            <a:ext cx="6751015" cy="566928"/>
          </a:xfrm>
          <a:prstGeom prst="rect">
            <a:avLst/>
          </a:prstGeom>
          <a:noFill/>
          <a:ln/>
        </p:spPr>
        <p:txBody>
          <a:bodyPr wrap="square" rtlCol="0" anchor="ctr"/>
          <a:lstStyle/>
          <a:p>
            <a:pPr rtl="1" algn="r" indent="0" marL="0">
              <a:buNone/>
            </a:pPr>
            <a:r>
              <a:rPr lang="en-US" sz="1050" dirty="0">
                <a:solidFill>
                  <a:srgbClr val="1A1A1A"/>
                </a:solidFill>
                <a:latin typeface="Calibri" pitchFamily="34" charset="0"/>
                <a:ea typeface="Calibri" pitchFamily="34" charset="-122"/>
                <a:cs typeface="Calibri" pitchFamily="34" charset="-120"/>
              </a:rPr>
              <a:t>SLA 99.9% · مراقبة 24/7 · تنبيه للـ CEO ديلكس فوراً · خط ساخن للعميل · تعويض مالي موثّق · سجل شفاف في Status Page</a:t>
            </a:r>
            <a:endParaRPr lang="en-US" sz="1050" dirty="0"/>
          </a:p>
        </p:txBody>
      </p:sp>
      <p:sp>
        <p:nvSpPr>
          <p:cNvPr id="22" name="Shape 20"/>
          <p:cNvSpPr/>
          <p:nvPr/>
        </p:nvSpPr>
        <p:spPr>
          <a:xfrm>
            <a:off x="4663440" y="3566160"/>
            <a:ext cx="27432" cy="658368"/>
          </a:xfrm>
          <a:prstGeom prst="rect">
            <a:avLst/>
          </a:prstGeom>
          <a:solidFill>
            <a:srgbClr val="D4A574"/>
          </a:solidFill>
          <a:ln/>
        </p:spPr>
      </p:sp>
      <p:sp>
        <p:nvSpPr>
          <p:cNvPr id="23" name="Shape 21"/>
          <p:cNvSpPr/>
          <p:nvPr/>
        </p:nvSpPr>
        <p:spPr>
          <a:xfrm>
            <a:off x="548640" y="4251960"/>
            <a:ext cx="11094415" cy="658368"/>
          </a:xfrm>
          <a:prstGeom prst="rect">
            <a:avLst/>
          </a:prstGeom>
          <a:solidFill>
            <a:srgbClr val="FFFFFF"/>
          </a:solidFill>
          <a:ln w="12700">
            <a:solidFill>
              <a:srgbClr val="E8E3D6"/>
            </a:solidFill>
            <a:prstDash val="solid"/>
          </a:ln>
        </p:spPr>
      </p:sp>
      <p:sp>
        <p:nvSpPr>
          <p:cNvPr id="24" name="Shape 22"/>
          <p:cNvSpPr/>
          <p:nvPr/>
        </p:nvSpPr>
        <p:spPr>
          <a:xfrm>
            <a:off x="548640" y="4251960"/>
            <a:ext cx="4114800" cy="658368"/>
          </a:xfrm>
          <a:prstGeom prst="rect">
            <a:avLst/>
          </a:prstGeom>
          <a:solidFill>
            <a:srgbClr val="FAF8F3"/>
          </a:solidFill>
          <a:ln/>
        </p:spPr>
      </p:sp>
      <p:sp>
        <p:nvSpPr>
          <p:cNvPr id="25" name="Text 23"/>
          <p:cNvSpPr/>
          <p:nvPr/>
        </p:nvSpPr>
        <p:spPr>
          <a:xfrm>
            <a:off x="685800" y="4251960"/>
            <a:ext cx="3931920" cy="658368"/>
          </a:xfrm>
          <a:prstGeom prst="rect">
            <a:avLst/>
          </a:prstGeom>
          <a:noFill/>
          <a:ln/>
        </p:spPr>
        <p:txBody>
          <a:bodyPr wrap="square" rtlCol="0" anchor="ctr"/>
          <a:lstStyle/>
          <a:p>
            <a:pPr rtl="1" algn="r" indent="0" marL="0">
              <a:buNone/>
            </a:pPr>
            <a:r>
              <a:rPr lang="en-US" sz="1200" b="1" i="1" dirty="0">
                <a:solidFill>
                  <a:srgbClr val="0A1628"/>
                </a:solidFill>
                <a:latin typeface="Georgia" pitchFamily="34" charset="0"/>
                <a:ea typeface="Georgia" pitchFamily="34" charset="-122"/>
                <a:cs typeface="Georgia" pitchFamily="34" charset="-120"/>
              </a:rPr>
              <a:t>"ماذا عن الاعتماد على مورد واحد؟"</a:t>
            </a:r>
            <a:endParaRPr lang="en-US" sz="1200" dirty="0"/>
          </a:p>
        </p:txBody>
      </p:sp>
      <p:sp>
        <p:nvSpPr>
          <p:cNvPr id="26" name="Text 24"/>
          <p:cNvSpPr/>
          <p:nvPr/>
        </p:nvSpPr>
        <p:spPr>
          <a:xfrm>
            <a:off x="4754880" y="4297680"/>
            <a:ext cx="6751015" cy="566928"/>
          </a:xfrm>
          <a:prstGeom prst="rect">
            <a:avLst/>
          </a:prstGeom>
          <a:noFill/>
          <a:ln/>
        </p:spPr>
        <p:txBody>
          <a:bodyPr wrap="square" rtlCol="0" anchor="ctr"/>
          <a:lstStyle/>
          <a:p>
            <a:pPr rtl="1" algn="r" indent="0" marL="0">
              <a:buNone/>
            </a:pPr>
            <a:r>
              <a:rPr lang="en-US" sz="1050" dirty="0">
                <a:solidFill>
                  <a:srgbClr val="1A1A1A"/>
                </a:solidFill>
                <a:latin typeface="Calibri" pitchFamily="34" charset="0"/>
                <a:ea typeface="Calibri" pitchFamily="34" charset="-122"/>
                <a:cs typeface="Calibri" pitchFamily="34" charset="-120"/>
              </a:rPr>
              <a:t>Export API مفتوح · بياناتكم قابلة للتصدير في أي وقت · معايير صناعة مفتوحة · لا Vendor Lock-in مصطنع</a:t>
            </a:r>
            <a:endParaRPr lang="en-US" sz="1050" dirty="0"/>
          </a:p>
        </p:txBody>
      </p:sp>
      <p:sp>
        <p:nvSpPr>
          <p:cNvPr id="27" name="Shape 25"/>
          <p:cNvSpPr/>
          <p:nvPr/>
        </p:nvSpPr>
        <p:spPr>
          <a:xfrm>
            <a:off x="4663440" y="4251960"/>
            <a:ext cx="27432" cy="658368"/>
          </a:xfrm>
          <a:prstGeom prst="rect">
            <a:avLst/>
          </a:prstGeom>
          <a:solidFill>
            <a:srgbClr val="D4A574"/>
          </a:solidFill>
          <a:ln/>
        </p:spPr>
      </p:sp>
      <p:sp>
        <p:nvSpPr>
          <p:cNvPr id="28" name="Shape 26"/>
          <p:cNvSpPr/>
          <p:nvPr/>
        </p:nvSpPr>
        <p:spPr>
          <a:xfrm>
            <a:off x="548640" y="4937760"/>
            <a:ext cx="11094415" cy="658368"/>
          </a:xfrm>
          <a:prstGeom prst="rect">
            <a:avLst/>
          </a:prstGeom>
          <a:solidFill>
            <a:srgbClr val="FFFFFF"/>
          </a:solidFill>
          <a:ln w="12700">
            <a:solidFill>
              <a:srgbClr val="E8E3D6"/>
            </a:solidFill>
            <a:prstDash val="solid"/>
          </a:ln>
        </p:spPr>
      </p:sp>
      <p:sp>
        <p:nvSpPr>
          <p:cNvPr id="29" name="Shape 27"/>
          <p:cNvSpPr/>
          <p:nvPr/>
        </p:nvSpPr>
        <p:spPr>
          <a:xfrm>
            <a:off x="548640" y="4937760"/>
            <a:ext cx="4114800" cy="658368"/>
          </a:xfrm>
          <a:prstGeom prst="rect">
            <a:avLst/>
          </a:prstGeom>
          <a:solidFill>
            <a:srgbClr val="FAF8F3"/>
          </a:solidFill>
          <a:ln/>
        </p:spPr>
      </p:sp>
      <p:sp>
        <p:nvSpPr>
          <p:cNvPr id="30" name="Text 28"/>
          <p:cNvSpPr/>
          <p:nvPr/>
        </p:nvSpPr>
        <p:spPr>
          <a:xfrm>
            <a:off x="685800" y="4937760"/>
            <a:ext cx="3931920" cy="658368"/>
          </a:xfrm>
          <a:prstGeom prst="rect">
            <a:avLst/>
          </a:prstGeom>
          <a:noFill/>
          <a:ln/>
        </p:spPr>
        <p:txBody>
          <a:bodyPr wrap="square" rtlCol="0" anchor="ctr"/>
          <a:lstStyle/>
          <a:p>
            <a:pPr rtl="1" algn="r" indent="0" marL="0">
              <a:buNone/>
            </a:pPr>
            <a:r>
              <a:rPr lang="en-US" sz="1200" b="1" i="1" dirty="0">
                <a:solidFill>
                  <a:srgbClr val="0A1628"/>
                </a:solidFill>
                <a:latin typeface="Georgia" pitchFamily="34" charset="0"/>
                <a:ea typeface="Georgia" pitchFamily="34" charset="-122"/>
                <a:cs typeface="Georgia" pitchFamily="34" charset="-120"/>
              </a:rPr>
              <a:t>"ماذا لو غيّرت القيادة رأيها بعد 6 أشهر؟"</a:t>
            </a:r>
            <a:endParaRPr lang="en-US" sz="1200" dirty="0"/>
          </a:p>
        </p:txBody>
      </p:sp>
      <p:sp>
        <p:nvSpPr>
          <p:cNvPr id="31" name="Text 29"/>
          <p:cNvSpPr/>
          <p:nvPr/>
        </p:nvSpPr>
        <p:spPr>
          <a:xfrm>
            <a:off x="4754880" y="4983480"/>
            <a:ext cx="6751015" cy="566928"/>
          </a:xfrm>
          <a:prstGeom prst="rect">
            <a:avLst/>
          </a:prstGeom>
          <a:noFill/>
          <a:ln/>
        </p:spPr>
        <p:txBody>
          <a:bodyPr wrap="square" rtlCol="0" anchor="ctr"/>
          <a:lstStyle/>
          <a:p>
            <a:pPr rtl="1" algn="r" indent="0" marL="0">
              <a:buNone/>
            </a:pPr>
            <a:r>
              <a:rPr lang="en-US" sz="1050" dirty="0">
                <a:solidFill>
                  <a:srgbClr val="1A1A1A"/>
                </a:solidFill>
                <a:latin typeface="Calibri" pitchFamily="34" charset="0"/>
                <a:ea typeface="Calibri" pitchFamily="34" charset="-122"/>
                <a:cs typeface="Calibri" pitchFamily="34" charset="-120"/>
              </a:rPr>
              <a:t>عقود قابلة للإلغاء كل 3 شهور بعد السنة الأولى · خطة Offboarding موثّقة · تصدير كامل للبيانات · انتقال منظّم بدون صدمة</a:t>
            </a:r>
            <a:endParaRPr lang="en-US" sz="1050" dirty="0"/>
          </a:p>
        </p:txBody>
      </p:sp>
      <p:sp>
        <p:nvSpPr>
          <p:cNvPr id="32" name="Shape 30"/>
          <p:cNvSpPr/>
          <p:nvPr/>
        </p:nvSpPr>
        <p:spPr>
          <a:xfrm>
            <a:off x="4663440" y="4937760"/>
            <a:ext cx="27432" cy="658368"/>
          </a:xfrm>
          <a:prstGeom prst="rect">
            <a:avLst/>
          </a:prstGeom>
          <a:solidFill>
            <a:srgbClr val="D4A574"/>
          </a:solidFill>
          <a:ln/>
        </p:spPr>
      </p:sp>
      <p:sp>
        <p:nvSpPr>
          <p:cNvPr id="33" name="Shape 31"/>
          <p:cNvSpPr/>
          <p:nvPr/>
        </p:nvSpPr>
        <p:spPr>
          <a:xfrm>
            <a:off x="548640" y="5623560"/>
            <a:ext cx="11094415" cy="658368"/>
          </a:xfrm>
          <a:prstGeom prst="rect">
            <a:avLst/>
          </a:prstGeom>
          <a:solidFill>
            <a:srgbClr val="FFFFFF"/>
          </a:solidFill>
          <a:ln w="12700">
            <a:solidFill>
              <a:srgbClr val="E8E3D6"/>
            </a:solidFill>
            <a:prstDash val="solid"/>
          </a:ln>
        </p:spPr>
      </p:sp>
      <p:sp>
        <p:nvSpPr>
          <p:cNvPr id="34" name="Shape 32"/>
          <p:cNvSpPr/>
          <p:nvPr/>
        </p:nvSpPr>
        <p:spPr>
          <a:xfrm>
            <a:off x="548640" y="5623560"/>
            <a:ext cx="4114800" cy="658368"/>
          </a:xfrm>
          <a:prstGeom prst="rect">
            <a:avLst/>
          </a:prstGeom>
          <a:solidFill>
            <a:srgbClr val="FAF8F3"/>
          </a:solidFill>
          <a:ln/>
        </p:spPr>
      </p:sp>
      <p:sp>
        <p:nvSpPr>
          <p:cNvPr id="35" name="Text 33"/>
          <p:cNvSpPr/>
          <p:nvPr/>
        </p:nvSpPr>
        <p:spPr>
          <a:xfrm>
            <a:off x="685800" y="5623560"/>
            <a:ext cx="3931920" cy="658368"/>
          </a:xfrm>
          <a:prstGeom prst="rect">
            <a:avLst/>
          </a:prstGeom>
          <a:noFill/>
          <a:ln/>
        </p:spPr>
        <p:txBody>
          <a:bodyPr wrap="square" rtlCol="0" anchor="ctr"/>
          <a:lstStyle/>
          <a:p>
            <a:pPr rtl="1" algn="r" indent="0" marL="0">
              <a:buNone/>
            </a:pPr>
            <a:r>
              <a:rPr lang="en-US" sz="1200" b="1" i="1" dirty="0">
                <a:solidFill>
                  <a:srgbClr val="0A1628"/>
                </a:solidFill>
                <a:latin typeface="Georgia" pitchFamily="34" charset="0"/>
                <a:ea typeface="Georgia" pitchFamily="34" charset="-122"/>
                <a:cs typeface="Georgia" pitchFamily="34" charset="-120"/>
              </a:rPr>
              <a:t>"هل ديلكس شركة قادرة على دعم عملاق مثلنا؟"</a:t>
            </a:r>
            <a:endParaRPr lang="en-US" sz="1200" dirty="0"/>
          </a:p>
        </p:txBody>
      </p:sp>
      <p:sp>
        <p:nvSpPr>
          <p:cNvPr id="36" name="Text 34"/>
          <p:cNvSpPr/>
          <p:nvPr/>
        </p:nvSpPr>
        <p:spPr>
          <a:xfrm>
            <a:off x="4754880" y="5669280"/>
            <a:ext cx="6751015" cy="566928"/>
          </a:xfrm>
          <a:prstGeom prst="rect">
            <a:avLst/>
          </a:prstGeom>
          <a:noFill/>
          <a:ln/>
        </p:spPr>
        <p:txBody>
          <a:bodyPr wrap="square" rtlCol="0" anchor="ctr"/>
          <a:lstStyle/>
          <a:p>
            <a:pPr rtl="1" algn="r" indent="0" marL="0">
              <a:buNone/>
            </a:pPr>
            <a:r>
              <a:rPr lang="en-US" sz="1050" dirty="0">
                <a:solidFill>
                  <a:srgbClr val="1A1A1A"/>
                </a:solidFill>
                <a:latin typeface="Calibri" pitchFamily="34" charset="0"/>
                <a:ea typeface="Calibri" pitchFamily="34" charset="-122"/>
                <a:cs typeface="Calibri" pitchFamily="34" charset="-120"/>
              </a:rPr>
              <a:t>ضمانات مالية · Executive Sponsor مباشر · شراكة تقنية مع Microsoft و AWS و Meta · مستشارون استراتيجيون من القطاع · نمو منظّم وقابل للإثبات</a:t>
            </a:r>
            <a:endParaRPr lang="en-US" sz="1050" dirty="0"/>
          </a:p>
        </p:txBody>
      </p:sp>
      <p:sp>
        <p:nvSpPr>
          <p:cNvPr id="37" name="Shape 35"/>
          <p:cNvSpPr/>
          <p:nvPr/>
        </p:nvSpPr>
        <p:spPr>
          <a:xfrm>
            <a:off x="4663440" y="5623560"/>
            <a:ext cx="27432" cy="658368"/>
          </a:xfrm>
          <a:prstGeom prst="rect">
            <a:avLst/>
          </a:prstGeom>
          <a:solidFill>
            <a:srgbClr val="D4A574"/>
          </a:solidFill>
          <a:ln/>
        </p:spPr>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11734495" y="320040"/>
            <a:ext cx="73152" cy="411480"/>
          </a:xfrm>
          <a:prstGeom prst="rect">
            <a:avLst/>
          </a:prstGeom>
          <a:solidFill>
            <a:srgbClr val="D4A574"/>
          </a:solidFill>
          <a:ln/>
        </p:spPr>
      </p:sp>
      <p:sp>
        <p:nvSpPr>
          <p:cNvPr id="3" name="Text 1"/>
          <p:cNvSpPr/>
          <p:nvPr/>
        </p:nvSpPr>
        <p:spPr>
          <a:xfrm>
            <a:off x="8076895" y="274320"/>
            <a:ext cx="3566160" cy="365760"/>
          </a:xfrm>
          <a:prstGeom prst="rect">
            <a:avLst/>
          </a:prstGeom>
          <a:noFill/>
          <a:ln/>
        </p:spPr>
        <p:txBody>
          <a:bodyPr wrap="square" rtlCol="0" anchor="ctr"/>
          <a:lstStyle/>
          <a:p>
            <a:pPr rtl="1" algn="r" indent="0" marL="0">
              <a:buNone/>
            </a:pPr>
            <a:r>
              <a:rPr lang="en-US" sz="1200" b="1" dirty="0">
                <a:solidFill>
                  <a:srgbClr val="D4A574"/>
                </a:solidFill>
                <a:latin typeface="Calibri" pitchFamily="34" charset="0"/>
                <a:ea typeface="Calibri" pitchFamily="34" charset="-122"/>
                <a:cs typeface="Calibri" pitchFamily="34" charset="-120"/>
              </a:rPr>
              <a:t>الخطوات القادمة</a:t>
            </a:r>
            <a:endParaRPr lang="en-US" sz="1200" dirty="0"/>
          </a:p>
        </p:txBody>
      </p:sp>
      <p:sp>
        <p:nvSpPr>
          <p:cNvPr id="4" name="Text 2"/>
          <p:cNvSpPr/>
          <p:nvPr/>
        </p:nvSpPr>
        <p:spPr>
          <a:xfrm>
            <a:off x="457200" y="6446520"/>
            <a:ext cx="2286000" cy="274320"/>
          </a:xfrm>
          <a:prstGeom prst="rect">
            <a:avLst/>
          </a:prstGeom>
          <a:noFill/>
          <a:ln/>
        </p:spPr>
        <p:txBody>
          <a:bodyPr wrap="square" rtlCol="0" anchor="ctr"/>
          <a:lstStyle/>
          <a:p>
            <a:pPr algn="l" indent="0" marL="0">
              <a:buNone/>
            </a:pPr>
            <a:r>
              <a:rPr lang="en-US" sz="900" dirty="0">
                <a:solidFill>
                  <a:srgbClr val="B9C2CD"/>
                </a:solidFill>
                <a:latin typeface="Calibri" pitchFamily="34" charset="0"/>
                <a:ea typeface="Calibri" pitchFamily="34" charset="-122"/>
                <a:cs typeface="Calibri" pitchFamily="34" charset="-120"/>
              </a:rPr>
              <a:t>Dealix · ديلكس</a:t>
            </a:r>
            <a:endParaRPr lang="en-US" sz="900" dirty="0"/>
          </a:p>
        </p:txBody>
      </p:sp>
      <p:sp>
        <p:nvSpPr>
          <p:cNvPr id="5" name="Text 3"/>
          <p:cNvSpPr/>
          <p:nvPr/>
        </p:nvSpPr>
        <p:spPr>
          <a:xfrm>
            <a:off x="11094415" y="6446520"/>
            <a:ext cx="640080" cy="274320"/>
          </a:xfrm>
          <a:prstGeom prst="rect">
            <a:avLst/>
          </a:prstGeom>
          <a:noFill/>
          <a:ln/>
        </p:spPr>
        <p:txBody>
          <a:bodyPr wrap="square" rtlCol="0" anchor="ctr"/>
          <a:lstStyle/>
          <a:p>
            <a:pPr algn="r" indent="0" marL="0">
              <a:buNone/>
            </a:pPr>
            <a:r>
              <a:rPr lang="en-US" sz="900" b="1" dirty="0">
                <a:solidFill>
                  <a:srgbClr val="B9C2CD"/>
                </a:solidFill>
                <a:latin typeface="Calibri" pitchFamily="34" charset="0"/>
                <a:ea typeface="Calibri" pitchFamily="34" charset="-122"/>
                <a:cs typeface="Calibri" pitchFamily="34" charset="-120"/>
              </a:rPr>
              <a:t>39</a:t>
            </a:r>
            <a:endParaRPr lang="en-US" sz="900" dirty="0"/>
          </a:p>
        </p:txBody>
      </p:sp>
      <p:sp>
        <p:nvSpPr>
          <p:cNvPr id="6" name="Text 4"/>
          <p:cNvSpPr/>
          <p:nvPr/>
        </p:nvSpPr>
        <p:spPr>
          <a:xfrm>
            <a:off x="548640" y="914400"/>
            <a:ext cx="11094415" cy="822960"/>
          </a:xfrm>
          <a:prstGeom prst="rect">
            <a:avLst/>
          </a:prstGeom>
          <a:noFill/>
          <a:ln/>
        </p:spPr>
        <p:txBody>
          <a:bodyPr wrap="square" rtlCol="0" anchor="ctr"/>
          <a:lstStyle/>
          <a:p>
            <a:pPr rtl="1" algn="r" indent="0" marL="0">
              <a:buNone/>
            </a:pPr>
            <a:r>
              <a:rPr lang="en-US" sz="3400" b="1" dirty="0">
                <a:solidFill>
                  <a:srgbClr val="F5F5F5"/>
                </a:solidFill>
                <a:latin typeface="Calibri" pitchFamily="34" charset="0"/>
                <a:ea typeface="Calibri" pitchFamily="34" charset="-122"/>
                <a:cs typeface="Calibri" pitchFamily="34" charset="-120"/>
              </a:rPr>
              <a:t>الخطوات القادمة</a:t>
            </a:r>
            <a:endParaRPr lang="en-US" sz="3400" dirty="0"/>
          </a:p>
        </p:txBody>
      </p:sp>
      <p:sp>
        <p:nvSpPr>
          <p:cNvPr id="7" name="Text 5"/>
          <p:cNvSpPr/>
          <p:nvPr/>
        </p:nvSpPr>
        <p:spPr>
          <a:xfrm>
            <a:off x="548640" y="1691640"/>
            <a:ext cx="11094415" cy="411480"/>
          </a:xfrm>
          <a:prstGeom prst="rect">
            <a:avLst/>
          </a:prstGeom>
          <a:noFill/>
          <a:ln/>
        </p:spPr>
        <p:txBody>
          <a:bodyPr wrap="square" rtlCol="0" anchor="ctr"/>
          <a:lstStyle/>
          <a:p>
            <a:pPr rtl="1" algn="r" indent="0" marL="0">
              <a:buNone/>
            </a:pPr>
            <a:r>
              <a:rPr lang="en-US" sz="1500" dirty="0">
                <a:solidFill>
                  <a:srgbClr val="B9C2CD"/>
                </a:solidFill>
                <a:latin typeface="Calibri" pitchFamily="34" charset="0"/>
                <a:ea typeface="Calibri" pitchFamily="34" charset="-122"/>
                <a:cs typeface="Calibri" pitchFamily="34" charset="-120"/>
              </a:rPr>
              <a:t>مسار التوقيع — من هذا الاجتماع إلى انطلاق التشغيل في 6 أسابيع</a:t>
            </a:r>
            <a:endParaRPr lang="en-US" sz="1500" dirty="0"/>
          </a:p>
        </p:txBody>
      </p:sp>
      <p:sp>
        <p:nvSpPr>
          <p:cNvPr id="8" name="Shape 6"/>
          <p:cNvSpPr/>
          <p:nvPr/>
        </p:nvSpPr>
        <p:spPr>
          <a:xfrm>
            <a:off x="2103120" y="2468880"/>
            <a:ext cx="0" cy="3703320"/>
          </a:xfrm>
          <a:prstGeom prst="line">
            <a:avLst/>
          </a:prstGeom>
          <a:noFill/>
          <a:ln w="38100">
            <a:solidFill>
              <a:srgbClr val="D4A574"/>
            </a:solidFill>
            <a:prstDash val="solid"/>
          </a:ln>
        </p:spPr>
      </p:sp>
      <p:sp>
        <p:nvSpPr>
          <p:cNvPr id="9" name="Shape 7"/>
          <p:cNvSpPr/>
          <p:nvPr/>
        </p:nvSpPr>
        <p:spPr>
          <a:xfrm>
            <a:off x="1828800" y="2560320"/>
            <a:ext cx="548640" cy="548640"/>
          </a:xfrm>
          <a:prstGeom prst="ellipse">
            <a:avLst/>
          </a:prstGeom>
          <a:solidFill>
            <a:srgbClr val="0A1628"/>
          </a:solidFill>
          <a:ln w="25400">
            <a:solidFill>
              <a:srgbClr val="D4A574"/>
            </a:solidFill>
            <a:prstDash val="solid"/>
          </a:ln>
        </p:spPr>
      </p:sp>
      <p:sp>
        <p:nvSpPr>
          <p:cNvPr id="10" name="Text 8"/>
          <p:cNvSpPr/>
          <p:nvPr/>
        </p:nvSpPr>
        <p:spPr>
          <a:xfrm>
            <a:off x="1828800" y="2560320"/>
            <a:ext cx="548640" cy="548640"/>
          </a:xfrm>
          <a:prstGeom prst="rect">
            <a:avLst/>
          </a:prstGeom>
          <a:noFill/>
          <a:ln/>
        </p:spPr>
        <p:txBody>
          <a:bodyPr wrap="square" rtlCol="0" anchor="ctr"/>
          <a:lstStyle/>
          <a:p>
            <a:pPr algn="ctr" indent="0" marL="0">
              <a:buNone/>
            </a:pPr>
            <a:r>
              <a:rPr lang="en-US" sz="2000" b="1" dirty="0">
                <a:solidFill>
                  <a:srgbClr val="D4A574"/>
                </a:solidFill>
                <a:latin typeface="Calibri" pitchFamily="34" charset="0"/>
                <a:ea typeface="Calibri" pitchFamily="34" charset="-122"/>
                <a:cs typeface="Calibri" pitchFamily="34" charset="-120"/>
              </a:rPr>
              <a:t>1</a:t>
            </a:r>
            <a:endParaRPr lang="en-US" sz="2000" dirty="0"/>
          </a:p>
        </p:txBody>
      </p:sp>
      <p:sp>
        <p:nvSpPr>
          <p:cNvPr id="11" name="Text 9"/>
          <p:cNvSpPr/>
          <p:nvPr/>
        </p:nvSpPr>
        <p:spPr>
          <a:xfrm>
            <a:off x="2606040" y="2514600"/>
            <a:ext cx="2011680" cy="274320"/>
          </a:xfrm>
          <a:prstGeom prst="rect">
            <a:avLst/>
          </a:prstGeom>
          <a:noFill/>
          <a:ln/>
        </p:spPr>
        <p:txBody>
          <a:bodyPr wrap="square" rtlCol="0" anchor="ctr"/>
          <a:lstStyle/>
          <a:p>
            <a:pPr algn="l" indent="0" marL="0">
              <a:buNone/>
            </a:pPr>
            <a:r>
              <a:rPr lang="en-US" sz="1000" b="1" dirty="0">
                <a:solidFill>
                  <a:srgbClr val="D4A574"/>
                </a:solidFill>
                <a:latin typeface="Calibri" pitchFamily="34" charset="0"/>
                <a:ea typeface="Calibri" pitchFamily="34" charset="-122"/>
                <a:cs typeface="Calibri" pitchFamily="34" charset="-120"/>
              </a:rPr>
              <a:t>هذا الأسبوع</a:t>
            </a:r>
            <a:endParaRPr lang="en-US" sz="1000" dirty="0"/>
          </a:p>
        </p:txBody>
      </p:sp>
      <p:sp>
        <p:nvSpPr>
          <p:cNvPr id="12" name="Text 10"/>
          <p:cNvSpPr/>
          <p:nvPr/>
        </p:nvSpPr>
        <p:spPr>
          <a:xfrm>
            <a:off x="2606040" y="2743200"/>
            <a:ext cx="8991295" cy="320040"/>
          </a:xfrm>
          <a:prstGeom prst="rect">
            <a:avLst/>
          </a:prstGeom>
          <a:noFill/>
          <a:ln/>
        </p:spPr>
        <p:txBody>
          <a:bodyPr wrap="square" rtlCol="0" anchor="ctr"/>
          <a:lstStyle/>
          <a:p>
            <a:pPr rtl="1" algn="r" indent="0" marL="0">
              <a:buNone/>
            </a:pPr>
            <a:r>
              <a:rPr lang="en-US" sz="1600" b="1" dirty="0">
                <a:solidFill>
                  <a:srgbClr val="F5F5F5"/>
                </a:solidFill>
                <a:latin typeface="Calibri" pitchFamily="34" charset="0"/>
                <a:ea typeface="Calibri" pitchFamily="34" charset="-122"/>
                <a:cs typeface="Calibri" pitchFamily="34" charset="-120"/>
              </a:rPr>
              <a:t>اجتماع تنفيذي استراتيجي</a:t>
            </a:r>
            <a:endParaRPr lang="en-US" sz="1600" dirty="0"/>
          </a:p>
        </p:txBody>
      </p:sp>
      <p:sp>
        <p:nvSpPr>
          <p:cNvPr id="13" name="Text 11"/>
          <p:cNvSpPr/>
          <p:nvPr/>
        </p:nvSpPr>
        <p:spPr>
          <a:xfrm>
            <a:off x="2606040" y="3063240"/>
            <a:ext cx="8991295" cy="320040"/>
          </a:xfrm>
          <a:prstGeom prst="rect">
            <a:avLst/>
          </a:prstGeom>
          <a:noFill/>
          <a:ln/>
        </p:spPr>
        <p:txBody>
          <a:bodyPr wrap="square" rtlCol="0" anchor="ctr"/>
          <a:lstStyle/>
          <a:p>
            <a:pPr rtl="1" algn="r" indent="0" marL="0">
              <a:buNone/>
            </a:pPr>
            <a:r>
              <a:rPr lang="en-US" sz="1100" dirty="0">
                <a:solidFill>
                  <a:srgbClr val="B9C2CD"/>
                </a:solidFill>
                <a:latin typeface="Calibri" pitchFamily="34" charset="0"/>
                <a:ea typeface="Calibri" pitchFamily="34" charset="-122"/>
                <a:cs typeface="Calibri" pitchFamily="34" charset="-120"/>
              </a:rPr>
              <a:t>جلسة 90 دقيقة مع CEO · CCO · CIO — تأكيد المتطلبات · اختيار الباكج · اختيار Pilot Scope</a:t>
            </a:r>
            <a:endParaRPr lang="en-US" sz="1100" dirty="0"/>
          </a:p>
        </p:txBody>
      </p:sp>
      <p:sp>
        <p:nvSpPr>
          <p:cNvPr id="14" name="Shape 12"/>
          <p:cNvSpPr/>
          <p:nvPr/>
        </p:nvSpPr>
        <p:spPr>
          <a:xfrm>
            <a:off x="1828800" y="3246120"/>
            <a:ext cx="548640" cy="548640"/>
          </a:xfrm>
          <a:prstGeom prst="ellipse">
            <a:avLst/>
          </a:prstGeom>
          <a:solidFill>
            <a:srgbClr val="0A1628"/>
          </a:solidFill>
          <a:ln w="25400">
            <a:solidFill>
              <a:srgbClr val="D4A574"/>
            </a:solidFill>
            <a:prstDash val="solid"/>
          </a:ln>
        </p:spPr>
      </p:sp>
      <p:sp>
        <p:nvSpPr>
          <p:cNvPr id="15" name="Text 13"/>
          <p:cNvSpPr/>
          <p:nvPr/>
        </p:nvSpPr>
        <p:spPr>
          <a:xfrm>
            <a:off x="1828800" y="3246120"/>
            <a:ext cx="548640" cy="548640"/>
          </a:xfrm>
          <a:prstGeom prst="rect">
            <a:avLst/>
          </a:prstGeom>
          <a:noFill/>
          <a:ln/>
        </p:spPr>
        <p:txBody>
          <a:bodyPr wrap="square" rtlCol="0" anchor="ctr"/>
          <a:lstStyle/>
          <a:p>
            <a:pPr algn="ctr" indent="0" marL="0">
              <a:buNone/>
            </a:pPr>
            <a:r>
              <a:rPr lang="en-US" sz="2000" b="1" dirty="0">
                <a:solidFill>
                  <a:srgbClr val="D4A574"/>
                </a:solidFill>
                <a:latin typeface="Calibri" pitchFamily="34" charset="0"/>
                <a:ea typeface="Calibri" pitchFamily="34" charset="-122"/>
                <a:cs typeface="Calibri" pitchFamily="34" charset="-120"/>
              </a:rPr>
              <a:t>2</a:t>
            </a:r>
            <a:endParaRPr lang="en-US" sz="2000" dirty="0"/>
          </a:p>
        </p:txBody>
      </p:sp>
      <p:sp>
        <p:nvSpPr>
          <p:cNvPr id="16" name="Text 14"/>
          <p:cNvSpPr/>
          <p:nvPr/>
        </p:nvSpPr>
        <p:spPr>
          <a:xfrm>
            <a:off x="2606040" y="3200400"/>
            <a:ext cx="2011680" cy="274320"/>
          </a:xfrm>
          <a:prstGeom prst="rect">
            <a:avLst/>
          </a:prstGeom>
          <a:noFill/>
          <a:ln/>
        </p:spPr>
        <p:txBody>
          <a:bodyPr wrap="square" rtlCol="0" anchor="ctr"/>
          <a:lstStyle/>
          <a:p>
            <a:pPr algn="l" indent="0" marL="0">
              <a:buNone/>
            </a:pPr>
            <a:r>
              <a:rPr lang="en-US" sz="1000" b="1" dirty="0">
                <a:solidFill>
                  <a:srgbClr val="D4A574"/>
                </a:solidFill>
                <a:latin typeface="Calibri" pitchFamily="34" charset="0"/>
                <a:ea typeface="Calibri" pitchFamily="34" charset="-122"/>
                <a:cs typeface="Calibri" pitchFamily="34" charset="-120"/>
              </a:rPr>
              <a:t>الأسبوع القادم</a:t>
            </a:r>
            <a:endParaRPr lang="en-US" sz="1000" dirty="0"/>
          </a:p>
        </p:txBody>
      </p:sp>
      <p:sp>
        <p:nvSpPr>
          <p:cNvPr id="17" name="Text 15"/>
          <p:cNvSpPr/>
          <p:nvPr/>
        </p:nvSpPr>
        <p:spPr>
          <a:xfrm>
            <a:off x="2606040" y="3429000"/>
            <a:ext cx="8991295" cy="320040"/>
          </a:xfrm>
          <a:prstGeom prst="rect">
            <a:avLst/>
          </a:prstGeom>
          <a:noFill/>
          <a:ln/>
        </p:spPr>
        <p:txBody>
          <a:bodyPr wrap="square" rtlCol="0" anchor="ctr"/>
          <a:lstStyle/>
          <a:p>
            <a:pPr rtl="1" algn="r" indent="0" marL="0">
              <a:buNone/>
            </a:pPr>
            <a:r>
              <a:rPr lang="en-US" sz="1600" b="1" dirty="0">
                <a:solidFill>
                  <a:srgbClr val="F5F5F5"/>
                </a:solidFill>
                <a:latin typeface="Calibri" pitchFamily="34" charset="0"/>
                <a:ea typeface="Calibri" pitchFamily="34" charset="-122"/>
                <a:cs typeface="Calibri" pitchFamily="34" charset="-120"/>
              </a:rPr>
              <a:t>Technical Deep-Dive</a:t>
            </a:r>
            <a:endParaRPr lang="en-US" sz="1600" dirty="0"/>
          </a:p>
        </p:txBody>
      </p:sp>
      <p:sp>
        <p:nvSpPr>
          <p:cNvPr id="18" name="Text 16"/>
          <p:cNvSpPr/>
          <p:nvPr/>
        </p:nvSpPr>
        <p:spPr>
          <a:xfrm>
            <a:off x="2606040" y="3749040"/>
            <a:ext cx="8991295" cy="320040"/>
          </a:xfrm>
          <a:prstGeom prst="rect">
            <a:avLst/>
          </a:prstGeom>
          <a:noFill/>
          <a:ln/>
        </p:spPr>
        <p:txBody>
          <a:bodyPr wrap="square" rtlCol="0" anchor="ctr"/>
          <a:lstStyle/>
          <a:p>
            <a:pPr rtl="1" algn="r" indent="0" marL="0">
              <a:buNone/>
            </a:pPr>
            <a:r>
              <a:rPr lang="en-US" sz="1100" dirty="0">
                <a:solidFill>
                  <a:srgbClr val="B9C2CD"/>
                </a:solidFill>
                <a:latin typeface="Calibri" pitchFamily="34" charset="0"/>
                <a:ea typeface="Calibri" pitchFamily="34" charset="-122"/>
                <a:cs typeface="Calibri" pitchFamily="34" charset="-120"/>
              </a:rPr>
              <a:t>جلسة تقنية مع الفريق · مراجعة التكاملات · عرض Sandbox حيّ · تسليم Architecture Document</a:t>
            </a:r>
            <a:endParaRPr lang="en-US" sz="1100" dirty="0"/>
          </a:p>
        </p:txBody>
      </p:sp>
      <p:sp>
        <p:nvSpPr>
          <p:cNvPr id="19" name="Shape 17"/>
          <p:cNvSpPr/>
          <p:nvPr/>
        </p:nvSpPr>
        <p:spPr>
          <a:xfrm>
            <a:off x="1828800" y="3931920"/>
            <a:ext cx="548640" cy="548640"/>
          </a:xfrm>
          <a:prstGeom prst="ellipse">
            <a:avLst/>
          </a:prstGeom>
          <a:solidFill>
            <a:srgbClr val="0A1628"/>
          </a:solidFill>
          <a:ln w="25400">
            <a:solidFill>
              <a:srgbClr val="D4A574"/>
            </a:solidFill>
            <a:prstDash val="solid"/>
          </a:ln>
        </p:spPr>
      </p:sp>
      <p:sp>
        <p:nvSpPr>
          <p:cNvPr id="20" name="Text 18"/>
          <p:cNvSpPr/>
          <p:nvPr/>
        </p:nvSpPr>
        <p:spPr>
          <a:xfrm>
            <a:off x="1828800" y="3931920"/>
            <a:ext cx="548640" cy="548640"/>
          </a:xfrm>
          <a:prstGeom prst="rect">
            <a:avLst/>
          </a:prstGeom>
          <a:noFill/>
          <a:ln/>
        </p:spPr>
        <p:txBody>
          <a:bodyPr wrap="square" rtlCol="0" anchor="ctr"/>
          <a:lstStyle/>
          <a:p>
            <a:pPr algn="ctr" indent="0" marL="0">
              <a:buNone/>
            </a:pPr>
            <a:r>
              <a:rPr lang="en-US" sz="2000" b="1" dirty="0">
                <a:solidFill>
                  <a:srgbClr val="D4A574"/>
                </a:solidFill>
                <a:latin typeface="Calibri" pitchFamily="34" charset="0"/>
                <a:ea typeface="Calibri" pitchFamily="34" charset="-122"/>
                <a:cs typeface="Calibri" pitchFamily="34" charset="-120"/>
              </a:rPr>
              <a:t>3</a:t>
            </a:r>
            <a:endParaRPr lang="en-US" sz="2000" dirty="0"/>
          </a:p>
        </p:txBody>
      </p:sp>
      <p:sp>
        <p:nvSpPr>
          <p:cNvPr id="21" name="Text 19"/>
          <p:cNvSpPr/>
          <p:nvPr/>
        </p:nvSpPr>
        <p:spPr>
          <a:xfrm>
            <a:off x="2606040" y="3886200"/>
            <a:ext cx="2011680" cy="274320"/>
          </a:xfrm>
          <a:prstGeom prst="rect">
            <a:avLst/>
          </a:prstGeom>
          <a:noFill/>
          <a:ln/>
        </p:spPr>
        <p:txBody>
          <a:bodyPr wrap="square" rtlCol="0" anchor="ctr"/>
          <a:lstStyle/>
          <a:p>
            <a:pPr algn="l" indent="0" marL="0">
              <a:buNone/>
            </a:pPr>
            <a:r>
              <a:rPr lang="en-US" sz="1000" b="1" dirty="0">
                <a:solidFill>
                  <a:srgbClr val="D4A574"/>
                </a:solidFill>
                <a:latin typeface="Calibri" pitchFamily="34" charset="0"/>
                <a:ea typeface="Calibri" pitchFamily="34" charset="-122"/>
                <a:cs typeface="Calibri" pitchFamily="34" charset="-120"/>
              </a:rPr>
              <a:t>الأسبوعان 3-4</a:t>
            </a:r>
            <a:endParaRPr lang="en-US" sz="1000" dirty="0"/>
          </a:p>
        </p:txBody>
      </p:sp>
      <p:sp>
        <p:nvSpPr>
          <p:cNvPr id="22" name="Text 20"/>
          <p:cNvSpPr/>
          <p:nvPr/>
        </p:nvSpPr>
        <p:spPr>
          <a:xfrm>
            <a:off x="2606040" y="4114800"/>
            <a:ext cx="8991295" cy="320040"/>
          </a:xfrm>
          <a:prstGeom prst="rect">
            <a:avLst/>
          </a:prstGeom>
          <a:noFill/>
          <a:ln/>
        </p:spPr>
        <p:txBody>
          <a:bodyPr wrap="square" rtlCol="0" anchor="ctr"/>
          <a:lstStyle/>
          <a:p>
            <a:pPr rtl="1" algn="r" indent="0" marL="0">
              <a:buNone/>
            </a:pPr>
            <a:r>
              <a:rPr lang="en-US" sz="1600" b="1" dirty="0">
                <a:solidFill>
                  <a:srgbClr val="F5F5F5"/>
                </a:solidFill>
                <a:latin typeface="Calibri" pitchFamily="34" charset="0"/>
                <a:ea typeface="Calibri" pitchFamily="34" charset="-122"/>
                <a:cs typeface="Calibri" pitchFamily="34" charset="-120"/>
              </a:rPr>
              <a:t>Pilot SOW + توقيع العقد</a:t>
            </a:r>
            <a:endParaRPr lang="en-US" sz="1600" dirty="0"/>
          </a:p>
        </p:txBody>
      </p:sp>
      <p:sp>
        <p:nvSpPr>
          <p:cNvPr id="23" name="Text 21"/>
          <p:cNvSpPr/>
          <p:nvPr/>
        </p:nvSpPr>
        <p:spPr>
          <a:xfrm>
            <a:off x="2606040" y="4434840"/>
            <a:ext cx="8991295" cy="320040"/>
          </a:xfrm>
          <a:prstGeom prst="rect">
            <a:avLst/>
          </a:prstGeom>
          <a:noFill/>
          <a:ln/>
        </p:spPr>
        <p:txBody>
          <a:bodyPr wrap="square" rtlCol="0" anchor="ctr"/>
          <a:lstStyle/>
          <a:p>
            <a:pPr rtl="1" algn="r" indent="0" marL="0">
              <a:buNone/>
            </a:pPr>
            <a:r>
              <a:rPr lang="en-US" sz="1100" dirty="0">
                <a:solidFill>
                  <a:srgbClr val="B9C2CD"/>
                </a:solidFill>
                <a:latin typeface="Calibri" pitchFamily="34" charset="0"/>
                <a:ea typeface="Calibri" pitchFamily="34" charset="-122"/>
                <a:cs typeface="Calibri" pitchFamily="34" charset="-120"/>
              </a:rPr>
              <a:t>وثيقة نطاق العمل · KPIs موقّعة · جدولة التطبيق · دفعة Pilot الأولى</a:t>
            </a:r>
            <a:endParaRPr lang="en-US" sz="1100" dirty="0"/>
          </a:p>
        </p:txBody>
      </p:sp>
      <p:sp>
        <p:nvSpPr>
          <p:cNvPr id="24" name="Shape 22"/>
          <p:cNvSpPr/>
          <p:nvPr/>
        </p:nvSpPr>
        <p:spPr>
          <a:xfrm>
            <a:off x="1828800" y="4617720"/>
            <a:ext cx="548640" cy="548640"/>
          </a:xfrm>
          <a:prstGeom prst="ellipse">
            <a:avLst/>
          </a:prstGeom>
          <a:solidFill>
            <a:srgbClr val="0A1628"/>
          </a:solidFill>
          <a:ln w="25400">
            <a:solidFill>
              <a:srgbClr val="D4A574"/>
            </a:solidFill>
            <a:prstDash val="solid"/>
          </a:ln>
        </p:spPr>
      </p:sp>
      <p:sp>
        <p:nvSpPr>
          <p:cNvPr id="25" name="Text 23"/>
          <p:cNvSpPr/>
          <p:nvPr/>
        </p:nvSpPr>
        <p:spPr>
          <a:xfrm>
            <a:off x="1828800" y="4617720"/>
            <a:ext cx="548640" cy="548640"/>
          </a:xfrm>
          <a:prstGeom prst="rect">
            <a:avLst/>
          </a:prstGeom>
          <a:noFill/>
          <a:ln/>
        </p:spPr>
        <p:txBody>
          <a:bodyPr wrap="square" rtlCol="0" anchor="ctr"/>
          <a:lstStyle/>
          <a:p>
            <a:pPr algn="ctr" indent="0" marL="0">
              <a:buNone/>
            </a:pPr>
            <a:r>
              <a:rPr lang="en-US" sz="2000" b="1" dirty="0">
                <a:solidFill>
                  <a:srgbClr val="D4A574"/>
                </a:solidFill>
                <a:latin typeface="Calibri" pitchFamily="34" charset="0"/>
                <a:ea typeface="Calibri" pitchFamily="34" charset="-122"/>
                <a:cs typeface="Calibri" pitchFamily="34" charset="-120"/>
              </a:rPr>
              <a:t>4</a:t>
            </a:r>
            <a:endParaRPr lang="en-US" sz="2000" dirty="0"/>
          </a:p>
        </p:txBody>
      </p:sp>
      <p:sp>
        <p:nvSpPr>
          <p:cNvPr id="26" name="Text 24"/>
          <p:cNvSpPr/>
          <p:nvPr/>
        </p:nvSpPr>
        <p:spPr>
          <a:xfrm>
            <a:off x="2606040" y="4572000"/>
            <a:ext cx="2011680" cy="274320"/>
          </a:xfrm>
          <a:prstGeom prst="rect">
            <a:avLst/>
          </a:prstGeom>
          <a:noFill/>
          <a:ln/>
        </p:spPr>
        <p:txBody>
          <a:bodyPr wrap="square" rtlCol="0" anchor="ctr"/>
          <a:lstStyle/>
          <a:p>
            <a:pPr algn="l" indent="0" marL="0">
              <a:buNone/>
            </a:pPr>
            <a:r>
              <a:rPr lang="en-US" sz="1000" b="1" dirty="0">
                <a:solidFill>
                  <a:srgbClr val="D4A574"/>
                </a:solidFill>
                <a:latin typeface="Calibri" pitchFamily="34" charset="0"/>
                <a:ea typeface="Calibri" pitchFamily="34" charset="-122"/>
                <a:cs typeface="Calibri" pitchFamily="34" charset="-120"/>
              </a:rPr>
              <a:t>الأسبوع 5</a:t>
            </a:r>
            <a:endParaRPr lang="en-US" sz="1000" dirty="0"/>
          </a:p>
        </p:txBody>
      </p:sp>
      <p:sp>
        <p:nvSpPr>
          <p:cNvPr id="27" name="Text 25"/>
          <p:cNvSpPr/>
          <p:nvPr/>
        </p:nvSpPr>
        <p:spPr>
          <a:xfrm>
            <a:off x="2606040" y="4800600"/>
            <a:ext cx="8991295" cy="320040"/>
          </a:xfrm>
          <a:prstGeom prst="rect">
            <a:avLst/>
          </a:prstGeom>
          <a:noFill/>
          <a:ln/>
        </p:spPr>
        <p:txBody>
          <a:bodyPr wrap="square" rtlCol="0" anchor="ctr"/>
          <a:lstStyle/>
          <a:p>
            <a:pPr rtl="1" algn="r" indent="0" marL="0">
              <a:buNone/>
            </a:pPr>
            <a:r>
              <a:rPr lang="en-US" sz="1600" b="1" dirty="0">
                <a:solidFill>
                  <a:srgbClr val="F5F5F5"/>
                </a:solidFill>
                <a:latin typeface="Calibri" pitchFamily="34" charset="0"/>
                <a:ea typeface="Calibri" pitchFamily="34" charset="-122"/>
                <a:cs typeface="Calibri" pitchFamily="34" charset="-120"/>
              </a:rPr>
              <a:t>Kickoff &amp; Discovery</a:t>
            </a:r>
            <a:endParaRPr lang="en-US" sz="1600" dirty="0"/>
          </a:p>
        </p:txBody>
      </p:sp>
      <p:sp>
        <p:nvSpPr>
          <p:cNvPr id="28" name="Text 26"/>
          <p:cNvSpPr/>
          <p:nvPr/>
        </p:nvSpPr>
        <p:spPr>
          <a:xfrm>
            <a:off x="2606040" y="5120640"/>
            <a:ext cx="8991295" cy="320040"/>
          </a:xfrm>
          <a:prstGeom prst="rect">
            <a:avLst/>
          </a:prstGeom>
          <a:noFill/>
          <a:ln/>
        </p:spPr>
        <p:txBody>
          <a:bodyPr wrap="square" rtlCol="0" anchor="ctr"/>
          <a:lstStyle/>
          <a:p>
            <a:pPr rtl="1" algn="r" indent="0" marL="0">
              <a:buNone/>
            </a:pPr>
            <a:r>
              <a:rPr lang="en-US" sz="1100" dirty="0">
                <a:solidFill>
                  <a:srgbClr val="B9C2CD"/>
                </a:solidFill>
                <a:latin typeface="Calibri" pitchFamily="34" charset="0"/>
                <a:ea typeface="Calibri" pitchFamily="34" charset="-122"/>
                <a:cs typeface="Calibri" pitchFamily="34" charset="-120"/>
              </a:rPr>
              <a:t>انطلاق فريق ديلكس المقيم · ورش مع الفرق · بدء التطبيق الفعلي</a:t>
            </a:r>
            <a:endParaRPr lang="en-US" sz="1100" dirty="0"/>
          </a:p>
        </p:txBody>
      </p:sp>
      <p:sp>
        <p:nvSpPr>
          <p:cNvPr id="29" name="Shape 27"/>
          <p:cNvSpPr/>
          <p:nvPr/>
        </p:nvSpPr>
        <p:spPr>
          <a:xfrm>
            <a:off x="1828800" y="5303520"/>
            <a:ext cx="548640" cy="548640"/>
          </a:xfrm>
          <a:prstGeom prst="ellipse">
            <a:avLst/>
          </a:prstGeom>
          <a:solidFill>
            <a:srgbClr val="0A1628"/>
          </a:solidFill>
          <a:ln w="25400">
            <a:solidFill>
              <a:srgbClr val="D4A574"/>
            </a:solidFill>
            <a:prstDash val="solid"/>
          </a:ln>
        </p:spPr>
      </p:sp>
      <p:sp>
        <p:nvSpPr>
          <p:cNvPr id="30" name="Text 28"/>
          <p:cNvSpPr/>
          <p:nvPr/>
        </p:nvSpPr>
        <p:spPr>
          <a:xfrm>
            <a:off x="1828800" y="5303520"/>
            <a:ext cx="548640" cy="548640"/>
          </a:xfrm>
          <a:prstGeom prst="rect">
            <a:avLst/>
          </a:prstGeom>
          <a:noFill/>
          <a:ln/>
        </p:spPr>
        <p:txBody>
          <a:bodyPr wrap="square" rtlCol="0" anchor="ctr"/>
          <a:lstStyle/>
          <a:p>
            <a:pPr algn="ctr" indent="0" marL="0">
              <a:buNone/>
            </a:pPr>
            <a:r>
              <a:rPr lang="en-US" sz="2000" b="1" dirty="0">
                <a:solidFill>
                  <a:srgbClr val="D4A574"/>
                </a:solidFill>
                <a:latin typeface="Calibri" pitchFamily="34" charset="0"/>
                <a:ea typeface="Calibri" pitchFamily="34" charset="-122"/>
                <a:cs typeface="Calibri" pitchFamily="34" charset="-120"/>
              </a:rPr>
              <a:t>5</a:t>
            </a:r>
            <a:endParaRPr lang="en-US" sz="2000" dirty="0"/>
          </a:p>
        </p:txBody>
      </p:sp>
      <p:sp>
        <p:nvSpPr>
          <p:cNvPr id="31" name="Text 29"/>
          <p:cNvSpPr/>
          <p:nvPr/>
        </p:nvSpPr>
        <p:spPr>
          <a:xfrm>
            <a:off x="2606040" y="5257800"/>
            <a:ext cx="2011680" cy="274320"/>
          </a:xfrm>
          <a:prstGeom prst="rect">
            <a:avLst/>
          </a:prstGeom>
          <a:noFill/>
          <a:ln/>
        </p:spPr>
        <p:txBody>
          <a:bodyPr wrap="square" rtlCol="0" anchor="ctr"/>
          <a:lstStyle/>
          <a:p>
            <a:pPr algn="l" indent="0" marL="0">
              <a:buNone/>
            </a:pPr>
            <a:r>
              <a:rPr lang="en-US" sz="1000" b="1" dirty="0">
                <a:solidFill>
                  <a:srgbClr val="D4A574"/>
                </a:solidFill>
                <a:latin typeface="Calibri" pitchFamily="34" charset="0"/>
                <a:ea typeface="Calibri" pitchFamily="34" charset="-122"/>
                <a:cs typeface="Calibri" pitchFamily="34" charset="-120"/>
              </a:rPr>
              <a:t>الأسبوع 6-18</a:t>
            </a:r>
            <a:endParaRPr lang="en-US" sz="1000" dirty="0"/>
          </a:p>
        </p:txBody>
      </p:sp>
      <p:sp>
        <p:nvSpPr>
          <p:cNvPr id="32" name="Text 30"/>
          <p:cNvSpPr/>
          <p:nvPr/>
        </p:nvSpPr>
        <p:spPr>
          <a:xfrm>
            <a:off x="2606040" y="5486400"/>
            <a:ext cx="8991295" cy="320040"/>
          </a:xfrm>
          <a:prstGeom prst="rect">
            <a:avLst/>
          </a:prstGeom>
          <a:noFill/>
          <a:ln/>
        </p:spPr>
        <p:txBody>
          <a:bodyPr wrap="square" rtlCol="0" anchor="ctr"/>
          <a:lstStyle/>
          <a:p>
            <a:pPr rtl="1" algn="r" indent="0" marL="0">
              <a:buNone/>
            </a:pPr>
            <a:r>
              <a:rPr lang="en-US" sz="1600" b="1" dirty="0">
                <a:solidFill>
                  <a:srgbClr val="F5F5F5"/>
                </a:solidFill>
                <a:latin typeface="Calibri" pitchFamily="34" charset="0"/>
                <a:ea typeface="Calibri" pitchFamily="34" charset="-122"/>
                <a:cs typeface="Calibri" pitchFamily="34" charset="-120"/>
              </a:rPr>
              <a:t>التنفيذ والإطلاق</a:t>
            </a:r>
            <a:endParaRPr lang="en-US" sz="1600" dirty="0"/>
          </a:p>
        </p:txBody>
      </p:sp>
      <p:sp>
        <p:nvSpPr>
          <p:cNvPr id="33" name="Text 31"/>
          <p:cNvSpPr/>
          <p:nvPr/>
        </p:nvSpPr>
        <p:spPr>
          <a:xfrm>
            <a:off x="2606040" y="5806440"/>
            <a:ext cx="8991295" cy="320040"/>
          </a:xfrm>
          <a:prstGeom prst="rect">
            <a:avLst/>
          </a:prstGeom>
          <a:noFill/>
          <a:ln/>
        </p:spPr>
        <p:txBody>
          <a:bodyPr wrap="square" rtlCol="0" anchor="ctr"/>
          <a:lstStyle/>
          <a:p>
            <a:pPr rtl="1" algn="r" indent="0" marL="0">
              <a:buNone/>
            </a:pPr>
            <a:r>
              <a:rPr lang="en-US" sz="1100" dirty="0">
                <a:solidFill>
                  <a:srgbClr val="B9C2CD"/>
                </a:solidFill>
                <a:latin typeface="Calibri" pitchFamily="34" charset="0"/>
                <a:ea typeface="Calibri" pitchFamily="34" charset="-122"/>
                <a:cs typeface="Calibri" pitchFamily="34" charset="-120"/>
              </a:rPr>
              <a:t>وفق خارطة الـ 90 يوم · تسليم مرحلي · أول تقرير نتائج في اليوم 90</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D4A574"/>
          </a:solidFill>
          <a:ln/>
        </p:spPr>
      </p:sp>
      <p:sp>
        <p:nvSpPr>
          <p:cNvPr id="3" name="Text 1"/>
          <p:cNvSpPr/>
          <p:nvPr/>
        </p:nvSpPr>
        <p:spPr>
          <a:xfrm>
            <a:off x="548640" y="1188720"/>
            <a:ext cx="11094415" cy="914400"/>
          </a:xfrm>
          <a:prstGeom prst="rect">
            <a:avLst/>
          </a:prstGeom>
          <a:noFill/>
          <a:ln/>
        </p:spPr>
        <p:txBody>
          <a:bodyPr wrap="square" rtlCol="0" anchor="ctr"/>
          <a:lstStyle/>
          <a:p>
            <a:pPr rtl="1" algn="r" indent="0" marL="0">
              <a:buNone/>
            </a:pPr>
            <a:r>
              <a:rPr lang="en-US" sz="7200" b="1" dirty="0">
                <a:solidFill>
                  <a:srgbClr val="F5F5F5"/>
                </a:solidFill>
                <a:latin typeface="Calibri" pitchFamily="34" charset="0"/>
                <a:ea typeface="Calibri" pitchFamily="34" charset="-122"/>
                <a:cs typeface="Calibri" pitchFamily="34" charset="-120"/>
              </a:rPr>
              <a:t>شكراً لكم</a:t>
            </a:r>
            <a:endParaRPr lang="en-US" sz="7200" dirty="0"/>
          </a:p>
        </p:txBody>
      </p:sp>
      <p:sp>
        <p:nvSpPr>
          <p:cNvPr id="4" name="Text 2"/>
          <p:cNvSpPr/>
          <p:nvPr/>
        </p:nvSpPr>
        <p:spPr>
          <a:xfrm>
            <a:off x="548640" y="2194560"/>
            <a:ext cx="11094415" cy="457200"/>
          </a:xfrm>
          <a:prstGeom prst="rect">
            <a:avLst/>
          </a:prstGeom>
          <a:noFill/>
          <a:ln/>
        </p:spPr>
        <p:txBody>
          <a:bodyPr wrap="square" rtlCol="0" anchor="ctr"/>
          <a:lstStyle/>
          <a:p>
            <a:pPr rtl="1" algn="r" indent="0" marL="0">
              <a:buNone/>
            </a:pPr>
            <a:r>
              <a:rPr lang="en-US" sz="2200" i="1" dirty="0">
                <a:solidFill>
                  <a:srgbClr val="D4A574"/>
                </a:solidFill>
                <a:latin typeface="Georgia" pitchFamily="34" charset="0"/>
                <a:ea typeface="Georgia" pitchFamily="34" charset="-122"/>
                <a:cs typeface="Georgia" pitchFamily="34" charset="-120"/>
              </a:rPr>
              <a:t>لنا الشرف أن نكون شركاءكم في بناء المستقبل اللوجستي للمملكة</a:t>
            </a:r>
            <a:endParaRPr lang="en-US" sz="2200" dirty="0"/>
          </a:p>
        </p:txBody>
      </p:sp>
      <p:sp>
        <p:nvSpPr>
          <p:cNvPr id="5" name="Shape 3"/>
          <p:cNvSpPr/>
          <p:nvPr/>
        </p:nvSpPr>
        <p:spPr>
          <a:xfrm>
            <a:off x="8076895" y="2834640"/>
            <a:ext cx="3566160" cy="32004"/>
          </a:xfrm>
          <a:prstGeom prst="rect">
            <a:avLst/>
          </a:prstGeom>
          <a:solidFill>
            <a:srgbClr val="D4A574"/>
          </a:solidFill>
          <a:ln/>
        </p:spPr>
      </p:sp>
      <p:sp>
        <p:nvSpPr>
          <p:cNvPr id="6" name="Shape 4"/>
          <p:cNvSpPr/>
          <p:nvPr/>
        </p:nvSpPr>
        <p:spPr>
          <a:xfrm>
            <a:off x="548640" y="3200400"/>
            <a:ext cx="11094415" cy="2103120"/>
          </a:xfrm>
          <a:prstGeom prst="rect">
            <a:avLst/>
          </a:prstGeom>
          <a:solidFill>
            <a:srgbClr val="13233F"/>
          </a:solidFill>
          <a:ln w="12700">
            <a:solidFill>
              <a:srgbClr val="D4A574"/>
            </a:solidFill>
            <a:prstDash val="solid"/>
          </a:ln>
        </p:spPr>
      </p:sp>
      <p:sp>
        <p:nvSpPr>
          <p:cNvPr id="7" name="Text 5"/>
          <p:cNvSpPr/>
          <p:nvPr/>
        </p:nvSpPr>
        <p:spPr>
          <a:xfrm>
            <a:off x="822960" y="3429000"/>
            <a:ext cx="10545775" cy="457200"/>
          </a:xfrm>
          <a:prstGeom prst="rect">
            <a:avLst/>
          </a:prstGeom>
          <a:noFill/>
          <a:ln/>
        </p:spPr>
        <p:txBody>
          <a:bodyPr wrap="square" rtlCol="0" anchor="ctr"/>
          <a:lstStyle/>
          <a:p>
            <a:pPr rtl="1" algn="r" indent="0" marL="0">
              <a:buNone/>
            </a:pPr>
            <a:r>
              <a:rPr lang="en-US" sz="2400" b="1" dirty="0">
                <a:solidFill>
                  <a:srgbClr val="F5F5F5"/>
                </a:solidFill>
                <a:latin typeface="Calibri" pitchFamily="34" charset="0"/>
                <a:ea typeface="Calibri" pitchFamily="34" charset="-122"/>
                <a:cs typeface="Calibri" pitchFamily="34" charset="-120"/>
              </a:rPr>
              <a:t>سامي العسيري — Sami Assiri</a:t>
            </a:r>
            <a:endParaRPr lang="en-US" sz="2400" dirty="0"/>
          </a:p>
        </p:txBody>
      </p:sp>
      <p:sp>
        <p:nvSpPr>
          <p:cNvPr id="8" name="Text 6"/>
          <p:cNvSpPr/>
          <p:nvPr/>
        </p:nvSpPr>
        <p:spPr>
          <a:xfrm>
            <a:off x="822960" y="3931920"/>
            <a:ext cx="10545775" cy="320040"/>
          </a:xfrm>
          <a:prstGeom prst="rect">
            <a:avLst/>
          </a:prstGeom>
          <a:noFill/>
          <a:ln/>
        </p:spPr>
        <p:txBody>
          <a:bodyPr wrap="square" rtlCol="0" anchor="ctr"/>
          <a:lstStyle/>
          <a:p>
            <a:pPr rtl="1" algn="r" indent="0" marL="0">
              <a:buNone/>
            </a:pPr>
            <a:r>
              <a:rPr lang="en-US" sz="1300" b="1" dirty="0">
                <a:solidFill>
                  <a:srgbClr val="D4A574"/>
                </a:solidFill>
                <a:latin typeface="Calibri" pitchFamily="34" charset="0"/>
                <a:ea typeface="Calibri" pitchFamily="34" charset="-122"/>
                <a:cs typeface="Calibri" pitchFamily="34" charset="-120"/>
              </a:rPr>
              <a:t>المؤسس والرئيس التنفيذي · Dealix</a:t>
            </a:r>
            <a:endParaRPr lang="en-US" sz="1300" dirty="0"/>
          </a:p>
        </p:txBody>
      </p:sp>
      <p:sp>
        <p:nvSpPr>
          <p:cNvPr id="9" name="Text 7"/>
          <p:cNvSpPr/>
          <p:nvPr/>
        </p:nvSpPr>
        <p:spPr>
          <a:xfrm>
            <a:off x="10728655" y="6400800"/>
            <a:ext cx="914400" cy="274320"/>
          </a:xfrm>
          <a:prstGeom prst="rect">
            <a:avLst/>
          </a:prstGeom>
          <a:noFill/>
          <a:ln/>
        </p:spPr>
        <p:txBody>
          <a:bodyPr wrap="square" rtlCol="0" anchor="ctr"/>
          <a:lstStyle/>
          <a:p>
            <a:pPr algn="r" indent="0" marL="0">
              <a:buNone/>
            </a:pPr>
            <a:r>
              <a:rPr lang="en-US" sz="1000" dirty="0">
                <a:solidFill>
                  <a:srgbClr val="B9C2CD"/>
                </a:solidFill>
                <a:latin typeface="Calibri" pitchFamily="34" charset="0"/>
                <a:ea typeface="Calibri" pitchFamily="34" charset="-122"/>
                <a:cs typeface="Calibri" pitchFamily="34" charset="-120"/>
              </a:rPr>
              <a:t>40 / 40</a:t>
            </a:r>
            <a:endParaRPr lang="en-US" sz="1000" dirty="0"/>
          </a:p>
        </p:txBody>
      </p:sp>
      <p:sp>
        <p:nvSpPr>
          <p:cNvPr id="10" name="Text 8"/>
          <p:cNvSpPr/>
          <p:nvPr/>
        </p:nvSpPr>
        <p:spPr>
          <a:xfrm>
            <a:off x="8991295" y="4389120"/>
            <a:ext cx="2286000" cy="365760"/>
          </a:xfrm>
          <a:prstGeom prst="rect">
            <a:avLst/>
          </a:prstGeom>
          <a:noFill/>
          <a:ln/>
        </p:spPr>
        <p:txBody>
          <a:bodyPr wrap="square" rtlCol="0" anchor="ctr"/>
          <a:lstStyle/>
          <a:p>
            <a:pPr rtl="1" algn="r" indent="0" marL="0">
              <a:buNone/>
            </a:pPr>
            <a:r>
              <a:rPr lang="en-US" sz="1100" b="1" dirty="0">
                <a:solidFill>
                  <a:srgbClr val="D4A574"/>
                </a:solidFill>
                <a:latin typeface="Calibri" pitchFamily="34" charset="0"/>
                <a:ea typeface="Calibri" pitchFamily="34" charset="-122"/>
                <a:cs typeface="Calibri" pitchFamily="34" charset="-120"/>
              </a:rPr>
              <a:t>البريد الإلكتروني</a:t>
            </a:r>
            <a:endParaRPr lang="en-US" sz="1100" dirty="0"/>
          </a:p>
        </p:txBody>
      </p:sp>
      <p:sp>
        <p:nvSpPr>
          <p:cNvPr id="11" name="Text 9">
            <a:hlinkClick r:id="rId1" tooltip=""/>
          </p:cNvPr>
          <p:cNvSpPr/>
          <p:nvPr/>
        </p:nvSpPr>
        <p:spPr>
          <a:xfrm>
            <a:off x="822960" y="4389120"/>
            <a:ext cx="8076895" cy="365760"/>
          </a:xfrm>
          <a:prstGeom prst="rect">
            <a:avLst/>
          </a:prstGeom>
          <a:noFill/>
          <a:ln/>
        </p:spPr>
        <p:txBody>
          <a:bodyPr wrap="square" rtlCol="0" anchor="ctr"/>
          <a:lstStyle/>
          <a:p>
            <a:pPr algn="r" indent="0" marL="0">
              <a:buNone/>
            </a:pPr>
            <a:r>
              <a:rPr lang="en-US" sz="1600" u="sng" dirty="0">
                <a:solidFill>
                  <a:srgbClr val="F5F5F5"/>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sami.assiri11@gmail.com</a:t>
            </a:r>
            <a:endParaRPr lang="en-US" sz="1600" dirty="0"/>
          </a:p>
        </p:txBody>
      </p:sp>
      <p:sp>
        <p:nvSpPr>
          <p:cNvPr id="12" name="Text 10"/>
          <p:cNvSpPr/>
          <p:nvPr/>
        </p:nvSpPr>
        <p:spPr>
          <a:xfrm>
            <a:off x="8991295" y="4800600"/>
            <a:ext cx="2286000" cy="365760"/>
          </a:xfrm>
          <a:prstGeom prst="rect">
            <a:avLst/>
          </a:prstGeom>
          <a:noFill/>
          <a:ln/>
        </p:spPr>
        <p:txBody>
          <a:bodyPr wrap="square" rtlCol="0" anchor="ctr"/>
          <a:lstStyle/>
          <a:p>
            <a:pPr rtl="1" algn="r" indent="0" marL="0">
              <a:buNone/>
            </a:pPr>
            <a:r>
              <a:rPr lang="en-US" sz="1100" b="1" dirty="0">
                <a:solidFill>
                  <a:srgbClr val="D4A574"/>
                </a:solidFill>
                <a:latin typeface="Calibri" pitchFamily="34" charset="0"/>
                <a:ea typeface="Calibri" pitchFamily="34" charset="-122"/>
                <a:cs typeface="Calibri" pitchFamily="34" charset="-120"/>
              </a:rPr>
              <a:t>الموقع الإلكتروني</a:t>
            </a:r>
            <a:endParaRPr lang="en-US" sz="1100" dirty="0"/>
          </a:p>
        </p:txBody>
      </p:sp>
      <p:sp>
        <p:nvSpPr>
          <p:cNvPr id="13" name="Text 11"/>
          <p:cNvSpPr/>
          <p:nvPr/>
        </p:nvSpPr>
        <p:spPr>
          <a:xfrm>
            <a:off x="822960" y="4800600"/>
            <a:ext cx="8076895" cy="365760"/>
          </a:xfrm>
          <a:prstGeom prst="rect">
            <a:avLst/>
          </a:prstGeom>
          <a:noFill/>
          <a:ln/>
        </p:spPr>
        <p:txBody>
          <a:bodyPr wrap="square" rtlCol="0" anchor="ctr"/>
          <a:lstStyle/>
          <a:p>
            <a:pPr rtl="1" algn="r" indent="0" marL="0">
              <a:buNone/>
            </a:pPr>
            <a:r>
              <a:rPr lang="en-US" sz="1300" dirty="0">
                <a:solidFill>
                  <a:srgbClr val="B9C2CD"/>
                </a:solidFill>
                <a:latin typeface="Calibri" pitchFamily="34" charset="0"/>
                <a:ea typeface="Calibri" pitchFamily="34" charset="-122"/>
                <a:cs typeface="Calibri" pitchFamily="34" charset="-120"/>
              </a:rPr>
              <a:t>dealix.io · منصّة العملاء المحتملين الذكية</a:t>
            </a:r>
            <a:endParaRPr lang="en-US" sz="1300" dirty="0"/>
          </a:p>
        </p:txBody>
      </p:sp>
      <p:sp>
        <p:nvSpPr>
          <p:cNvPr id="14" name="Shape 12"/>
          <p:cNvSpPr/>
          <p:nvPr/>
        </p:nvSpPr>
        <p:spPr>
          <a:xfrm>
            <a:off x="3200400" y="5669280"/>
            <a:ext cx="5790895" cy="594360"/>
          </a:xfrm>
          <a:prstGeom prst="rect">
            <a:avLst/>
          </a:prstGeom>
          <a:solidFill>
            <a:srgbClr val="D4A574"/>
          </a:solidFill>
          <a:ln/>
        </p:spPr>
      </p:sp>
      <p:sp>
        <p:nvSpPr>
          <p:cNvPr id="15" name="Text 13"/>
          <p:cNvSpPr/>
          <p:nvPr/>
        </p:nvSpPr>
        <p:spPr>
          <a:xfrm>
            <a:off x="3200400" y="5669280"/>
            <a:ext cx="5790895" cy="594360"/>
          </a:xfrm>
          <a:prstGeom prst="rect">
            <a:avLst/>
          </a:prstGeom>
          <a:noFill/>
          <a:ln/>
        </p:spPr>
        <p:txBody>
          <a:bodyPr wrap="square" rtlCol="0" anchor="ctr"/>
          <a:lstStyle/>
          <a:p>
            <a:pPr rtl="1" algn="ctr" indent="0" marL="0">
              <a:buNone/>
            </a:pPr>
            <a:r>
              <a:rPr lang="en-US" sz="1500" b="1" dirty="0">
                <a:solidFill>
                  <a:srgbClr val="0A1628"/>
                </a:solidFill>
                <a:latin typeface="Calibri" pitchFamily="34" charset="0"/>
                <a:ea typeface="Calibri" pitchFamily="34" charset="-122"/>
                <a:cs typeface="Calibri" pitchFamily="34" charset="-120"/>
              </a:rPr>
              <a:t>لنبدأ — اجتماع تنفيذي خلال 7 أيام</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Dealix — Logistics Pitch AR</dc:title>
  <dc:subject>PptxGenJS Presentation</dc:subject>
  <dc:creator>Dealix</dc:creator>
  <cp:lastModifiedBy>Dealix</cp:lastModifiedBy>
  <cp:revision>1</cp:revision>
  <dcterms:created xsi:type="dcterms:W3CDTF">2026-04-18T18:11:34Z</dcterms:created>
  <dcterms:modified xsi:type="dcterms:W3CDTF">2026-04-18T18:11:34Z</dcterms:modified>
</cp:coreProperties>
</file>