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8892E"/>
                </a:solidFill>
              </a:rPr>
              <a:t>DEALIX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10789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E6673"/>
                </a:solidFill>
              </a:rPr>
              <a:t>Sales-ready Ops Kit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86200" y="914400"/>
            <a:ext cx="7635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8202A"/>
                </a:solidFill>
              </a:rPr>
              <a:t>تشغيل محكوم للإيراد والذكاء الاصطناعي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977640" y="233172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dirty="0">
                <a:solidFill>
                  <a:srgbClr val="5E6673"/>
                </a:solidFill>
              </a:rPr>
              <a:t>عرض تنفيذي جاهز لفتح محادثة: تموضع، دليل، ديمو، عرض مدفوع، وخطة Ops بعد أول تشغيل.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977640" y="3246120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102A43">
              <a:alpha val="92000"/>
            </a:srgbClr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Presentation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40680" y="324612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1F7A5C">
              <a:alpha val="92000"/>
            </a:srgbClr>
          </a:solidFill>
          <a:ln>
            <a:solidFill>
              <a:srgbClr val="1F7A5C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Proof Pack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20840" y="324612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B8892E">
              <a:alpha val="92000"/>
            </a:srgbClr>
          </a:solidFill>
          <a:ln>
            <a:solidFill>
              <a:srgbClr val="B8892E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Sales Script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01000" y="324612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2E5BFF">
              <a:alpha val="92000"/>
            </a:srgbClr>
          </a:solidFill>
          <a:ln>
            <a:solidFill>
              <a:srgbClr val="2E5BFF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Ops Loop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77640" y="3977640"/>
            <a:ext cx="74523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8202A"/>
                </a:solidFill>
              </a:rPr>
              <a:t>القرار: لا نبني أكثر الآن. نستخدم ما بُني لإغلاق أول Diagnostic مدفوع.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6673"/>
                </a:solidFill>
              </a:rPr>
              <a:t>Dealix — Governed Revenue &amp; AI Operations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92E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892E"/>
                </a:solidFill>
              </a:rPr>
              <a:t>MARKET TIMING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8202A"/>
                </a:solidFill>
              </a:rPr>
              <a:t>لماذا الآن؟ السوق لا يحتاج AI أكثر؛ يحتاج تشغيل محكوم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225296"/>
            <a:ext cx="10835640" cy="0"/>
          </a:xfrm>
          <a:prstGeom prst="line">
            <a:avLst/>
          </a:prstGeom>
          <a:noFill/>
          <a:ln w="12700">
            <a:solidFill>
              <a:srgbClr val="D8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الفجوة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الشركات جرّبت AI، لكن القيمة تضيع بسبب ضعف الحوكمة، المصادر، الموافقات، ومسارات الأدلة.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78808" y="1691640"/>
            <a:ext cx="32004" cy="960120"/>
          </a:xfrm>
          <a:prstGeom prst="rect">
            <a:avLst/>
          </a:prstGeom>
          <a:solidFill>
            <a:srgbClr val="B94B4B"/>
          </a:solidFill>
          <a:ln w="12700">
            <a:solidFill>
              <a:srgbClr val="B94B4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55448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التوقيت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السعودية أعلنت 2026 عام الذكاء الاصطناعي، وهذا يرفع الطلب على التنفيذ المسؤول لا التجارب فقط.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927848" y="1691640"/>
            <a:ext cx="32004" cy="960120"/>
          </a:xfrm>
          <a:prstGeom prst="rect">
            <a:avLst/>
          </a:prstGeom>
          <a:solidFill>
            <a:srgbClr val="B8892E"/>
          </a:solidFill>
          <a:ln w="12700">
            <a:solidFill>
              <a:srgbClr val="B8892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83880" y="155448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الخطر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انتشار وكلاء AI بلا حصر سيخلق agent sprawl وتعقيداً تشغيلياً وأمنياً.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448288" y="1691640"/>
            <a:ext cx="32004" cy="9601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657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892E"/>
                </a:solidFill>
              </a:rPr>
              <a:t>88%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60120" y="40965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673"/>
                </a:solidFill>
              </a:rPr>
              <a:t>منظمات تستخدم AI في وظيفة واحدة على الأقل حسب McKinsey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92040" y="3657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892E"/>
                </a:solidFill>
              </a:rPr>
              <a:t>2026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92040" y="40965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673"/>
                </a:solidFill>
              </a:rPr>
              <a:t>عام الذكاء الاصطناعي في السعودية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412480" y="3657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892E"/>
                </a:solidFill>
              </a:rPr>
              <a:t>150k+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412480" y="40965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673"/>
                </a:solidFill>
              </a:rPr>
              <a:t>وكلاء AI متوقعون في مؤسسة Fortune 500 نموذجية بحلول 2028 حسب Gartner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614476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E6673"/>
                </a:solidFill>
              </a:rPr>
              <a:t>مصادر عامة: McKinsey State of AI 2025، SDAIA Year of AI 2026، Gartner AI Agent Sprawl 2026.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68580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6673"/>
                </a:solidFill>
              </a:rPr>
              <a:t>Dealix — Governed Revenue &amp; AI Operations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92E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892E"/>
                </a:solidFill>
              </a:rPr>
              <a:t>POSITIONING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8202A"/>
                </a:solidFill>
              </a:rPr>
              <a:t>التموضع الذي تقوله في أول 30 ثانية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225296"/>
            <a:ext cx="10835640" cy="0"/>
          </a:xfrm>
          <a:prstGeom prst="line">
            <a:avLst/>
          </a:prstGeom>
          <a:noFill/>
          <a:ln w="12700">
            <a:solidFill>
              <a:srgbClr val="D8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1042416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202A"/>
                </a:solidFill>
              </a:rPr>
              <a:t>Dealix helps teams turn AI experimentation and revenue operations into governed, measurable workflows — with source clarity, approval boundaries, evidence trails, and proof of value.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301752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بالعربي: Dealix تساعد الشركات على تحويل تجارب الذكاء الاصطناعي وعمليات الإيراد إلى تشغيل محكوم وقابل للقياس، عبر وضوح المصادر، حدود الموافقة، مسارات الأدلة، وإثبات القيمة.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4572000"/>
            <a:ext cx="4800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لسنا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AI chatbot / AI agency / automation reseller / dashboard SaaS مبكر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33288" y="4709160"/>
            <a:ext cx="32004" cy="594360"/>
          </a:xfrm>
          <a:prstGeom prst="rect">
            <a:avLst/>
          </a:prstGeom>
          <a:solidFill>
            <a:srgbClr val="B94B4B"/>
          </a:solidFill>
          <a:ln w="12700">
            <a:solidFill>
              <a:srgbClr val="B94B4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4572000"/>
            <a:ext cx="4800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نحن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Governed Revenue &amp; AI Operations company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082528" y="4709160"/>
            <a:ext cx="32004" cy="594360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6673"/>
                </a:solidFill>
              </a:rPr>
              <a:t>Dealix — Governed Revenue &amp; AI Operations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92E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892E"/>
                </a:solidFill>
              </a:rPr>
              <a:t>OFFER LADDER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8202A"/>
                </a:solidFill>
              </a:rPr>
              <a:t>العرض التجاري: من تشخيص صغير إلى Retainer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225296"/>
            <a:ext cx="10835640" cy="0"/>
          </a:xfrm>
          <a:prstGeom prst="line">
            <a:avLst/>
          </a:prstGeom>
          <a:noFill/>
          <a:ln w="12700">
            <a:solidFill>
              <a:srgbClr val="D8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347472" cy="347472"/>
          </a:xfrm>
          <a:prstGeom prst="ellipse">
            <a:avLst/>
          </a:prstGeom>
          <a:solidFill>
            <a:srgbClr val="B8892E"/>
          </a:solidFill>
          <a:ln>
            <a:solidFill>
              <a:srgbClr val="B8892E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16642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8202A"/>
                </a:solidFill>
              </a:rPr>
              <a:t>Governed Revenue Ops Diagnostic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1938528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E6673"/>
                </a:solidFill>
              </a:rPr>
              <a:t>خريطة workflow + فجوات CRM/source + مخاطر pipeline + قرار sprint/retainer. السعر: 4,999–15,000 SAR.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4480560" y="1645920"/>
            <a:ext cx="347472" cy="347472"/>
          </a:xfrm>
          <a:prstGeom prst="ellipse">
            <a:avLst/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16642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8202A"/>
                </a:solidFill>
              </a:rPr>
              <a:t>Revenue Intelligence Sprint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938528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E6673"/>
                </a:solidFill>
              </a:rPr>
              <a:t>Account priority + deal risk + next-best-action + proof pack. السعر الابتدائي: 25,000 SAR.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8001000" y="1645920"/>
            <a:ext cx="347472" cy="347472"/>
          </a:xfrm>
          <a:prstGeom prst="ellipse">
            <a:avLst/>
          </a:prstGeom>
          <a:solidFill>
            <a:srgbClr val="1F7A5C"/>
          </a:solidFill>
          <a:ln>
            <a:solidFill>
              <a:srgbClr val="1F7A5C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58200" y="16642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8202A"/>
                </a:solidFill>
              </a:rPr>
              <a:t>Governed Ops Retainer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58200" y="1938528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E6673"/>
                </a:solidFill>
              </a:rPr>
              <a:t>مراجعة شهرية، risk register، approval queue، value report، board memo. 4,999–35,000 SAR/month.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1097280" y="4251960"/>
            <a:ext cx="99669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02A"/>
                </a:solidFill>
              </a:rPr>
              <a:t>البيع الصحيح الآن: نبدأ Diagnostic. إذا ظهرت قيمة مثبتة ننتقل إلى Sprint. إذا تكرر الـworkflow نحوله إلى Retainer.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6673"/>
                </a:solidFill>
              </a:rPr>
              <a:t>Dealix — Governed Revenue &amp; AI Operations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92E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892E"/>
                </a:solidFill>
              </a:rPr>
              <a:t>EVIDENCE-FIRST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8202A"/>
                </a:solidFill>
              </a:rPr>
              <a:t>Proof Pack: ماذا نثبت للعميل؟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225296"/>
            <a:ext cx="10835640" cy="0"/>
          </a:xfrm>
          <a:prstGeom prst="line">
            <a:avLst/>
          </a:prstGeom>
          <a:noFill/>
          <a:ln w="12700">
            <a:solidFill>
              <a:srgbClr val="D8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Source clarity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ما مصدر كل قرار؟ CRM، ملف، مقابلة، اجتماع، أو manual evidence.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950208" y="1737360"/>
            <a:ext cx="32004" cy="6858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60020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Approval boundary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ما الذي يجهزه النظام؟ وما الذي لا يخرج إلا بموافقة مؤسس/عميل؟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53528" y="1737360"/>
            <a:ext cx="32004" cy="685800"/>
          </a:xfrm>
          <a:prstGeom prst="rect">
            <a:avLst/>
          </a:prstGeom>
          <a:solidFill>
            <a:srgbClr val="B8892E"/>
          </a:solidFill>
          <a:ln w="12700">
            <a:solidFill>
              <a:srgbClr val="B8892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160020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Evidence trail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كل حدث: prepared_not_sent / sent / meeting / scope / invoice / paid.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311128" y="1737360"/>
            <a:ext cx="32004" cy="685800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6324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Decision passport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قرار واحد = إشارة + مصدر + موافقة + فعل + دليل + أثر.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50208" y="3200400"/>
            <a:ext cx="32004" cy="685800"/>
          </a:xfrm>
          <a:prstGeom prst="rect">
            <a:avLst/>
          </a:prstGeom>
          <a:solidFill>
            <a:srgbClr val="2E5BFF"/>
          </a:solidFill>
          <a:ln w="12700">
            <a:solidFill>
              <a:srgbClr val="2E5B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306324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Value report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ماذا تغيّر؟ أولوية أفضل، متابعة أفضل، مخاطرة أقل، أو فرصة مدفوعة.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53528" y="3200400"/>
            <a:ext cx="32004" cy="685800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306324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No fake KPI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أي score تجريبي يوسم is_estimate ولا يُباع كحقيقة.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311128" y="3200400"/>
            <a:ext cx="32004" cy="685800"/>
          </a:xfrm>
          <a:prstGeom prst="rect">
            <a:avLst/>
          </a:prstGeom>
          <a:solidFill>
            <a:srgbClr val="B94B4B"/>
          </a:solidFill>
          <a:ln w="12700">
            <a:solidFill>
              <a:srgbClr val="B94B4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983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02A"/>
                </a:solidFill>
              </a:rPr>
              <a:t>هذا هو الفارق: العميل لا يشتري AI؛ يشتري قراراً موثقاً يقلل الهدر ويقرب الإيراد.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6673"/>
                </a:solidFill>
              </a:rPr>
              <a:t>Dealix — Governed Revenue &amp; AI Operations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92E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892E"/>
                </a:solidFill>
              </a:rPr>
              <a:t>LIVE DEMO 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8202A"/>
                </a:solidFill>
              </a:rPr>
              <a:t>الديمو الحي: 12 دقيقة تفتح محادثة بيع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225296"/>
            <a:ext cx="10835640" cy="0"/>
          </a:xfrm>
          <a:prstGeom prst="line">
            <a:avLst/>
          </a:prstGeom>
          <a:noFill/>
          <a:ln w="12700">
            <a:solidFill>
              <a:srgbClr val="D8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347472" cy="347472"/>
          </a:xfrm>
          <a:prstGeom prst="ellipse">
            <a:avLst/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34440" y="15270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8202A"/>
                </a:solidFill>
              </a:rPr>
              <a:t>افتح /ar/business-now#strategy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180136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E6673"/>
                </a:solidFill>
              </a:rPr>
              <a:t>قل: هذه ليست dashboard؛ هذه founder decision console.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4526280" y="1508760"/>
            <a:ext cx="347472" cy="347472"/>
          </a:xfrm>
          <a:prstGeom prst="ellipse">
            <a:avLst/>
          </a:prstGeom>
          <a:solidFill>
            <a:srgbClr val="B8892E"/>
          </a:solidFill>
          <a:ln>
            <a:solidFill>
              <a:srgbClr val="B8892E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83480" y="15270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8202A"/>
                </a:solidFill>
              </a:rPr>
              <a:t>اختر القطاع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83480" y="180136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E6673"/>
                </a:solidFill>
              </a:rPr>
              <a:t>شغّل simulate حسب industry/city/budget.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8092440" y="1508760"/>
            <a:ext cx="347472" cy="347472"/>
          </a:xfrm>
          <a:prstGeom prst="ellipse">
            <a:avLst/>
          </a:prstGeom>
          <a:solidFill>
            <a:srgbClr val="1F7A5C"/>
          </a:solidFill>
          <a:ln>
            <a:solidFill>
              <a:srgbClr val="1F7A5C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49640" y="15270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8202A"/>
                </a:solidFill>
              </a:rPr>
              <a:t>اعرض التركيز الحالي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49640" y="180136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E6673"/>
                </a:solidFill>
              </a:rPr>
              <a:t>kpi_hygiene الآن؛ لا ندّعي GTM قبل hygiene.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777240" y="2743200"/>
            <a:ext cx="347472" cy="347472"/>
          </a:xfrm>
          <a:prstGeom prst="ellipse">
            <a:avLst/>
          </a:prstGeom>
          <a:solidFill>
            <a:srgbClr val="2E5BFF"/>
          </a:solidFill>
          <a:ln>
            <a:solidFill>
              <a:srgbClr val="2E5B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34440" y="27614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8202A"/>
                </a:solidFill>
              </a:rPr>
              <a:t>افتح GTM أول 10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303580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E6673"/>
                </a:solidFill>
              </a:rPr>
              <a:t>من هم؟ كيف نصل؟ ما معيار التأهيل؟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4526280" y="2743200"/>
            <a:ext cx="347472" cy="347472"/>
          </a:xfrm>
          <a:prstGeom prst="ellipse">
            <a:avLst/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27614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8202A"/>
                </a:solidFill>
              </a:rPr>
              <a:t>افتح Sales Script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303580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E6673"/>
                </a:solidFill>
              </a:rPr>
              <a:t>Discovery + objections + demo story.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8092440" y="2743200"/>
            <a:ext cx="347472" cy="347472"/>
          </a:xfrm>
          <a:prstGeom prst="ellipse">
            <a:avLst/>
          </a:prstGeom>
          <a:solidFill>
            <a:srgbClr val="B8892E"/>
          </a:solidFill>
          <a:ln>
            <a:solidFill>
              <a:srgbClr val="B8892E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49640" y="27614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8202A"/>
                </a:solidFill>
              </a:rPr>
              <a:t>اختم بـ Diagnostic Scope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49640" y="303580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E6673"/>
                </a:solidFill>
              </a:rPr>
              <a:t>نحول demo إلى proof pack خاص بكم خلال engagement مدفوع.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1005840" y="507492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202A"/>
                </a:solidFill>
              </a:rPr>
              <a:t>الجملة الختامية: إذا كان هذا يعكس مشكلة عندكم، التشخيص المدفوع يحولها إلى workflow قابل للقياس خلال أسبوعين.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6673"/>
                </a:solidFill>
              </a:rPr>
              <a:t>Dealix — Governed Revenue &amp; AI Operations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92E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892E"/>
                </a:solidFill>
              </a:rPr>
              <a:t>FOUNDER-LED SALES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8202A"/>
                </a:solidFill>
              </a:rPr>
              <a:t>Script جاهز لفتح المحادثة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225296"/>
            <a:ext cx="10835640" cy="0"/>
          </a:xfrm>
          <a:prstGeom prst="line">
            <a:avLst/>
          </a:prstGeom>
          <a:noFill/>
          <a:ln w="12700">
            <a:solidFill>
              <a:srgbClr val="D8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الافتتاح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I’m building Dealix, a governed revenue and AI operations company starting in Saudi Arabia.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087368" y="1645920"/>
            <a:ext cx="32004" cy="6400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150876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المشكلة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Teams are experimenting with AI and revenue automation, but lack source clarity, approval boundaries, evidence trails, and proof of value.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44968" y="1645920"/>
            <a:ext cx="32004" cy="640080"/>
          </a:xfrm>
          <a:prstGeom prst="rect">
            <a:avLst/>
          </a:prstGeom>
          <a:solidFill>
            <a:srgbClr val="B94B4B"/>
          </a:solidFill>
          <a:ln w="12700">
            <a:solidFill>
              <a:srgbClr val="B94B4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150876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الطلب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Would it be useful to compare this against one client segment you already see struggling with AI governance, revenue ops, or pipeline quality?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402568" y="1645920"/>
            <a:ext cx="32004" cy="640080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6324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سؤال discovery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Where do AI experiments or revenue workflows currently create ambiguity, risk, or wasted follow-up?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87368" y="3200400"/>
            <a:ext cx="32004" cy="640080"/>
          </a:xfrm>
          <a:prstGeom prst="rect">
            <a:avLst/>
          </a:prstGeom>
          <a:solidFill>
            <a:srgbClr val="B8892E"/>
          </a:solidFill>
          <a:ln w="12700">
            <a:solidFill>
              <a:srgbClr val="B8892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306324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اعتراض السعر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We start small with a diagnostic. If it doesn’t expose measurable workflow risk or value, we do not push a sprint.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44968" y="3200400"/>
            <a:ext cx="32004" cy="6400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306324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اعتراض “عندنا أدوات”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Great. Dealix does not replace tools first; it governs the workflow around tools and proves value.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402568" y="3200400"/>
            <a:ext cx="32004" cy="640080"/>
          </a:xfrm>
          <a:prstGeom prst="rect">
            <a:avLst/>
          </a:prstGeom>
          <a:solidFill>
            <a:srgbClr val="2E5BFF"/>
          </a:solidFill>
          <a:ln w="12700">
            <a:solidFill>
              <a:srgbClr val="2E5B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6673"/>
                </a:solidFill>
              </a:rPr>
              <a:t>Dealix — Governed Revenue &amp; AI Operations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92E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892E"/>
                </a:solidFill>
              </a:rPr>
              <a:t>OPERATING SYSTEM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8202A"/>
                </a:solidFill>
              </a:rPr>
              <a:t>One-time setup → Ops Loop كامل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225296"/>
            <a:ext cx="10835640" cy="0"/>
          </a:xfrm>
          <a:prstGeom prst="line">
            <a:avLst/>
          </a:prstGeom>
          <a:noFill/>
          <a:ln w="12700">
            <a:solidFill>
              <a:srgbClr val="D8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347472" cy="347472"/>
          </a:xfrm>
          <a:prstGeom prst="ellipse">
            <a:avLst/>
          </a:prstGeom>
          <a:solidFill>
            <a:srgbClr val="B8892E"/>
          </a:solidFill>
          <a:ln>
            <a:solidFill>
              <a:srgbClr val="B8892E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15727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8202A"/>
                </a:solidFill>
              </a:rPr>
              <a:t>Setup مرة واحدة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184708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E6673"/>
                </a:solidFill>
              </a:rPr>
              <a:t>تشغيل السكربت، فتح Business NOW، اختيار vertical، تفعيل override عند الحاجة.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4480560" y="1554480"/>
            <a:ext cx="347472" cy="347472"/>
          </a:xfrm>
          <a:prstGeom prst="ellipse">
            <a:avLst/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15727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8202A"/>
                </a:solidFill>
              </a:rPr>
              <a:t>Prepare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84708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E6673"/>
                </a:solidFill>
              </a:rPr>
              <a:t>النظام يجهز رسالة، angle، proof demo، next action.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8046720" y="1554480"/>
            <a:ext cx="347472" cy="347472"/>
          </a:xfrm>
          <a:prstGeom prst="ellipse">
            <a:avLst/>
          </a:prstGeom>
          <a:solidFill>
            <a:srgbClr val="1F7A5C"/>
          </a:solidFill>
          <a:ln>
            <a:solidFill>
              <a:srgbClr val="1F7A5C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03920" y="15727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8202A"/>
                </a:solidFill>
              </a:rPr>
              <a:t>Approve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0" y="184708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E6673"/>
                </a:solidFill>
              </a:rPr>
              <a:t>المؤسس يوافق على أي فعل خارجي: إرسال، فاتورة، case study.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822960" y="3200400"/>
            <a:ext cx="347472" cy="347472"/>
          </a:xfrm>
          <a:prstGeom prst="ellipse">
            <a:avLst/>
          </a:prstGeom>
          <a:solidFill>
            <a:srgbClr val="2E5BFF"/>
          </a:solidFill>
          <a:ln>
            <a:solidFill>
              <a:srgbClr val="2E5B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80160" y="3218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8202A"/>
                </a:solidFill>
              </a:rPr>
              <a:t>Act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80160" y="349300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E6673"/>
                </a:solidFill>
              </a:rPr>
              <a:t>إرسال يدوي، اجتماع، scope، invoice.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4480560" y="3200400"/>
            <a:ext cx="347472" cy="347472"/>
          </a:xfrm>
          <a:prstGeom prst="ellipse">
            <a:avLst/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3218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8202A"/>
                </a:solidFill>
              </a:rPr>
              <a:t>Log Evidence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49300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E6673"/>
                </a:solidFill>
              </a:rPr>
              <a:t>تسجيل الحالة: sent / replied / meeting / scope / invoice / paid.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8046720" y="3200400"/>
            <a:ext cx="347472" cy="347472"/>
          </a:xfrm>
          <a:prstGeom prst="ellipse">
            <a:avLst/>
          </a:prstGeom>
          <a:solidFill>
            <a:srgbClr val="B94B4B"/>
          </a:solidFill>
          <a:ln>
            <a:solidFill>
              <a:srgbClr val="B94B4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03920" y="3218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8202A"/>
                </a:solidFill>
              </a:rPr>
              <a:t>Next Best Action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349300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5E6673"/>
                </a:solidFill>
              </a:rPr>
              <a:t>النظام يحدد الخطوة التالية ويمنع البناء غير الضروري.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1051560" y="53492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202A"/>
                </a:solidFill>
              </a:rPr>
              <a:t>Ops كامل لا يعني إرسال تلقائي. Ops كامل يعني تجهيز، موافقة، تنفيذ، دليل، قرار، ثم تكرار.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6673"/>
                </a:solidFill>
              </a:rPr>
              <a:t>Dealix — Governed Revenue &amp; AI Operations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92E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892E"/>
                </a:solidFill>
              </a:rPr>
              <a:t>PROOF GATES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8202A"/>
                </a:solidFill>
              </a:rPr>
              <a:t>بوابات الإثبات: لا نرفع المرحلة بلا دليل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225296"/>
            <a:ext cx="10835640" cy="0"/>
          </a:xfrm>
          <a:prstGeom prst="line">
            <a:avLst/>
          </a:prstGeom>
          <a:noFill/>
          <a:ln w="12700">
            <a:solidFill>
              <a:srgbClr val="D8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594360" cy="384048"/>
          </a:xfrm>
          <a:prstGeom prst="roundRect">
            <a:avLst>
              <a:gd name="adj" fmla="val 14286"/>
            </a:avLst>
          </a:prstGeom>
          <a:solidFill>
            <a:srgbClr val="B8892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00200" y="16184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02A"/>
                </a:solidFill>
              </a:rPr>
              <a:t>prepared_not_sent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0" y="161848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E6673"/>
                </a:solidFill>
              </a:rPr>
              <a:t>رسالة/عرض جاهز فقط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350008"/>
            <a:ext cx="594360" cy="384048"/>
          </a:xfrm>
          <a:prstGeom prst="roundRect">
            <a:avLst>
              <a:gd name="adj" fmla="val 14286"/>
            </a:avLst>
          </a:prstGeom>
          <a:solidFill>
            <a:srgbClr val="B8892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3682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02A"/>
                </a:solidFill>
              </a:rPr>
              <a:t>sent / replied_interested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236829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E6673"/>
                </a:solidFill>
              </a:rPr>
              <a:t>إرسال يدوي أو رد مهتم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099816"/>
            <a:ext cx="594360" cy="384048"/>
          </a:xfrm>
          <a:prstGeom prst="roundRect">
            <a:avLst>
              <a:gd name="adj" fmla="val 14286"/>
            </a:avLst>
          </a:prstGeom>
          <a:solidFill>
            <a:srgbClr val="102A4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31181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02A"/>
                </a:solidFill>
              </a:rPr>
              <a:t>used_in_meeting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31181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E6673"/>
                </a:solidFill>
              </a:rPr>
              <a:t>استُخدم في اجتماع فعلي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849624"/>
            <a:ext cx="594360" cy="384048"/>
          </a:xfrm>
          <a:prstGeom prst="roundRect">
            <a:avLst>
              <a:gd name="adj" fmla="val 14286"/>
            </a:avLst>
          </a:prstGeom>
          <a:solidFill>
            <a:srgbClr val="102A4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38679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02A"/>
                </a:solidFill>
              </a:rPr>
              <a:t>scope_requested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38679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E6673"/>
                </a:solidFill>
              </a:rPr>
              <a:t>طلب scope أو intro أو pilot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599432"/>
            <a:ext cx="594360" cy="384048"/>
          </a:xfrm>
          <a:prstGeom prst="roundRect">
            <a:avLst>
              <a:gd name="adj" fmla="val 14286"/>
            </a:avLst>
          </a:prstGeom>
          <a:solidFill>
            <a:srgbClr val="1F7A5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46177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02A"/>
                </a:solidFill>
              </a:rPr>
              <a:t>invoice_paid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46177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E6673"/>
                </a:solidFill>
              </a:rPr>
              <a:t>إيراد مؤكد فقط بعد الدفع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562356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4B4B"/>
                </a:solidFill>
              </a:rPr>
              <a:t>قاعدة CEO: لا revenue قبل payment. لا L5 قبل meeting. لا L6 قبل scope. لا بناء قبل تكرار workflow.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6673"/>
                </a:solidFill>
              </a:rPr>
              <a:t>Dealix — Governed Revenue &amp; AI Operations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92E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892E"/>
                </a:solidFill>
              </a:rPr>
              <a:t>ACTION PLAN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8202A"/>
                </a:solidFill>
              </a:rPr>
              <a:t>72 ساعة: خطة تنفيذ بلا هزل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225296"/>
            <a:ext cx="10835640" cy="0"/>
          </a:xfrm>
          <a:prstGeom prst="line">
            <a:avLst/>
          </a:prstGeom>
          <a:noFill/>
          <a:ln w="12700">
            <a:solidFill>
              <a:srgbClr val="D8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اليوم 1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شغّل run_business_now.sh، افتح strategy، جهز screenshots، ثبت الرسالة الأساسية.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995928" y="1645920"/>
            <a:ext cx="32004" cy="6858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50876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اليوم 2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اختر 5 warm contacts فقط. أرسل يدوياً. سجّل sent فقط بعد الإرسال.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99248" y="1645920"/>
            <a:ext cx="32004" cy="685800"/>
          </a:xfrm>
          <a:prstGeom prst="rect">
            <a:avLst/>
          </a:prstGeom>
          <a:solidFill>
            <a:srgbClr val="B8892E"/>
          </a:solidFill>
          <a:ln w="12700">
            <a:solidFill>
              <a:srgbClr val="B8892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150876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اليوم 3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صنّف الردود: interested / objection / wrong segment / referral / silence.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356848" y="1645920"/>
            <a:ext cx="32004" cy="685800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15468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بعد أول اهتمام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اعرض Diagnostic لا المنصة كاملة. الهدف: scope ثم invoice.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95928" y="3291840"/>
            <a:ext cx="32004" cy="685800"/>
          </a:xfrm>
          <a:prstGeom prst="rect">
            <a:avLst/>
          </a:prstGeom>
          <a:solidFill>
            <a:srgbClr val="2E5BFF"/>
          </a:solidFill>
          <a:ln w="12700">
            <a:solidFill>
              <a:srgbClr val="2E5B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315468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بعد أول دفع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أنشئ Proof Pack خاص بالعميل وDecision Passport.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99248" y="3291840"/>
            <a:ext cx="32004" cy="685800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315468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بعد التكرار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إذا workflow تكرر 3 مرات، فقط وقتها ابنِ module.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356848" y="3291840"/>
            <a:ext cx="32004" cy="685800"/>
          </a:xfrm>
          <a:prstGeom prst="rect">
            <a:avLst/>
          </a:prstGeom>
          <a:solidFill>
            <a:srgbClr val="B94B4B"/>
          </a:solidFill>
          <a:ln w="12700">
            <a:solidFill>
              <a:srgbClr val="B94B4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6673"/>
                </a:solidFill>
              </a:rPr>
              <a:t>Dealix — Governed Revenue &amp; AI Operations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92E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892E"/>
                </a:solidFill>
              </a:rPr>
              <a:t>CLIENT-FACING PACK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8202A"/>
                </a:solidFill>
              </a:rPr>
              <a:t>ما تقدمه في المحادثة: ملف واحد مرتب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225296"/>
            <a:ext cx="10835640" cy="0"/>
          </a:xfrm>
          <a:prstGeom prst="line">
            <a:avLst/>
          </a:prstGeom>
          <a:noFill/>
          <a:ln w="12700">
            <a:solidFill>
              <a:srgbClr val="D8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1. Executive deck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هذه الشرائح: المشكلة، التموضع، العرض، proof, pricing, next step.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041648" y="1600200"/>
            <a:ext cx="32004" cy="6858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463040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2. Live Ops Demo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/ar/business-now#strategy مع simulation + GTM + script + proof demo.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44968" y="1600200"/>
            <a:ext cx="32004" cy="685800"/>
          </a:xfrm>
          <a:prstGeom prst="rect">
            <a:avLst/>
          </a:prstGeom>
          <a:solidFill>
            <a:srgbClr val="B8892E"/>
          </a:solidFill>
          <a:ln w="12700">
            <a:solidFill>
              <a:srgbClr val="B8892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1463040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3. Proof Pack Sample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نموذج evidence ledger + decision passport + value report.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402568" y="1600200"/>
            <a:ext cx="32004" cy="685800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63240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4. Diagnostic Scope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صفحة نطاق: inputs, outputs, timeline, price, acceptance criteria.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41648" y="3200400"/>
            <a:ext cx="32004" cy="685800"/>
          </a:xfrm>
          <a:prstGeom prst="rect">
            <a:avLst/>
          </a:prstGeom>
          <a:solidFill>
            <a:srgbClr val="2E5BFF"/>
          </a:solidFill>
          <a:ln w="12700">
            <a:solidFill>
              <a:srgbClr val="2E5B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3063240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5. Approval Policy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لا إرسال خارجي ولا case study ولا invoice live بدون موافقة.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44968" y="3200400"/>
            <a:ext cx="32004" cy="685800"/>
          </a:xfrm>
          <a:prstGeom prst="rect">
            <a:avLst/>
          </a:prstGeom>
          <a:solidFill>
            <a:srgbClr val="B94B4B"/>
          </a:solidFill>
          <a:ln w="12700">
            <a:solidFill>
              <a:srgbClr val="B94B4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3063240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6. Next Action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اختيار: 30-min review أو paid diagnostic.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402568" y="3200400"/>
            <a:ext cx="32004" cy="685800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525780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202A"/>
                </a:solidFill>
              </a:rPr>
              <a:t>العميل يرى نضجاً: عرض واضح + ديمو حي + دليل + scope + سعر + خطوة تالية.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6673"/>
                </a:solidFill>
              </a:rPr>
              <a:t>Dealix — Governed Revenue &amp; AI Operations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92E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892E"/>
                </a:solidFill>
              </a:rPr>
              <a:t>CLOSE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8202A"/>
                </a:solidFill>
              </a:rPr>
              <a:t>القرار المطلوب من العميل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225296"/>
            <a:ext cx="10835640" cy="0"/>
          </a:xfrm>
          <a:prstGeom prst="line">
            <a:avLst/>
          </a:prstGeom>
          <a:noFill/>
          <a:ln w="12700">
            <a:solidFill>
              <a:srgbClr val="D8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600200"/>
            <a:ext cx="9921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202A"/>
                </a:solidFill>
              </a:rPr>
              <a:t>ابدأ بتشخيص مدفوع صغير. لا نطلب تغيير أنظمتكم. نكشف أين تضيع القيمة، أين توجد المخاطر، وما workflow الذي يستحق التحويل إلى sprint أو retainer.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33756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الخيار A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30-minute working session: نختبر fit ونحدد الألم.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41648" y="3474720"/>
            <a:ext cx="32004" cy="6400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333756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الخيار B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Paid Diagnostic: 4,999–15,000 SAR حسب النطاق.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53528" y="3474720"/>
            <a:ext cx="32004" cy="640080"/>
          </a:xfrm>
          <a:prstGeom prst="rect">
            <a:avLst/>
          </a:prstGeom>
          <a:solidFill>
            <a:srgbClr val="B8892E"/>
          </a:solidFill>
          <a:ln w="12700">
            <a:solidFill>
              <a:srgbClr val="B8892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333756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الخيار C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8202A"/>
                </a:solidFill>
              </a:rPr>
              <a:t>Sprint مباشرة فقط إذا العميل لديه بيانات وألم واضح.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219688" y="3474720"/>
            <a:ext cx="32004" cy="640080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5257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892E"/>
                </a:solidFill>
              </a:rPr>
              <a:t>Ask: هل عندكم workflow واحد في الإيراد أو AI يستحق أن نجعله محكوماً، موثقاً، وقابلاً للقياس؟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8580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6673"/>
                </a:solidFill>
              </a:rPr>
              <a:t>Dealix — Governed Revenue &amp; AI Operations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92E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892E"/>
                </a:solidFill>
              </a:rPr>
              <a:t>SOURCES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8202A"/>
                </a:solidFill>
              </a:rPr>
              <a:t>Appendix: المصادر والسياق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225296"/>
            <a:ext cx="10835640" cy="0"/>
          </a:xfrm>
          <a:prstGeom prst="line">
            <a:avLst/>
          </a:prstGeom>
          <a:noFill/>
          <a:ln w="12700">
            <a:solidFill>
              <a:srgbClr val="D8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08760"/>
            <a:ext cx="1024128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18202A"/>
                </a:solidFill>
              </a:rPr>
              <a:t>مصادر عامة مستخدمة في التموضع: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8202A"/>
                </a:solidFill>
              </a:rPr>
              <a:t>• McKinsey — The State of AI 2025: workflow redesign and AI governance roles.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8202A"/>
                </a:solidFill>
              </a:rPr>
              <a:t>• SDAIA — The Year of AI 2026 in Saudi Arabia.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8202A"/>
                </a:solidFill>
              </a:rPr>
              <a:t>• Gartner — Six steps to manage AI agent sprawl, 2026.</a:t>
            </a:r>
            <a:endParaRPr lang="en-US" sz="1400" dirty="0"/>
          </a:p>
          <a:p>
            <a:pPr algn="r" indent="0" marL="0">
              <a:buNone/>
            </a:pP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8202A"/>
                </a:solidFill>
              </a:rPr>
              <a:t>مصادر Dealix الداخلية من الملف المرفق: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8202A"/>
                </a:solidFill>
              </a:rPr>
              <a:t>• Phase MAX: commercial_strategy.py, simulate API, CommercialStrategyTools, dashboard focus, 11 tests passed.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8202A"/>
                </a:solidFill>
              </a:rPr>
              <a:t>• CEO/Board strategy: Dealix as Governed Revenue &amp; AI Operations, evidence-first, service-led, no fake KPIs, no autonomous sends.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6673"/>
                </a:solidFill>
              </a:rPr>
              <a:t>Dealix — Governed Revenue &amp; AI Operations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10996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92E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Dealix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Dealix Ops Sales Kit</dc:title>
  <dc:subject>Dealix Governed Revenue &amp; AI Ops Sales Kit</dc:subject>
  <dc:creator>Dealix</dc:creator>
  <cp:lastModifiedBy>Dealix</cp:lastModifiedBy>
  <cp:revision>1</cp:revision>
  <dcterms:created xsi:type="dcterms:W3CDTF">2026-05-16T21:43:07Z</dcterms:created>
  <dcterms:modified xsi:type="dcterms:W3CDTF">2026-05-16T21:43:07Z</dcterms:modified>
</cp:coreProperties>
</file>